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 범위를 구분합니다. 회사가 비용만 본다거나 월별 탄소예산을 이미 운영한다고 주장하지 않습니다. 특정 업계 최초성은 검증하지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목표는 예를 들어 비교 가능한 기준 배출량에 감축률을 적용해 구성할 수 있습니다. 물량 변화가 크면 절대량과 원단위를 함께 봅니다. 목표를 설정하지 않은 기업에 예산을 강제하지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F는 예상 원단위와 잔여 수요를 곱해 합산하는 외부 입력입니다. 이번 구현은 예측 모델이 아니라 그 입력을 사용한 의사결정 규칙입니다. 동시 요청의 중복 예약 방지는 시스템 연동 때 추가해야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10kg은 오차 여유를 포함한 계획 기준 부족입니다. 실제 배출이 이미 초과했다는 의미가 아닙니다. C는 점추정 기준 990kg이고 여유 포함 평가량은 1010kg입니다.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공차 활용이 비용과 탄소를 함께 낮출 가능성은 있습니다. 그러나 우회와 추가 하중, 대기, 상하차가 반영되어야 합니다. 배분된 배출과 물리적인 추가 배출은 같은 수치가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우선보다 CBP는 167만원 더 쓰고 830kg 적게 배출합니다. 이 숫자를 실제 절감률로 사용하지 않습니다. 현재 잔여량 정책의 후반 8건은 예외 승인을 가정해 공급을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예산 여유 안에서 매번 선택하더라도 실제 배출 오차로 초과할 수 있습니다. 배출 추정의 편향을 보정하고 U를 재검토해야 합니다. 목표 준수 보장을 주장하지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현재는 계산 규칙과 합성 사례를 확인한 단계입니다. 실제 데이터 재생과 그림자 운영을 통해 현장 효과를 확인해야 합니다. 같은 정보를 가진 정책과 비교하고 이후 재고·차량 상태 변화도 추적해야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RESEARCH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배경은 문헌으로, 현장 문제는 가설로 구분합니다.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852928"/>
            <a:ext cx="1051560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032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25496"/>
            <a:ext cx="11667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600" b="1">
                <a:solidFill>
                  <a:srgbClr val="14243C"/>
                </a:solidFill>
                <a:latin typeface="Noto Sans CJK KR"/>
              </a:defRPr>
            </a:pPr>
            <a:r>
              <a:t>ISO 14083:2023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3438144"/>
            <a:ext cx="116311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운송사슬 배출의 정량화·보고 방법론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공식 표준 소개·초록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4279392"/>
            <a:ext cx="1051560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329683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251959"/>
            <a:ext cx="11667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600" b="1">
                <a:solidFill>
                  <a:srgbClr val="14243C"/>
                </a:solidFill>
                <a:latin typeface="Noto Sans CJK KR"/>
              </a:defRPr>
            </a:pPr>
            <a:r>
              <a:t>Tornese 등 (2021) · 파렛트 공급망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3" y="4864607"/>
            <a:ext cx="116311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반복 사용 자산과 다수 주체의 흐름 조정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공개 초록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5705856"/>
            <a:ext cx="1051560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75614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R3–5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678424"/>
            <a:ext cx="11667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600" b="1">
                <a:solidFill>
                  <a:srgbClr val="14243C"/>
                </a:solidFill>
                <a:latin typeface="Noto Sans CJK KR"/>
              </a:defRPr>
            </a:pPr>
            <a:r>
              <a:t>재배치·탄소 제약 관련 선행연구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6291072"/>
            <a:ext cx="11631168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파렛트 재배치와 환경·경제를 다룬 연구가 이미 존재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서지·제목 확인; 원문 성과·신규성은 단정하지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R1 iso.org/standard/78864.html · R2 doi:10.3390/su132212747 · R3–5 전체 서지와 확인 수준은 연구보고서 참고문헌 참조.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탄소예산은 기업이 승인하는 내부 관리 목표입니다.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3063240"/>
            <a:ext cx="3968496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113532"/>
            <a:ext cx="37856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누가 정하나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703320"/>
            <a:ext cx="396849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000" b="1">
                <a:solidFill>
                  <a:srgbClr val="14243C"/>
                </a:solidFill>
                <a:latin typeface="Noto Sans CJK KR"/>
              </a:defRPr>
            </a:pPr>
            <a:r>
              <a:t>운영 책임자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599432"/>
            <a:ext cx="3968496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감축 목표·공급 계획·비용 한도 합의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2664" y="3063240"/>
            <a:ext cx="3968496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3" y="3113532"/>
            <a:ext cx="37856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무엇을 정하나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3703320"/>
            <a:ext cx="396849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000" b="1">
                <a:solidFill>
                  <a:srgbClr val="14243C"/>
                </a:solidFill>
                <a:latin typeface="Noto Sans CJK KR"/>
              </a:defRPr>
            </a:pPr>
            <a:r>
              <a:t>기간과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4599432"/>
            <a:ext cx="3968496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같은 거점·운송·산정 경계의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66376" y="3063240"/>
            <a:ext cx="3968496" cy="32004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7815" y="3113532"/>
            <a:ext cx="37856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어떻게 정하나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6376" y="3703320"/>
            <a:ext cx="396849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000" b="1">
                <a:solidFill>
                  <a:srgbClr val="14243C"/>
                </a:solidFill>
                <a:latin typeface="Noto Sans CJK KR"/>
              </a:defRPr>
            </a:pPr>
            <a:r>
              <a:t>기준과 감축률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4599432"/>
            <a:ext cx="3968496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과거 배출·예상 물량을 함께 검토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5897880"/>
            <a:ext cx="13103352" cy="105156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208776"/>
            <a:ext cx="12618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600" b="1">
                <a:solidFill>
                  <a:srgbClr val="087F70"/>
                </a:solidFill>
                <a:latin typeface="Noto Sans CJK KR"/>
              </a:defRPr>
            </a:pPr>
            <a:r>
              <a:t>내부 목표 잔여분 ≠ 법정 배출권 ≠ 판매 가능한 탄소 크레딧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로지스올의 실제 배차용 탄소예산 운영은 미확인. 목표가 없는 적용처에는 먼저 비용·배출 비교 도구의 필요성을 검증합니다.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현재 요청의 추천과 기간 전체 최적화는 다릅니다.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880360"/>
            <a:ext cx="13103352" cy="1060704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163824"/>
            <a:ext cx="1248156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200" b="1">
                <a:solidFill>
                  <a:srgbClr val="54DFC0"/>
                </a:solidFill>
                <a:latin typeface="Noto Sans CJK KR"/>
              </a:defRPr>
            </a:pPr>
            <a:r>
              <a:t>H = B − E − K − F −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B /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4325112"/>
            <a:ext cx="10561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기간 목표 / 실제 누적 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828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K /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4882896"/>
            <a:ext cx="10561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확정 미정산 운송 / 현재·확정 요청을 뺀 미래 공급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1">
                <a:solidFill>
                  <a:srgbClr val="087F70"/>
                </a:solidFill>
                <a:latin typeface="Noto Sans CJK KR"/>
              </a:defRPr>
            </a:pPr>
            <a:r>
              <a:t>U /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5440680"/>
            <a:ext cx="10561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14243C"/>
                </a:solidFill>
                <a:latin typeface="Noto Sans CJK KR"/>
              </a:defRPr>
            </a:pPr>
            <a:r>
              <a:t>오차 여유 / 현재 요청에 사용할 계획상 여유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6281928"/>
            <a:ext cx="13103352" cy="64008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6464808"/>
            <a:ext cx="12664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1">
                <a:solidFill>
                  <a:srgbClr val="087F70"/>
                </a:solidFill>
                <a:latin typeface="Noto Sans CJK KR"/>
              </a:defRPr>
            </a:pPr>
            <a:r>
              <a:t>공급·납기·안전·비용 조건 + 예상 배출 ≤ H  →  현재 후보의 최소비용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미래 요청의 실행 가능성과 기간 전체 최소비용은 보장하지 않습니다. 후보 생성·수요 예측·장부 정산은 별도 업무입니다.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“여유 부족”과 “실제 초과”를 구분합니다.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05409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687D94"/>
                </a:solidFill>
                <a:latin typeface="Noto Sans CJK KR"/>
              </a:defRPr>
            </a:pPr>
            <a:r>
              <a:t>현재 계획 여유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19856"/>
            <a:ext cx="39319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200" b="1">
                <a:solidFill>
                  <a:srgbClr val="087F70"/>
                </a:solidFill>
                <a:latin typeface="Noto Sans CJK KR"/>
              </a:defRPr>
            </a:pPr>
            <a:r>
              <a:t>20kg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305409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687D94"/>
                </a:solidFill>
                <a:latin typeface="Noto Sans CJK KR"/>
              </a:defRPr>
            </a:pPr>
            <a:r>
              <a:t>최소배출 후보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2392" y="3419856"/>
            <a:ext cx="39319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200" b="1">
                <a:solidFill>
                  <a:srgbClr val="087F70"/>
                </a:solidFill>
                <a:latin typeface="Noto Sans CJK KR"/>
              </a:defRPr>
            </a:pPr>
            <a:r>
              <a:t>30kg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3054096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687D94"/>
                </a:solidFill>
                <a:latin typeface="Noto Sans CJK KR"/>
              </a:defRPr>
            </a:pPr>
            <a:r>
              <a:t>계획 여유 부족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0112" y="3419856"/>
            <a:ext cx="39319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200" b="1">
                <a:solidFill>
                  <a:srgbClr val="087F70"/>
                </a:solidFill>
                <a:latin typeface="Noto Sans CJK KR"/>
              </a:defRPr>
            </a:pPr>
            <a:r>
              <a:t>10kg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590288"/>
            <a:ext cx="13075920" cy="1115568"/>
          </a:xfrm>
          <a:prstGeom prst="rect">
            <a:avLst/>
          </a:prstGeom>
          <a:solidFill>
            <a:srgbClr val="10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4882896"/>
            <a:ext cx="125547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KR"/>
              </a:defRPr>
            </a:pPr>
            <a:r>
              <a:t>점추정 990kg   /   오차 여유 포함 1,010kg   /   목표 1,000kg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44768"/>
            <a:ext cx="1277416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400" b="1">
                <a:solidFill>
                  <a:srgbClr val="14243C"/>
                </a:solidFill>
                <a:latin typeface="Noto Sans CJK KR"/>
              </a:defRPr>
            </a:pPr>
            <a:r>
              <a:t>자동 추천은 비우고, 대안·부족량·추가비용을 제시합니다.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400" b="1">
                <a:solidFill>
                  <a:srgbClr val="14243C"/>
                </a:solidFill>
                <a:latin typeface="Noto Sans CJK KR"/>
              </a:defRPr>
            </a:pPr>
            <a:r>
              <a:t>안전·납기 조건을 자동으로 완화하지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가상 입력: E=760, K=0, F=200, U=20. 담당자 승인·실행은 현재 프로토타입 범위에 포함되지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복귀편을 활용해도 탄소는 0이 아닙니다.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2962656"/>
            <a:ext cx="3959352" cy="2523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3328416"/>
            <a:ext cx="35387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800" b="1">
                <a:solidFill>
                  <a:srgbClr val="14243C"/>
                </a:solidFill>
                <a:latin typeface="Noto Sans CJK KR"/>
              </a:defRPr>
            </a:pPr>
            <a:r>
              <a:t>귀속 배출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242816"/>
            <a:ext cx="3538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운송 구간의 배출을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동일 기준으로 배분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962656"/>
            <a:ext cx="3959352" cy="2523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3328416"/>
            <a:ext cx="35387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800" b="1">
                <a:solidFill>
                  <a:srgbClr val="14243C"/>
                </a:solidFill>
                <a:latin typeface="Noto Sans CJK KR"/>
              </a:defRPr>
            </a:pPr>
            <a:r>
              <a:t>운영 변경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1264" y="4242816"/>
            <a:ext cx="3538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변경 전후 전체 운송의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차이를 별도로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2962656"/>
            <a:ext cx="3959352" cy="2523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5832" y="3328416"/>
            <a:ext cx="353872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800" b="1">
                <a:solidFill>
                  <a:srgbClr val="14243C"/>
                </a:solidFill>
                <a:latin typeface="Noto Sans CJK KR"/>
              </a:defRPr>
            </a:pPr>
            <a:r>
              <a:t>실행 가능성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5832" y="4242816"/>
            <a:ext cx="353872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노선·시각·적재 여유·</a:t>
            </a:r>
          </a:p>
          <a:p>
            <a:pPr>
              <a:lnSpc>
                <a:spcPct val="113000"/>
              </a:lnSpc>
              <a:spcAft>
                <a:spcPts val="0"/>
              </a:spcAft>
              <a:defRPr sz="2200" b="0">
                <a:solidFill>
                  <a:srgbClr val="687D94"/>
                </a:solidFill>
                <a:latin typeface="Noto Sans CJK KR"/>
              </a:defRPr>
            </a:pPr>
            <a:r>
              <a:t>규격과 안전을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989320"/>
            <a:ext cx="13048488" cy="914400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6272784"/>
            <a:ext cx="12563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500" b="1">
                <a:solidFill>
                  <a:srgbClr val="087F70"/>
                </a:solidFill>
                <a:latin typeface="Noto Sans CJK KR"/>
              </a:defRPr>
            </a:pPr>
            <a:r>
              <a:t>실시간 센서보다 먼저: 자료 출처 · 산정 경계 · 배출계수 · 배분 원칙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ISO 14083의 공식 개요를 참고하되 표준 전문 적용·인증을 주장하지 않습니다. 배출 추정과 실제 정산을 구분합니다.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SYNTHETIC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목표를 지키는 데 드는 비용도 공개합니다.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84831"/>
            <a:ext cx="13304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687D94"/>
                </a:solidFill>
                <a:latin typeface="Noto Sans CJK KR"/>
              </a:defRPr>
            </a:pPr>
            <a:r>
              <a:t>20건 동일 요청 · 목표 1,200kg · 실제=예상 · 모든 정책이 20건 공급. 현장 실적이 아닌 합성 실험.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08376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정책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008376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총비용 / 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08376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배출 /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00837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목표 초과 /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비용 우선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3886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9744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현재 잔여량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0974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2,120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0974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1,440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480974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5641848"/>
            <a:ext cx="13258800" cy="722376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33288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예측 반영 CBP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3328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2,167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73328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1,170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332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830568"/>
            <a:ext cx="12783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정확한 예측·고정 후보라는 조건에서만 관측된 결과입니다.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F=남은 건수×60kg. U=20kg(마지막 0). 후보 부재 시 가상 담당자가 최소배출 대안을 승인. 세부 프로토콜·코드는 보고서와 동봉 파일 참조.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FAILURE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예측이 틀리면, 목표도 넘을 수 있습니다.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실제 / 예상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1089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CBP 총비용 / 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08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실제 배출 /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31089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목표 초과 /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32504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1.00배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032504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2,167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032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1,170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03250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56048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1.25배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95604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2,216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9560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1,200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495604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0">
                <a:solidFill>
                  <a:srgbClr val="14243C"/>
                </a:solidFill>
                <a:latin typeface="Noto Sans CJK KR"/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788152"/>
            <a:ext cx="13258800" cy="722376"/>
          </a:xfrm>
          <a:prstGeom prst="rect">
            <a:avLst/>
          </a:prstGeom>
          <a:solidFill>
            <a:srgbClr val="E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79592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1.50배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8795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2,251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8795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1,215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58795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800" b="1">
                <a:solidFill>
                  <a:srgbClr val="087F70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합성 스트레스 실험: 매번 실제 배출로 E를 갱신하되 후보 추정·미래 원단위는 보정하지 않음. 현장 오차 분포나 보장 확률을 뜻하지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200" b="1">
                <a:solidFill>
                  <a:srgbClr val="087F70"/>
                </a:solidFill>
                <a:latin typeface="Noto Sans CJK KR"/>
              </a:defRPr>
            </a:pPr>
            <a:r>
              <a:t>CBP  /  FORECAST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5312" y="320040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100" b="0">
                <a:solidFill>
                  <a:srgbClr val="687D94"/>
                </a:solidFill>
                <a:latin typeface="Noto Sans CJK KR"/>
              </a:defRPr>
            </a:pPr>
            <a:r>
              <a:t>APPENDIX /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3386816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3600" b="1">
                <a:solidFill>
                  <a:srgbClr val="14243C"/>
                </a:solidFill>
                <a:latin typeface="Noto Sans CJK KR"/>
              </a:defRPr>
            </a:pPr>
            <a:r>
              <a:t>성공 여부는 네 지표로 함께 판단합니다.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7717536"/>
            <a:ext cx="13386816" cy="0"/>
          </a:xfrm>
          <a:prstGeom prst="line">
            <a:avLst/>
          </a:prstGeom>
          <a:ln w="127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872983"/>
            <a:ext cx="1247241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두런두런  ·  제13회 유닛로드시스템(ULS) 창의성 공모전  /  질의응답 보충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4792" y="7818120"/>
            <a:ext cx="804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3000"/>
              </a:lnSpc>
              <a:spcAft>
                <a:spcPts val="0"/>
              </a:spcAft>
              <a:defRPr sz="1600" b="1">
                <a:solidFill>
                  <a:srgbClr val="087F70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944368"/>
            <a:ext cx="6318504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209544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900" b="1">
                <a:solidFill>
                  <a:srgbClr val="14243C"/>
                </a:solidFill>
                <a:latin typeface="Noto Sans CJK KR"/>
              </a:defRPr>
            </a:pPr>
            <a:r>
              <a:t>공급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950208"/>
            <a:ext cx="5852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정시 공급률 · 미충족 · 이월 물량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944368"/>
            <a:ext cx="6318504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209544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900" b="1">
                <a:solidFill>
                  <a:srgbClr val="14243C"/>
                </a:solidFill>
                <a:latin typeface="Noto Sans CJK KR"/>
              </a:defRPr>
            </a:pPr>
            <a:r>
              <a:t>총비용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950208"/>
            <a:ext cx="5852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운송 · 상하차 · 대기 · 운영 비용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5111496"/>
            <a:ext cx="6318504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376672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900" b="1">
                <a:solidFill>
                  <a:srgbClr val="14243C"/>
                </a:solidFill>
                <a:latin typeface="Noto Sans CJK KR"/>
              </a:defRPr>
            </a:pPr>
            <a:r>
              <a:t>배출과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6117336"/>
            <a:ext cx="5852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총배출 · 원단위 · 기간 초과량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111496"/>
            <a:ext cx="6318504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5376672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2900" b="1">
                <a:solidFill>
                  <a:srgbClr val="14243C"/>
                </a:solidFill>
                <a:latin typeface="Noto Sans CJK KR"/>
              </a:defRPr>
            </a:pPr>
            <a:r>
              <a:t>운영 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6117336"/>
            <a:ext cx="5852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900" b="0">
                <a:solidFill>
                  <a:srgbClr val="687D94"/>
                </a:solidFill>
                <a:latin typeface="Noto Sans CJK KR"/>
              </a:defRPr>
            </a:pPr>
            <a:r>
              <a:t>예측 오차 · 추천 수용 · 예외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7370064"/>
            <a:ext cx="13313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Aft>
                <a:spcPts val="0"/>
              </a:spcAft>
              <a:defRPr sz="1000" b="0">
                <a:solidFill>
                  <a:srgbClr val="687D94"/>
                </a:solidFill>
                <a:latin typeface="Noto Sans CJK KR"/>
              </a:defRPr>
            </a:pPr>
            <a:r>
              <a:t>기간·거점·물량·가용 후보·산정 경계를 맞춘 비교. 학습·보정·평가 구간을 분리하고, 도입 판단 기준은 결과를 보기 전에 합의합니다.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CBP | 다음 운송까지 보는 파렛트 탄소예산</dc:title>
  <dc:subject>제13회 ULS 창의성 공모전 본선 · 원안 기반 4분 발표</dc:subject>
  <dc:creator>두런두런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
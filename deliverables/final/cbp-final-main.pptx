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00:00–00:25</a:t>
            </a:r>
          </a:p>
          <a:p>
            <a:r>
              <a:t>안녕하십니까. 두런두런의 CBP, 다음 운송까지 보는 파렛트 탄소예산을 제안합니다. 파렛트는 다시 쓰는 자산이지만, 필요한 곳으로 옮기는 운송은 계속 필요합니다. 저희는 기업이 정한 탄소 감축 목표를, 다음 파렛트 운송을 고르는 판단에 연결하고자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00:25–01:15</a:t>
            </a:r>
          </a:p>
          <a:p>
            <a:r>
              <a:t>핵심은 이 질문입니다. 탄소예산을 똑같이 팔십 퍼센트 썼다면, 항상 같은 운송을 골라도 될까요? 가상 사례로 보겠습니다. 천 킬로그램 중 팔백을 썼어도, 앞으로 필요한 공급의 예상 배출이 백오십이면 오차 여유 이십을 빼고 지금 쓸 수 있는 양은 삼십입니다. 반대로 남은 공급의 예상 배출이 이십이라면 지금 쓸 수 있는 양은 백육십입니다. 같은 팔십 퍼센트라도 선택은 달라져야 합니다. 그래서 사용률뿐 아니라 앞으로 처리할 물량을 함께 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01:15–02:05</a:t>
            </a:r>
          </a:p>
          <a:p>
            <a:r>
              <a:t>방법은 단순합니다. 기업이 정한 기간 관리 목표에서 이미 쓴 양, 확정된 운송, 남은 공급의 예상 배출과 오차 여유를 뺍니다. 이렇게 현재 요청의 배출 여유를 계산합니다. 여기서 탄소예산은 법정 배출권이 아니라 기업이 승인하는 내부 관리 목표입니다. 로지스올이 이미 이런 배차 예산을 쓴다는 전제도 아닙니다. 수량과 납기, 규격과 안전, 비용 한도를 먼저 지키고, 배출 여유까지 만족하는 후보 중 가장 저렴한 안을 추천합니다.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02:05–03:10</a:t>
            </a:r>
          </a:p>
          <a:p>
            <a:r>
              <a:t>지금 배출 여유가 팔십 킬로그램이라고 하겠습니다. 동일한 파렛트 천 매를 여덟 시간 안에 공급하는 세 운송안입니다. A는 백만 원에 백 킬로그램, B는 백팔만 원에 육십, C는 백십오만 원에 삼십입니다. A는 배출 여유를 넘고, B와 C는 가능합니다. 그러면 가장 저렴한 B를 고릅니다. 기본안보다 팔만 원을 더 쓰고 예상 배출을 사십 킬로그램 줄이는 선택입니다. 이 숫자는 실적이 아니라 작동 원리를 보여 주는 가정입니다. 만약 어떤 후보도 여유에 맞지 않으면 공급을 자동으로 끊지 않습니다. 가능한 최소배출 대안과 부족량을 보여 주고 담당자가 예외를 판단합니다.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03:10–03:50</a:t>
            </a:r>
          </a:p>
          <a:p>
            <a:r>
              <a:t>후보 검사와 추천, 예외 판단을 계산하는 프로토타입은 구현했습니다. 다만 실제 기업 데이터와 배차는 아직 연결하지 않았습니다. 다음 검증은 동일 풀링망의 호환 파렛트부터, 과거 자료와 실행 없는 추천으로 시작합니다. 탄소뿐 아니라 납기, 총비용, 목표 초과를 함께 보겠습니다. 예측이 틀리면 목표를 넘을 수도 있어 그 실패 조건까지 공개했습니다. 탄소 가계부를 쓰는 데서 끝내지 않고, 남은 공급까지 생각해서 다음 운송을 고르게 돕겠습니다.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D31"/>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54DFC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ADBED2"/>
                </a:solidFill>
                <a:latin typeface="Noto Sans CJK KR"/>
              </a:defRPr>
            </a:pPr>
            <a:r>
              <a:t>FINAL / CARBON BUDGET POOLING</a:t>
            </a:r>
          </a:p>
        </p:txBody>
      </p:sp>
      <p:cxnSp>
        <p:nvCxnSpPr>
          <p:cNvPr id="4" name="Connector 3"/>
          <p:cNvCxnSpPr/>
          <p:nvPr/>
        </p:nvCxnSpPr>
        <p:spPr>
          <a:xfrm>
            <a:off x="621792" y="7717536"/>
            <a:ext cx="13386816" cy="0"/>
          </a:xfrm>
          <a:prstGeom prst="line">
            <a:avLst/>
          </a:prstGeom>
          <a:ln w="12700">
            <a:solidFill>
              <a:srgbClr val="32465F"/>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두런두런  ·  제13회 유닛로드시스템(ULS) 창의성 공모전</a:t>
            </a:r>
          </a:p>
        </p:txBody>
      </p:sp>
      <p:sp>
        <p:nvSpPr>
          <p:cNvPr id="6" name="TextBox 5"/>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54DFC0"/>
                </a:solidFill>
                <a:latin typeface="Noto Sans CJK KR"/>
              </a:defRPr>
            </a:pPr>
            <a:r>
              <a:t>01</a:t>
            </a:r>
          </a:p>
        </p:txBody>
      </p:sp>
      <p:sp>
        <p:nvSpPr>
          <p:cNvPr id="7" name="TextBox 6"/>
          <p:cNvSpPr txBox="1"/>
          <p:nvPr/>
        </p:nvSpPr>
        <p:spPr>
          <a:xfrm>
            <a:off x="694944" y="1188720"/>
            <a:ext cx="8348472" cy="1975104"/>
          </a:xfrm>
          <a:prstGeom prst="rect">
            <a:avLst/>
          </a:prstGeom>
          <a:noFill/>
        </p:spPr>
        <p:txBody>
          <a:bodyPr wrap="square" lIns="0" rIns="0" tIns="0" bIns="0">
            <a:spAutoFit/>
          </a:bodyPr>
          <a:lstStyle/>
          <a:p>
            <a:pPr>
              <a:lnSpc>
                <a:spcPct val="113000"/>
              </a:lnSpc>
              <a:spcAft>
                <a:spcPts val="0"/>
              </a:spcAft>
              <a:defRPr sz="4600" b="1">
                <a:solidFill>
                  <a:srgbClr val="FFFFFF"/>
                </a:solidFill>
                <a:latin typeface="Noto Sans CJK KR"/>
              </a:defRPr>
            </a:pPr>
            <a:r>
              <a:t>다음 운송까지 보는</a:t>
            </a:r>
          </a:p>
          <a:p>
            <a:pPr>
              <a:lnSpc>
                <a:spcPct val="113000"/>
              </a:lnSpc>
              <a:spcAft>
                <a:spcPts val="0"/>
              </a:spcAft>
              <a:defRPr sz="4600" b="1">
                <a:solidFill>
                  <a:srgbClr val="FFFFFF"/>
                </a:solidFill>
                <a:latin typeface="Noto Sans CJK KR"/>
              </a:defRPr>
            </a:pPr>
            <a:r>
              <a:t>파렛트 탄소예산</a:t>
            </a:r>
          </a:p>
        </p:txBody>
      </p:sp>
      <p:sp>
        <p:nvSpPr>
          <p:cNvPr id="8" name="TextBox 7"/>
          <p:cNvSpPr txBox="1"/>
          <p:nvPr/>
        </p:nvSpPr>
        <p:spPr>
          <a:xfrm>
            <a:off x="749808" y="3639312"/>
            <a:ext cx="7132320" cy="429768"/>
          </a:xfrm>
          <a:prstGeom prst="rect">
            <a:avLst/>
          </a:prstGeom>
          <a:noFill/>
        </p:spPr>
        <p:txBody>
          <a:bodyPr wrap="square" lIns="0" rIns="0" tIns="0" bIns="0">
            <a:spAutoFit/>
          </a:bodyPr>
          <a:lstStyle/>
          <a:p>
            <a:pPr>
              <a:lnSpc>
                <a:spcPct val="113000"/>
              </a:lnSpc>
              <a:spcAft>
                <a:spcPts val="0"/>
              </a:spcAft>
              <a:defRPr sz="2200" b="1">
                <a:solidFill>
                  <a:srgbClr val="54DFC0"/>
                </a:solidFill>
                <a:latin typeface="Noto Sans CJK KR"/>
              </a:defRPr>
            </a:pPr>
            <a:r>
              <a:t>남은 탄소를 계산하고, 남은 공급을 준비한다.</a:t>
            </a:r>
          </a:p>
        </p:txBody>
      </p:sp>
      <p:sp>
        <p:nvSpPr>
          <p:cNvPr id="9" name="TextBox 8"/>
          <p:cNvSpPr txBox="1"/>
          <p:nvPr/>
        </p:nvSpPr>
        <p:spPr>
          <a:xfrm>
            <a:off x="758952" y="4517136"/>
            <a:ext cx="7040880" cy="969264"/>
          </a:xfrm>
          <a:prstGeom prst="rect">
            <a:avLst/>
          </a:prstGeom>
          <a:noFill/>
        </p:spPr>
        <p:txBody>
          <a:bodyPr wrap="square" lIns="0" rIns="0" tIns="0" bIns="0">
            <a:spAutoFit/>
          </a:bodyPr>
          <a:lstStyle/>
          <a:p>
            <a:pPr>
              <a:lnSpc>
                <a:spcPct val="113000"/>
              </a:lnSpc>
              <a:spcAft>
                <a:spcPts val="0"/>
              </a:spcAft>
              <a:defRPr sz="2300" b="0">
                <a:solidFill>
                  <a:srgbClr val="ADBED2"/>
                </a:solidFill>
                <a:latin typeface="Noto Sans CJK KR"/>
              </a:defRPr>
            </a:pPr>
            <a:r>
              <a:t>기간 감축 목표를</a:t>
            </a:r>
          </a:p>
          <a:p>
            <a:pPr>
              <a:lnSpc>
                <a:spcPct val="113000"/>
              </a:lnSpc>
              <a:spcAft>
                <a:spcPts val="0"/>
              </a:spcAft>
              <a:defRPr sz="2300" b="0">
                <a:solidFill>
                  <a:srgbClr val="ADBED2"/>
                </a:solidFill>
                <a:latin typeface="Noto Sans CJK KR"/>
              </a:defRPr>
            </a:pPr>
            <a:r>
              <a:t>다음 파렛트 운송의 선택으로 연결합니다.</a:t>
            </a:r>
          </a:p>
        </p:txBody>
      </p:sp>
      <p:cxnSp>
        <p:nvCxnSpPr>
          <p:cNvPr id="10" name="Connector 9"/>
          <p:cNvCxnSpPr/>
          <p:nvPr/>
        </p:nvCxnSpPr>
        <p:spPr>
          <a:xfrm>
            <a:off x="758952" y="5925312"/>
            <a:ext cx="6665975" cy="0"/>
          </a:xfrm>
          <a:prstGeom prst="line">
            <a:avLst/>
          </a:prstGeom>
          <a:ln w="12700">
            <a:solidFill>
              <a:srgbClr val="38506B"/>
            </a:solidFill>
          </a:ln>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768096" y="6245352"/>
            <a:ext cx="2103120" cy="256032"/>
          </a:xfrm>
          <a:prstGeom prst="rect">
            <a:avLst/>
          </a:prstGeom>
          <a:noFill/>
        </p:spPr>
        <p:txBody>
          <a:bodyPr wrap="square" lIns="0" rIns="0" tIns="0" bIns="0">
            <a:spAutoFit/>
          </a:bodyPr>
          <a:lstStyle/>
          <a:p>
            <a:pPr>
              <a:lnSpc>
                <a:spcPct val="113000"/>
              </a:lnSpc>
              <a:spcAft>
                <a:spcPts val="0"/>
              </a:spcAft>
              <a:defRPr sz="1200" b="1">
                <a:solidFill>
                  <a:srgbClr val="ADBED2"/>
                </a:solidFill>
                <a:latin typeface="Noto Sans CJK KR"/>
              </a:defRPr>
            </a:pPr>
            <a:r>
              <a:t>LOOK AHEAD</a:t>
            </a:r>
          </a:p>
        </p:txBody>
      </p:sp>
      <p:sp>
        <p:nvSpPr>
          <p:cNvPr id="12" name="TextBox 11"/>
          <p:cNvSpPr txBox="1"/>
          <p:nvPr/>
        </p:nvSpPr>
        <p:spPr>
          <a:xfrm>
            <a:off x="768096" y="6611112"/>
            <a:ext cx="2103120" cy="576072"/>
          </a:xfrm>
          <a:prstGeom prst="rect">
            <a:avLst/>
          </a:prstGeom>
          <a:noFill/>
        </p:spPr>
        <p:txBody>
          <a:bodyPr wrap="square" lIns="0" rIns="0" tIns="0" bIns="0">
            <a:spAutoFit/>
          </a:bodyPr>
          <a:lstStyle/>
          <a:p>
            <a:pPr>
              <a:lnSpc>
                <a:spcPct val="113000"/>
              </a:lnSpc>
              <a:spcAft>
                <a:spcPts val="0"/>
              </a:spcAft>
              <a:defRPr sz="3200" b="1">
                <a:solidFill>
                  <a:srgbClr val="54DFC0"/>
                </a:solidFill>
                <a:latin typeface="Noto Sans CJK KR"/>
              </a:defRPr>
            </a:pPr>
            <a:r>
              <a:t>남은 공급</a:t>
            </a:r>
          </a:p>
        </p:txBody>
      </p:sp>
      <p:sp>
        <p:nvSpPr>
          <p:cNvPr id="13" name="TextBox 12"/>
          <p:cNvSpPr txBox="1"/>
          <p:nvPr/>
        </p:nvSpPr>
        <p:spPr>
          <a:xfrm>
            <a:off x="3255264" y="6245352"/>
            <a:ext cx="2103120" cy="256032"/>
          </a:xfrm>
          <a:prstGeom prst="rect">
            <a:avLst/>
          </a:prstGeom>
          <a:noFill/>
        </p:spPr>
        <p:txBody>
          <a:bodyPr wrap="square" lIns="0" rIns="0" tIns="0" bIns="0">
            <a:spAutoFit/>
          </a:bodyPr>
          <a:lstStyle/>
          <a:p>
            <a:pPr>
              <a:lnSpc>
                <a:spcPct val="113000"/>
              </a:lnSpc>
              <a:spcAft>
                <a:spcPts val="0"/>
              </a:spcAft>
              <a:defRPr sz="1200" b="1">
                <a:solidFill>
                  <a:srgbClr val="ADBED2"/>
                </a:solidFill>
                <a:latin typeface="Noto Sans CJK KR"/>
              </a:defRPr>
            </a:pPr>
            <a:r>
              <a:t>DECIDE</a:t>
            </a:r>
          </a:p>
        </p:txBody>
      </p:sp>
      <p:sp>
        <p:nvSpPr>
          <p:cNvPr id="14" name="TextBox 13"/>
          <p:cNvSpPr txBox="1"/>
          <p:nvPr/>
        </p:nvSpPr>
        <p:spPr>
          <a:xfrm>
            <a:off x="3255264" y="6611112"/>
            <a:ext cx="2103120" cy="576072"/>
          </a:xfrm>
          <a:prstGeom prst="rect">
            <a:avLst/>
          </a:prstGeom>
          <a:noFill/>
        </p:spPr>
        <p:txBody>
          <a:bodyPr wrap="square" lIns="0" rIns="0" tIns="0" bIns="0">
            <a:spAutoFit/>
          </a:bodyPr>
          <a:lstStyle/>
          <a:p>
            <a:pPr>
              <a:lnSpc>
                <a:spcPct val="113000"/>
              </a:lnSpc>
              <a:spcAft>
                <a:spcPts val="0"/>
              </a:spcAft>
              <a:defRPr sz="3200" b="1">
                <a:solidFill>
                  <a:srgbClr val="54DFC0"/>
                </a:solidFill>
                <a:latin typeface="Noto Sans CJK KR"/>
              </a:defRPr>
            </a:pPr>
            <a:r>
              <a:t>현재 운송</a:t>
            </a:r>
          </a:p>
        </p:txBody>
      </p:sp>
      <p:sp>
        <p:nvSpPr>
          <p:cNvPr id="15" name="TextBox 14"/>
          <p:cNvSpPr txBox="1"/>
          <p:nvPr/>
        </p:nvSpPr>
        <p:spPr>
          <a:xfrm>
            <a:off x="5678424" y="6245352"/>
            <a:ext cx="2103120" cy="256032"/>
          </a:xfrm>
          <a:prstGeom prst="rect">
            <a:avLst/>
          </a:prstGeom>
          <a:noFill/>
        </p:spPr>
        <p:txBody>
          <a:bodyPr wrap="square" lIns="0" rIns="0" tIns="0" bIns="0">
            <a:spAutoFit/>
          </a:bodyPr>
          <a:lstStyle/>
          <a:p>
            <a:pPr>
              <a:lnSpc>
                <a:spcPct val="113000"/>
              </a:lnSpc>
              <a:spcAft>
                <a:spcPts val="0"/>
              </a:spcAft>
              <a:defRPr sz="1200" b="1">
                <a:solidFill>
                  <a:srgbClr val="ADBED2"/>
                </a:solidFill>
                <a:latin typeface="Noto Sans CJK KR"/>
              </a:defRPr>
            </a:pPr>
            <a:r>
              <a:t>EXPLAIN</a:t>
            </a:r>
          </a:p>
        </p:txBody>
      </p:sp>
      <p:sp>
        <p:nvSpPr>
          <p:cNvPr id="16" name="TextBox 15"/>
          <p:cNvSpPr txBox="1"/>
          <p:nvPr/>
        </p:nvSpPr>
        <p:spPr>
          <a:xfrm>
            <a:off x="5678424" y="6611112"/>
            <a:ext cx="2103120" cy="576072"/>
          </a:xfrm>
          <a:prstGeom prst="rect">
            <a:avLst/>
          </a:prstGeom>
          <a:noFill/>
        </p:spPr>
        <p:txBody>
          <a:bodyPr wrap="square" lIns="0" rIns="0" tIns="0" bIns="0">
            <a:spAutoFit/>
          </a:bodyPr>
          <a:lstStyle/>
          <a:p>
            <a:pPr>
              <a:lnSpc>
                <a:spcPct val="113000"/>
              </a:lnSpc>
              <a:spcAft>
                <a:spcPts val="0"/>
              </a:spcAft>
              <a:defRPr sz="3200" b="1">
                <a:solidFill>
                  <a:srgbClr val="54DFC0"/>
                </a:solidFill>
                <a:latin typeface="Noto Sans CJK KR"/>
              </a:defRPr>
            </a:pPr>
            <a:r>
              <a:t>선택 이유</a:t>
            </a:r>
          </a:p>
        </p:txBody>
      </p:sp>
      <p:sp>
        <p:nvSpPr>
          <p:cNvPr id="17" name="Oval 16"/>
          <p:cNvSpPr/>
          <p:nvPr/>
        </p:nvSpPr>
        <p:spPr>
          <a:xfrm>
            <a:off x="9418320" y="1920240"/>
            <a:ext cx="146304" cy="146304"/>
          </a:xfrm>
          <a:prstGeom prst="ellipse">
            <a:avLst/>
          </a:prstGeom>
          <a:solidFill>
            <a:srgbClr val="58718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9491472" y="1993392"/>
            <a:ext cx="1984248" cy="2029968"/>
          </a:xfrm>
          <a:prstGeom prst="line">
            <a:avLst/>
          </a:prstGeom>
          <a:ln w="22860">
            <a:solidFill>
              <a:srgbClr val="344D67"/>
            </a:solidFill>
          </a:ln>
        </p:spPr>
        <p:style>
          <a:lnRef idx="2">
            <a:schemeClr val="accent1"/>
          </a:lnRef>
          <a:fillRef idx="0">
            <a:schemeClr val="accent1"/>
          </a:fillRef>
          <a:effectRef idx="0">
            <a:schemeClr val="accent1"/>
          </a:effectRef>
          <a:fontRef idx="minor">
            <a:schemeClr val="tx1"/>
          </a:fontRef>
        </p:style>
      </p:cxnSp>
      <p:sp>
        <p:nvSpPr>
          <p:cNvPr id="19" name="Oval 18"/>
          <p:cNvSpPr/>
          <p:nvPr/>
        </p:nvSpPr>
        <p:spPr>
          <a:xfrm>
            <a:off x="13533120" y="2651760"/>
            <a:ext cx="146304" cy="146304"/>
          </a:xfrm>
          <a:prstGeom prst="ellipse">
            <a:avLst/>
          </a:prstGeom>
          <a:solidFill>
            <a:srgbClr val="58718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Connector 19"/>
          <p:cNvCxnSpPr/>
          <p:nvPr/>
        </p:nvCxnSpPr>
        <p:spPr>
          <a:xfrm flipH="1">
            <a:off x="11475720" y="2724912"/>
            <a:ext cx="2130552" cy="1298448"/>
          </a:xfrm>
          <a:prstGeom prst="line">
            <a:avLst/>
          </a:prstGeom>
          <a:ln w="22860">
            <a:solidFill>
              <a:srgbClr val="344D67"/>
            </a:solidFill>
          </a:ln>
        </p:spPr>
        <p:style>
          <a:lnRef idx="2">
            <a:schemeClr val="accent1"/>
          </a:lnRef>
          <a:fillRef idx="0">
            <a:schemeClr val="accent1"/>
          </a:fillRef>
          <a:effectRef idx="0">
            <a:schemeClr val="accent1"/>
          </a:effectRef>
          <a:fontRef idx="minor">
            <a:schemeClr val="tx1"/>
          </a:fontRef>
        </p:style>
      </p:cxnSp>
      <p:sp>
        <p:nvSpPr>
          <p:cNvPr id="21" name="Oval 20"/>
          <p:cNvSpPr/>
          <p:nvPr/>
        </p:nvSpPr>
        <p:spPr>
          <a:xfrm>
            <a:off x="9326880" y="5669280"/>
            <a:ext cx="146304" cy="146304"/>
          </a:xfrm>
          <a:prstGeom prst="ellipse">
            <a:avLst/>
          </a:prstGeom>
          <a:solidFill>
            <a:srgbClr val="58718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flipV="1">
            <a:off x="9400032" y="4023360"/>
            <a:ext cx="2075688" cy="1719072"/>
          </a:xfrm>
          <a:prstGeom prst="line">
            <a:avLst/>
          </a:prstGeom>
          <a:ln w="22860">
            <a:solidFill>
              <a:srgbClr val="344D67"/>
            </a:solidFill>
          </a:ln>
        </p:spPr>
        <p:style>
          <a:lnRef idx="2">
            <a:schemeClr val="accent1"/>
          </a:lnRef>
          <a:fillRef idx="0">
            <a:schemeClr val="accent1"/>
          </a:fillRef>
          <a:effectRef idx="0">
            <a:schemeClr val="accent1"/>
          </a:effectRef>
          <a:fontRef idx="minor">
            <a:schemeClr val="tx1"/>
          </a:fontRef>
        </p:style>
      </p:cxnSp>
      <p:sp>
        <p:nvSpPr>
          <p:cNvPr id="23" name="Oval 22"/>
          <p:cNvSpPr/>
          <p:nvPr/>
        </p:nvSpPr>
        <p:spPr>
          <a:xfrm>
            <a:off x="13441680" y="6035040"/>
            <a:ext cx="146304" cy="146304"/>
          </a:xfrm>
          <a:prstGeom prst="ellipse">
            <a:avLst/>
          </a:prstGeom>
          <a:solidFill>
            <a:srgbClr val="58718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4" name="Connector 23"/>
          <p:cNvCxnSpPr/>
          <p:nvPr/>
        </p:nvCxnSpPr>
        <p:spPr>
          <a:xfrm flipH="1" flipV="1">
            <a:off x="11475720" y="4023360"/>
            <a:ext cx="2039112" cy="2084832"/>
          </a:xfrm>
          <a:prstGeom prst="line">
            <a:avLst/>
          </a:prstGeom>
          <a:ln w="22860">
            <a:solidFill>
              <a:srgbClr val="344D67"/>
            </a:solidFill>
          </a:ln>
        </p:spPr>
        <p:style>
          <a:lnRef idx="2">
            <a:schemeClr val="accent1"/>
          </a:lnRef>
          <a:fillRef idx="0">
            <a:schemeClr val="accent1"/>
          </a:fillRef>
          <a:effectRef idx="0">
            <a:schemeClr val="accent1"/>
          </a:effectRef>
          <a:fontRef idx="minor">
            <a:schemeClr val="tx1"/>
          </a:fontRef>
        </p:style>
      </p:cxnSp>
      <p:sp>
        <p:nvSpPr>
          <p:cNvPr id="25" name="Freeform 24"/>
          <p:cNvSpPr/>
          <p:nvPr/>
        </p:nvSpPr>
        <p:spPr>
          <a:xfrm>
            <a:off x="9326880" y="3403396"/>
            <a:ext cx="2383840" cy="1186892"/>
          </a:xfrm>
          <a:custGeom>
            <a:avLst/>
            <a:gdLst/>
            <a:ahLst/>
            <a:cxnLst/>
            <a:rect l="l" t="t" r="r" b="b"/>
            <a:pathLst>
              <a:path w="2383840" h="1186892">
                <a:moveTo>
                  <a:pt x="0" y="985724"/>
                </a:moveTo>
                <a:lnTo>
                  <a:pt x="1991563" y="0"/>
                </a:lnTo>
                <a:lnTo>
                  <a:pt x="2383840" y="191110"/>
                </a:lnTo>
                <a:lnTo>
                  <a:pt x="392277" y="1186892"/>
                </a:lnTo>
                <a:close/>
              </a:path>
            </a:pathLst>
          </a:custGeom>
          <a:solidFill>
            <a:srgbClr val="A5EEE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Freeform 25"/>
          <p:cNvSpPr/>
          <p:nvPr/>
        </p:nvSpPr>
        <p:spPr>
          <a:xfrm>
            <a:off x="9326880" y="4389120"/>
            <a:ext cx="392277" cy="382219"/>
          </a:xfrm>
          <a:custGeom>
            <a:avLst/>
            <a:gdLst/>
            <a:ahLst/>
            <a:cxnLst/>
            <a:rect l="l" t="t" r="r" b="b"/>
            <a:pathLst>
              <a:path w="392277" h="382219">
                <a:moveTo>
                  <a:pt x="0" y="0"/>
                </a:moveTo>
                <a:lnTo>
                  <a:pt x="392277" y="201168"/>
                </a:lnTo>
                <a:lnTo>
                  <a:pt x="392277" y="382219"/>
                </a:lnTo>
                <a:lnTo>
                  <a:pt x="0" y="181051"/>
                </a:lnTo>
                <a:close/>
              </a:path>
            </a:pathLst>
          </a:custGeom>
          <a:solidFill>
            <a:srgbClr val="43A99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Freeform 26"/>
          <p:cNvSpPr/>
          <p:nvPr/>
        </p:nvSpPr>
        <p:spPr>
          <a:xfrm>
            <a:off x="9719157" y="3594506"/>
            <a:ext cx="1991563" cy="1176833"/>
          </a:xfrm>
          <a:custGeom>
            <a:avLst/>
            <a:gdLst/>
            <a:ahLst/>
            <a:cxnLst/>
            <a:rect l="l" t="t" r="r" b="b"/>
            <a:pathLst>
              <a:path w="1991563" h="1176833">
                <a:moveTo>
                  <a:pt x="0" y="995782"/>
                </a:moveTo>
                <a:lnTo>
                  <a:pt x="1991563" y="0"/>
                </a:lnTo>
                <a:lnTo>
                  <a:pt x="1991563" y="181051"/>
                </a:lnTo>
                <a:lnTo>
                  <a:pt x="0" y="1176833"/>
                </a:lnTo>
                <a:close/>
              </a:path>
            </a:pathLst>
          </a:custGeom>
          <a:solidFill>
            <a:srgbClr val="72CBB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Freeform 27"/>
          <p:cNvSpPr/>
          <p:nvPr/>
        </p:nvSpPr>
        <p:spPr>
          <a:xfrm>
            <a:off x="10010851" y="3745382"/>
            <a:ext cx="2383841" cy="1186891"/>
          </a:xfrm>
          <a:custGeom>
            <a:avLst/>
            <a:gdLst/>
            <a:ahLst/>
            <a:cxnLst/>
            <a:rect l="l" t="t" r="r" b="b"/>
            <a:pathLst>
              <a:path w="2383841" h="1186891">
                <a:moveTo>
                  <a:pt x="0" y="985723"/>
                </a:moveTo>
                <a:lnTo>
                  <a:pt x="1991563" y="0"/>
                </a:lnTo>
                <a:lnTo>
                  <a:pt x="2383841" y="191109"/>
                </a:lnTo>
                <a:lnTo>
                  <a:pt x="392277" y="1186891"/>
                </a:lnTo>
                <a:close/>
              </a:path>
            </a:pathLst>
          </a:custGeom>
          <a:solidFill>
            <a:srgbClr val="A5EEE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Freeform 28"/>
          <p:cNvSpPr/>
          <p:nvPr/>
        </p:nvSpPr>
        <p:spPr>
          <a:xfrm>
            <a:off x="10010851" y="4731105"/>
            <a:ext cx="392277" cy="382219"/>
          </a:xfrm>
          <a:custGeom>
            <a:avLst/>
            <a:gdLst/>
            <a:ahLst/>
            <a:cxnLst/>
            <a:rect l="l" t="t" r="r" b="b"/>
            <a:pathLst>
              <a:path w="392277" h="382219">
                <a:moveTo>
                  <a:pt x="0" y="0"/>
                </a:moveTo>
                <a:lnTo>
                  <a:pt x="392277" y="201168"/>
                </a:lnTo>
                <a:lnTo>
                  <a:pt x="392277" y="382219"/>
                </a:lnTo>
                <a:lnTo>
                  <a:pt x="0" y="181051"/>
                </a:lnTo>
                <a:close/>
              </a:path>
            </a:pathLst>
          </a:custGeom>
          <a:solidFill>
            <a:srgbClr val="43A99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Freeform 29"/>
          <p:cNvSpPr/>
          <p:nvPr/>
        </p:nvSpPr>
        <p:spPr>
          <a:xfrm>
            <a:off x="10403128" y="3936491"/>
            <a:ext cx="1991564" cy="1176833"/>
          </a:xfrm>
          <a:custGeom>
            <a:avLst/>
            <a:gdLst/>
            <a:ahLst/>
            <a:cxnLst/>
            <a:rect l="l" t="t" r="r" b="b"/>
            <a:pathLst>
              <a:path w="1991564" h="1176833">
                <a:moveTo>
                  <a:pt x="0" y="995782"/>
                </a:moveTo>
                <a:lnTo>
                  <a:pt x="1991564" y="0"/>
                </a:lnTo>
                <a:lnTo>
                  <a:pt x="1991564" y="181052"/>
                </a:lnTo>
                <a:lnTo>
                  <a:pt x="0" y="1176833"/>
                </a:lnTo>
                <a:close/>
              </a:path>
            </a:pathLst>
          </a:custGeom>
          <a:solidFill>
            <a:srgbClr val="72CBB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Freeform 30"/>
          <p:cNvSpPr/>
          <p:nvPr/>
        </p:nvSpPr>
        <p:spPr>
          <a:xfrm>
            <a:off x="10694822" y="4087368"/>
            <a:ext cx="2383841" cy="1186891"/>
          </a:xfrm>
          <a:custGeom>
            <a:avLst/>
            <a:gdLst/>
            <a:ahLst/>
            <a:cxnLst/>
            <a:rect l="l" t="t" r="r" b="b"/>
            <a:pathLst>
              <a:path w="2383841" h="1186891">
                <a:moveTo>
                  <a:pt x="0" y="985723"/>
                </a:moveTo>
                <a:lnTo>
                  <a:pt x="1991563" y="0"/>
                </a:lnTo>
                <a:lnTo>
                  <a:pt x="2383841" y="191109"/>
                </a:lnTo>
                <a:lnTo>
                  <a:pt x="392278" y="1186891"/>
                </a:lnTo>
                <a:close/>
              </a:path>
            </a:pathLst>
          </a:custGeom>
          <a:solidFill>
            <a:srgbClr val="A5EEE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Freeform 31"/>
          <p:cNvSpPr/>
          <p:nvPr/>
        </p:nvSpPr>
        <p:spPr>
          <a:xfrm>
            <a:off x="10694822" y="5073091"/>
            <a:ext cx="392278" cy="382219"/>
          </a:xfrm>
          <a:custGeom>
            <a:avLst/>
            <a:gdLst/>
            <a:ahLst/>
            <a:cxnLst/>
            <a:rect l="l" t="t" r="r" b="b"/>
            <a:pathLst>
              <a:path w="392278" h="382219">
                <a:moveTo>
                  <a:pt x="0" y="0"/>
                </a:moveTo>
                <a:lnTo>
                  <a:pt x="392278" y="201168"/>
                </a:lnTo>
                <a:lnTo>
                  <a:pt x="392278" y="382219"/>
                </a:lnTo>
                <a:lnTo>
                  <a:pt x="0" y="181051"/>
                </a:lnTo>
                <a:close/>
              </a:path>
            </a:pathLst>
          </a:custGeom>
          <a:solidFill>
            <a:srgbClr val="43A99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Freeform 32"/>
          <p:cNvSpPr/>
          <p:nvPr/>
        </p:nvSpPr>
        <p:spPr>
          <a:xfrm>
            <a:off x="11087100" y="4278477"/>
            <a:ext cx="1991563" cy="1176833"/>
          </a:xfrm>
          <a:custGeom>
            <a:avLst/>
            <a:gdLst/>
            <a:ahLst/>
            <a:cxnLst/>
            <a:rect l="l" t="t" r="r" b="b"/>
            <a:pathLst>
              <a:path w="1991563" h="1176833">
                <a:moveTo>
                  <a:pt x="0" y="995782"/>
                </a:moveTo>
                <a:lnTo>
                  <a:pt x="1991563" y="0"/>
                </a:lnTo>
                <a:lnTo>
                  <a:pt x="1991563" y="181051"/>
                </a:lnTo>
                <a:lnTo>
                  <a:pt x="0" y="1176833"/>
                </a:lnTo>
                <a:close/>
              </a:path>
            </a:pathLst>
          </a:custGeom>
          <a:solidFill>
            <a:srgbClr val="72CBB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Freeform 33"/>
          <p:cNvSpPr/>
          <p:nvPr/>
        </p:nvSpPr>
        <p:spPr>
          <a:xfrm>
            <a:off x="9528048" y="4811572"/>
            <a:ext cx="251460" cy="472745"/>
          </a:xfrm>
          <a:custGeom>
            <a:avLst/>
            <a:gdLst/>
            <a:ahLst/>
            <a:cxnLst/>
            <a:rect l="l" t="t" r="r" b="b"/>
            <a:pathLst>
              <a:path w="251460" h="472745">
                <a:moveTo>
                  <a:pt x="0" y="0"/>
                </a:moveTo>
                <a:lnTo>
                  <a:pt x="251460" y="120701"/>
                </a:lnTo>
                <a:lnTo>
                  <a:pt x="251460" y="472745"/>
                </a:lnTo>
                <a:lnTo>
                  <a:pt x="0" y="352044"/>
                </a:lnTo>
                <a:close/>
              </a:path>
            </a:pathLst>
          </a:custGeom>
          <a:solidFill>
            <a:srgbClr val="2E8B7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Freeform 34"/>
          <p:cNvSpPr/>
          <p:nvPr/>
        </p:nvSpPr>
        <p:spPr>
          <a:xfrm>
            <a:off x="10212019" y="5153558"/>
            <a:ext cx="251460" cy="472745"/>
          </a:xfrm>
          <a:custGeom>
            <a:avLst/>
            <a:gdLst/>
            <a:ahLst/>
            <a:cxnLst/>
            <a:rect l="l" t="t" r="r" b="b"/>
            <a:pathLst>
              <a:path w="251460" h="472745">
                <a:moveTo>
                  <a:pt x="0" y="0"/>
                </a:moveTo>
                <a:lnTo>
                  <a:pt x="251460" y="120701"/>
                </a:lnTo>
                <a:lnTo>
                  <a:pt x="251460" y="472745"/>
                </a:lnTo>
                <a:lnTo>
                  <a:pt x="0" y="352044"/>
                </a:lnTo>
                <a:close/>
              </a:path>
            </a:pathLst>
          </a:custGeom>
          <a:solidFill>
            <a:srgbClr val="2E8B7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Freeform 35"/>
          <p:cNvSpPr/>
          <p:nvPr/>
        </p:nvSpPr>
        <p:spPr>
          <a:xfrm>
            <a:off x="10895990" y="5495544"/>
            <a:ext cx="251460" cy="472744"/>
          </a:xfrm>
          <a:custGeom>
            <a:avLst/>
            <a:gdLst/>
            <a:ahLst/>
            <a:cxnLst/>
            <a:rect l="l" t="t" r="r" b="b"/>
            <a:pathLst>
              <a:path w="251460" h="472744">
                <a:moveTo>
                  <a:pt x="0" y="0"/>
                </a:moveTo>
                <a:lnTo>
                  <a:pt x="251460" y="120700"/>
                </a:lnTo>
                <a:lnTo>
                  <a:pt x="251460" y="472744"/>
                </a:lnTo>
                <a:lnTo>
                  <a:pt x="0" y="352044"/>
                </a:lnTo>
                <a:close/>
              </a:path>
            </a:pathLst>
          </a:custGeom>
          <a:solidFill>
            <a:srgbClr val="2E8B7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ectangle 36"/>
          <p:cNvSpPr/>
          <p:nvPr/>
        </p:nvSpPr>
        <p:spPr>
          <a:xfrm>
            <a:off x="9454896" y="1188720"/>
            <a:ext cx="4297680" cy="320040"/>
          </a:xfrm>
          <a:prstGeom prst="rect">
            <a:avLst/>
          </a:prstGeom>
          <a:solidFill>
            <a:srgbClr val="1C2D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9546336" y="1239012"/>
            <a:ext cx="4114800" cy="219456"/>
          </a:xfrm>
          <a:prstGeom prst="rect">
            <a:avLst/>
          </a:prstGeom>
          <a:noFill/>
        </p:spPr>
        <p:txBody>
          <a:bodyPr wrap="square" lIns="0" rIns="0" tIns="0" bIns="0">
            <a:spAutoFit/>
          </a:bodyPr>
          <a:lstStyle/>
          <a:p>
            <a:pPr>
              <a:lnSpc>
                <a:spcPct val="113000"/>
              </a:lnSpc>
              <a:spcAft>
                <a:spcPts val="0"/>
              </a:spcAft>
              <a:defRPr sz="1200" b="1">
                <a:solidFill>
                  <a:srgbClr val="54DFC0"/>
                </a:solidFill>
                <a:latin typeface="Noto Sans CJK KR"/>
              </a:defRPr>
            </a:pPr>
            <a:r>
              <a:t>CBP  /  FORECAST → DECISION</a:t>
            </a:r>
          </a:p>
        </p:txBody>
      </p:sp>
      <p:sp>
        <p:nvSpPr>
          <p:cNvPr id="39" name="Rectangle 38"/>
          <p:cNvSpPr/>
          <p:nvPr/>
        </p:nvSpPr>
        <p:spPr>
          <a:xfrm>
            <a:off x="9272016" y="6373368"/>
            <a:ext cx="4553712" cy="594360"/>
          </a:xfrm>
          <a:prstGeom prst="rect">
            <a:avLst/>
          </a:prstGeom>
          <a:solidFill>
            <a:srgbClr val="1C2D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9473184" y="6547104"/>
            <a:ext cx="4151376" cy="292608"/>
          </a:xfrm>
          <a:prstGeom prst="rect">
            <a:avLst/>
          </a:prstGeom>
          <a:noFill/>
        </p:spPr>
        <p:txBody>
          <a:bodyPr wrap="square" lIns="0" rIns="0" tIns="0" bIns="0">
            <a:spAutoFit/>
          </a:bodyPr>
          <a:lstStyle/>
          <a:p>
            <a:pPr>
              <a:lnSpc>
                <a:spcPct val="113000"/>
              </a:lnSpc>
              <a:spcAft>
                <a:spcPts val="0"/>
              </a:spcAft>
              <a:defRPr sz="1700" b="1">
                <a:solidFill>
                  <a:srgbClr val="54DFC0"/>
                </a:solidFill>
                <a:latin typeface="Noto Sans CJK KR"/>
              </a:defRPr>
            </a:pPr>
            <a:r>
              <a:t>잔여 수요 예측 + 운송 대안 비교</a:t>
            </a:r>
          </a:p>
        </p:txBody>
      </p:sp>
      <p:sp>
        <p:nvSpPr>
          <p:cNvPr id="41" name="TextBox 40"/>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두런두런 · 연구 제안 및 추천 프로토타입 · 내부 탄소예산은 기업이 정하는 관리 목표입니다.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01 / THE PROBLEM</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같은 80%여도,</a:t>
            </a:r>
          </a:p>
          <a:p>
            <a:pPr>
              <a:lnSpc>
                <a:spcPct val="113000"/>
              </a:lnSpc>
              <a:spcAft>
                <a:spcPts val="0"/>
              </a:spcAft>
              <a:defRPr sz="3600" b="1">
                <a:solidFill>
                  <a:srgbClr val="14243C"/>
                </a:solidFill>
                <a:latin typeface="Noto Sans CJK KR"/>
              </a:defRPr>
            </a:pPr>
            <a:r>
              <a:t>다음 선택은 달라야 합니다.</a:t>
            </a:r>
          </a:p>
        </p:txBody>
      </p:sp>
      <p:cxnSp>
        <p:nvCxnSpPr>
          <p:cNvPr id="5" name="Connector 4"/>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02</a:t>
            </a:r>
          </a:p>
        </p:txBody>
      </p:sp>
      <p:sp>
        <p:nvSpPr>
          <p:cNvPr id="8" name="Rectangle 7"/>
          <p:cNvSpPr/>
          <p:nvPr/>
        </p:nvSpPr>
        <p:spPr>
          <a:xfrm>
            <a:off x="713232" y="2743200"/>
            <a:ext cx="6437376" cy="428853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941832" y="2962656"/>
            <a:ext cx="5980176" cy="32004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33272" y="3012948"/>
            <a:ext cx="5797296" cy="219456"/>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남은 공급 부담이 큰 경우</a:t>
            </a:r>
          </a:p>
        </p:txBody>
      </p:sp>
      <p:sp>
        <p:nvSpPr>
          <p:cNvPr id="11" name="TextBox 10"/>
          <p:cNvSpPr txBox="1"/>
          <p:nvPr/>
        </p:nvSpPr>
        <p:spPr>
          <a:xfrm>
            <a:off x="996696" y="3547872"/>
            <a:ext cx="2194560" cy="868680"/>
          </a:xfrm>
          <a:prstGeom prst="rect">
            <a:avLst/>
          </a:prstGeom>
          <a:noFill/>
        </p:spPr>
        <p:txBody>
          <a:bodyPr wrap="square" lIns="0" rIns="0" tIns="0" bIns="0">
            <a:spAutoFit/>
          </a:bodyPr>
          <a:lstStyle/>
          <a:p>
            <a:pPr>
              <a:lnSpc>
                <a:spcPct val="113000"/>
              </a:lnSpc>
              <a:spcAft>
                <a:spcPts val="0"/>
              </a:spcAft>
              <a:defRPr sz="5800" b="1">
                <a:solidFill>
                  <a:srgbClr val="14243C"/>
                </a:solidFill>
                <a:latin typeface="Noto Sans CJK KR"/>
              </a:defRPr>
            </a:pPr>
            <a:r>
              <a:t>80%</a:t>
            </a:r>
          </a:p>
        </p:txBody>
      </p:sp>
      <p:sp>
        <p:nvSpPr>
          <p:cNvPr id="12" name="TextBox 11"/>
          <p:cNvSpPr txBox="1"/>
          <p:nvPr/>
        </p:nvSpPr>
        <p:spPr>
          <a:xfrm>
            <a:off x="3602736" y="3630168"/>
            <a:ext cx="3182112" cy="685800"/>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목표 1,000kg</a:t>
            </a:r>
          </a:p>
          <a:p>
            <a:pPr>
              <a:lnSpc>
                <a:spcPct val="113000"/>
              </a:lnSpc>
              <a:spcAft>
                <a:spcPts val="0"/>
              </a:spcAft>
              <a:defRPr sz="1800" b="0">
                <a:solidFill>
                  <a:srgbClr val="687D94"/>
                </a:solidFill>
                <a:latin typeface="Noto Sans CJK KR"/>
              </a:defRPr>
            </a:pPr>
            <a:r>
              <a:t>누적 배출 800kg</a:t>
            </a:r>
          </a:p>
        </p:txBody>
      </p:sp>
      <p:sp>
        <p:nvSpPr>
          <p:cNvPr id="13" name="Rectangle 12"/>
          <p:cNvSpPr/>
          <p:nvPr/>
        </p:nvSpPr>
        <p:spPr>
          <a:xfrm>
            <a:off x="1005840" y="4617720"/>
            <a:ext cx="4361688" cy="420624"/>
          </a:xfrm>
          <a:prstGeom prst="rect">
            <a:avLst/>
          </a:prstGeom>
          <a:solidFill>
            <a:srgbClr val="98B5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367527" y="4617720"/>
            <a:ext cx="581558" cy="420624"/>
          </a:xfrm>
          <a:prstGeom prst="rect">
            <a:avLst/>
          </a:prstGeom>
          <a:solidFill>
            <a:srgbClr val="E5B66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5949086" y="4617720"/>
            <a:ext cx="872337" cy="420624"/>
          </a:xfrm>
          <a:prstGeom prst="rect">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005840" y="5239512"/>
            <a:ext cx="5806440" cy="320040"/>
          </a:xfrm>
          <a:prstGeom prst="rect">
            <a:avLst/>
          </a:prstGeom>
          <a:noFill/>
        </p:spPr>
        <p:txBody>
          <a:bodyPr wrap="square" lIns="0" rIns="0" tIns="0" bIns="0">
            <a:spAutoFit/>
          </a:bodyPr>
          <a:lstStyle/>
          <a:p>
            <a:pPr>
              <a:lnSpc>
                <a:spcPct val="113000"/>
              </a:lnSpc>
              <a:spcAft>
                <a:spcPts val="0"/>
              </a:spcAft>
              <a:defRPr sz="1600" b="0">
                <a:solidFill>
                  <a:srgbClr val="687D94"/>
                </a:solidFill>
                <a:latin typeface="Noto Sans CJK KR"/>
              </a:defRPr>
            </a:pPr>
            <a:r>
              <a:t>미래 공급 150  +  오차 여유 20  +  현재 여유 30</a:t>
            </a:r>
          </a:p>
        </p:txBody>
      </p:sp>
      <p:cxnSp>
        <p:nvCxnSpPr>
          <p:cNvPr id="17" name="Connector 16"/>
          <p:cNvCxnSpPr/>
          <p:nvPr/>
        </p:nvCxnSpPr>
        <p:spPr>
          <a:xfrm>
            <a:off x="1005840" y="5760720"/>
            <a:ext cx="5833872"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1005840" y="6071616"/>
            <a:ext cx="4224528" cy="539496"/>
          </a:xfrm>
          <a:prstGeom prst="rect">
            <a:avLst/>
          </a:prstGeom>
          <a:noFill/>
        </p:spPr>
        <p:txBody>
          <a:bodyPr wrap="square" lIns="0" rIns="0" tIns="0" bIns="0">
            <a:spAutoFit/>
          </a:bodyPr>
          <a:lstStyle/>
          <a:p>
            <a:pPr>
              <a:lnSpc>
                <a:spcPct val="113000"/>
              </a:lnSpc>
              <a:spcAft>
                <a:spcPts val="0"/>
              </a:spcAft>
              <a:defRPr sz="2900" b="1">
                <a:solidFill>
                  <a:srgbClr val="087F70"/>
                </a:solidFill>
                <a:latin typeface="Noto Sans CJK KR"/>
              </a:defRPr>
            </a:pPr>
            <a:r>
              <a:t>현재 여유  30kg</a:t>
            </a:r>
          </a:p>
        </p:txBody>
      </p:sp>
      <p:sp>
        <p:nvSpPr>
          <p:cNvPr id="19" name="TextBox 18"/>
          <p:cNvSpPr txBox="1"/>
          <p:nvPr/>
        </p:nvSpPr>
        <p:spPr>
          <a:xfrm>
            <a:off x="5321808" y="6016752"/>
            <a:ext cx="1499616" cy="713232"/>
          </a:xfrm>
          <a:prstGeom prst="rect">
            <a:avLst/>
          </a:prstGeom>
          <a:noFill/>
        </p:spPr>
        <p:txBody>
          <a:bodyPr wrap="square" lIns="0" rIns="0" tIns="0" bIns="0">
            <a:spAutoFit/>
          </a:bodyPr>
          <a:lstStyle/>
          <a:p>
            <a:pPr algn="r">
              <a:lnSpc>
                <a:spcPct val="113000"/>
              </a:lnSpc>
              <a:spcAft>
                <a:spcPts val="0"/>
              </a:spcAft>
              <a:defRPr sz="4200" b="1">
                <a:solidFill>
                  <a:srgbClr val="087F70"/>
                </a:solidFill>
                <a:latin typeface="Noto Sans CJK KR"/>
              </a:defRPr>
            </a:pPr>
            <a:r>
              <a:t>C</a:t>
            </a:r>
          </a:p>
        </p:txBody>
      </p:sp>
      <p:sp>
        <p:nvSpPr>
          <p:cNvPr id="20" name="Rectangle 19"/>
          <p:cNvSpPr/>
          <p:nvPr/>
        </p:nvSpPr>
        <p:spPr>
          <a:xfrm>
            <a:off x="7470648" y="2743200"/>
            <a:ext cx="6437376" cy="428853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7699248" y="2962656"/>
            <a:ext cx="5980176" cy="32004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790688" y="3012948"/>
            <a:ext cx="5797296" cy="219456"/>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남은 공급 부담이 작은 경우</a:t>
            </a:r>
          </a:p>
        </p:txBody>
      </p:sp>
      <p:sp>
        <p:nvSpPr>
          <p:cNvPr id="23" name="TextBox 22"/>
          <p:cNvSpPr txBox="1"/>
          <p:nvPr/>
        </p:nvSpPr>
        <p:spPr>
          <a:xfrm>
            <a:off x="7754112" y="3547872"/>
            <a:ext cx="2194560" cy="868680"/>
          </a:xfrm>
          <a:prstGeom prst="rect">
            <a:avLst/>
          </a:prstGeom>
          <a:noFill/>
        </p:spPr>
        <p:txBody>
          <a:bodyPr wrap="square" lIns="0" rIns="0" tIns="0" bIns="0">
            <a:spAutoFit/>
          </a:bodyPr>
          <a:lstStyle/>
          <a:p>
            <a:pPr>
              <a:lnSpc>
                <a:spcPct val="113000"/>
              </a:lnSpc>
              <a:spcAft>
                <a:spcPts val="0"/>
              </a:spcAft>
              <a:defRPr sz="5800" b="1">
                <a:solidFill>
                  <a:srgbClr val="14243C"/>
                </a:solidFill>
                <a:latin typeface="Noto Sans CJK KR"/>
              </a:defRPr>
            </a:pPr>
            <a:r>
              <a:t>80%</a:t>
            </a:r>
          </a:p>
        </p:txBody>
      </p:sp>
      <p:sp>
        <p:nvSpPr>
          <p:cNvPr id="24" name="TextBox 23"/>
          <p:cNvSpPr txBox="1"/>
          <p:nvPr/>
        </p:nvSpPr>
        <p:spPr>
          <a:xfrm>
            <a:off x="10360152" y="3630168"/>
            <a:ext cx="3182112" cy="685800"/>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목표 1,000kg</a:t>
            </a:r>
          </a:p>
          <a:p>
            <a:pPr>
              <a:lnSpc>
                <a:spcPct val="113000"/>
              </a:lnSpc>
              <a:spcAft>
                <a:spcPts val="0"/>
              </a:spcAft>
              <a:defRPr sz="1800" b="0">
                <a:solidFill>
                  <a:srgbClr val="687D94"/>
                </a:solidFill>
                <a:latin typeface="Noto Sans CJK KR"/>
              </a:defRPr>
            </a:pPr>
            <a:r>
              <a:t>누적 배출 800kg</a:t>
            </a:r>
          </a:p>
        </p:txBody>
      </p:sp>
      <p:sp>
        <p:nvSpPr>
          <p:cNvPr id="25" name="Rectangle 24"/>
          <p:cNvSpPr/>
          <p:nvPr/>
        </p:nvSpPr>
        <p:spPr>
          <a:xfrm>
            <a:off x="7763256" y="4617720"/>
            <a:ext cx="581558" cy="420624"/>
          </a:xfrm>
          <a:prstGeom prst="rect">
            <a:avLst/>
          </a:prstGeom>
          <a:solidFill>
            <a:srgbClr val="98B5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8344814" y="4617720"/>
            <a:ext cx="581558" cy="420624"/>
          </a:xfrm>
          <a:prstGeom prst="rect">
            <a:avLst/>
          </a:prstGeom>
          <a:solidFill>
            <a:srgbClr val="E5B66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8926372" y="4617720"/>
            <a:ext cx="4652467" cy="420624"/>
          </a:xfrm>
          <a:prstGeom prst="rect">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763256" y="5239512"/>
            <a:ext cx="5806440" cy="320040"/>
          </a:xfrm>
          <a:prstGeom prst="rect">
            <a:avLst/>
          </a:prstGeom>
          <a:noFill/>
        </p:spPr>
        <p:txBody>
          <a:bodyPr wrap="square" lIns="0" rIns="0" tIns="0" bIns="0">
            <a:spAutoFit/>
          </a:bodyPr>
          <a:lstStyle/>
          <a:p>
            <a:pPr>
              <a:lnSpc>
                <a:spcPct val="113000"/>
              </a:lnSpc>
              <a:spcAft>
                <a:spcPts val="0"/>
              </a:spcAft>
              <a:defRPr sz="1600" b="0">
                <a:solidFill>
                  <a:srgbClr val="687D94"/>
                </a:solidFill>
                <a:latin typeface="Noto Sans CJK KR"/>
              </a:defRPr>
            </a:pPr>
            <a:r>
              <a:t>미래 공급 20  +  오차 여유 20  +  현재 여유 160</a:t>
            </a:r>
          </a:p>
        </p:txBody>
      </p:sp>
      <p:cxnSp>
        <p:nvCxnSpPr>
          <p:cNvPr id="29" name="Connector 28"/>
          <p:cNvCxnSpPr/>
          <p:nvPr/>
        </p:nvCxnSpPr>
        <p:spPr>
          <a:xfrm>
            <a:off x="7763256" y="5760720"/>
            <a:ext cx="5833872"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7763256" y="6071616"/>
            <a:ext cx="4224528" cy="539496"/>
          </a:xfrm>
          <a:prstGeom prst="rect">
            <a:avLst/>
          </a:prstGeom>
          <a:noFill/>
        </p:spPr>
        <p:txBody>
          <a:bodyPr wrap="square" lIns="0" rIns="0" tIns="0" bIns="0">
            <a:spAutoFit/>
          </a:bodyPr>
          <a:lstStyle/>
          <a:p>
            <a:pPr>
              <a:lnSpc>
                <a:spcPct val="113000"/>
              </a:lnSpc>
              <a:spcAft>
                <a:spcPts val="0"/>
              </a:spcAft>
              <a:defRPr sz="2900" b="1">
                <a:solidFill>
                  <a:srgbClr val="087F70"/>
                </a:solidFill>
                <a:latin typeface="Noto Sans CJK KR"/>
              </a:defRPr>
            </a:pPr>
            <a:r>
              <a:t>현재 여유  160kg</a:t>
            </a:r>
          </a:p>
        </p:txBody>
      </p:sp>
      <p:sp>
        <p:nvSpPr>
          <p:cNvPr id="31" name="TextBox 30"/>
          <p:cNvSpPr txBox="1"/>
          <p:nvPr/>
        </p:nvSpPr>
        <p:spPr>
          <a:xfrm>
            <a:off x="12079224" y="6016752"/>
            <a:ext cx="1499616" cy="713232"/>
          </a:xfrm>
          <a:prstGeom prst="rect">
            <a:avLst/>
          </a:prstGeom>
          <a:noFill/>
        </p:spPr>
        <p:txBody>
          <a:bodyPr wrap="square" lIns="0" rIns="0" tIns="0" bIns="0">
            <a:spAutoFit/>
          </a:bodyPr>
          <a:lstStyle/>
          <a:p>
            <a:pPr algn="r">
              <a:lnSpc>
                <a:spcPct val="113000"/>
              </a:lnSpc>
              <a:spcAft>
                <a:spcPts val="0"/>
              </a:spcAft>
              <a:defRPr sz="4200" b="1">
                <a:solidFill>
                  <a:srgbClr val="087F70"/>
                </a:solidFill>
                <a:latin typeface="Noto Sans CJK KR"/>
              </a:defRPr>
            </a:pPr>
            <a:r>
              <a:t>A</a:t>
            </a:r>
          </a:p>
        </p:txBody>
      </p:sp>
      <p:sp>
        <p:nvSpPr>
          <p:cNvPr id="32" name="TextBox 31"/>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가상 대조: 동일 후보 A(100kg), B(60kg), C(30kg). 확정 미정산 0kg, 오차 여유 20kg. 기간·단위 kgCO2e 동일. 기업 실적 아님.</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02 / THE RULE</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남은 공급의 배출을 남겨 두고,</a:t>
            </a:r>
          </a:p>
          <a:p>
            <a:pPr>
              <a:lnSpc>
                <a:spcPct val="113000"/>
              </a:lnSpc>
              <a:spcAft>
                <a:spcPts val="0"/>
              </a:spcAft>
              <a:defRPr sz="3600" b="1">
                <a:solidFill>
                  <a:srgbClr val="14243C"/>
                </a:solidFill>
                <a:latin typeface="Noto Sans CJK KR"/>
              </a:defRPr>
            </a:pPr>
            <a:r>
              <a:t>가능한 운송 중 가장 저렴한 안을 고릅니다.</a:t>
            </a:r>
          </a:p>
        </p:txBody>
      </p:sp>
      <p:cxnSp>
        <p:nvCxnSpPr>
          <p:cNvPr id="5" name="Connector 4"/>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03</a:t>
            </a:r>
          </a:p>
        </p:txBody>
      </p:sp>
      <p:sp>
        <p:nvSpPr>
          <p:cNvPr id="8" name="Rectangle 7"/>
          <p:cNvSpPr/>
          <p:nvPr/>
        </p:nvSpPr>
        <p:spPr>
          <a:xfrm>
            <a:off x="713232" y="2907792"/>
            <a:ext cx="2286000" cy="1682496"/>
          </a:xfrm>
          <a:prstGeom prst="rect">
            <a:avLst/>
          </a:prstGeom>
          <a:solidFill>
            <a:srgbClr val="101D3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86968" y="3136392"/>
            <a:ext cx="1938528" cy="274320"/>
          </a:xfrm>
          <a:prstGeom prst="rect">
            <a:avLst/>
          </a:prstGeom>
          <a:noFill/>
        </p:spPr>
        <p:txBody>
          <a:bodyPr wrap="square" lIns="0" rIns="0" tIns="0" bIns="0">
            <a:spAutoFit/>
          </a:bodyPr>
          <a:lstStyle/>
          <a:p>
            <a:pPr>
              <a:lnSpc>
                <a:spcPct val="113000"/>
              </a:lnSpc>
              <a:spcAft>
                <a:spcPts val="0"/>
              </a:spcAft>
              <a:defRPr sz="1500" b="1">
                <a:solidFill>
                  <a:srgbClr val="FFFFFF"/>
                </a:solidFill>
                <a:latin typeface="Noto Sans CJK KR"/>
              </a:defRPr>
            </a:pPr>
            <a:r>
              <a:t>기간 관리 목표</a:t>
            </a:r>
          </a:p>
        </p:txBody>
      </p:sp>
      <p:sp>
        <p:nvSpPr>
          <p:cNvPr id="10" name="TextBox 9"/>
          <p:cNvSpPr txBox="1"/>
          <p:nvPr/>
        </p:nvSpPr>
        <p:spPr>
          <a:xfrm>
            <a:off x="877824" y="3657600"/>
            <a:ext cx="1956816" cy="612648"/>
          </a:xfrm>
          <a:prstGeom prst="rect">
            <a:avLst/>
          </a:prstGeom>
          <a:noFill/>
        </p:spPr>
        <p:txBody>
          <a:bodyPr wrap="square" lIns="0" rIns="0" tIns="0" bIns="0">
            <a:spAutoFit/>
          </a:bodyPr>
          <a:lstStyle/>
          <a:p>
            <a:pPr>
              <a:lnSpc>
                <a:spcPct val="113000"/>
              </a:lnSpc>
              <a:spcAft>
                <a:spcPts val="0"/>
              </a:spcAft>
              <a:defRPr sz="3600" b="1">
                <a:solidFill>
                  <a:srgbClr val="FFFFFF"/>
                </a:solidFill>
                <a:latin typeface="Noto Sans CJK KR"/>
              </a:defRPr>
            </a:pPr>
            <a:r>
              <a:t>1,000</a:t>
            </a:r>
          </a:p>
        </p:txBody>
      </p:sp>
      <p:sp>
        <p:nvSpPr>
          <p:cNvPr id="11" name="Rectangle 10"/>
          <p:cNvSpPr/>
          <p:nvPr/>
        </p:nvSpPr>
        <p:spPr>
          <a:xfrm>
            <a:off x="3108960" y="2907792"/>
            <a:ext cx="2194560" cy="1682496"/>
          </a:xfrm>
          <a:prstGeom prst="rect">
            <a:avLst/>
          </a:prstGeom>
          <a:solidFill>
            <a:srgbClr val="DCE6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282696" y="3136392"/>
            <a:ext cx="1847088" cy="274320"/>
          </a:xfrm>
          <a:prstGeom prst="rect">
            <a:avLst/>
          </a:prstGeom>
          <a:noFill/>
        </p:spPr>
        <p:txBody>
          <a:bodyPr wrap="square" lIns="0" rIns="0" tIns="0" bIns="0">
            <a:spAutoFit/>
          </a:bodyPr>
          <a:lstStyle/>
          <a:p>
            <a:pPr>
              <a:lnSpc>
                <a:spcPct val="113000"/>
              </a:lnSpc>
              <a:spcAft>
                <a:spcPts val="0"/>
              </a:spcAft>
              <a:defRPr sz="1500" b="1">
                <a:solidFill>
                  <a:srgbClr val="14243C"/>
                </a:solidFill>
                <a:latin typeface="Noto Sans CJK KR"/>
              </a:defRPr>
            </a:pPr>
            <a:r>
              <a:t>실제 배출</a:t>
            </a:r>
          </a:p>
        </p:txBody>
      </p:sp>
      <p:sp>
        <p:nvSpPr>
          <p:cNvPr id="13" name="TextBox 12"/>
          <p:cNvSpPr txBox="1"/>
          <p:nvPr/>
        </p:nvSpPr>
        <p:spPr>
          <a:xfrm>
            <a:off x="3273552" y="3657600"/>
            <a:ext cx="1865376" cy="612648"/>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−700</a:t>
            </a:r>
          </a:p>
        </p:txBody>
      </p:sp>
      <p:sp>
        <p:nvSpPr>
          <p:cNvPr id="14" name="Rectangle 13"/>
          <p:cNvSpPr/>
          <p:nvPr/>
        </p:nvSpPr>
        <p:spPr>
          <a:xfrm>
            <a:off x="5413248" y="2907792"/>
            <a:ext cx="1920240" cy="1682496"/>
          </a:xfrm>
          <a:prstGeom prst="rect">
            <a:avLst/>
          </a:prstGeom>
          <a:solidFill>
            <a:srgbClr val="DCE6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586984" y="3136392"/>
            <a:ext cx="1572768" cy="274320"/>
          </a:xfrm>
          <a:prstGeom prst="rect">
            <a:avLst/>
          </a:prstGeom>
          <a:noFill/>
        </p:spPr>
        <p:txBody>
          <a:bodyPr wrap="square" lIns="0" rIns="0" tIns="0" bIns="0">
            <a:spAutoFit/>
          </a:bodyPr>
          <a:lstStyle/>
          <a:p>
            <a:pPr>
              <a:lnSpc>
                <a:spcPct val="113000"/>
              </a:lnSpc>
              <a:spcAft>
                <a:spcPts val="0"/>
              </a:spcAft>
              <a:defRPr sz="1500" b="1">
                <a:solidFill>
                  <a:srgbClr val="14243C"/>
                </a:solidFill>
                <a:latin typeface="Noto Sans CJK KR"/>
              </a:defRPr>
            </a:pPr>
            <a:r>
              <a:t>확정 운송</a:t>
            </a:r>
          </a:p>
        </p:txBody>
      </p:sp>
      <p:sp>
        <p:nvSpPr>
          <p:cNvPr id="16" name="TextBox 15"/>
          <p:cNvSpPr txBox="1"/>
          <p:nvPr/>
        </p:nvSpPr>
        <p:spPr>
          <a:xfrm>
            <a:off x="5577840" y="3657600"/>
            <a:ext cx="1591056" cy="612648"/>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−0</a:t>
            </a:r>
          </a:p>
        </p:txBody>
      </p:sp>
      <p:sp>
        <p:nvSpPr>
          <p:cNvPr id="17" name="Rectangle 16"/>
          <p:cNvSpPr/>
          <p:nvPr/>
        </p:nvSpPr>
        <p:spPr>
          <a:xfrm>
            <a:off x="7443216" y="2907792"/>
            <a:ext cx="2194560" cy="1682496"/>
          </a:xfrm>
          <a:prstGeom prst="rect">
            <a:avLst/>
          </a:prstGeom>
          <a:solidFill>
            <a:srgbClr val="A4C5D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616952" y="3136392"/>
            <a:ext cx="1847088" cy="274320"/>
          </a:xfrm>
          <a:prstGeom prst="rect">
            <a:avLst/>
          </a:prstGeom>
          <a:noFill/>
        </p:spPr>
        <p:txBody>
          <a:bodyPr wrap="square" lIns="0" rIns="0" tIns="0" bIns="0">
            <a:spAutoFit/>
          </a:bodyPr>
          <a:lstStyle/>
          <a:p>
            <a:pPr>
              <a:lnSpc>
                <a:spcPct val="113000"/>
              </a:lnSpc>
              <a:spcAft>
                <a:spcPts val="0"/>
              </a:spcAft>
              <a:defRPr sz="1500" b="1">
                <a:solidFill>
                  <a:srgbClr val="14243C"/>
                </a:solidFill>
                <a:latin typeface="Noto Sans CJK KR"/>
              </a:defRPr>
            </a:pPr>
            <a:r>
              <a:t>미래 공급</a:t>
            </a:r>
          </a:p>
        </p:txBody>
      </p:sp>
      <p:sp>
        <p:nvSpPr>
          <p:cNvPr id="19" name="TextBox 18"/>
          <p:cNvSpPr txBox="1"/>
          <p:nvPr/>
        </p:nvSpPr>
        <p:spPr>
          <a:xfrm>
            <a:off x="7607808" y="3657600"/>
            <a:ext cx="1865376" cy="612648"/>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−200</a:t>
            </a:r>
          </a:p>
        </p:txBody>
      </p:sp>
      <p:sp>
        <p:nvSpPr>
          <p:cNvPr id="20" name="Rectangle 19"/>
          <p:cNvSpPr/>
          <p:nvPr/>
        </p:nvSpPr>
        <p:spPr>
          <a:xfrm>
            <a:off x="9747504" y="2907792"/>
            <a:ext cx="1920240" cy="1682496"/>
          </a:xfrm>
          <a:prstGeom prst="rect">
            <a:avLst/>
          </a:prstGeom>
          <a:solidFill>
            <a:srgbClr val="F0D9B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921240" y="3136392"/>
            <a:ext cx="1572768" cy="274320"/>
          </a:xfrm>
          <a:prstGeom prst="rect">
            <a:avLst/>
          </a:prstGeom>
          <a:noFill/>
        </p:spPr>
        <p:txBody>
          <a:bodyPr wrap="square" lIns="0" rIns="0" tIns="0" bIns="0">
            <a:spAutoFit/>
          </a:bodyPr>
          <a:lstStyle/>
          <a:p>
            <a:pPr>
              <a:lnSpc>
                <a:spcPct val="113000"/>
              </a:lnSpc>
              <a:spcAft>
                <a:spcPts val="0"/>
              </a:spcAft>
              <a:defRPr sz="1500" b="1">
                <a:solidFill>
                  <a:srgbClr val="14243C"/>
                </a:solidFill>
                <a:latin typeface="Noto Sans CJK KR"/>
              </a:defRPr>
            </a:pPr>
            <a:r>
              <a:t>오차 여유</a:t>
            </a:r>
          </a:p>
        </p:txBody>
      </p:sp>
      <p:sp>
        <p:nvSpPr>
          <p:cNvPr id="22" name="TextBox 21"/>
          <p:cNvSpPr txBox="1"/>
          <p:nvPr/>
        </p:nvSpPr>
        <p:spPr>
          <a:xfrm>
            <a:off x="9912096" y="3657600"/>
            <a:ext cx="1591056" cy="612648"/>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−20</a:t>
            </a:r>
          </a:p>
        </p:txBody>
      </p:sp>
      <p:sp>
        <p:nvSpPr>
          <p:cNvPr id="23" name="Rectangle 22"/>
          <p:cNvSpPr/>
          <p:nvPr/>
        </p:nvSpPr>
        <p:spPr>
          <a:xfrm>
            <a:off x="11777472" y="2907792"/>
            <a:ext cx="2286000" cy="1682496"/>
          </a:xfrm>
          <a:prstGeom prst="rect">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1951208" y="3136392"/>
            <a:ext cx="1938528" cy="274320"/>
          </a:xfrm>
          <a:prstGeom prst="rect">
            <a:avLst/>
          </a:prstGeom>
          <a:noFill/>
        </p:spPr>
        <p:txBody>
          <a:bodyPr wrap="square" lIns="0" rIns="0" tIns="0" bIns="0">
            <a:spAutoFit/>
          </a:bodyPr>
          <a:lstStyle/>
          <a:p>
            <a:pPr>
              <a:lnSpc>
                <a:spcPct val="113000"/>
              </a:lnSpc>
              <a:spcAft>
                <a:spcPts val="0"/>
              </a:spcAft>
              <a:defRPr sz="1500" b="1">
                <a:solidFill>
                  <a:srgbClr val="FFFFFF"/>
                </a:solidFill>
                <a:latin typeface="Noto Sans CJK KR"/>
              </a:defRPr>
            </a:pPr>
            <a:r>
              <a:t>현재 여유</a:t>
            </a:r>
          </a:p>
        </p:txBody>
      </p:sp>
      <p:sp>
        <p:nvSpPr>
          <p:cNvPr id="25" name="TextBox 24"/>
          <p:cNvSpPr txBox="1"/>
          <p:nvPr/>
        </p:nvSpPr>
        <p:spPr>
          <a:xfrm>
            <a:off x="11942064" y="3657600"/>
            <a:ext cx="1956816" cy="612648"/>
          </a:xfrm>
          <a:prstGeom prst="rect">
            <a:avLst/>
          </a:prstGeom>
          <a:noFill/>
        </p:spPr>
        <p:txBody>
          <a:bodyPr wrap="square" lIns="0" rIns="0" tIns="0" bIns="0">
            <a:spAutoFit/>
          </a:bodyPr>
          <a:lstStyle/>
          <a:p>
            <a:pPr>
              <a:lnSpc>
                <a:spcPct val="113000"/>
              </a:lnSpc>
              <a:spcAft>
                <a:spcPts val="0"/>
              </a:spcAft>
              <a:defRPr sz="3600" b="1">
                <a:solidFill>
                  <a:srgbClr val="FFFFFF"/>
                </a:solidFill>
                <a:latin typeface="Noto Sans CJK KR"/>
              </a:defRPr>
            </a:pPr>
            <a:r>
              <a:t>80</a:t>
            </a:r>
          </a:p>
        </p:txBody>
      </p:sp>
      <p:sp>
        <p:nvSpPr>
          <p:cNvPr id="26" name="TextBox 25"/>
          <p:cNvSpPr txBox="1"/>
          <p:nvPr/>
        </p:nvSpPr>
        <p:spPr>
          <a:xfrm>
            <a:off x="914400" y="5138928"/>
            <a:ext cx="914400" cy="310896"/>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01</a:t>
            </a:r>
          </a:p>
        </p:txBody>
      </p:sp>
      <p:sp>
        <p:nvSpPr>
          <p:cNvPr id="27" name="TextBox 26"/>
          <p:cNvSpPr txBox="1"/>
          <p:nvPr/>
        </p:nvSpPr>
        <p:spPr>
          <a:xfrm>
            <a:off x="914400" y="5623560"/>
            <a:ext cx="3886200" cy="438912"/>
          </a:xfrm>
          <a:prstGeom prst="rect">
            <a:avLst/>
          </a:prstGeom>
          <a:noFill/>
        </p:spPr>
        <p:txBody>
          <a:bodyPr wrap="square" lIns="0" rIns="0" tIns="0" bIns="0">
            <a:spAutoFit/>
          </a:bodyPr>
          <a:lstStyle/>
          <a:p>
            <a:pPr>
              <a:lnSpc>
                <a:spcPct val="113000"/>
              </a:lnSpc>
              <a:spcAft>
                <a:spcPts val="0"/>
              </a:spcAft>
              <a:defRPr sz="2600" b="1">
                <a:solidFill>
                  <a:srgbClr val="14243C"/>
                </a:solidFill>
                <a:latin typeface="Noto Sans CJK KR"/>
              </a:defRPr>
            </a:pPr>
            <a:r>
              <a:t>공급 조건 확인</a:t>
            </a:r>
          </a:p>
        </p:txBody>
      </p:sp>
      <p:sp>
        <p:nvSpPr>
          <p:cNvPr id="28" name="TextBox 27"/>
          <p:cNvSpPr txBox="1"/>
          <p:nvPr/>
        </p:nvSpPr>
        <p:spPr>
          <a:xfrm>
            <a:off x="914400" y="6345936"/>
            <a:ext cx="3886200" cy="557784"/>
          </a:xfrm>
          <a:prstGeom prst="rect">
            <a:avLst/>
          </a:prstGeom>
          <a:noFill/>
        </p:spPr>
        <p:txBody>
          <a:bodyPr wrap="square" lIns="0" rIns="0" tIns="0" bIns="0">
            <a:spAutoFit/>
          </a:bodyPr>
          <a:lstStyle/>
          <a:p>
            <a:pPr>
              <a:lnSpc>
                <a:spcPct val="113000"/>
              </a:lnSpc>
              <a:spcAft>
                <a:spcPts val="0"/>
              </a:spcAft>
              <a:defRPr sz="1700" b="0">
                <a:solidFill>
                  <a:srgbClr val="687D94"/>
                </a:solidFill>
                <a:latin typeface="Noto Sans CJK KR"/>
              </a:defRPr>
            </a:pPr>
            <a:r>
              <a:t>수량 · 납기 · 규격 · 안전 · 가용성</a:t>
            </a:r>
          </a:p>
        </p:txBody>
      </p:sp>
      <p:sp>
        <p:nvSpPr>
          <p:cNvPr id="29" name="TextBox 28"/>
          <p:cNvSpPr txBox="1"/>
          <p:nvPr/>
        </p:nvSpPr>
        <p:spPr>
          <a:xfrm>
            <a:off x="5577840" y="5138928"/>
            <a:ext cx="914400" cy="310896"/>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02</a:t>
            </a:r>
          </a:p>
        </p:txBody>
      </p:sp>
      <p:sp>
        <p:nvSpPr>
          <p:cNvPr id="30" name="TextBox 29"/>
          <p:cNvSpPr txBox="1"/>
          <p:nvPr/>
        </p:nvSpPr>
        <p:spPr>
          <a:xfrm>
            <a:off x="5577840" y="5623560"/>
            <a:ext cx="3886200" cy="438912"/>
          </a:xfrm>
          <a:prstGeom prst="rect">
            <a:avLst/>
          </a:prstGeom>
          <a:noFill/>
        </p:spPr>
        <p:txBody>
          <a:bodyPr wrap="square" lIns="0" rIns="0" tIns="0" bIns="0">
            <a:spAutoFit/>
          </a:bodyPr>
          <a:lstStyle/>
          <a:p>
            <a:pPr>
              <a:lnSpc>
                <a:spcPct val="113000"/>
              </a:lnSpc>
              <a:spcAft>
                <a:spcPts val="0"/>
              </a:spcAft>
              <a:defRPr sz="2600" b="1">
                <a:solidFill>
                  <a:srgbClr val="14243C"/>
                </a:solidFill>
                <a:latin typeface="Noto Sans CJK KR"/>
              </a:defRPr>
            </a:pPr>
            <a:r>
              <a:t>운영 조건 확인</a:t>
            </a:r>
          </a:p>
        </p:txBody>
      </p:sp>
      <p:sp>
        <p:nvSpPr>
          <p:cNvPr id="31" name="TextBox 30"/>
          <p:cNvSpPr txBox="1"/>
          <p:nvPr/>
        </p:nvSpPr>
        <p:spPr>
          <a:xfrm>
            <a:off x="5577840" y="6345936"/>
            <a:ext cx="3886200" cy="557784"/>
          </a:xfrm>
          <a:prstGeom prst="rect">
            <a:avLst/>
          </a:prstGeom>
          <a:noFill/>
        </p:spPr>
        <p:txBody>
          <a:bodyPr wrap="square" lIns="0" rIns="0" tIns="0" bIns="0">
            <a:spAutoFit/>
          </a:bodyPr>
          <a:lstStyle/>
          <a:p>
            <a:pPr>
              <a:lnSpc>
                <a:spcPct val="113000"/>
              </a:lnSpc>
              <a:spcAft>
                <a:spcPts val="0"/>
              </a:spcAft>
              <a:defRPr sz="1700" b="0">
                <a:solidFill>
                  <a:srgbClr val="687D94"/>
                </a:solidFill>
                <a:latin typeface="Noto Sans CJK KR"/>
              </a:defRPr>
            </a:pPr>
            <a:r>
              <a:t>비용 상한 · 현재 배출 여유</a:t>
            </a:r>
          </a:p>
        </p:txBody>
      </p:sp>
      <p:sp>
        <p:nvSpPr>
          <p:cNvPr id="32" name="TextBox 31"/>
          <p:cNvSpPr txBox="1"/>
          <p:nvPr/>
        </p:nvSpPr>
        <p:spPr>
          <a:xfrm>
            <a:off x="10140696" y="5138928"/>
            <a:ext cx="914400" cy="310896"/>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03</a:t>
            </a:r>
          </a:p>
        </p:txBody>
      </p:sp>
      <p:sp>
        <p:nvSpPr>
          <p:cNvPr id="33" name="TextBox 32"/>
          <p:cNvSpPr txBox="1"/>
          <p:nvPr/>
        </p:nvSpPr>
        <p:spPr>
          <a:xfrm>
            <a:off x="10140696" y="5623560"/>
            <a:ext cx="3886200" cy="438912"/>
          </a:xfrm>
          <a:prstGeom prst="rect">
            <a:avLst/>
          </a:prstGeom>
          <a:noFill/>
        </p:spPr>
        <p:txBody>
          <a:bodyPr wrap="square" lIns="0" rIns="0" tIns="0" bIns="0">
            <a:spAutoFit/>
          </a:bodyPr>
          <a:lstStyle/>
          <a:p>
            <a:pPr>
              <a:lnSpc>
                <a:spcPct val="113000"/>
              </a:lnSpc>
              <a:spcAft>
                <a:spcPts val="0"/>
              </a:spcAft>
              <a:defRPr sz="2600" b="1">
                <a:solidFill>
                  <a:srgbClr val="14243C"/>
                </a:solidFill>
                <a:latin typeface="Noto Sans CJK KR"/>
              </a:defRPr>
            </a:pPr>
            <a:r>
              <a:t>최소비용 추천</a:t>
            </a:r>
          </a:p>
        </p:txBody>
      </p:sp>
      <p:sp>
        <p:nvSpPr>
          <p:cNvPr id="34" name="TextBox 33"/>
          <p:cNvSpPr txBox="1"/>
          <p:nvPr/>
        </p:nvSpPr>
        <p:spPr>
          <a:xfrm>
            <a:off x="10140696" y="6345936"/>
            <a:ext cx="3886200" cy="557784"/>
          </a:xfrm>
          <a:prstGeom prst="rect">
            <a:avLst/>
          </a:prstGeom>
          <a:noFill/>
        </p:spPr>
        <p:txBody>
          <a:bodyPr wrap="square" lIns="0" rIns="0" tIns="0" bIns="0">
            <a:spAutoFit/>
          </a:bodyPr>
          <a:lstStyle/>
          <a:p>
            <a:pPr>
              <a:lnSpc>
                <a:spcPct val="113000"/>
              </a:lnSpc>
              <a:spcAft>
                <a:spcPts val="0"/>
              </a:spcAft>
              <a:defRPr sz="1700" b="0">
                <a:solidFill>
                  <a:srgbClr val="687D94"/>
                </a:solidFill>
                <a:latin typeface="Noto Sans CJK KR"/>
              </a:defRPr>
            </a:pPr>
            <a:r>
              <a:t>추가비용 · 배출 차이 설명</a:t>
            </a:r>
          </a:p>
        </p:txBody>
      </p:sp>
      <p:sp>
        <p:nvSpPr>
          <p:cNvPr id="35" name="Right Arrow 34"/>
          <p:cNvSpPr/>
          <p:nvPr/>
        </p:nvSpPr>
        <p:spPr>
          <a:xfrm>
            <a:off x="4745736" y="5788152"/>
            <a:ext cx="448056"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ight Arrow 35"/>
          <p:cNvSpPr/>
          <p:nvPr/>
        </p:nvSpPr>
        <p:spPr>
          <a:xfrm>
            <a:off x="9345168" y="5788152"/>
            <a:ext cx="448056"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모든 수치는 설명용 가정 / kgCO2e. 내부 관리 목표는 운영 주체가 승인. 미래 공급은 현재 요청과 확정 운송을 제외해 중복 계산을 방지합니다.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D31"/>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54DFC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ADBED2"/>
                </a:solidFill>
                <a:latin typeface="Noto Sans CJK KR"/>
              </a:defRPr>
            </a:pPr>
            <a:r>
              <a:t>03 / ONE DECISION</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FFFFFF"/>
                </a:solidFill>
                <a:latin typeface="Noto Sans CJK KR"/>
              </a:defRPr>
            </a:pPr>
            <a:r>
              <a:t>배출 여유 80kg이면, B를 추천합니다.</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같은 요청: 파렛트 1,000매 · 8시간 이내 · 비용 상한 120만원. 아래 수치는 모두 가상 입력입니다.</a:t>
            </a:r>
          </a:p>
        </p:txBody>
      </p:sp>
      <p:cxnSp>
        <p:nvCxnSpPr>
          <p:cNvPr id="6" name="Connector 5"/>
          <p:cNvCxnSpPr/>
          <p:nvPr/>
        </p:nvCxnSpPr>
        <p:spPr>
          <a:xfrm>
            <a:off x="621792" y="7717536"/>
            <a:ext cx="13386816" cy="0"/>
          </a:xfrm>
          <a:prstGeom prst="line">
            <a:avLst/>
          </a:prstGeom>
          <a:ln w="12700">
            <a:solidFill>
              <a:srgbClr val="32465F"/>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두런두런  ·  제13회 유닛로드시스템(ULS) 창의성 공모전</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54DFC0"/>
                </a:solidFill>
                <a:latin typeface="Noto Sans CJK KR"/>
              </a:defRPr>
            </a:pPr>
            <a:r>
              <a:t>04</a:t>
            </a:r>
          </a:p>
        </p:txBody>
      </p:sp>
      <p:sp>
        <p:nvSpPr>
          <p:cNvPr id="9" name="TextBox 8"/>
          <p:cNvSpPr txBox="1"/>
          <p:nvPr/>
        </p:nvSpPr>
        <p:spPr>
          <a:xfrm>
            <a:off x="850392" y="2980944"/>
            <a:ext cx="1188720" cy="301752"/>
          </a:xfrm>
          <a:prstGeom prst="rect">
            <a:avLst/>
          </a:prstGeom>
          <a:noFill/>
        </p:spPr>
        <p:txBody>
          <a:bodyPr wrap="square" lIns="0" rIns="0" tIns="0" bIns="0">
            <a:spAutoFit/>
          </a:bodyPr>
          <a:lstStyle/>
          <a:p>
            <a:pPr>
              <a:lnSpc>
                <a:spcPct val="113000"/>
              </a:lnSpc>
              <a:spcAft>
                <a:spcPts val="0"/>
              </a:spcAft>
              <a:defRPr sz="1400" b="1">
                <a:solidFill>
                  <a:srgbClr val="ADBED2"/>
                </a:solidFill>
                <a:latin typeface="Noto Sans CJK KR"/>
              </a:defRPr>
            </a:pPr>
            <a:r>
              <a:t>후보</a:t>
            </a:r>
          </a:p>
        </p:txBody>
      </p:sp>
      <p:sp>
        <p:nvSpPr>
          <p:cNvPr id="10" name="TextBox 9"/>
          <p:cNvSpPr txBox="1"/>
          <p:nvPr/>
        </p:nvSpPr>
        <p:spPr>
          <a:xfrm>
            <a:off x="2286000" y="2980944"/>
            <a:ext cx="1645920" cy="301752"/>
          </a:xfrm>
          <a:prstGeom prst="rect">
            <a:avLst/>
          </a:prstGeom>
          <a:noFill/>
        </p:spPr>
        <p:txBody>
          <a:bodyPr wrap="square" lIns="0" rIns="0" tIns="0" bIns="0">
            <a:spAutoFit/>
          </a:bodyPr>
          <a:lstStyle/>
          <a:p>
            <a:pPr>
              <a:lnSpc>
                <a:spcPct val="113000"/>
              </a:lnSpc>
              <a:spcAft>
                <a:spcPts val="0"/>
              </a:spcAft>
              <a:defRPr sz="1400" b="1">
                <a:solidFill>
                  <a:srgbClr val="ADBED2"/>
                </a:solidFill>
                <a:latin typeface="Noto Sans CJK KR"/>
              </a:defRPr>
            </a:pPr>
            <a:r>
              <a:t>비용 / 만원</a:t>
            </a:r>
          </a:p>
        </p:txBody>
      </p:sp>
      <p:sp>
        <p:nvSpPr>
          <p:cNvPr id="11" name="TextBox 10"/>
          <p:cNvSpPr txBox="1"/>
          <p:nvPr/>
        </p:nvSpPr>
        <p:spPr>
          <a:xfrm>
            <a:off x="4270248" y="2980944"/>
            <a:ext cx="1737360" cy="301752"/>
          </a:xfrm>
          <a:prstGeom prst="rect">
            <a:avLst/>
          </a:prstGeom>
          <a:noFill/>
        </p:spPr>
        <p:txBody>
          <a:bodyPr wrap="square" lIns="0" rIns="0" tIns="0" bIns="0">
            <a:spAutoFit/>
          </a:bodyPr>
          <a:lstStyle/>
          <a:p>
            <a:pPr>
              <a:lnSpc>
                <a:spcPct val="113000"/>
              </a:lnSpc>
              <a:spcAft>
                <a:spcPts val="0"/>
              </a:spcAft>
              <a:defRPr sz="1400" b="1">
                <a:solidFill>
                  <a:srgbClr val="ADBED2"/>
                </a:solidFill>
                <a:latin typeface="Noto Sans CJK KR"/>
              </a:defRPr>
            </a:pPr>
            <a:r>
              <a:t>배출 / kg</a:t>
            </a:r>
          </a:p>
        </p:txBody>
      </p:sp>
      <p:sp>
        <p:nvSpPr>
          <p:cNvPr id="12" name="TextBox 11"/>
          <p:cNvSpPr txBox="1"/>
          <p:nvPr/>
        </p:nvSpPr>
        <p:spPr>
          <a:xfrm>
            <a:off x="6291072" y="2980944"/>
            <a:ext cx="1371600" cy="301752"/>
          </a:xfrm>
          <a:prstGeom prst="rect">
            <a:avLst/>
          </a:prstGeom>
          <a:noFill/>
        </p:spPr>
        <p:txBody>
          <a:bodyPr wrap="square" lIns="0" rIns="0" tIns="0" bIns="0">
            <a:spAutoFit/>
          </a:bodyPr>
          <a:lstStyle/>
          <a:p>
            <a:pPr>
              <a:lnSpc>
                <a:spcPct val="113000"/>
              </a:lnSpc>
              <a:spcAft>
                <a:spcPts val="0"/>
              </a:spcAft>
              <a:defRPr sz="1400" b="1">
                <a:solidFill>
                  <a:srgbClr val="ADBED2"/>
                </a:solidFill>
                <a:latin typeface="Noto Sans CJK KR"/>
              </a:defRPr>
            </a:pPr>
            <a:r>
              <a:t>도착 / h</a:t>
            </a:r>
          </a:p>
        </p:txBody>
      </p:sp>
      <p:sp>
        <p:nvSpPr>
          <p:cNvPr id="13" name="TextBox 12"/>
          <p:cNvSpPr txBox="1"/>
          <p:nvPr/>
        </p:nvSpPr>
        <p:spPr>
          <a:xfrm>
            <a:off x="905256" y="3712463"/>
            <a:ext cx="100584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A</a:t>
            </a:r>
          </a:p>
        </p:txBody>
      </p:sp>
      <p:sp>
        <p:nvSpPr>
          <p:cNvPr id="14" name="TextBox 13"/>
          <p:cNvSpPr txBox="1"/>
          <p:nvPr/>
        </p:nvSpPr>
        <p:spPr>
          <a:xfrm>
            <a:off x="2368296" y="3712463"/>
            <a:ext cx="155448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100</a:t>
            </a:r>
          </a:p>
        </p:txBody>
      </p:sp>
      <p:sp>
        <p:nvSpPr>
          <p:cNvPr id="15" name="TextBox 14"/>
          <p:cNvSpPr txBox="1"/>
          <p:nvPr/>
        </p:nvSpPr>
        <p:spPr>
          <a:xfrm>
            <a:off x="4471416" y="3712463"/>
            <a:ext cx="155448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100</a:t>
            </a:r>
          </a:p>
        </p:txBody>
      </p:sp>
      <p:sp>
        <p:nvSpPr>
          <p:cNvPr id="16" name="TextBox 15"/>
          <p:cNvSpPr txBox="1"/>
          <p:nvPr/>
        </p:nvSpPr>
        <p:spPr>
          <a:xfrm>
            <a:off x="6510528" y="3712463"/>
            <a:ext cx="100584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4</a:t>
            </a:r>
          </a:p>
        </p:txBody>
      </p:sp>
      <p:sp>
        <p:nvSpPr>
          <p:cNvPr id="17" name="TextBox 16"/>
          <p:cNvSpPr txBox="1"/>
          <p:nvPr/>
        </p:nvSpPr>
        <p:spPr>
          <a:xfrm>
            <a:off x="932688" y="6793992"/>
            <a:ext cx="6629400" cy="274320"/>
          </a:xfrm>
          <a:prstGeom prst="rect">
            <a:avLst/>
          </a:prstGeom>
          <a:noFill/>
        </p:spPr>
        <p:txBody>
          <a:bodyPr wrap="square" lIns="0" rIns="0" tIns="0" bIns="0">
            <a:spAutoFit/>
          </a:bodyPr>
          <a:lstStyle/>
          <a:p>
            <a:pPr>
              <a:lnSpc>
                <a:spcPct val="113000"/>
              </a:lnSpc>
              <a:spcAft>
                <a:spcPts val="0"/>
              </a:spcAft>
              <a:defRPr sz="1700" b="0">
                <a:solidFill>
                  <a:srgbClr val="ADBED2"/>
                </a:solidFill>
                <a:latin typeface="Noto Sans CJK KR"/>
              </a:defRPr>
            </a:pPr>
            <a:r>
              <a:t>A: 여유 초과     B·C: 가능 → 더 저렴한 B</a:t>
            </a:r>
          </a:p>
        </p:txBody>
      </p:sp>
      <p:sp>
        <p:nvSpPr>
          <p:cNvPr id="18" name="Rectangle 17"/>
          <p:cNvSpPr/>
          <p:nvPr/>
        </p:nvSpPr>
        <p:spPr>
          <a:xfrm>
            <a:off x="722376" y="4590288"/>
            <a:ext cx="7095744" cy="813816"/>
          </a:xfrm>
          <a:prstGeom prst="rect">
            <a:avLst/>
          </a:prstGeom>
          <a:solidFill>
            <a:srgbClr val="23463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05256" y="4700016"/>
            <a:ext cx="1005840" cy="512064"/>
          </a:xfrm>
          <a:prstGeom prst="rect">
            <a:avLst/>
          </a:prstGeom>
          <a:noFill/>
        </p:spPr>
        <p:txBody>
          <a:bodyPr wrap="square" lIns="0" rIns="0" tIns="0" bIns="0">
            <a:spAutoFit/>
          </a:bodyPr>
          <a:lstStyle/>
          <a:p>
            <a:pPr>
              <a:lnSpc>
                <a:spcPct val="113000"/>
              </a:lnSpc>
              <a:spcAft>
                <a:spcPts val="0"/>
              </a:spcAft>
              <a:defRPr sz="2900" b="1">
                <a:solidFill>
                  <a:srgbClr val="54DFC0"/>
                </a:solidFill>
                <a:latin typeface="Noto Sans CJK KR"/>
              </a:defRPr>
            </a:pPr>
            <a:r>
              <a:t>B</a:t>
            </a:r>
          </a:p>
        </p:txBody>
      </p:sp>
      <p:sp>
        <p:nvSpPr>
          <p:cNvPr id="20" name="TextBox 19"/>
          <p:cNvSpPr txBox="1"/>
          <p:nvPr/>
        </p:nvSpPr>
        <p:spPr>
          <a:xfrm>
            <a:off x="2368296" y="4700016"/>
            <a:ext cx="1554480" cy="512064"/>
          </a:xfrm>
          <a:prstGeom prst="rect">
            <a:avLst/>
          </a:prstGeom>
          <a:noFill/>
        </p:spPr>
        <p:txBody>
          <a:bodyPr wrap="square" lIns="0" rIns="0" tIns="0" bIns="0">
            <a:spAutoFit/>
          </a:bodyPr>
          <a:lstStyle/>
          <a:p>
            <a:pPr>
              <a:lnSpc>
                <a:spcPct val="113000"/>
              </a:lnSpc>
              <a:spcAft>
                <a:spcPts val="0"/>
              </a:spcAft>
              <a:defRPr sz="2900" b="1">
                <a:solidFill>
                  <a:srgbClr val="54DFC0"/>
                </a:solidFill>
                <a:latin typeface="Noto Sans CJK KR"/>
              </a:defRPr>
            </a:pPr>
            <a:r>
              <a:t>108</a:t>
            </a:r>
          </a:p>
        </p:txBody>
      </p:sp>
      <p:sp>
        <p:nvSpPr>
          <p:cNvPr id="21" name="TextBox 20"/>
          <p:cNvSpPr txBox="1"/>
          <p:nvPr/>
        </p:nvSpPr>
        <p:spPr>
          <a:xfrm>
            <a:off x="4471416" y="4700016"/>
            <a:ext cx="1554480" cy="512064"/>
          </a:xfrm>
          <a:prstGeom prst="rect">
            <a:avLst/>
          </a:prstGeom>
          <a:noFill/>
        </p:spPr>
        <p:txBody>
          <a:bodyPr wrap="square" lIns="0" rIns="0" tIns="0" bIns="0">
            <a:spAutoFit/>
          </a:bodyPr>
          <a:lstStyle/>
          <a:p>
            <a:pPr>
              <a:lnSpc>
                <a:spcPct val="113000"/>
              </a:lnSpc>
              <a:spcAft>
                <a:spcPts val="0"/>
              </a:spcAft>
              <a:defRPr sz="2900" b="1">
                <a:solidFill>
                  <a:srgbClr val="54DFC0"/>
                </a:solidFill>
                <a:latin typeface="Noto Sans CJK KR"/>
              </a:defRPr>
            </a:pPr>
            <a:r>
              <a:t>60</a:t>
            </a:r>
          </a:p>
        </p:txBody>
      </p:sp>
      <p:sp>
        <p:nvSpPr>
          <p:cNvPr id="22" name="TextBox 21"/>
          <p:cNvSpPr txBox="1"/>
          <p:nvPr/>
        </p:nvSpPr>
        <p:spPr>
          <a:xfrm>
            <a:off x="6510528" y="4700016"/>
            <a:ext cx="1005840" cy="512064"/>
          </a:xfrm>
          <a:prstGeom prst="rect">
            <a:avLst/>
          </a:prstGeom>
          <a:noFill/>
        </p:spPr>
        <p:txBody>
          <a:bodyPr wrap="square" lIns="0" rIns="0" tIns="0" bIns="0">
            <a:spAutoFit/>
          </a:bodyPr>
          <a:lstStyle/>
          <a:p>
            <a:pPr>
              <a:lnSpc>
                <a:spcPct val="113000"/>
              </a:lnSpc>
              <a:spcAft>
                <a:spcPts val="0"/>
              </a:spcAft>
              <a:defRPr sz="2900" b="1">
                <a:solidFill>
                  <a:srgbClr val="54DFC0"/>
                </a:solidFill>
                <a:latin typeface="Noto Sans CJK KR"/>
              </a:defRPr>
            </a:pPr>
            <a:r>
              <a:t>6</a:t>
            </a:r>
          </a:p>
        </p:txBody>
      </p:sp>
      <p:sp>
        <p:nvSpPr>
          <p:cNvPr id="23" name="TextBox 22"/>
          <p:cNvSpPr txBox="1"/>
          <p:nvPr/>
        </p:nvSpPr>
        <p:spPr>
          <a:xfrm>
            <a:off x="932688" y="6793992"/>
            <a:ext cx="6629400" cy="274320"/>
          </a:xfrm>
          <a:prstGeom prst="rect">
            <a:avLst/>
          </a:prstGeom>
          <a:noFill/>
        </p:spPr>
        <p:txBody>
          <a:bodyPr wrap="square" lIns="0" rIns="0" tIns="0" bIns="0">
            <a:spAutoFit/>
          </a:bodyPr>
          <a:lstStyle/>
          <a:p>
            <a:pPr>
              <a:lnSpc>
                <a:spcPct val="113000"/>
              </a:lnSpc>
              <a:spcAft>
                <a:spcPts val="0"/>
              </a:spcAft>
              <a:defRPr sz="1700" b="0">
                <a:solidFill>
                  <a:srgbClr val="ADBED2"/>
                </a:solidFill>
                <a:latin typeface="Noto Sans CJK KR"/>
              </a:defRPr>
            </a:pPr>
            <a:r>
              <a:t>A: 여유 초과     B·C: 가능 → 더 저렴한 B</a:t>
            </a:r>
          </a:p>
        </p:txBody>
      </p:sp>
      <p:sp>
        <p:nvSpPr>
          <p:cNvPr id="24" name="TextBox 23"/>
          <p:cNvSpPr txBox="1"/>
          <p:nvPr/>
        </p:nvSpPr>
        <p:spPr>
          <a:xfrm>
            <a:off x="905256" y="5687568"/>
            <a:ext cx="100584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C</a:t>
            </a:r>
          </a:p>
        </p:txBody>
      </p:sp>
      <p:sp>
        <p:nvSpPr>
          <p:cNvPr id="25" name="TextBox 24"/>
          <p:cNvSpPr txBox="1"/>
          <p:nvPr/>
        </p:nvSpPr>
        <p:spPr>
          <a:xfrm>
            <a:off x="2368296" y="5687568"/>
            <a:ext cx="155448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115</a:t>
            </a:r>
          </a:p>
        </p:txBody>
      </p:sp>
      <p:sp>
        <p:nvSpPr>
          <p:cNvPr id="26" name="TextBox 25"/>
          <p:cNvSpPr txBox="1"/>
          <p:nvPr/>
        </p:nvSpPr>
        <p:spPr>
          <a:xfrm>
            <a:off x="4471416" y="5687568"/>
            <a:ext cx="155448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30</a:t>
            </a:r>
          </a:p>
        </p:txBody>
      </p:sp>
      <p:sp>
        <p:nvSpPr>
          <p:cNvPr id="27" name="TextBox 26"/>
          <p:cNvSpPr txBox="1"/>
          <p:nvPr/>
        </p:nvSpPr>
        <p:spPr>
          <a:xfrm>
            <a:off x="6510528" y="5687568"/>
            <a:ext cx="100584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7</a:t>
            </a:r>
          </a:p>
        </p:txBody>
      </p:sp>
      <p:sp>
        <p:nvSpPr>
          <p:cNvPr id="28" name="TextBox 27"/>
          <p:cNvSpPr txBox="1"/>
          <p:nvPr/>
        </p:nvSpPr>
        <p:spPr>
          <a:xfrm>
            <a:off x="932688" y="6793992"/>
            <a:ext cx="6629400" cy="274320"/>
          </a:xfrm>
          <a:prstGeom prst="rect">
            <a:avLst/>
          </a:prstGeom>
          <a:noFill/>
        </p:spPr>
        <p:txBody>
          <a:bodyPr wrap="square" lIns="0" rIns="0" tIns="0" bIns="0">
            <a:spAutoFit/>
          </a:bodyPr>
          <a:lstStyle/>
          <a:p>
            <a:pPr>
              <a:lnSpc>
                <a:spcPct val="113000"/>
              </a:lnSpc>
              <a:spcAft>
                <a:spcPts val="0"/>
              </a:spcAft>
              <a:defRPr sz="1700" b="0">
                <a:solidFill>
                  <a:srgbClr val="ADBED2"/>
                </a:solidFill>
                <a:latin typeface="Noto Sans CJK KR"/>
              </a:defRPr>
            </a:pPr>
            <a:r>
              <a:t>A: 여유 초과     B·C: 가능 → 더 저렴한 B</a:t>
            </a:r>
          </a:p>
        </p:txBody>
      </p:sp>
      <p:cxnSp>
        <p:nvCxnSpPr>
          <p:cNvPr id="29" name="Connector 28"/>
          <p:cNvCxnSpPr/>
          <p:nvPr/>
        </p:nvCxnSpPr>
        <p:spPr>
          <a:xfrm>
            <a:off x="8156448" y="2962656"/>
            <a:ext cx="0" cy="4133088"/>
          </a:xfrm>
          <a:prstGeom prst="line">
            <a:avLst/>
          </a:prstGeom>
          <a:ln w="12700">
            <a:solidFill>
              <a:srgbClr val="3C516C"/>
            </a:solidFill>
          </a:ln>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8641080" y="3017520"/>
            <a:ext cx="5212080" cy="338328"/>
          </a:xfrm>
          <a:prstGeom prst="rect">
            <a:avLst/>
          </a:prstGeom>
          <a:noFill/>
        </p:spPr>
        <p:txBody>
          <a:bodyPr wrap="square" lIns="0" rIns="0" tIns="0" bIns="0">
            <a:spAutoFit/>
          </a:bodyPr>
          <a:lstStyle/>
          <a:p>
            <a:pPr>
              <a:lnSpc>
                <a:spcPct val="113000"/>
              </a:lnSpc>
              <a:spcAft>
                <a:spcPts val="0"/>
              </a:spcAft>
              <a:defRPr sz="1800" b="1">
                <a:solidFill>
                  <a:srgbClr val="ADBED2"/>
                </a:solidFill>
                <a:latin typeface="Noto Sans CJK KR"/>
              </a:defRPr>
            </a:pPr>
            <a:r>
              <a:t>허용 후보 중 최소비용</a:t>
            </a:r>
          </a:p>
        </p:txBody>
      </p:sp>
      <p:sp>
        <p:nvSpPr>
          <p:cNvPr id="31" name="TextBox 30"/>
          <p:cNvSpPr txBox="1"/>
          <p:nvPr/>
        </p:nvSpPr>
        <p:spPr>
          <a:xfrm>
            <a:off x="8595360" y="3584448"/>
            <a:ext cx="2103120" cy="1106424"/>
          </a:xfrm>
          <a:prstGeom prst="rect">
            <a:avLst/>
          </a:prstGeom>
          <a:noFill/>
        </p:spPr>
        <p:txBody>
          <a:bodyPr wrap="square" lIns="0" rIns="0" tIns="0" bIns="0">
            <a:spAutoFit/>
          </a:bodyPr>
          <a:lstStyle/>
          <a:p>
            <a:pPr>
              <a:lnSpc>
                <a:spcPct val="113000"/>
              </a:lnSpc>
              <a:spcAft>
                <a:spcPts val="0"/>
              </a:spcAft>
              <a:defRPr sz="7600" b="1">
                <a:solidFill>
                  <a:srgbClr val="54DFC0"/>
                </a:solidFill>
                <a:latin typeface="Noto Sans CJK KR"/>
              </a:defRPr>
            </a:pPr>
            <a:r>
              <a:t>B</a:t>
            </a:r>
          </a:p>
        </p:txBody>
      </p:sp>
      <p:sp>
        <p:nvSpPr>
          <p:cNvPr id="32" name="TextBox 31"/>
          <p:cNvSpPr txBox="1"/>
          <p:nvPr/>
        </p:nvSpPr>
        <p:spPr>
          <a:xfrm>
            <a:off x="10707624" y="3831336"/>
            <a:ext cx="3090672" cy="393192"/>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108만원 / 60kg</a:t>
            </a:r>
          </a:p>
        </p:txBody>
      </p:sp>
      <p:sp>
        <p:nvSpPr>
          <p:cNvPr id="33" name="TextBox 32"/>
          <p:cNvSpPr txBox="1"/>
          <p:nvPr/>
        </p:nvSpPr>
        <p:spPr>
          <a:xfrm>
            <a:off x="8668512" y="4983480"/>
            <a:ext cx="2350008" cy="256032"/>
          </a:xfrm>
          <a:prstGeom prst="rect">
            <a:avLst/>
          </a:prstGeom>
          <a:noFill/>
        </p:spPr>
        <p:txBody>
          <a:bodyPr wrap="square" lIns="0" rIns="0" tIns="0" bIns="0">
            <a:spAutoFit/>
          </a:bodyPr>
          <a:lstStyle/>
          <a:p>
            <a:pPr>
              <a:lnSpc>
                <a:spcPct val="113000"/>
              </a:lnSpc>
              <a:spcAft>
                <a:spcPts val="0"/>
              </a:spcAft>
              <a:defRPr sz="1200" b="1">
                <a:solidFill>
                  <a:srgbClr val="ADBED2"/>
                </a:solidFill>
                <a:latin typeface="Noto Sans CJK KR"/>
              </a:defRPr>
            </a:pPr>
            <a:r>
              <a:t>기본안 A 대비 비용</a:t>
            </a:r>
          </a:p>
        </p:txBody>
      </p:sp>
      <p:sp>
        <p:nvSpPr>
          <p:cNvPr id="34" name="TextBox 33"/>
          <p:cNvSpPr txBox="1"/>
          <p:nvPr/>
        </p:nvSpPr>
        <p:spPr>
          <a:xfrm>
            <a:off x="8668512" y="5349240"/>
            <a:ext cx="2350008" cy="576072"/>
          </a:xfrm>
          <a:prstGeom prst="rect">
            <a:avLst/>
          </a:prstGeom>
          <a:noFill/>
        </p:spPr>
        <p:txBody>
          <a:bodyPr wrap="square" lIns="0" rIns="0" tIns="0" bIns="0">
            <a:spAutoFit/>
          </a:bodyPr>
          <a:lstStyle/>
          <a:p>
            <a:pPr>
              <a:lnSpc>
                <a:spcPct val="113000"/>
              </a:lnSpc>
              <a:spcAft>
                <a:spcPts val="0"/>
              </a:spcAft>
              <a:defRPr sz="3200" b="1">
                <a:solidFill>
                  <a:srgbClr val="54DFC0"/>
                </a:solidFill>
                <a:latin typeface="Noto Sans CJK KR"/>
              </a:defRPr>
            </a:pPr>
            <a:r>
              <a:t>+8만원</a:t>
            </a:r>
          </a:p>
        </p:txBody>
      </p:sp>
      <p:sp>
        <p:nvSpPr>
          <p:cNvPr id="35" name="TextBox 34"/>
          <p:cNvSpPr txBox="1"/>
          <p:nvPr/>
        </p:nvSpPr>
        <p:spPr>
          <a:xfrm>
            <a:off x="11247120" y="4983480"/>
            <a:ext cx="2487168" cy="256032"/>
          </a:xfrm>
          <a:prstGeom prst="rect">
            <a:avLst/>
          </a:prstGeom>
          <a:noFill/>
        </p:spPr>
        <p:txBody>
          <a:bodyPr wrap="square" lIns="0" rIns="0" tIns="0" bIns="0">
            <a:spAutoFit/>
          </a:bodyPr>
          <a:lstStyle/>
          <a:p>
            <a:pPr>
              <a:lnSpc>
                <a:spcPct val="113000"/>
              </a:lnSpc>
              <a:spcAft>
                <a:spcPts val="0"/>
              </a:spcAft>
              <a:defRPr sz="1200" b="1">
                <a:solidFill>
                  <a:srgbClr val="ADBED2"/>
                </a:solidFill>
                <a:latin typeface="Noto Sans CJK KR"/>
              </a:defRPr>
            </a:pPr>
            <a:r>
              <a:t>예상 배출 차이</a:t>
            </a:r>
          </a:p>
        </p:txBody>
      </p:sp>
      <p:sp>
        <p:nvSpPr>
          <p:cNvPr id="36" name="TextBox 35"/>
          <p:cNvSpPr txBox="1"/>
          <p:nvPr/>
        </p:nvSpPr>
        <p:spPr>
          <a:xfrm>
            <a:off x="11247120" y="5349240"/>
            <a:ext cx="2487168" cy="576072"/>
          </a:xfrm>
          <a:prstGeom prst="rect">
            <a:avLst/>
          </a:prstGeom>
          <a:noFill/>
        </p:spPr>
        <p:txBody>
          <a:bodyPr wrap="square" lIns="0" rIns="0" tIns="0" bIns="0">
            <a:spAutoFit/>
          </a:bodyPr>
          <a:lstStyle/>
          <a:p>
            <a:pPr>
              <a:lnSpc>
                <a:spcPct val="113000"/>
              </a:lnSpc>
              <a:spcAft>
                <a:spcPts val="0"/>
              </a:spcAft>
              <a:defRPr sz="3200" b="1">
                <a:solidFill>
                  <a:srgbClr val="54DFC0"/>
                </a:solidFill>
                <a:latin typeface="Noto Sans CJK KR"/>
              </a:defRPr>
            </a:pPr>
            <a:r>
              <a:t>−40kg</a:t>
            </a:r>
          </a:p>
        </p:txBody>
      </p:sp>
      <p:sp>
        <p:nvSpPr>
          <p:cNvPr id="37" name="Rectangle 36"/>
          <p:cNvSpPr/>
          <p:nvPr/>
        </p:nvSpPr>
        <p:spPr>
          <a:xfrm>
            <a:off x="8641080" y="6345936"/>
            <a:ext cx="5230368" cy="704088"/>
          </a:xfrm>
          <a:prstGeom prst="rect">
            <a:avLst/>
          </a:prstGeom>
          <a:solidFill>
            <a:srgbClr val="1C2D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833104" y="6547104"/>
            <a:ext cx="4837176" cy="356616"/>
          </a:xfrm>
          <a:prstGeom prst="rect">
            <a:avLst/>
          </a:prstGeom>
          <a:noFill/>
        </p:spPr>
        <p:txBody>
          <a:bodyPr wrap="square" lIns="0" rIns="0" tIns="0" bIns="0">
            <a:spAutoFit/>
          </a:bodyPr>
          <a:lstStyle/>
          <a:p>
            <a:pPr>
              <a:lnSpc>
                <a:spcPct val="113000"/>
              </a:lnSpc>
              <a:spcAft>
                <a:spcPts val="0"/>
              </a:spcAft>
              <a:defRPr sz="1900" b="1">
                <a:solidFill>
                  <a:srgbClr val="FFFFFF"/>
                </a:solidFill>
                <a:latin typeface="Noto Sans CJK KR"/>
              </a:defRPr>
            </a:pPr>
            <a:r>
              <a:t>가능한 안이 없으면 → 예외 검토</a:t>
            </a:r>
          </a:p>
        </p:txBody>
      </p:sp>
      <p:sp>
        <p:nvSpPr>
          <p:cNvPr id="39" name="TextBox 38"/>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C는 배출이 더 낮지만 비용이 더 높습니다. 실제 감축 성과가 아닌 선택 원리의 설명입니다. 배출 단위 kgCO2e.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04 / PROTOTYPE → FIELD</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추천 계산은 구현했습니다.</a:t>
            </a:r>
          </a:p>
          <a:p>
            <a:pPr>
              <a:lnSpc>
                <a:spcPct val="113000"/>
              </a:lnSpc>
              <a:spcAft>
                <a:spcPts val="0"/>
              </a:spcAft>
              <a:defRPr sz="3600" b="1">
                <a:solidFill>
                  <a:srgbClr val="14243C"/>
                </a:solidFill>
                <a:latin typeface="Noto Sans CJK KR"/>
              </a:defRPr>
            </a:pPr>
            <a:r>
              <a:t>다음 검증은 실제 운영자료입니다.</a:t>
            </a:r>
          </a:p>
        </p:txBody>
      </p:sp>
      <p:cxnSp>
        <p:nvCxnSpPr>
          <p:cNvPr id="5" name="Connector 4"/>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05</a:t>
            </a:r>
          </a:p>
        </p:txBody>
      </p:sp>
      <p:sp>
        <p:nvSpPr>
          <p:cNvPr id="8" name="Rectangle 7"/>
          <p:cNvSpPr/>
          <p:nvPr/>
        </p:nvSpPr>
        <p:spPr>
          <a:xfrm>
            <a:off x="731520" y="2916936"/>
            <a:ext cx="4078224" cy="249631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50976" y="3127248"/>
            <a:ext cx="3639312" cy="283464"/>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01</a:t>
            </a:r>
          </a:p>
        </p:txBody>
      </p:sp>
      <p:sp>
        <p:nvSpPr>
          <p:cNvPr id="10" name="TextBox 9"/>
          <p:cNvSpPr txBox="1"/>
          <p:nvPr/>
        </p:nvSpPr>
        <p:spPr>
          <a:xfrm>
            <a:off x="950976" y="3657600"/>
            <a:ext cx="3639312" cy="475488"/>
          </a:xfrm>
          <a:prstGeom prst="rect">
            <a:avLst/>
          </a:prstGeom>
          <a:noFill/>
        </p:spPr>
        <p:txBody>
          <a:bodyPr wrap="square" lIns="0" rIns="0" tIns="0" bIns="0">
            <a:spAutoFit/>
          </a:bodyPr>
          <a:lstStyle/>
          <a:p>
            <a:pPr>
              <a:lnSpc>
                <a:spcPct val="113000"/>
              </a:lnSpc>
              <a:spcAft>
                <a:spcPts val="0"/>
              </a:spcAft>
              <a:defRPr sz="2800" b="1">
                <a:solidFill>
                  <a:srgbClr val="14243C"/>
                </a:solidFill>
                <a:latin typeface="Noto Sans CJK KR"/>
              </a:defRPr>
            </a:pPr>
            <a:r>
              <a:t>자료 연결</a:t>
            </a:r>
          </a:p>
        </p:txBody>
      </p:sp>
      <p:sp>
        <p:nvSpPr>
          <p:cNvPr id="11" name="TextBox 10"/>
          <p:cNvSpPr txBox="1"/>
          <p:nvPr/>
        </p:nvSpPr>
        <p:spPr>
          <a:xfrm>
            <a:off x="950976" y="4434840"/>
            <a:ext cx="3639312" cy="704088"/>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요청·재고·운송 후보</a:t>
            </a:r>
          </a:p>
          <a:p>
            <a:pPr>
              <a:lnSpc>
                <a:spcPct val="113000"/>
              </a:lnSpc>
              <a:spcAft>
                <a:spcPts val="0"/>
              </a:spcAft>
              <a:defRPr sz="1900" b="0">
                <a:solidFill>
                  <a:srgbClr val="687D94"/>
                </a:solidFill>
                <a:latin typeface="Noto Sans CJK KR"/>
              </a:defRPr>
            </a:pPr>
            <a:r>
              <a:t>비용·배출·납기 확인</a:t>
            </a:r>
          </a:p>
        </p:txBody>
      </p:sp>
      <p:sp>
        <p:nvSpPr>
          <p:cNvPr id="12" name="Rectangle 11"/>
          <p:cNvSpPr/>
          <p:nvPr/>
        </p:nvSpPr>
        <p:spPr>
          <a:xfrm>
            <a:off x="5276088" y="2916936"/>
            <a:ext cx="4078224" cy="249631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495544" y="3127248"/>
            <a:ext cx="3639312" cy="283464"/>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02</a:t>
            </a:r>
          </a:p>
        </p:txBody>
      </p:sp>
      <p:sp>
        <p:nvSpPr>
          <p:cNvPr id="14" name="TextBox 13"/>
          <p:cNvSpPr txBox="1"/>
          <p:nvPr/>
        </p:nvSpPr>
        <p:spPr>
          <a:xfrm>
            <a:off x="5495544" y="3657600"/>
            <a:ext cx="3639312" cy="475488"/>
          </a:xfrm>
          <a:prstGeom prst="rect">
            <a:avLst/>
          </a:prstGeom>
          <a:noFill/>
        </p:spPr>
        <p:txBody>
          <a:bodyPr wrap="square" lIns="0" rIns="0" tIns="0" bIns="0">
            <a:spAutoFit/>
          </a:bodyPr>
          <a:lstStyle/>
          <a:p>
            <a:pPr>
              <a:lnSpc>
                <a:spcPct val="113000"/>
              </a:lnSpc>
              <a:spcAft>
                <a:spcPts val="0"/>
              </a:spcAft>
              <a:defRPr sz="2800" b="1">
                <a:solidFill>
                  <a:srgbClr val="14243C"/>
                </a:solidFill>
                <a:latin typeface="Noto Sans CJK KR"/>
              </a:defRPr>
            </a:pPr>
            <a:r>
              <a:t>추천과 비교</a:t>
            </a:r>
          </a:p>
        </p:txBody>
      </p:sp>
      <p:sp>
        <p:nvSpPr>
          <p:cNvPr id="15" name="TextBox 14"/>
          <p:cNvSpPr txBox="1"/>
          <p:nvPr/>
        </p:nvSpPr>
        <p:spPr>
          <a:xfrm>
            <a:off x="5495544" y="4434840"/>
            <a:ext cx="3639312" cy="704088"/>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기존 담당자의 선택과</a:t>
            </a:r>
          </a:p>
          <a:p>
            <a:pPr>
              <a:lnSpc>
                <a:spcPct val="113000"/>
              </a:lnSpc>
              <a:spcAft>
                <a:spcPts val="0"/>
              </a:spcAft>
              <a:defRPr sz="1900" b="0">
                <a:solidFill>
                  <a:srgbClr val="687D94"/>
                </a:solidFill>
                <a:latin typeface="Noto Sans CJK KR"/>
              </a:defRPr>
            </a:pPr>
            <a:r>
              <a:t>실행 없이 비교</a:t>
            </a:r>
          </a:p>
        </p:txBody>
      </p:sp>
      <p:sp>
        <p:nvSpPr>
          <p:cNvPr id="16" name="Rectangle 15"/>
          <p:cNvSpPr/>
          <p:nvPr/>
        </p:nvSpPr>
        <p:spPr>
          <a:xfrm>
            <a:off x="9820656" y="2916936"/>
            <a:ext cx="4078224" cy="249631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040112" y="3127248"/>
            <a:ext cx="3639312" cy="283464"/>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03</a:t>
            </a:r>
          </a:p>
        </p:txBody>
      </p:sp>
      <p:sp>
        <p:nvSpPr>
          <p:cNvPr id="18" name="TextBox 17"/>
          <p:cNvSpPr txBox="1"/>
          <p:nvPr/>
        </p:nvSpPr>
        <p:spPr>
          <a:xfrm>
            <a:off x="10040112" y="3657600"/>
            <a:ext cx="3639312" cy="475488"/>
          </a:xfrm>
          <a:prstGeom prst="rect">
            <a:avLst/>
          </a:prstGeom>
          <a:noFill/>
        </p:spPr>
        <p:txBody>
          <a:bodyPr wrap="square" lIns="0" rIns="0" tIns="0" bIns="0">
            <a:spAutoFit/>
          </a:bodyPr>
          <a:lstStyle/>
          <a:p>
            <a:pPr>
              <a:lnSpc>
                <a:spcPct val="113000"/>
              </a:lnSpc>
              <a:spcAft>
                <a:spcPts val="0"/>
              </a:spcAft>
              <a:defRPr sz="2800" b="1">
                <a:solidFill>
                  <a:srgbClr val="14243C"/>
                </a:solidFill>
                <a:latin typeface="Noto Sans CJK KR"/>
              </a:defRPr>
            </a:pPr>
            <a:r>
              <a:t>제한 적용</a:t>
            </a:r>
          </a:p>
        </p:txBody>
      </p:sp>
      <p:sp>
        <p:nvSpPr>
          <p:cNvPr id="19" name="TextBox 18"/>
          <p:cNvSpPr txBox="1"/>
          <p:nvPr/>
        </p:nvSpPr>
        <p:spPr>
          <a:xfrm>
            <a:off x="10040112" y="4434840"/>
            <a:ext cx="3639312" cy="704088"/>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비용·공급 조건 안에서</a:t>
            </a:r>
          </a:p>
          <a:p>
            <a:pPr>
              <a:lnSpc>
                <a:spcPct val="113000"/>
              </a:lnSpc>
              <a:spcAft>
                <a:spcPts val="0"/>
              </a:spcAft>
              <a:defRPr sz="1900" b="0">
                <a:solidFill>
                  <a:srgbClr val="687D94"/>
                </a:solidFill>
                <a:latin typeface="Noto Sans CJK KR"/>
              </a:defRPr>
            </a:pPr>
            <a:r>
              <a:t>승인 후 적용</a:t>
            </a:r>
          </a:p>
        </p:txBody>
      </p:sp>
      <p:sp>
        <p:nvSpPr>
          <p:cNvPr id="20" name="Right Arrow 19"/>
          <p:cNvSpPr/>
          <p:nvPr/>
        </p:nvSpPr>
        <p:spPr>
          <a:xfrm>
            <a:off x="4882896" y="4096512"/>
            <a:ext cx="283464"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ight Arrow 20"/>
          <p:cNvSpPr/>
          <p:nvPr/>
        </p:nvSpPr>
        <p:spPr>
          <a:xfrm>
            <a:off x="9427464" y="4096512"/>
            <a:ext cx="283464"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731520" y="5751576"/>
            <a:ext cx="13167360" cy="1261872"/>
          </a:xfrm>
          <a:prstGeom prst="rect">
            <a:avLst/>
          </a:prstGeom>
          <a:solidFill>
            <a:srgbClr val="101D3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78408" y="5980176"/>
            <a:ext cx="3675887" cy="274320"/>
          </a:xfrm>
          <a:prstGeom prst="rect">
            <a:avLst/>
          </a:prstGeom>
          <a:noFill/>
        </p:spPr>
        <p:txBody>
          <a:bodyPr wrap="square" lIns="0" rIns="0" tIns="0" bIns="0">
            <a:spAutoFit/>
          </a:bodyPr>
          <a:lstStyle/>
          <a:p>
            <a:pPr>
              <a:lnSpc>
                <a:spcPct val="113000"/>
              </a:lnSpc>
              <a:spcAft>
                <a:spcPts val="0"/>
              </a:spcAft>
              <a:defRPr sz="1500" b="1">
                <a:solidFill>
                  <a:srgbClr val="ADBED2"/>
                </a:solidFill>
                <a:latin typeface="Noto Sans CJK KR"/>
              </a:defRPr>
            </a:pPr>
            <a:r>
              <a:t>함께 검증할 네 가지</a:t>
            </a:r>
          </a:p>
        </p:txBody>
      </p:sp>
      <p:sp>
        <p:nvSpPr>
          <p:cNvPr id="24" name="TextBox 23"/>
          <p:cNvSpPr txBox="1"/>
          <p:nvPr/>
        </p:nvSpPr>
        <p:spPr>
          <a:xfrm>
            <a:off x="978408" y="6419088"/>
            <a:ext cx="12298680" cy="402336"/>
          </a:xfrm>
          <a:prstGeom prst="rect">
            <a:avLst/>
          </a:prstGeom>
          <a:noFill/>
        </p:spPr>
        <p:txBody>
          <a:bodyPr wrap="square" lIns="0" rIns="0" tIns="0" bIns="0">
            <a:spAutoFit/>
          </a:bodyPr>
          <a:lstStyle/>
          <a:p>
            <a:pPr>
              <a:lnSpc>
                <a:spcPct val="113000"/>
              </a:lnSpc>
              <a:spcAft>
                <a:spcPts val="0"/>
              </a:spcAft>
              <a:defRPr sz="2700" b="1">
                <a:solidFill>
                  <a:srgbClr val="FFFFFF"/>
                </a:solidFill>
                <a:latin typeface="Noto Sans CJK KR"/>
              </a:defRPr>
            </a:pPr>
            <a:r>
              <a:t>정시 공급   ·   총비용   ·   실제 배출   ·   기간 목표 초과</a:t>
            </a:r>
          </a:p>
        </p:txBody>
      </p:sp>
      <p:sp>
        <p:nvSpPr>
          <p:cNvPr id="25" name="TextBox 24"/>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구현: 후보 검사·여유 계산·추천·예외 출력. 현장 예측·배차·승인 장부는 미연동. 적용 범위: 동일 풀링망의 호환 파렛트.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CBP | 다음 운송까지 보는 파렛트 탄소예산</dc:title>
  <dc:subject>제13회 ULS 창의성 공모전 본선 · 원안 기반 4분 발표</dc:subject>
  <dc:creator>두런두런</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
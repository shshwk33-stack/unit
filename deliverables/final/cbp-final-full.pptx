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00:00–00:25</a:t>
            </a:r>
          </a:p>
          <a:p>
            <a:r>
              <a:t>안녕하십니까. 두런두런의 CBP, 다음 운송까지 보는 파렛트 탄소예산을 제안합니다. 파렛트는 다시 쓰는 자산이지만, 필요한 곳으로 옮기는 운송은 계속 필요합니다. 저희는 기업이 정한 탄소 감축 목표를, 다음 파렛트 운송을 고르는 판단에 연결하고자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00:25–01:15</a:t>
            </a:r>
          </a:p>
          <a:p>
            <a:r>
              <a:t>핵심은 이 질문입니다. 탄소예산을 똑같이 팔십 퍼센트 썼다면, 항상 같은 운송을 골라도 될까요? 가상 사례로 보겠습니다. 천 킬로그램 중 팔백을 썼어도, 앞으로 필요한 공급의 예상 배출이 백오십이면 오차 여유 이십을 빼고 지금 쓸 수 있는 양은 삼십입니다. 반대로 남은 공급의 예상 배출이 이십이라면 지금 쓸 수 있는 양은 백육십입니다. 같은 팔십 퍼센트라도 선택은 달라져야 합니다. 그래서 사용률뿐 아니라 앞으로 처리할 물량을 함께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01:15–02:05</a:t>
            </a:r>
          </a:p>
          <a:p>
            <a:r>
              <a:t>방법은 단순합니다. 기업이 정한 기간 관리 목표에서 이미 쓴 양, 확정된 운송, 남은 공급의 예상 배출과 오차 여유를 뺍니다. 이렇게 현재 요청의 배출 여유를 계산합니다. 여기서 탄소예산은 법정 배출권이 아니라 기업이 승인하는 내부 관리 목표입니다. 로지스올이 이미 이런 배차 예산을 쓴다는 전제도 아닙니다. 수량과 납기, 규격과 안전, 비용 한도를 먼저 지키고, 배출 여유까지 만족하는 후보 중 가장 저렴한 안을 추천합니다.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02:05–03:10</a:t>
            </a:r>
          </a:p>
          <a:p>
            <a:r>
              <a:t>지금 배출 여유가 팔십 킬로그램이라고 하겠습니다. 동일한 파렛트 천 매를 여덟 시간 안에 공급하는 세 운송안입니다. A는 백만 원에 백 킬로그램, B는 백팔만 원에 육십, C는 백십오만 원에 삼십입니다. A는 배출 여유를 넘고, B와 C는 가능합니다. 그러면 가장 저렴한 B를 고릅니다. 기본안보다 팔만 원을 더 쓰고 예상 배출을 사십 킬로그램 줄이는 선택입니다. 이 숫자는 실적이 아니라 작동 원리를 보여 주는 가정입니다. 만약 어떤 후보도 여유에 맞지 않으면 공급을 자동으로 끊지 않습니다. 가능한 최소배출 대안과 부족량을 보여 주고 담당자가 예외를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03:10–03:50</a:t>
            </a:r>
          </a:p>
          <a:p>
            <a:r>
              <a:t>후보 검사와 추천, 예외 판단을 계산하는 프로토타입은 구현했습니다. 다만 실제 기업 데이터와 배차는 아직 연결하지 않았습니다. 다음 검증은 동일 풀링망의 호환 파렛트부터, 과거 자료와 실행 없는 추천으로 시작합니다. 탄소뿐 아니라 납기, 총비용, 목표 초과를 함께 보겠습니다. 예측이 틀리면 목표를 넘을 수도 있어 그 실패 조건까지 공개했습니다. 탄소 가계부를 쓰는 데서 끝내지 않고, 남은 공급까지 생각해서 다음 운송을 고르게 돕겠습니다.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확인 범위를 구분합니다. 회사가 비용만 본다거나 월별 탄소예산을 이미 운영한다고 주장하지 않습니다. 특정 업계 최초성은 검증하지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목표는 예를 들어 비교 가능한 기준 배출량에 감축률을 적용해 구성할 수 있습니다. 물량 변화가 크면 절대량과 원단위를 함께 봅니다. 목표를 설정하지 않은 기업에 예산을 강제하지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F는 예상 원단위와 잔여 수요를 곱해 합산하는 외부 입력입니다. 이번 구현은 예측 모델이 아니라 그 입력을 사용한 의사결정 규칙입니다. 동시 요청의 중복 예약 방지는 시스템 연동 때 추가해야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10kg은 오차 여유를 포함한 계획 기준 부족입니다. 실제 배출이 이미 초과했다는 의미가 아닙니다. C는 점추정 기준 990kg이고 여유 포함 평가량은 1010kg입니다.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공차 활용이 비용과 탄소를 함께 낮출 가능성은 있습니다. 그러나 우회와 추가 하중, 대기, 상하차가 반영되어야 합니다. 배분된 배출과 물리적인 추가 배출은 같은 수치가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비용 우선보다 CBP는 167만원 더 쓰고 830kg 적게 배출합니다. 이 숫자를 실제 절감률로 사용하지 않습니다. 현재 잔여량 정책의 후반 8건은 예외 승인을 가정해 공급을 유지합니다.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예산 여유 안에서 매번 선택하더라도 실제 배출 오차로 초과할 수 있습니다. 배출 추정의 편향을 보정하고 U를 재검토해야 합니다. 목표 준수 보장을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현재는 계산 규칙과 합성 사례를 확인한 단계입니다. 실제 데이터 재생과 그림자 운영을 통해 현장 효과를 확인해야 합니다. 같은 정보를 가진 정책과 비교하고 이후 재고·차량 상태 변화도 추적해야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FINAL / CARBON BUDGET POOLING</a:t>
            </a:r>
          </a:p>
        </p:txBody>
      </p:sp>
      <p:cxnSp>
        <p:nvCxnSpPr>
          <p:cNvPr id="4" name="Connector 3"/>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6" name="TextBox 5"/>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01</a:t>
            </a:r>
          </a:p>
        </p:txBody>
      </p:sp>
      <p:sp>
        <p:nvSpPr>
          <p:cNvPr id="7" name="TextBox 6"/>
          <p:cNvSpPr txBox="1"/>
          <p:nvPr/>
        </p:nvSpPr>
        <p:spPr>
          <a:xfrm>
            <a:off x="694944" y="1188720"/>
            <a:ext cx="8348472" cy="1975104"/>
          </a:xfrm>
          <a:prstGeom prst="rect">
            <a:avLst/>
          </a:prstGeom>
          <a:noFill/>
        </p:spPr>
        <p:txBody>
          <a:bodyPr wrap="square" lIns="0" rIns="0" tIns="0" bIns="0">
            <a:spAutoFit/>
          </a:bodyPr>
          <a:lstStyle/>
          <a:p>
            <a:pPr>
              <a:lnSpc>
                <a:spcPct val="113000"/>
              </a:lnSpc>
              <a:spcAft>
                <a:spcPts val="0"/>
              </a:spcAft>
              <a:defRPr sz="4600" b="1">
                <a:solidFill>
                  <a:srgbClr val="FFFFFF"/>
                </a:solidFill>
                <a:latin typeface="Noto Sans CJK KR"/>
              </a:defRPr>
            </a:pPr>
            <a:r>
              <a:t>다음 운송까지 보는</a:t>
            </a:r>
          </a:p>
          <a:p>
            <a:pPr>
              <a:lnSpc>
                <a:spcPct val="113000"/>
              </a:lnSpc>
              <a:spcAft>
                <a:spcPts val="0"/>
              </a:spcAft>
              <a:defRPr sz="4600" b="1">
                <a:solidFill>
                  <a:srgbClr val="FFFFFF"/>
                </a:solidFill>
                <a:latin typeface="Noto Sans CJK KR"/>
              </a:defRPr>
            </a:pPr>
            <a:r>
              <a:t>파렛트 탄소예산</a:t>
            </a:r>
          </a:p>
        </p:txBody>
      </p:sp>
      <p:sp>
        <p:nvSpPr>
          <p:cNvPr id="8" name="TextBox 7"/>
          <p:cNvSpPr txBox="1"/>
          <p:nvPr/>
        </p:nvSpPr>
        <p:spPr>
          <a:xfrm>
            <a:off x="749808" y="3639312"/>
            <a:ext cx="7132320" cy="429768"/>
          </a:xfrm>
          <a:prstGeom prst="rect">
            <a:avLst/>
          </a:prstGeom>
          <a:noFill/>
        </p:spPr>
        <p:txBody>
          <a:bodyPr wrap="square" lIns="0" rIns="0" tIns="0" bIns="0">
            <a:spAutoFit/>
          </a:bodyPr>
          <a:lstStyle/>
          <a:p>
            <a:pPr>
              <a:lnSpc>
                <a:spcPct val="113000"/>
              </a:lnSpc>
              <a:spcAft>
                <a:spcPts val="0"/>
              </a:spcAft>
              <a:defRPr sz="2200" b="1">
                <a:solidFill>
                  <a:srgbClr val="54DFC0"/>
                </a:solidFill>
                <a:latin typeface="Noto Sans CJK KR"/>
              </a:defRPr>
            </a:pPr>
            <a:r>
              <a:t>남은 탄소를 계산하고, 남은 공급을 준비한다.</a:t>
            </a:r>
          </a:p>
        </p:txBody>
      </p:sp>
      <p:sp>
        <p:nvSpPr>
          <p:cNvPr id="9" name="TextBox 8"/>
          <p:cNvSpPr txBox="1"/>
          <p:nvPr/>
        </p:nvSpPr>
        <p:spPr>
          <a:xfrm>
            <a:off x="758952" y="4517136"/>
            <a:ext cx="7040880" cy="969264"/>
          </a:xfrm>
          <a:prstGeom prst="rect">
            <a:avLst/>
          </a:prstGeom>
          <a:noFill/>
        </p:spPr>
        <p:txBody>
          <a:bodyPr wrap="square" lIns="0" rIns="0" tIns="0" bIns="0">
            <a:spAutoFit/>
          </a:bodyPr>
          <a:lstStyle/>
          <a:p>
            <a:pPr>
              <a:lnSpc>
                <a:spcPct val="113000"/>
              </a:lnSpc>
              <a:spcAft>
                <a:spcPts val="0"/>
              </a:spcAft>
              <a:defRPr sz="2300" b="0">
                <a:solidFill>
                  <a:srgbClr val="ADBED2"/>
                </a:solidFill>
                <a:latin typeface="Noto Sans CJK KR"/>
              </a:defRPr>
            </a:pPr>
            <a:r>
              <a:t>기간 감축 목표를</a:t>
            </a:r>
          </a:p>
          <a:p>
            <a:pPr>
              <a:lnSpc>
                <a:spcPct val="113000"/>
              </a:lnSpc>
              <a:spcAft>
                <a:spcPts val="0"/>
              </a:spcAft>
              <a:defRPr sz="2300" b="0">
                <a:solidFill>
                  <a:srgbClr val="ADBED2"/>
                </a:solidFill>
                <a:latin typeface="Noto Sans CJK KR"/>
              </a:defRPr>
            </a:pPr>
            <a:r>
              <a:t>다음 파렛트 운송의 선택으로 연결합니다.</a:t>
            </a:r>
          </a:p>
        </p:txBody>
      </p:sp>
      <p:cxnSp>
        <p:nvCxnSpPr>
          <p:cNvPr id="10" name="Connector 9"/>
          <p:cNvCxnSpPr/>
          <p:nvPr/>
        </p:nvCxnSpPr>
        <p:spPr>
          <a:xfrm>
            <a:off x="758952" y="5925312"/>
            <a:ext cx="6665975" cy="0"/>
          </a:xfrm>
          <a:prstGeom prst="line">
            <a:avLst/>
          </a:prstGeom>
          <a:ln w="12700">
            <a:solidFill>
              <a:srgbClr val="38506B"/>
            </a:solidFill>
          </a:ln>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768096" y="6245352"/>
            <a:ext cx="2103120"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LOOK AHEAD</a:t>
            </a:r>
          </a:p>
        </p:txBody>
      </p:sp>
      <p:sp>
        <p:nvSpPr>
          <p:cNvPr id="12" name="TextBox 11"/>
          <p:cNvSpPr txBox="1"/>
          <p:nvPr/>
        </p:nvSpPr>
        <p:spPr>
          <a:xfrm>
            <a:off x="768096" y="6611112"/>
            <a:ext cx="2103120"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남은 공급</a:t>
            </a:r>
          </a:p>
        </p:txBody>
      </p:sp>
      <p:sp>
        <p:nvSpPr>
          <p:cNvPr id="13" name="TextBox 12"/>
          <p:cNvSpPr txBox="1"/>
          <p:nvPr/>
        </p:nvSpPr>
        <p:spPr>
          <a:xfrm>
            <a:off x="3255264" y="6245352"/>
            <a:ext cx="2103120"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DECIDE</a:t>
            </a:r>
          </a:p>
        </p:txBody>
      </p:sp>
      <p:sp>
        <p:nvSpPr>
          <p:cNvPr id="14" name="TextBox 13"/>
          <p:cNvSpPr txBox="1"/>
          <p:nvPr/>
        </p:nvSpPr>
        <p:spPr>
          <a:xfrm>
            <a:off x="3255264" y="6611112"/>
            <a:ext cx="2103120"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현재 운송</a:t>
            </a:r>
          </a:p>
        </p:txBody>
      </p:sp>
      <p:sp>
        <p:nvSpPr>
          <p:cNvPr id="15" name="TextBox 14"/>
          <p:cNvSpPr txBox="1"/>
          <p:nvPr/>
        </p:nvSpPr>
        <p:spPr>
          <a:xfrm>
            <a:off x="5678424" y="6245352"/>
            <a:ext cx="2103120"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EXPLAIN</a:t>
            </a:r>
          </a:p>
        </p:txBody>
      </p:sp>
      <p:sp>
        <p:nvSpPr>
          <p:cNvPr id="16" name="TextBox 15"/>
          <p:cNvSpPr txBox="1"/>
          <p:nvPr/>
        </p:nvSpPr>
        <p:spPr>
          <a:xfrm>
            <a:off x="5678424" y="6611112"/>
            <a:ext cx="2103120"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선택 이유</a:t>
            </a:r>
          </a:p>
        </p:txBody>
      </p:sp>
      <p:sp>
        <p:nvSpPr>
          <p:cNvPr id="17" name="Oval 16"/>
          <p:cNvSpPr/>
          <p:nvPr/>
        </p:nvSpPr>
        <p:spPr>
          <a:xfrm>
            <a:off x="9418320" y="1920240"/>
            <a:ext cx="146304" cy="146304"/>
          </a:xfrm>
          <a:prstGeom prst="ellipse">
            <a:avLst/>
          </a:prstGeom>
          <a:solidFill>
            <a:srgbClr val="58718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a:off x="9491472" y="1993392"/>
            <a:ext cx="1984248" cy="2029968"/>
          </a:xfrm>
          <a:prstGeom prst="line">
            <a:avLst/>
          </a:prstGeom>
          <a:ln w="22860">
            <a:solidFill>
              <a:srgbClr val="344D67"/>
            </a:solidFill>
          </a:ln>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13533120" y="2651760"/>
            <a:ext cx="146304" cy="146304"/>
          </a:xfrm>
          <a:prstGeom prst="ellipse">
            <a:avLst/>
          </a:prstGeom>
          <a:solidFill>
            <a:srgbClr val="58718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flipH="1">
            <a:off x="11475720" y="2724912"/>
            <a:ext cx="2130552" cy="1298448"/>
          </a:xfrm>
          <a:prstGeom prst="line">
            <a:avLst/>
          </a:prstGeom>
          <a:ln w="22860">
            <a:solidFill>
              <a:srgbClr val="344D67"/>
            </a:solidFill>
          </a:ln>
        </p:spPr>
        <p:style>
          <a:lnRef idx="2">
            <a:schemeClr val="accent1"/>
          </a:lnRef>
          <a:fillRef idx="0">
            <a:schemeClr val="accent1"/>
          </a:fillRef>
          <a:effectRef idx="0">
            <a:schemeClr val="accent1"/>
          </a:effectRef>
          <a:fontRef idx="minor">
            <a:schemeClr val="tx1"/>
          </a:fontRef>
        </p:style>
      </p:cxnSp>
      <p:sp>
        <p:nvSpPr>
          <p:cNvPr id="21" name="Oval 20"/>
          <p:cNvSpPr/>
          <p:nvPr/>
        </p:nvSpPr>
        <p:spPr>
          <a:xfrm>
            <a:off x="9326880" y="5669280"/>
            <a:ext cx="146304" cy="146304"/>
          </a:xfrm>
          <a:prstGeom prst="ellipse">
            <a:avLst/>
          </a:prstGeom>
          <a:solidFill>
            <a:srgbClr val="58718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flipV="1">
            <a:off x="9400032" y="4023360"/>
            <a:ext cx="2075688" cy="1719072"/>
          </a:xfrm>
          <a:prstGeom prst="line">
            <a:avLst/>
          </a:prstGeom>
          <a:ln w="22860">
            <a:solidFill>
              <a:srgbClr val="344D67"/>
            </a:solidFill>
          </a:ln>
        </p:spPr>
        <p:style>
          <a:lnRef idx="2">
            <a:schemeClr val="accent1"/>
          </a:lnRef>
          <a:fillRef idx="0">
            <a:schemeClr val="accent1"/>
          </a:fillRef>
          <a:effectRef idx="0">
            <a:schemeClr val="accent1"/>
          </a:effectRef>
          <a:fontRef idx="minor">
            <a:schemeClr val="tx1"/>
          </a:fontRef>
        </p:style>
      </p:cxnSp>
      <p:sp>
        <p:nvSpPr>
          <p:cNvPr id="23" name="Oval 22"/>
          <p:cNvSpPr/>
          <p:nvPr/>
        </p:nvSpPr>
        <p:spPr>
          <a:xfrm>
            <a:off x="13441680" y="6035040"/>
            <a:ext cx="146304" cy="146304"/>
          </a:xfrm>
          <a:prstGeom prst="ellipse">
            <a:avLst/>
          </a:prstGeom>
          <a:solidFill>
            <a:srgbClr val="58718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4" name="Connector 23"/>
          <p:cNvCxnSpPr/>
          <p:nvPr/>
        </p:nvCxnSpPr>
        <p:spPr>
          <a:xfrm flipH="1" flipV="1">
            <a:off x="11475720" y="4023360"/>
            <a:ext cx="2039112" cy="2084832"/>
          </a:xfrm>
          <a:prstGeom prst="line">
            <a:avLst/>
          </a:prstGeom>
          <a:ln w="22860">
            <a:solidFill>
              <a:srgbClr val="344D67"/>
            </a:solidFill>
          </a:ln>
        </p:spPr>
        <p:style>
          <a:lnRef idx="2">
            <a:schemeClr val="accent1"/>
          </a:lnRef>
          <a:fillRef idx="0">
            <a:schemeClr val="accent1"/>
          </a:fillRef>
          <a:effectRef idx="0">
            <a:schemeClr val="accent1"/>
          </a:effectRef>
          <a:fontRef idx="minor">
            <a:schemeClr val="tx1"/>
          </a:fontRef>
        </p:style>
      </p:cxnSp>
      <p:sp>
        <p:nvSpPr>
          <p:cNvPr id="25" name="Freeform 24"/>
          <p:cNvSpPr/>
          <p:nvPr/>
        </p:nvSpPr>
        <p:spPr>
          <a:xfrm>
            <a:off x="9326880" y="3403396"/>
            <a:ext cx="2383840" cy="1186892"/>
          </a:xfrm>
          <a:custGeom>
            <a:avLst/>
            <a:gdLst/>
            <a:ahLst/>
            <a:cxnLst/>
            <a:rect l="l" t="t" r="r" b="b"/>
            <a:pathLst>
              <a:path w="2383840" h="1186892">
                <a:moveTo>
                  <a:pt x="0" y="985724"/>
                </a:moveTo>
                <a:lnTo>
                  <a:pt x="1991563" y="0"/>
                </a:lnTo>
                <a:lnTo>
                  <a:pt x="2383840" y="191110"/>
                </a:lnTo>
                <a:lnTo>
                  <a:pt x="392277" y="1186892"/>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Freeform 25"/>
          <p:cNvSpPr/>
          <p:nvPr/>
        </p:nvSpPr>
        <p:spPr>
          <a:xfrm>
            <a:off x="9326880" y="4389120"/>
            <a:ext cx="392277" cy="382219"/>
          </a:xfrm>
          <a:custGeom>
            <a:avLst/>
            <a:gdLst/>
            <a:ahLst/>
            <a:cxnLst/>
            <a:rect l="l" t="t" r="r" b="b"/>
            <a:pathLst>
              <a:path w="392277" h="382219">
                <a:moveTo>
                  <a:pt x="0" y="0"/>
                </a:moveTo>
                <a:lnTo>
                  <a:pt x="392277" y="201168"/>
                </a:lnTo>
                <a:lnTo>
                  <a:pt x="392277"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reeform 26"/>
          <p:cNvSpPr/>
          <p:nvPr/>
        </p:nvSpPr>
        <p:spPr>
          <a:xfrm>
            <a:off x="9719157" y="3594506"/>
            <a:ext cx="1991563" cy="1176833"/>
          </a:xfrm>
          <a:custGeom>
            <a:avLst/>
            <a:gdLst/>
            <a:ahLst/>
            <a:cxnLst/>
            <a:rect l="l" t="t" r="r" b="b"/>
            <a:pathLst>
              <a:path w="1991563" h="1176833">
                <a:moveTo>
                  <a:pt x="0" y="995782"/>
                </a:moveTo>
                <a:lnTo>
                  <a:pt x="1991563" y="0"/>
                </a:lnTo>
                <a:lnTo>
                  <a:pt x="1991563" y="181051"/>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Freeform 27"/>
          <p:cNvSpPr/>
          <p:nvPr/>
        </p:nvSpPr>
        <p:spPr>
          <a:xfrm>
            <a:off x="10010851" y="3745382"/>
            <a:ext cx="2383841" cy="1186891"/>
          </a:xfrm>
          <a:custGeom>
            <a:avLst/>
            <a:gdLst/>
            <a:ahLst/>
            <a:cxnLst/>
            <a:rect l="l" t="t" r="r" b="b"/>
            <a:pathLst>
              <a:path w="2383841" h="1186891">
                <a:moveTo>
                  <a:pt x="0" y="985723"/>
                </a:moveTo>
                <a:lnTo>
                  <a:pt x="1991563" y="0"/>
                </a:lnTo>
                <a:lnTo>
                  <a:pt x="2383841" y="191109"/>
                </a:lnTo>
                <a:lnTo>
                  <a:pt x="392277" y="1186891"/>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Freeform 28"/>
          <p:cNvSpPr/>
          <p:nvPr/>
        </p:nvSpPr>
        <p:spPr>
          <a:xfrm>
            <a:off x="10010851" y="4731105"/>
            <a:ext cx="392277" cy="382219"/>
          </a:xfrm>
          <a:custGeom>
            <a:avLst/>
            <a:gdLst/>
            <a:ahLst/>
            <a:cxnLst/>
            <a:rect l="l" t="t" r="r" b="b"/>
            <a:pathLst>
              <a:path w="392277" h="382219">
                <a:moveTo>
                  <a:pt x="0" y="0"/>
                </a:moveTo>
                <a:lnTo>
                  <a:pt x="392277" y="201168"/>
                </a:lnTo>
                <a:lnTo>
                  <a:pt x="392277"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Freeform 29"/>
          <p:cNvSpPr/>
          <p:nvPr/>
        </p:nvSpPr>
        <p:spPr>
          <a:xfrm>
            <a:off x="10403128" y="3936491"/>
            <a:ext cx="1991564" cy="1176833"/>
          </a:xfrm>
          <a:custGeom>
            <a:avLst/>
            <a:gdLst/>
            <a:ahLst/>
            <a:cxnLst/>
            <a:rect l="l" t="t" r="r" b="b"/>
            <a:pathLst>
              <a:path w="1991564" h="1176833">
                <a:moveTo>
                  <a:pt x="0" y="995782"/>
                </a:moveTo>
                <a:lnTo>
                  <a:pt x="1991564" y="0"/>
                </a:lnTo>
                <a:lnTo>
                  <a:pt x="1991564" y="181052"/>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10694822" y="4087368"/>
            <a:ext cx="2383841" cy="1186891"/>
          </a:xfrm>
          <a:custGeom>
            <a:avLst/>
            <a:gdLst/>
            <a:ahLst/>
            <a:cxnLst/>
            <a:rect l="l" t="t" r="r" b="b"/>
            <a:pathLst>
              <a:path w="2383841" h="1186891">
                <a:moveTo>
                  <a:pt x="0" y="985723"/>
                </a:moveTo>
                <a:lnTo>
                  <a:pt x="1991563" y="0"/>
                </a:lnTo>
                <a:lnTo>
                  <a:pt x="2383841" y="191109"/>
                </a:lnTo>
                <a:lnTo>
                  <a:pt x="392278" y="1186891"/>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reeform 31"/>
          <p:cNvSpPr/>
          <p:nvPr/>
        </p:nvSpPr>
        <p:spPr>
          <a:xfrm>
            <a:off x="10694822" y="5073091"/>
            <a:ext cx="392278" cy="382219"/>
          </a:xfrm>
          <a:custGeom>
            <a:avLst/>
            <a:gdLst/>
            <a:ahLst/>
            <a:cxnLst/>
            <a:rect l="l" t="t" r="r" b="b"/>
            <a:pathLst>
              <a:path w="392278" h="382219">
                <a:moveTo>
                  <a:pt x="0" y="0"/>
                </a:moveTo>
                <a:lnTo>
                  <a:pt x="392278" y="201168"/>
                </a:lnTo>
                <a:lnTo>
                  <a:pt x="392278"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reeform 32"/>
          <p:cNvSpPr/>
          <p:nvPr/>
        </p:nvSpPr>
        <p:spPr>
          <a:xfrm>
            <a:off x="11087100" y="4278477"/>
            <a:ext cx="1991563" cy="1176833"/>
          </a:xfrm>
          <a:custGeom>
            <a:avLst/>
            <a:gdLst/>
            <a:ahLst/>
            <a:cxnLst/>
            <a:rect l="l" t="t" r="r" b="b"/>
            <a:pathLst>
              <a:path w="1991563" h="1176833">
                <a:moveTo>
                  <a:pt x="0" y="995782"/>
                </a:moveTo>
                <a:lnTo>
                  <a:pt x="1991563" y="0"/>
                </a:lnTo>
                <a:lnTo>
                  <a:pt x="1991563" y="181051"/>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reeform 33"/>
          <p:cNvSpPr/>
          <p:nvPr/>
        </p:nvSpPr>
        <p:spPr>
          <a:xfrm>
            <a:off x="9528048" y="4811572"/>
            <a:ext cx="251460" cy="472745"/>
          </a:xfrm>
          <a:custGeom>
            <a:avLst/>
            <a:gdLst/>
            <a:ahLst/>
            <a:cxnLst/>
            <a:rect l="l" t="t" r="r" b="b"/>
            <a:pathLst>
              <a:path w="251460" h="472745">
                <a:moveTo>
                  <a:pt x="0" y="0"/>
                </a:moveTo>
                <a:lnTo>
                  <a:pt x="251460" y="120701"/>
                </a:lnTo>
                <a:lnTo>
                  <a:pt x="251460" y="472745"/>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reeform 34"/>
          <p:cNvSpPr/>
          <p:nvPr/>
        </p:nvSpPr>
        <p:spPr>
          <a:xfrm>
            <a:off x="10212019" y="5153558"/>
            <a:ext cx="251460" cy="472745"/>
          </a:xfrm>
          <a:custGeom>
            <a:avLst/>
            <a:gdLst/>
            <a:ahLst/>
            <a:cxnLst/>
            <a:rect l="l" t="t" r="r" b="b"/>
            <a:pathLst>
              <a:path w="251460" h="472745">
                <a:moveTo>
                  <a:pt x="0" y="0"/>
                </a:moveTo>
                <a:lnTo>
                  <a:pt x="251460" y="120701"/>
                </a:lnTo>
                <a:lnTo>
                  <a:pt x="251460" y="472745"/>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Freeform 35"/>
          <p:cNvSpPr/>
          <p:nvPr/>
        </p:nvSpPr>
        <p:spPr>
          <a:xfrm>
            <a:off x="10895990" y="5495544"/>
            <a:ext cx="251460" cy="472744"/>
          </a:xfrm>
          <a:custGeom>
            <a:avLst/>
            <a:gdLst/>
            <a:ahLst/>
            <a:cxnLst/>
            <a:rect l="l" t="t" r="r" b="b"/>
            <a:pathLst>
              <a:path w="251460" h="472744">
                <a:moveTo>
                  <a:pt x="0" y="0"/>
                </a:moveTo>
                <a:lnTo>
                  <a:pt x="251460" y="120700"/>
                </a:lnTo>
                <a:lnTo>
                  <a:pt x="251460" y="472744"/>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9454896" y="1188720"/>
            <a:ext cx="4297680" cy="320040"/>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546336" y="1239012"/>
            <a:ext cx="4114800" cy="219456"/>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FORECAST → DECISION</a:t>
            </a:r>
          </a:p>
        </p:txBody>
      </p:sp>
      <p:sp>
        <p:nvSpPr>
          <p:cNvPr id="39" name="Rectangle 38"/>
          <p:cNvSpPr/>
          <p:nvPr/>
        </p:nvSpPr>
        <p:spPr>
          <a:xfrm>
            <a:off x="9272016" y="6373368"/>
            <a:ext cx="4553712" cy="594360"/>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9473184" y="6547104"/>
            <a:ext cx="4151376" cy="292608"/>
          </a:xfrm>
          <a:prstGeom prst="rect">
            <a:avLst/>
          </a:prstGeom>
          <a:noFill/>
        </p:spPr>
        <p:txBody>
          <a:bodyPr wrap="square" lIns="0" rIns="0" tIns="0" bIns="0">
            <a:spAutoFit/>
          </a:bodyPr>
          <a:lstStyle/>
          <a:p>
            <a:pPr>
              <a:lnSpc>
                <a:spcPct val="113000"/>
              </a:lnSpc>
              <a:spcAft>
                <a:spcPts val="0"/>
              </a:spcAft>
              <a:defRPr sz="1700" b="1">
                <a:solidFill>
                  <a:srgbClr val="54DFC0"/>
                </a:solidFill>
                <a:latin typeface="Noto Sans CJK KR"/>
              </a:defRPr>
            </a:pPr>
            <a:r>
              <a:t>잔여 수요 예측 + 운송 대안 비교</a:t>
            </a:r>
          </a:p>
        </p:txBody>
      </p:sp>
      <p:sp>
        <p:nvSpPr>
          <p:cNvPr id="41" name="TextBox 40"/>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연구 제안 및 추천 프로토타입 · 내부 탄소예산은 기업이 정하는 관리 목표입니다.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01 / THE PROBLEM</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같은 80%여도,</a:t>
            </a:r>
          </a:p>
          <a:p>
            <a:pPr>
              <a:lnSpc>
                <a:spcPct val="113000"/>
              </a:lnSpc>
              <a:spcAft>
                <a:spcPts val="0"/>
              </a:spcAft>
              <a:defRPr sz="3600" b="1">
                <a:solidFill>
                  <a:srgbClr val="14243C"/>
                </a:solidFill>
                <a:latin typeface="Noto Sans CJK KR"/>
              </a:defRPr>
            </a:pPr>
            <a:r>
              <a:t>다음 선택은 달라야 합니다.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02</a:t>
            </a:r>
          </a:p>
        </p:txBody>
      </p:sp>
      <p:sp>
        <p:nvSpPr>
          <p:cNvPr id="8" name="Rectangle 7"/>
          <p:cNvSpPr/>
          <p:nvPr/>
        </p:nvSpPr>
        <p:spPr>
          <a:xfrm>
            <a:off x="713232" y="2743200"/>
            <a:ext cx="6437376" cy="42885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941832" y="2962656"/>
            <a:ext cx="5980176"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33272" y="3012948"/>
            <a:ext cx="5797296"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남은 공급 부담이 큰 경우</a:t>
            </a:r>
          </a:p>
        </p:txBody>
      </p:sp>
      <p:sp>
        <p:nvSpPr>
          <p:cNvPr id="11" name="TextBox 10"/>
          <p:cNvSpPr txBox="1"/>
          <p:nvPr/>
        </p:nvSpPr>
        <p:spPr>
          <a:xfrm>
            <a:off x="996696" y="3547872"/>
            <a:ext cx="2194560" cy="868680"/>
          </a:xfrm>
          <a:prstGeom prst="rect">
            <a:avLst/>
          </a:prstGeom>
          <a:noFill/>
        </p:spPr>
        <p:txBody>
          <a:bodyPr wrap="square" lIns="0" rIns="0" tIns="0" bIns="0">
            <a:spAutoFit/>
          </a:bodyPr>
          <a:lstStyle/>
          <a:p>
            <a:pPr>
              <a:lnSpc>
                <a:spcPct val="113000"/>
              </a:lnSpc>
              <a:spcAft>
                <a:spcPts val="0"/>
              </a:spcAft>
              <a:defRPr sz="5800" b="1">
                <a:solidFill>
                  <a:srgbClr val="14243C"/>
                </a:solidFill>
                <a:latin typeface="Noto Sans CJK KR"/>
              </a:defRPr>
            </a:pPr>
            <a:r>
              <a:t>80%</a:t>
            </a:r>
          </a:p>
        </p:txBody>
      </p:sp>
      <p:sp>
        <p:nvSpPr>
          <p:cNvPr id="12" name="TextBox 11"/>
          <p:cNvSpPr txBox="1"/>
          <p:nvPr/>
        </p:nvSpPr>
        <p:spPr>
          <a:xfrm>
            <a:off x="3602736" y="3630168"/>
            <a:ext cx="3182112" cy="685800"/>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목표 1,000kg</a:t>
            </a:r>
          </a:p>
          <a:p>
            <a:pPr>
              <a:lnSpc>
                <a:spcPct val="113000"/>
              </a:lnSpc>
              <a:spcAft>
                <a:spcPts val="0"/>
              </a:spcAft>
              <a:defRPr sz="1800" b="0">
                <a:solidFill>
                  <a:srgbClr val="687D94"/>
                </a:solidFill>
                <a:latin typeface="Noto Sans CJK KR"/>
              </a:defRPr>
            </a:pPr>
            <a:r>
              <a:t>누적 배출 800kg</a:t>
            </a:r>
          </a:p>
        </p:txBody>
      </p:sp>
      <p:sp>
        <p:nvSpPr>
          <p:cNvPr id="13" name="Rectangle 12"/>
          <p:cNvSpPr/>
          <p:nvPr/>
        </p:nvSpPr>
        <p:spPr>
          <a:xfrm>
            <a:off x="1005840" y="4617720"/>
            <a:ext cx="4361688" cy="420624"/>
          </a:xfrm>
          <a:prstGeom prst="rect">
            <a:avLst/>
          </a:prstGeom>
          <a:solidFill>
            <a:srgbClr val="98B5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367527" y="4617720"/>
            <a:ext cx="581558"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949086" y="4617720"/>
            <a:ext cx="872337"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05840" y="5239512"/>
            <a:ext cx="5806440" cy="32004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미래 공급 150  +  오차 여유 20  +  현재 여유 30</a:t>
            </a:r>
          </a:p>
        </p:txBody>
      </p:sp>
      <p:cxnSp>
        <p:nvCxnSpPr>
          <p:cNvPr id="17" name="Connector 16"/>
          <p:cNvCxnSpPr/>
          <p:nvPr/>
        </p:nvCxnSpPr>
        <p:spPr>
          <a:xfrm>
            <a:off x="1005840" y="5760720"/>
            <a:ext cx="5833872"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1005840" y="6071616"/>
            <a:ext cx="4224528" cy="539496"/>
          </a:xfrm>
          <a:prstGeom prst="rect">
            <a:avLst/>
          </a:prstGeom>
          <a:noFill/>
        </p:spPr>
        <p:txBody>
          <a:bodyPr wrap="square" lIns="0" rIns="0" tIns="0" bIns="0">
            <a:spAutoFit/>
          </a:bodyPr>
          <a:lstStyle/>
          <a:p>
            <a:pPr>
              <a:lnSpc>
                <a:spcPct val="113000"/>
              </a:lnSpc>
              <a:spcAft>
                <a:spcPts val="0"/>
              </a:spcAft>
              <a:defRPr sz="2900" b="1">
                <a:solidFill>
                  <a:srgbClr val="087F70"/>
                </a:solidFill>
                <a:latin typeface="Noto Sans CJK KR"/>
              </a:defRPr>
            </a:pPr>
            <a:r>
              <a:t>현재 여유  30kg</a:t>
            </a:r>
          </a:p>
        </p:txBody>
      </p:sp>
      <p:sp>
        <p:nvSpPr>
          <p:cNvPr id="19" name="TextBox 18"/>
          <p:cNvSpPr txBox="1"/>
          <p:nvPr/>
        </p:nvSpPr>
        <p:spPr>
          <a:xfrm>
            <a:off x="5321808" y="6016752"/>
            <a:ext cx="1499616" cy="713232"/>
          </a:xfrm>
          <a:prstGeom prst="rect">
            <a:avLst/>
          </a:prstGeom>
          <a:noFill/>
        </p:spPr>
        <p:txBody>
          <a:bodyPr wrap="square" lIns="0" rIns="0" tIns="0" bIns="0">
            <a:spAutoFit/>
          </a:bodyPr>
          <a:lstStyle/>
          <a:p>
            <a:pPr algn="r">
              <a:lnSpc>
                <a:spcPct val="113000"/>
              </a:lnSpc>
              <a:spcAft>
                <a:spcPts val="0"/>
              </a:spcAft>
              <a:defRPr sz="4200" b="1">
                <a:solidFill>
                  <a:srgbClr val="087F70"/>
                </a:solidFill>
                <a:latin typeface="Noto Sans CJK KR"/>
              </a:defRPr>
            </a:pPr>
            <a:r>
              <a:t>C</a:t>
            </a:r>
          </a:p>
        </p:txBody>
      </p:sp>
      <p:sp>
        <p:nvSpPr>
          <p:cNvPr id="20" name="Rectangle 19"/>
          <p:cNvSpPr/>
          <p:nvPr/>
        </p:nvSpPr>
        <p:spPr>
          <a:xfrm>
            <a:off x="7470648" y="2743200"/>
            <a:ext cx="6437376" cy="428853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7699248" y="2962656"/>
            <a:ext cx="5980176"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90688" y="3012948"/>
            <a:ext cx="5797296"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남은 공급 부담이 작은 경우</a:t>
            </a:r>
          </a:p>
        </p:txBody>
      </p:sp>
      <p:sp>
        <p:nvSpPr>
          <p:cNvPr id="23" name="TextBox 22"/>
          <p:cNvSpPr txBox="1"/>
          <p:nvPr/>
        </p:nvSpPr>
        <p:spPr>
          <a:xfrm>
            <a:off x="7754112" y="3547872"/>
            <a:ext cx="2194560" cy="868680"/>
          </a:xfrm>
          <a:prstGeom prst="rect">
            <a:avLst/>
          </a:prstGeom>
          <a:noFill/>
        </p:spPr>
        <p:txBody>
          <a:bodyPr wrap="square" lIns="0" rIns="0" tIns="0" bIns="0">
            <a:spAutoFit/>
          </a:bodyPr>
          <a:lstStyle/>
          <a:p>
            <a:pPr>
              <a:lnSpc>
                <a:spcPct val="113000"/>
              </a:lnSpc>
              <a:spcAft>
                <a:spcPts val="0"/>
              </a:spcAft>
              <a:defRPr sz="5800" b="1">
                <a:solidFill>
                  <a:srgbClr val="14243C"/>
                </a:solidFill>
                <a:latin typeface="Noto Sans CJK KR"/>
              </a:defRPr>
            </a:pPr>
            <a:r>
              <a:t>80%</a:t>
            </a:r>
          </a:p>
        </p:txBody>
      </p:sp>
      <p:sp>
        <p:nvSpPr>
          <p:cNvPr id="24" name="TextBox 23"/>
          <p:cNvSpPr txBox="1"/>
          <p:nvPr/>
        </p:nvSpPr>
        <p:spPr>
          <a:xfrm>
            <a:off x="10360152" y="3630168"/>
            <a:ext cx="3182112" cy="685800"/>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목표 1,000kg</a:t>
            </a:r>
          </a:p>
          <a:p>
            <a:pPr>
              <a:lnSpc>
                <a:spcPct val="113000"/>
              </a:lnSpc>
              <a:spcAft>
                <a:spcPts val="0"/>
              </a:spcAft>
              <a:defRPr sz="1800" b="0">
                <a:solidFill>
                  <a:srgbClr val="687D94"/>
                </a:solidFill>
                <a:latin typeface="Noto Sans CJK KR"/>
              </a:defRPr>
            </a:pPr>
            <a:r>
              <a:t>누적 배출 800kg</a:t>
            </a:r>
          </a:p>
        </p:txBody>
      </p:sp>
      <p:sp>
        <p:nvSpPr>
          <p:cNvPr id="25" name="Rectangle 24"/>
          <p:cNvSpPr/>
          <p:nvPr/>
        </p:nvSpPr>
        <p:spPr>
          <a:xfrm>
            <a:off x="7763256" y="4617720"/>
            <a:ext cx="581558" cy="420624"/>
          </a:xfrm>
          <a:prstGeom prst="rect">
            <a:avLst/>
          </a:prstGeom>
          <a:solidFill>
            <a:srgbClr val="98B5D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8344814" y="4617720"/>
            <a:ext cx="581558"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8926372" y="4617720"/>
            <a:ext cx="4652467"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763256" y="5239512"/>
            <a:ext cx="5806440" cy="32004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미래 공급 20  +  오차 여유 20  +  현재 여유 160</a:t>
            </a:r>
          </a:p>
        </p:txBody>
      </p:sp>
      <p:cxnSp>
        <p:nvCxnSpPr>
          <p:cNvPr id="29" name="Connector 28"/>
          <p:cNvCxnSpPr/>
          <p:nvPr/>
        </p:nvCxnSpPr>
        <p:spPr>
          <a:xfrm>
            <a:off x="7763256" y="5760720"/>
            <a:ext cx="5833872"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7763256" y="6071616"/>
            <a:ext cx="4224528" cy="539496"/>
          </a:xfrm>
          <a:prstGeom prst="rect">
            <a:avLst/>
          </a:prstGeom>
          <a:noFill/>
        </p:spPr>
        <p:txBody>
          <a:bodyPr wrap="square" lIns="0" rIns="0" tIns="0" bIns="0">
            <a:spAutoFit/>
          </a:bodyPr>
          <a:lstStyle/>
          <a:p>
            <a:pPr>
              <a:lnSpc>
                <a:spcPct val="113000"/>
              </a:lnSpc>
              <a:spcAft>
                <a:spcPts val="0"/>
              </a:spcAft>
              <a:defRPr sz="2900" b="1">
                <a:solidFill>
                  <a:srgbClr val="087F70"/>
                </a:solidFill>
                <a:latin typeface="Noto Sans CJK KR"/>
              </a:defRPr>
            </a:pPr>
            <a:r>
              <a:t>현재 여유  160kg</a:t>
            </a:r>
          </a:p>
        </p:txBody>
      </p:sp>
      <p:sp>
        <p:nvSpPr>
          <p:cNvPr id="31" name="TextBox 30"/>
          <p:cNvSpPr txBox="1"/>
          <p:nvPr/>
        </p:nvSpPr>
        <p:spPr>
          <a:xfrm>
            <a:off x="12079224" y="6016752"/>
            <a:ext cx="1499616" cy="713232"/>
          </a:xfrm>
          <a:prstGeom prst="rect">
            <a:avLst/>
          </a:prstGeom>
          <a:noFill/>
        </p:spPr>
        <p:txBody>
          <a:bodyPr wrap="square" lIns="0" rIns="0" tIns="0" bIns="0">
            <a:spAutoFit/>
          </a:bodyPr>
          <a:lstStyle/>
          <a:p>
            <a:pPr algn="r">
              <a:lnSpc>
                <a:spcPct val="113000"/>
              </a:lnSpc>
              <a:spcAft>
                <a:spcPts val="0"/>
              </a:spcAft>
              <a:defRPr sz="4200" b="1">
                <a:solidFill>
                  <a:srgbClr val="087F70"/>
                </a:solidFill>
                <a:latin typeface="Noto Sans CJK KR"/>
              </a:defRPr>
            </a:pPr>
            <a:r>
              <a:t>A</a:t>
            </a:r>
          </a:p>
        </p:txBody>
      </p:sp>
      <p:sp>
        <p:nvSpPr>
          <p:cNvPr id="32" name="TextBox 31"/>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가상 대조: 동일 후보 A(100kg), B(60kg), C(30kg). 확정 미정산 0kg, 오차 여유 20kg. 기간·단위 kgCO2e 동일. 기업 실적 아님.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02 / THE RULE</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남은 공급의 배출을 남겨 두고,</a:t>
            </a:r>
          </a:p>
          <a:p>
            <a:pPr>
              <a:lnSpc>
                <a:spcPct val="113000"/>
              </a:lnSpc>
              <a:spcAft>
                <a:spcPts val="0"/>
              </a:spcAft>
              <a:defRPr sz="3600" b="1">
                <a:solidFill>
                  <a:srgbClr val="14243C"/>
                </a:solidFill>
                <a:latin typeface="Noto Sans CJK KR"/>
              </a:defRPr>
            </a:pPr>
            <a:r>
              <a:t>가능한 운송 중 가장 저렴한 안을 고릅니다.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03</a:t>
            </a:r>
          </a:p>
        </p:txBody>
      </p:sp>
      <p:sp>
        <p:nvSpPr>
          <p:cNvPr id="8" name="Rectangle 7"/>
          <p:cNvSpPr/>
          <p:nvPr/>
        </p:nvSpPr>
        <p:spPr>
          <a:xfrm>
            <a:off x="713232" y="2907792"/>
            <a:ext cx="2286000" cy="1682496"/>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86968" y="3136392"/>
            <a:ext cx="1938528" cy="274320"/>
          </a:xfrm>
          <a:prstGeom prst="rect">
            <a:avLst/>
          </a:prstGeom>
          <a:noFill/>
        </p:spPr>
        <p:txBody>
          <a:bodyPr wrap="square" lIns="0" rIns="0" tIns="0" bIns="0">
            <a:spAutoFit/>
          </a:bodyPr>
          <a:lstStyle/>
          <a:p>
            <a:pPr>
              <a:lnSpc>
                <a:spcPct val="113000"/>
              </a:lnSpc>
              <a:spcAft>
                <a:spcPts val="0"/>
              </a:spcAft>
              <a:defRPr sz="1500" b="1">
                <a:solidFill>
                  <a:srgbClr val="FFFFFF"/>
                </a:solidFill>
                <a:latin typeface="Noto Sans CJK KR"/>
              </a:defRPr>
            </a:pPr>
            <a:r>
              <a:t>기간 관리 목표</a:t>
            </a:r>
          </a:p>
        </p:txBody>
      </p:sp>
      <p:sp>
        <p:nvSpPr>
          <p:cNvPr id="10" name="TextBox 9"/>
          <p:cNvSpPr txBox="1"/>
          <p:nvPr/>
        </p:nvSpPr>
        <p:spPr>
          <a:xfrm>
            <a:off x="877824" y="3657600"/>
            <a:ext cx="1956816" cy="612648"/>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1,000</a:t>
            </a:r>
          </a:p>
        </p:txBody>
      </p:sp>
      <p:sp>
        <p:nvSpPr>
          <p:cNvPr id="11" name="Rectangle 10"/>
          <p:cNvSpPr/>
          <p:nvPr/>
        </p:nvSpPr>
        <p:spPr>
          <a:xfrm>
            <a:off x="3108960" y="2907792"/>
            <a:ext cx="2194560" cy="1682496"/>
          </a:xfrm>
          <a:prstGeom prst="rect">
            <a:avLst/>
          </a:prstGeom>
          <a:solidFill>
            <a:srgbClr val="DCE6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282696" y="3136392"/>
            <a:ext cx="184708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실제 배출</a:t>
            </a:r>
          </a:p>
        </p:txBody>
      </p:sp>
      <p:sp>
        <p:nvSpPr>
          <p:cNvPr id="13" name="TextBox 12"/>
          <p:cNvSpPr txBox="1"/>
          <p:nvPr/>
        </p:nvSpPr>
        <p:spPr>
          <a:xfrm>
            <a:off x="3273552" y="3657600"/>
            <a:ext cx="186537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−700</a:t>
            </a:r>
          </a:p>
        </p:txBody>
      </p:sp>
      <p:sp>
        <p:nvSpPr>
          <p:cNvPr id="14" name="Rectangle 13"/>
          <p:cNvSpPr/>
          <p:nvPr/>
        </p:nvSpPr>
        <p:spPr>
          <a:xfrm>
            <a:off x="5413248" y="2907792"/>
            <a:ext cx="1920240" cy="1682496"/>
          </a:xfrm>
          <a:prstGeom prst="rect">
            <a:avLst/>
          </a:prstGeom>
          <a:solidFill>
            <a:srgbClr val="DCE6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586984" y="3136392"/>
            <a:ext cx="157276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확정 운송</a:t>
            </a:r>
          </a:p>
        </p:txBody>
      </p:sp>
      <p:sp>
        <p:nvSpPr>
          <p:cNvPr id="16" name="TextBox 15"/>
          <p:cNvSpPr txBox="1"/>
          <p:nvPr/>
        </p:nvSpPr>
        <p:spPr>
          <a:xfrm>
            <a:off x="5577840" y="3657600"/>
            <a:ext cx="159105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−0</a:t>
            </a:r>
          </a:p>
        </p:txBody>
      </p:sp>
      <p:sp>
        <p:nvSpPr>
          <p:cNvPr id="17" name="Rectangle 16"/>
          <p:cNvSpPr/>
          <p:nvPr/>
        </p:nvSpPr>
        <p:spPr>
          <a:xfrm>
            <a:off x="7443216" y="2907792"/>
            <a:ext cx="2194560" cy="1682496"/>
          </a:xfrm>
          <a:prstGeom prst="rect">
            <a:avLst/>
          </a:prstGeom>
          <a:solidFill>
            <a:srgbClr val="A4C5D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616952" y="3136392"/>
            <a:ext cx="184708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미래 공급</a:t>
            </a:r>
          </a:p>
        </p:txBody>
      </p:sp>
      <p:sp>
        <p:nvSpPr>
          <p:cNvPr id="19" name="TextBox 18"/>
          <p:cNvSpPr txBox="1"/>
          <p:nvPr/>
        </p:nvSpPr>
        <p:spPr>
          <a:xfrm>
            <a:off x="7607808" y="3657600"/>
            <a:ext cx="186537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−200</a:t>
            </a:r>
          </a:p>
        </p:txBody>
      </p:sp>
      <p:sp>
        <p:nvSpPr>
          <p:cNvPr id="20" name="Rectangle 19"/>
          <p:cNvSpPr/>
          <p:nvPr/>
        </p:nvSpPr>
        <p:spPr>
          <a:xfrm>
            <a:off x="9747504" y="2907792"/>
            <a:ext cx="1920240" cy="1682496"/>
          </a:xfrm>
          <a:prstGeom prst="rect">
            <a:avLst/>
          </a:prstGeom>
          <a:solidFill>
            <a:srgbClr val="F0D9B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921240" y="3136392"/>
            <a:ext cx="1572768" cy="274320"/>
          </a:xfrm>
          <a:prstGeom prst="rect">
            <a:avLst/>
          </a:prstGeom>
          <a:noFill/>
        </p:spPr>
        <p:txBody>
          <a:bodyPr wrap="square" lIns="0" rIns="0" tIns="0" bIns="0">
            <a:spAutoFit/>
          </a:bodyPr>
          <a:lstStyle/>
          <a:p>
            <a:pPr>
              <a:lnSpc>
                <a:spcPct val="113000"/>
              </a:lnSpc>
              <a:spcAft>
                <a:spcPts val="0"/>
              </a:spcAft>
              <a:defRPr sz="1500" b="1">
                <a:solidFill>
                  <a:srgbClr val="14243C"/>
                </a:solidFill>
                <a:latin typeface="Noto Sans CJK KR"/>
              </a:defRPr>
            </a:pPr>
            <a:r>
              <a:t>오차 여유</a:t>
            </a:r>
          </a:p>
        </p:txBody>
      </p:sp>
      <p:sp>
        <p:nvSpPr>
          <p:cNvPr id="22" name="TextBox 21"/>
          <p:cNvSpPr txBox="1"/>
          <p:nvPr/>
        </p:nvSpPr>
        <p:spPr>
          <a:xfrm>
            <a:off x="9912096" y="3657600"/>
            <a:ext cx="1591056" cy="612648"/>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−20</a:t>
            </a:r>
          </a:p>
        </p:txBody>
      </p:sp>
      <p:sp>
        <p:nvSpPr>
          <p:cNvPr id="23" name="Rectangle 22"/>
          <p:cNvSpPr/>
          <p:nvPr/>
        </p:nvSpPr>
        <p:spPr>
          <a:xfrm>
            <a:off x="11777472" y="2907792"/>
            <a:ext cx="2286000" cy="1682496"/>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1951208" y="3136392"/>
            <a:ext cx="1938528" cy="274320"/>
          </a:xfrm>
          <a:prstGeom prst="rect">
            <a:avLst/>
          </a:prstGeom>
          <a:noFill/>
        </p:spPr>
        <p:txBody>
          <a:bodyPr wrap="square" lIns="0" rIns="0" tIns="0" bIns="0">
            <a:spAutoFit/>
          </a:bodyPr>
          <a:lstStyle/>
          <a:p>
            <a:pPr>
              <a:lnSpc>
                <a:spcPct val="113000"/>
              </a:lnSpc>
              <a:spcAft>
                <a:spcPts val="0"/>
              </a:spcAft>
              <a:defRPr sz="1500" b="1">
                <a:solidFill>
                  <a:srgbClr val="FFFFFF"/>
                </a:solidFill>
                <a:latin typeface="Noto Sans CJK KR"/>
              </a:defRPr>
            </a:pPr>
            <a:r>
              <a:t>현재 여유</a:t>
            </a:r>
          </a:p>
        </p:txBody>
      </p:sp>
      <p:sp>
        <p:nvSpPr>
          <p:cNvPr id="25" name="TextBox 24"/>
          <p:cNvSpPr txBox="1"/>
          <p:nvPr/>
        </p:nvSpPr>
        <p:spPr>
          <a:xfrm>
            <a:off x="11942064" y="3657600"/>
            <a:ext cx="1956816" cy="612648"/>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80</a:t>
            </a:r>
          </a:p>
        </p:txBody>
      </p:sp>
      <p:sp>
        <p:nvSpPr>
          <p:cNvPr id="26" name="TextBox 25"/>
          <p:cNvSpPr txBox="1"/>
          <p:nvPr/>
        </p:nvSpPr>
        <p:spPr>
          <a:xfrm>
            <a:off x="914400" y="5138928"/>
            <a:ext cx="914400" cy="310896"/>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01</a:t>
            </a:r>
          </a:p>
        </p:txBody>
      </p:sp>
      <p:sp>
        <p:nvSpPr>
          <p:cNvPr id="27" name="TextBox 26"/>
          <p:cNvSpPr txBox="1"/>
          <p:nvPr/>
        </p:nvSpPr>
        <p:spPr>
          <a:xfrm>
            <a:off x="914400" y="5623560"/>
            <a:ext cx="3886200" cy="438912"/>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공급 조건 확인</a:t>
            </a:r>
          </a:p>
        </p:txBody>
      </p:sp>
      <p:sp>
        <p:nvSpPr>
          <p:cNvPr id="28" name="TextBox 27"/>
          <p:cNvSpPr txBox="1"/>
          <p:nvPr/>
        </p:nvSpPr>
        <p:spPr>
          <a:xfrm>
            <a:off x="914400" y="6345936"/>
            <a:ext cx="3886200" cy="557784"/>
          </a:xfrm>
          <a:prstGeom prst="rect">
            <a:avLst/>
          </a:prstGeom>
          <a:noFill/>
        </p:spPr>
        <p:txBody>
          <a:bodyPr wrap="square" lIns="0" rIns="0" tIns="0" bIns="0">
            <a:spAutoFit/>
          </a:bodyPr>
          <a:lstStyle/>
          <a:p>
            <a:pPr>
              <a:lnSpc>
                <a:spcPct val="113000"/>
              </a:lnSpc>
              <a:spcAft>
                <a:spcPts val="0"/>
              </a:spcAft>
              <a:defRPr sz="1700" b="0">
                <a:solidFill>
                  <a:srgbClr val="687D94"/>
                </a:solidFill>
                <a:latin typeface="Noto Sans CJK KR"/>
              </a:defRPr>
            </a:pPr>
            <a:r>
              <a:t>수량 · 납기 · 규격 · 안전 · 가용성</a:t>
            </a:r>
          </a:p>
        </p:txBody>
      </p:sp>
      <p:sp>
        <p:nvSpPr>
          <p:cNvPr id="29" name="TextBox 28"/>
          <p:cNvSpPr txBox="1"/>
          <p:nvPr/>
        </p:nvSpPr>
        <p:spPr>
          <a:xfrm>
            <a:off x="5577840" y="5138928"/>
            <a:ext cx="914400" cy="310896"/>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02</a:t>
            </a:r>
          </a:p>
        </p:txBody>
      </p:sp>
      <p:sp>
        <p:nvSpPr>
          <p:cNvPr id="30" name="TextBox 29"/>
          <p:cNvSpPr txBox="1"/>
          <p:nvPr/>
        </p:nvSpPr>
        <p:spPr>
          <a:xfrm>
            <a:off x="5577840" y="5623560"/>
            <a:ext cx="3886200" cy="438912"/>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운영 조건 확인</a:t>
            </a:r>
          </a:p>
        </p:txBody>
      </p:sp>
      <p:sp>
        <p:nvSpPr>
          <p:cNvPr id="31" name="TextBox 30"/>
          <p:cNvSpPr txBox="1"/>
          <p:nvPr/>
        </p:nvSpPr>
        <p:spPr>
          <a:xfrm>
            <a:off x="5577840" y="6345936"/>
            <a:ext cx="3886200" cy="557784"/>
          </a:xfrm>
          <a:prstGeom prst="rect">
            <a:avLst/>
          </a:prstGeom>
          <a:noFill/>
        </p:spPr>
        <p:txBody>
          <a:bodyPr wrap="square" lIns="0" rIns="0" tIns="0" bIns="0">
            <a:spAutoFit/>
          </a:bodyPr>
          <a:lstStyle/>
          <a:p>
            <a:pPr>
              <a:lnSpc>
                <a:spcPct val="113000"/>
              </a:lnSpc>
              <a:spcAft>
                <a:spcPts val="0"/>
              </a:spcAft>
              <a:defRPr sz="1700" b="0">
                <a:solidFill>
                  <a:srgbClr val="687D94"/>
                </a:solidFill>
                <a:latin typeface="Noto Sans CJK KR"/>
              </a:defRPr>
            </a:pPr>
            <a:r>
              <a:t>비용 상한 · 현재 배출 여유</a:t>
            </a:r>
          </a:p>
        </p:txBody>
      </p:sp>
      <p:sp>
        <p:nvSpPr>
          <p:cNvPr id="32" name="TextBox 31"/>
          <p:cNvSpPr txBox="1"/>
          <p:nvPr/>
        </p:nvSpPr>
        <p:spPr>
          <a:xfrm>
            <a:off x="10140696" y="5138928"/>
            <a:ext cx="914400" cy="310896"/>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03</a:t>
            </a:r>
          </a:p>
        </p:txBody>
      </p:sp>
      <p:sp>
        <p:nvSpPr>
          <p:cNvPr id="33" name="TextBox 32"/>
          <p:cNvSpPr txBox="1"/>
          <p:nvPr/>
        </p:nvSpPr>
        <p:spPr>
          <a:xfrm>
            <a:off x="10140696" y="5623560"/>
            <a:ext cx="3886200" cy="438912"/>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최소비용 추천</a:t>
            </a:r>
          </a:p>
        </p:txBody>
      </p:sp>
      <p:sp>
        <p:nvSpPr>
          <p:cNvPr id="34" name="TextBox 33"/>
          <p:cNvSpPr txBox="1"/>
          <p:nvPr/>
        </p:nvSpPr>
        <p:spPr>
          <a:xfrm>
            <a:off x="10140696" y="6345936"/>
            <a:ext cx="3886200" cy="557784"/>
          </a:xfrm>
          <a:prstGeom prst="rect">
            <a:avLst/>
          </a:prstGeom>
          <a:noFill/>
        </p:spPr>
        <p:txBody>
          <a:bodyPr wrap="square" lIns="0" rIns="0" tIns="0" bIns="0">
            <a:spAutoFit/>
          </a:bodyPr>
          <a:lstStyle/>
          <a:p>
            <a:pPr>
              <a:lnSpc>
                <a:spcPct val="113000"/>
              </a:lnSpc>
              <a:spcAft>
                <a:spcPts val="0"/>
              </a:spcAft>
              <a:defRPr sz="1700" b="0">
                <a:solidFill>
                  <a:srgbClr val="687D94"/>
                </a:solidFill>
                <a:latin typeface="Noto Sans CJK KR"/>
              </a:defRPr>
            </a:pPr>
            <a:r>
              <a:t>추가비용 · 배출 차이 설명</a:t>
            </a:r>
          </a:p>
        </p:txBody>
      </p:sp>
      <p:sp>
        <p:nvSpPr>
          <p:cNvPr id="35" name="Right Arrow 34"/>
          <p:cNvSpPr/>
          <p:nvPr/>
        </p:nvSpPr>
        <p:spPr>
          <a:xfrm>
            <a:off x="4745736" y="5788152"/>
            <a:ext cx="448056"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ight Arrow 35"/>
          <p:cNvSpPr/>
          <p:nvPr/>
        </p:nvSpPr>
        <p:spPr>
          <a:xfrm>
            <a:off x="9345168" y="5788152"/>
            <a:ext cx="448056"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모든 수치는 설명용 가정 / kgCO2e. 내부 관리 목표는 운영 주체가 승인. 미래 공급은 현재 요청과 확정 운송을 제외해 중복 계산을 방지합니다.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03 / ONE DECISION</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배출 여유 80kg이면, B를 추천합니다.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같은 요청: 파렛트 1,000매 · 8시간 이내 · 비용 상한 120만원. 아래 수치는 모두 가상 입력입니다.</a:t>
            </a:r>
          </a:p>
        </p:txBody>
      </p:sp>
      <p:cxnSp>
        <p:nvCxnSpPr>
          <p:cNvPr id="6" name="Connector 5"/>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04</a:t>
            </a:r>
          </a:p>
        </p:txBody>
      </p:sp>
      <p:sp>
        <p:nvSpPr>
          <p:cNvPr id="9" name="TextBox 8"/>
          <p:cNvSpPr txBox="1"/>
          <p:nvPr/>
        </p:nvSpPr>
        <p:spPr>
          <a:xfrm>
            <a:off x="850392" y="2980944"/>
            <a:ext cx="118872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후보</a:t>
            </a:r>
          </a:p>
        </p:txBody>
      </p:sp>
      <p:sp>
        <p:nvSpPr>
          <p:cNvPr id="10" name="TextBox 9"/>
          <p:cNvSpPr txBox="1"/>
          <p:nvPr/>
        </p:nvSpPr>
        <p:spPr>
          <a:xfrm>
            <a:off x="2286000" y="2980944"/>
            <a:ext cx="164592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비용 / 만원</a:t>
            </a:r>
          </a:p>
        </p:txBody>
      </p:sp>
      <p:sp>
        <p:nvSpPr>
          <p:cNvPr id="11" name="TextBox 10"/>
          <p:cNvSpPr txBox="1"/>
          <p:nvPr/>
        </p:nvSpPr>
        <p:spPr>
          <a:xfrm>
            <a:off x="4270248" y="2980944"/>
            <a:ext cx="173736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배출 / kg</a:t>
            </a:r>
          </a:p>
        </p:txBody>
      </p:sp>
      <p:sp>
        <p:nvSpPr>
          <p:cNvPr id="12" name="TextBox 11"/>
          <p:cNvSpPr txBox="1"/>
          <p:nvPr/>
        </p:nvSpPr>
        <p:spPr>
          <a:xfrm>
            <a:off x="6291072" y="2980944"/>
            <a:ext cx="1371600" cy="301752"/>
          </a:xfrm>
          <a:prstGeom prst="rect">
            <a:avLst/>
          </a:prstGeom>
          <a:noFill/>
        </p:spPr>
        <p:txBody>
          <a:bodyPr wrap="square" lIns="0" rIns="0" tIns="0" bIns="0">
            <a:spAutoFit/>
          </a:bodyPr>
          <a:lstStyle/>
          <a:p>
            <a:pPr>
              <a:lnSpc>
                <a:spcPct val="113000"/>
              </a:lnSpc>
              <a:spcAft>
                <a:spcPts val="0"/>
              </a:spcAft>
              <a:defRPr sz="1400" b="1">
                <a:solidFill>
                  <a:srgbClr val="ADBED2"/>
                </a:solidFill>
                <a:latin typeface="Noto Sans CJK KR"/>
              </a:defRPr>
            </a:pPr>
            <a:r>
              <a:t>도착 / h</a:t>
            </a:r>
          </a:p>
        </p:txBody>
      </p:sp>
      <p:sp>
        <p:nvSpPr>
          <p:cNvPr id="13" name="TextBox 12"/>
          <p:cNvSpPr txBox="1"/>
          <p:nvPr/>
        </p:nvSpPr>
        <p:spPr>
          <a:xfrm>
            <a:off x="905256" y="3712463"/>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A</a:t>
            </a:r>
          </a:p>
        </p:txBody>
      </p:sp>
      <p:sp>
        <p:nvSpPr>
          <p:cNvPr id="14" name="TextBox 13"/>
          <p:cNvSpPr txBox="1"/>
          <p:nvPr/>
        </p:nvSpPr>
        <p:spPr>
          <a:xfrm>
            <a:off x="2368296" y="3712463"/>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100</a:t>
            </a:r>
          </a:p>
        </p:txBody>
      </p:sp>
      <p:sp>
        <p:nvSpPr>
          <p:cNvPr id="15" name="TextBox 14"/>
          <p:cNvSpPr txBox="1"/>
          <p:nvPr/>
        </p:nvSpPr>
        <p:spPr>
          <a:xfrm>
            <a:off x="4471416" y="3712463"/>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100</a:t>
            </a:r>
          </a:p>
        </p:txBody>
      </p:sp>
      <p:sp>
        <p:nvSpPr>
          <p:cNvPr id="16" name="TextBox 15"/>
          <p:cNvSpPr txBox="1"/>
          <p:nvPr/>
        </p:nvSpPr>
        <p:spPr>
          <a:xfrm>
            <a:off x="6510528" y="3712463"/>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4</a:t>
            </a:r>
          </a:p>
        </p:txBody>
      </p:sp>
      <p:sp>
        <p:nvSpPr>
          <p:cNvPr id="17" name="TextBox 16"/>
          <p:cNvSpPr txBox="1"/>
          <p:nvPr/>
        </p:nvSpPr>
        <p:spPr>
          <a:xfrm>
            <a:off x="932688" y="6793992"/>
            <a:ext cx="6629400" cy="274320"/>
          </a:xfrm>
          <a:prstGeom prst="rect">
            <a:avLst/>
          </a:prstGeom>
          <a:noFill/>
        </p:spPr>
        <p:txBody>
          <a:bodyPr wrap="square" lIns="0" rIns="0" tIns="0" bIns="0">
            <a:spAutoFit/>
          </a:bodyPr>
          <a:lstStyle/>
          <a:p>
            <a:pPr>
              <a:lnSpc>
                <a:spcPct val="113000"/>
              </a:lnSpc>
              <a:spcAft>
                <a:spcPts val="0"/>
              </a:spcAft>
              <a:defRPr sz="1700" b="0">
                <a:solidFill>
                  <a:srgbClr val="ADBED2"/>
                </a:solidFill>
                <a:latin typeface="Noto Sans CJK KR"/>
              </a:defRPr>
            </a:pPr>
            <a:r>
              <a:t>A: 여유 초과     B·C: 가능 → 더 저렴한 B</a:t>
            </a:r>
          </a:p>
        </p:txBody>
      </p:sp>
      <p:sp>
        <p:nvSpPr>
          <p:cNvPr id="18" name="Rectangle 17"/>
          <p:cNvSpPr/>
          <p:nvPr/>
        </p:nvSpPr>
        <p:spPr>
          <a:xfrm>
            <a:off x="722376" y="4590288"/>
            <a:ext cx="7095744" cy="813816"/>
          </a:xfrm>
          <a:prstGeom prst="rect">
            <a:avLst/>
          </a:prstGeom>
          <a:solidFill>
            <a:srgbClr val="23463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05256" y="4700016"/>
            <a:ext cx="100584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B</a:t>
            </a:r>
          </a:p>
        </p:txBody>
      </p:sp>
      <p:sp>
        <p:nvSpPr>
          <p:cNvPr id="20" name="TextBox 19"/>
          <p:cNvSpPr txBox="1"/>
          <p:nvPr/>
        </p:nvSpPr>
        <p:spPr>
          <a:xfrm>
            <a:off x="2368296" y="4700016"/>
            <a:ext cx="155448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108</a:t>
            </a:r>
          </a:p>
        </p:txBody>
      </p:sp>
      <p:sp>
        <p:nvSpPr>
          <p:cNvPr id="21" name="TextBox 20"/>
          <p:cNvSpPr txBox="1"/>
          <p:nvPr/>
        </p:nvSpPr>
        <p:spPr>
          <a:xfrm>
            <a:off x="4471416" y="4700016"/>
            <a:ext cx="155448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60</a:t>
            </a:r>
          </a:p>
        </p:txBody>
      </p:sp>
      <p:sp>
        <p:nvSpPr>
          <p:cNvPr id="22" name="TextBox 21"/>
          <p:cNvSpPr txBox="1"/>
          <p:nvPr/>
        </p:nvSpPr>
        <p:spPr>
          <a:xfrm>
            <a:off x="6510528" y="4700016"/>
            <a:ext cx="1005840" cy="512064"/>
          </a:xfrm>
          <a:prstGeom prst="rect">
            <a:avLst/>
          </a:prstGeom>
          <a:noFill/>
        </p:spPr>
        <p:txBody>
          <a:bodyPr wrap="square" lIns="0" rIns="0" tIns="0" bIns="0">
            <a:spAutoFit/>
          </a:bodyPr>
          <a:lstStyle/>
          <a:p>
            <a:pPr>
              <a:lnSpc>
                <a:spcPct val="113000"/>
              </a:lnSpc>
              <a:spcAft>
                <a:spcPts val="0"/>
              </a:spcAft>
              <a:defRPr sz="2900" b="1">
                <a:solidFill>
                  <a:srgbClr val="54DFC0"/>
                </a:solidFill>
                <a:latin typeface="Noto Sans CJK KR"/>
              </a:defRPr>
            </a:pPr>
            <a:r>
              <a:t>6</a:t>
            </a:r>
          </a:p>
        </p:txBody>
      </p:sp>
      <p:sp>
        <p:nvSpPr>
          <p:cNvPr id="23" name="TextBox 22"/>
          <p:cNvSpPr txBox="1"/>
          <p:nvPr/>
        </p:nvSpPr>
        <p:spPr>
          <a:xfrm>
            <a:off x="932688" y="6793992"/>
            <a:ext cx="6629400" cy="274320"/>
          </a:xfrm>
          <a:prstGeom prst="rect">
            <a:avLst/>
          </a:prstGeom>
          <a:noFill/>
        </p:spPr>
        <p:txBody>
          <a:bodyPr wrap="square" lIns="0" rIns="0" tIns="0" bIns="0">
            <a:spAutoFit/>
          </a:bodyPr>
          <a:lstStyle/>
          <a:p>
            <a:pPr>
              <a:lnSpc>
                <a:spcPct val="113000"/>
              </a:lnSpc>
              <a:spcAft>
                <a:spcPts val="0"/>
              </a:spcAft>
              <a:defRPr sz="1700" b="0">
                <a:solidFill>
                  <a:srgbClr val="ADBED2"/>
                </a:solidFill>
                <a:latin typeface="Noto Sans CJK KR"/>
              </a:defRPr>
            </a:pPr>
            <a:r>
              <a:t>A: 여유 초과     B·C: 가능 → 더 저렴한 B</a:t>
            </a:r>
          </a:p>
        </p:txBody>
      </p:sp>
      <p:sp>
        <p:nvSpPr>
          <p:cNvPr id="24" name="TextBox 23"/>
          <p:cNvSpPr txBox="1"/>
          <p:nvPr/>
        </p:nvSpPr>
        <p:spPr>
          <a:xfrm>
            <a:off x="905256" y="5687568"/>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C</a:t>
            </a:r>
          </a:p>
        </p:txBody>
      </p:sp>
      <p:sp>
        <p:nvSpPr>
          <p:cNvPr id="25" name="TextBox 24"/>
          <p:cNvSpPr txBox="1"/>
          <p:nvPr/>
        </p:nvSpPr>
        <p:spPr>
          <a:xfrm>
            <a:off x="2368296" y="5687568"/>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115</a:t>
            </a:r>
          </a:p>
        </p:txBody>
      </p:sp>
      <p:sp>
        <p:nvSpPr>
          <p:cNvPr id="26" name="TextBox 25"/>
          <p:cNvSpPr txBox="1"/>
          <p:nvPr/>
        </p:nvSpPr>
        <p:spPr>
          <a:xfrm>
            <a:off x="4471416" y="5687568"/>
            <a:ext cx="155448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30</a:t>
            </a:r>
          </a:p>
        </p:txBody>
      </p:sp>
      <p:sp>
        <p:nvSpPr>
          <p:cNvPr id="27" name="TextBox 26"/>
          <p:cNvSpPr txBox="1"/>
          <p:nvPr/>
        </p:nvSpPr>
        <p:spPr>
          <a:xfrm>
            <a:off x="6510528" y="5687568"/>
            <a:ext cx="1005840" cy="512064"/>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7</a:t>
            </a:r>
          </a:p>
        </p:txBody>
      </p:sp>
      <p:sp>
        <p:nvSpPr>
          <p:cNvPr id="28" name="TextBox 27"/>
          <p:cNvSpPr txBox="1"/>
          <p:nvPr/>
        </p:nvSpPr>
        <p:spPr>
          <a:xfrm>
            <a:off x="932688" y="6793992"/>
            <a:ext cx="6629400" cy="274320"/>
          </a:xfrm>
          <a:prstGeom prst="rect">
            <a:avLst/>
          </a:prstGeom>
          <a:noFill/>
        </p:spPr>
        <p:txBody>
          <a:bodyPr wrap="square" lIns="0" rIns="0" tIns="0" bIns="0">
            <a:spAutoFit/>
          </a:bodyPr>
          <a:lstStyle/>
          <a:p>
            <a:pPr>
              <a:lnSpc>
                <a:spcPct val="113000"/>
              </a:lnSpc>
              <a:spcAft>
                <a:spcPts val="0"/>
              </a:spcAft>
              <a:defRPr sz="1700" b="0">
                <a:solidFill>
                  <a:srgbClr val="ADBED2"/>
                </a:solidFill>
                <a:latin typeface="Noto Sans CJK KR"/>
              </a:defRPr>
            </a:pPr>
            <a:r>
              <a:t>A: 여유 초과     B·C: 가능 → 더 저렴한 B</a:t>
            </a:r>
          </a:p>
        </p:txBody>
      </p:sp>
      <p:cxnSp>
        <p:nvCxnSpPr>
          <p:cNvPr id="29" name="Connector 28"/>
          <p:cNvCxnSpPr/>
          <p:nvPr/>
        </p:nvCxnSpPr>
        <p:spPr>
          <a:xfrm>
            <a:off x="8156448" y="2962656"/>
            <a:ext cx="0" cy="4133088"/>
          </a:xfrm>
          <a:prstGeom prst="line">
            <a:avLst/>
          </a:prstGeom>
          <a:ln w="12700">
            <a:solidFill>
              <a:srgbClr val="3C516C"/>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641080" y="3017520"/>
            <a:ext cx="5212080" cy="338328"/>
          </a:xfrm>
          <a:prstGeom prst="rect">
            <a:avLst/>
          </a:prstGeom>
          <a:noFill/>
        </p:spPr>
        <p:txBody>
          <a:bodyPr wrap="square" lIns="0" rIns="0" tIns="0" bIns="0">
            <a:spAutoFit/>
          </a:bodyPr>
          <a:lstStyle/>
          <a:p>
            <a:pPr>
              <a:lnSpc>
                <a:spcPct val="113000"/>
              </a:lnSpc>
              <a:spcAft>
                <a:spcPts val="0"/>
              </a:spcAft>
              <a:defRPr sz="1800" b="1">
                <a:solidFill>
                  <a:srgbClr val="ADBED2"/>
                </a:solidFill>
                <a:latin typeface="Noto Sans CJK KR"/>
              </a:defRPr>
            </a:pPr>
            <a:r>
              <a:t>허용 후보 중 최소비용</a:t>
            </a:r>
          </a:p>
        </p:txBody>
      </p:sp>
      <p:sp>
        <p:nvSpPr>
          <p:cNvPr id="31" name="TextBox 30"/>
          <p:cNvSpPr txBox="1"/>
          <p:nvPr/>
        </p:nvSpPr>
        <p:spPr>
          <a:xfrm>
            <a:off x="8595360" y="3584448"/>
            <a:ext cx="2103120" cy="1106424"/>
          </a:xfrm>
          <a:prstGeom prst="rect">
            <a:avLst/>
          </a:prstGeom>
          <a:noFill/>
        </p:spPr>
        <p:txBody>
          <a:bodyPr wrap="square" lIns="0" rIns="0" tIns="0" bIns="0">
            <a:spAutoFit/>
          </a:bodyPr>
          <a:lstStyle/>
          <a:p>
            <a:pPr>
              <a:lnSpc>
                <a:spcPct val="113000"/>
              </a:lnSpc>
              <a:spcAft>
                <a:spcPts val="0"/>
              </a:spcAft>
              <a:defRPr sz="7600" b="1">
                <a:solidFill>
                  <a:srgbClr val="54DFC0"/>
                </a:solidFill>
                <a:latin typeface="Noto Sans CJK KR"/>
              </a:defRPr>
            </a:pPr>
            <a:r>
              <a:t>B</a:t>
            </a:r>
          </a:p>
        </p:txBody>
      </p:sp>
      <p:sp>
        <p:nvSpPr>
          <p:cNvPr id="32" name="TextBox 31"/>
          <p:cNvSpPr txBox="1"/>
          <p:nvPr/>
        </p:nvSpPr>
        <p:spPr>
          <a:xfrm>
            <a:off x="10707624" y="3831336"/>
            <a:ext cx="3090672" cy="393192"/>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108만원 / 60kg</a:t>
            </a:r>
          </a:p>
        </p:txBody>
      </p:sp>
      <p:sp>
        <p:nvSpPr>
          <p:cNvPr id="33" name="TextBox 32"/>
          <p:cNvSpPr txBox="1"/>
          <p:nvPr/>
        </p:nvSpPr>
        <p:spPr>
          <a:xfrm>
            <a:off x="8668512" y="4983480"/>
            <a:ext cx="2350008"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기본안 A 대비 비용</a:t>
            </a:r>
          </a:p>
        </p:txBody>
      </p:sp>
      <p:sp>
        <p:nvSpPr>
          <p:cNvPr id="34" name="TextBox 33"/>
          <p:cNvSpPr txBox="1"/>
          <p:nvPr/>
        </p:nvSpPr>
        <p:spPr>
          <a:xfrm>
            <a:off x="8668512" y="5349240"/>
            <a:ext cx="2350008"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+8만원</a:t>
            </a:r>
          </a:p>
        </p:txBody>
      </p:sp>
      <p:sp>
        <p:nvSpPr>
          <p:cNvPr id="35" name="TextBox 34"/>
          <p:cNvSpPr txBox="1"/>
          <p:nvPr/>
        </p:nvSpPr>
        <p:spPr>
          <a:xfrm>
            <a:off x="11247120" y="4983480"/>
            <a:ext cx="2487168" cy="256032"/>
          </a:xfrm>
          <a:prstGeom prst="rect">
            <a:avLst/>
          </a:prstGeom>
          <a:noFill/>
        </p:spPr>
        <p:txBody>
          <a:bodyPr wrap="square" lIns="0" rIns="0" tIns="0" bIns="0">
            <a:spAutoFit/>
          </a:bodyPr>
          <a:lstStyle/>
          <a:p>
            <a:pPr>
              <a:lnSpc>
                <a:spcPct val="113000"/>
              </a:lnSpc>
              <a:spcAft>
                <a:spcPts val="0"/>
              </a:spcAft>
              <a:defRPr sz="1200" b="1">
                <a:solidFill>
                  <a:srgbClr val="ADBED2"/>
                </a:solidFill>
                <a:latin typeface="Noto Sans CJK KR"/>
              </a:defRPr>
            </a:pPr>
            <a:r>
              <a:t>예상 배출 차이</a:t>
            </a:r>
          </a:p>
        </p:txBody>
      </p:sp>
      <p:sp>
        <p:nvSpPr>
          <p:cNvPr id="36" name="TextBox 35"/>
          <p:cNvSpPr txBox="1"/>
          <p:nvPr/>
        </p:nvSpPr>
        <p:spPr>
          <a:xfrm>
            <a:off x="11247120" y="5349240"/>
            <a:ext cx="2487168" cy="576072"/>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−40kg</a:t>
            </a:r>
          </a:p>
        </p:txBody>
      </p:sp>
      <p:sp>
        <p:nvSpPr>
          <p:cNvPr id="37" name="Rectangle 36"/>
          <p:cNvSpPr/>
          <p:nvPr/>
        </p:nvSpPr>
        <p:spPr>
          <a:xfrm>
            <a:off x="8641080" y="6345936"/>
            <a:ext cx="5230368" cy="704088"/>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833104" y="6547104"/>
            <a:ext cx="4837176" cy="356616"/>
          </a:xfrm>
          <a:prstGeom prst="rect">
            <a:avLst/>
          </a:prstGeom>
          <a:noFill/>
        </p:spPr>
        <p:txBody>
          <a:bodyPr wrap="square" lIns="0" rIns="0" tIns="0" bIns="0">
            <a:spAutoFit/>
          </a:bodyPr>
          <a:lstStyle/>
          <a:p>
            <a:pPr>
              <a:lnSpc>
                <a:spcPct val="113000"/>
              </a:lnSpc>
              <a:spcAft>
                <a:spcPts val="0"/>
              </a:spcAft>
              <a:defRPr sz="1900" b="1">
                <a:solidFill>
                  <a:srgbClr val="FFFFFF"/>
                </a:solidFill>
                <a:latin typeface="Noto Sans CJK KR"/>
              </a:defRPr>
            </a:pPr>
            <a:r>
              <a:t>가능한 안이 없으면 → 예외 검토</a:t>
            </a:r>
          </a:p>
        </p:txBody>
      </p:sp>
      <p:sp>
        <p:nvSpPr>
          <p:cNvPr id="39" name="TextBox 38"/>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C는 배출이 더 낮지만 비용이 더 높습니다. 실제 감축 성과가 아닌 선택 원리의 설명입니다. 배출 단위 kgCO2e.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04 / PROTOTYPE → FIELD</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추천 계산은 구현했습니다.</a:t>
            </a:r>
          </a:p>
          <a:p>
            <a:pPr>
              <a:lnSpc>
                <a:spcPct val="113000"/>
              </a:lnSpc>
              <a:spcAft>
                <a:spcPts val="0"/>
              </a:spcAft>
              <a:defRPr sz="3600" b="1">
                <a:solidFill>
                  <a:srgbClr val="14243C"/>
                </a:solidFill>
                <a:latin typeface="Noto Sans CJK KR"/>
              </a:defRPr>
            </a:pPr>
            <a:r>
              <a:t>다음 검증은 실제 운영자료입니다.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05</a:t>
            </a:r>
          </a:p>
        </p:txBody>
      </p:sp>
      <p:sp>
        <p:nvSpPr>
          <p:cNvPr id="8" name="Rectangle 7"/>
          <p:cNvSpPr/>
          <p:nvPr/>
        </p:nvSpPr>
        <p:spPr>
          <a:xfrm>
            <a:off x="731520" y="2916936"/>
            <a:ext cx="4078224" cy="24963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50976" y="3127248"/>
            <a:ext cx="3639312" cy="283464"/>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01</a:t>
            </a:r>
          </a:p>
        </p:txBody>
      </p:sp>
      <p:sp>
        <p:nvSpPr>
          <p:cNvPr id="10" name="TextBox 9"/>
          <p:cNvSpPr txBox="1"/>
          <p:nvPr/>
        </p:nvSpPr>
        <p:spPr>
          <a:xfrm>
            <a:off x="950976" y="3657600"/>
            <a:ext cx="3639312" cy="475488"/>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자료 연결</a:t>
            </a:r>
          </a:p>
        </p:txBody>
      </p:sp>
      <p:sp>
        <p:nvSpPr>
          <p:cNvPr id="11" name="TextBox 10"/>
          <p:cNvSpPr txBox="1"/>
          <p:nvPr/>
        </p:nvSpPr>
        <p:spPr>
          <a:xfrm>
            <a:off x="950976" y="4434840"/>
            <a:ext cx="3639312" cy="704088"/>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요청·재고·운송 후보</a:t>
            </a:r>
          </a:p>
          <a:p>
            <a:pPr>
              <a:lnSpc>
                <a:spcPct val="113000"/>
              </a:lnSpc>
              <a:spcAft>
                <a:spcPts val="0"/>
              </a:spcAft>
              <a:defRPr sz="1900" b="0">
                <a:solidFill>
                  <a:srgbClr val="687D94"/>
                </a:solidFill>
                <a:latin typeface="Noto Sans CJK KR"/>
              </a:defRPr>
            </a:pPr>
            <a:r>
              <a:t>비용·배출·납기 확인</a:t>
            </a:r>
          </a:p>
        </p:txBody>
      </p:sp>
      <p:sp>
        <p:nvSpPr>
          <p:cNvPr id="12" name="Rectangle 11"/>
          <p:cNvSpPr/>
          <p:nvPr/>
        </p:nvSpPr>
        <p:spPr>
          <a:xfrm>
            <a:off x="5276088" y="2916936"/>
            <a:ext cx="4078224" cy="24963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495544" y="3127248"/>
            <a:ext cx="3639312" cy="283464"/>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02</a:t>
            </a:r>
          </a:p>
        </p:txBody>
      </p:sp>
      <p:sp>
        <p:nvSpPr>
          <p:cNvPr id="14" name="TextBox 13"/>
          <p:cNvSpPr txBox="1"/>
          <p:nvPr/>
        </p:nvSpPr>
        <p:spPr>
          <a:xfrm>
            <a:off x="5495544" y="3657600"/>
            <a:ext cx="3639312" cy="475488"/>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추천과 비교</a:t>
            </a:r>
          </a:p>
        </p:txBody>
      </p:sp>
      <p:sp>
        <p:nvSpPr>
          <p:cNvPr id="15" name="TextBox 14"/>
          <p:cNvSpPr txBox="1"/>
          <p:nvPr/>
        </p:nvSpPr>
        <p:spPr>
          <a:xfrm>
            <a:off x="5495544" y="4434840"/>
            <a:ext cx="3639312" cy="704088"/>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기존 담당자의 선택과</a:t>
            </a:r>
          </a:p>
          <a:p>
            <a:pPr>
              <a:lnSpc>
                <a:spcPct val="113000"/>
              </a:lnSpc>
              <a:spcAft>
                <a:spcPts val="0"/>
              </a:spcAft>
              <a:defRPr sz="1900" b="0">
                <a:solidFill>
                  <a:srgbClr val="687D94"/>
                </a:solidFill>
                <a:latin typeface="Noto Sans CJK KR"/>
              </a:defRPr>
            </a:pPr>
            <a:r>
              <a:t>실행 없이 비교</a:t>
            </a:r>
          </a:p>
        </p:txBody>
      </p:sp>
      <p:sp>
        <p:nvSpPr>
          <p:cNvPr id="16" name="Rectangle 15"/>
          <p:cNvSpPr/>
          <p:nvPr/>
        </p:nvSpPr>
        <p:spPr>
          <a:xfrm>
            <a:off x="9820656" y="2916936"/>
            <a:ext cx="4078224" cy="24963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040112" y="3127248"/>
            <a:ext cx="3639312" cy="283464"/>
          </a:xfrm>
          <a:prstGeom prst="rect">
            <a:avLst/>
          </a:prstGeom>
          <a:noFill/>
        </p:spPr>
        <p:txBody>
          <a:bodyPr wrap="square" lIns="0" rIns="0" tIns="0" bIns="0">
            <a:spAutoFit/>
          </a:bodyPr>
          <a:lstStyle/>
          <a:p>
            <a:pPr>
              <a:lnSpc>
                <a:spcPct val="113000"/>
              </a:lnSpc>
              <a:spcAft>
                <a:spcPts val="0"/>
              </a:spcAft>
              <a:defRPr sz="1600" b="1">
                <a:solidFill>
                  <a:srgbClr val="087F70"/>
                </a:solidFill>
                <a:latin typeface="Noto Sans CJK KR"/>
              </a:defRPr>
            </a:pPr>
            <a:r>
              <a:t>03</a:t>
            </a:r>
          </a:p>
        </p:txBody>
      </p:sp>
      <p:sp>
        <p:nvSpPr>
          <p:cNvPr id="18" name="TextBox 17"/>
          <p:cNvSpPr txBox="1"/>
          <p:nvPr/>
        </p:nvSpPr>
        <p:spPr>
          <a:xfrm>
            <a:off x="10040112" y="3657600"/>
            <a:ext cx="3639312" cy="475488"/>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제한 적용</a:t>
            </a:r>
          </a:p>
        </p:txBody>
      </p:sp>
      <p:sp>
        <p:nvSpPr>
          <p:cNvPr id="19" name="TextBox 18"/>
          <p:cNvSpPr txBox="1"/>
          <p:nvPr/>
        </p:nvSpPr>
        <p:spPr>
          <a:xfrm>
            <a:off x="10040112" y="4434840"/>
            <a:ext cx="3639312" cy="704088"/>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비용·공급 조건 안에서</a:t>
            </a:r>
          </a:p>
          <a:p>
            <a:pPr>
              <a:lnSpc>
                <a:spcPct val="113000"/>
              </a:lnSpc>
              <a:spcAft>
                <a:spcPts val="0"/>
              </a:spcAft>
              <a:defRPr sz="1900" b="0">
                <a:solidFill>
                  <a:srgbClr val="687D94"/>
                </a:solidFill>
                <a:latin typeface="Noto Sans CJK KR"/>
              </a:defRPr>
            </a:pPr>
            <a:r>
              <a:t>승인 후 적용</a:t>
            </a:r>
          </a:p>
        </p:txBody>
      </p:sp>
      <p:sp>
        <p:nvSpPr>
          <p:cNvPr id="20" name="Right Arrow 19"/>
          <p:cNvSpPr/>
          <p:nvPr/>
        </p:nvSpPr>
        <p:spPr>
          <a:xfrm>
            <a:off x="4882896" y="4096512"/>
            <a:ext cx="28346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ight Arrow 20"/>
          <p:cNvSpPr/>
          <p:nvPr/>
        </p:nvSpPr>
        <p:spPr>
          <a:xfrm>
            <a:off x="9427464" y="4096512"/>
            <a:ext cx="28346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731520" y="5751576"/>
            <a:ext cx="13167360" cy="1261872"/>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78408" y="5980176"/>
            <a:ext cx="3675887" cy="274320"/>
          </a:xfrm>
          <a:prstGeom prst="rect">
            <a:avLst/>
          </a:prstGeom>
          <a:noFill/>
        </p:spPr>
        <p:txBody>
          <a:bodyPr wrap="square" lIns="0" rIns="0" tIns="0" bIns="0">
            <a:spAutoFit/>
          </a:bodyPr>
          <a:lstStyle/>
          <a:p>
            <a:pPr>
              <a:lnSpc>
                <a:spcPct val="113000"/>
              </a:lnSpc>
              <a:spcAft>
                <a:spcPts val="0"/>
              </a:spcAft>
              <a:defRPr sz="1500" b="1">
                <a:solidFill>
                  <a:srgbClr val="ADBED2"/>
                </a:solidFill>
                <a:latin typeface="Noto Sans CJK KR"/>
              </a:defRPr>
            </a:pPr>
            <a:r>
              <a:t>함께 검증할 네 가지</a:t>
            </a:r>
          </a:p>
        </p:txBody>
      </p:sp>
      <p:sp>
        <p:nvSpPr>
          <p:cNvPr id="24" name="TextBox 23"/>
          <p:cNvSpPr txBox="1"/>
          <p:nvPr/>
        </p:nvSpPr>
        <p:spPr>
          <a:xfrm>
            <a:off x="978408" y="6419088"/>
            <a:ext cx="12298680" cy="402336"/>
          </a:xfrm>
          <a:prstGeom prst="rect">
            <a:avLst/>
          </a:prstGeom>
          <a:noFill/>
        </p:spPr>
        <p:txBody>
          <a:bodyPr wrap="square" lIns="0" rIns="0" tIns="0" bIns="0">
            <a:spAutoFit/>
          </a:bodyPr>
          <a:lstStyle/>
          <a:p>
            <a:pPr>
              <a:lnSpc>
                <a:spcPct val="113000"/>
              </a:lnSpc>
              <a:spcAft>
                <a:spcPts val="0"/>
              </a:spcAft>
              <a:defRPr sz="2700" b="1">
                <a:solidFill>
                  <a:srgbClr val="FFFFFF"/>
                </a:solidFill>
                <a:latin typeface="Noto Sans CJK KR"/>
              </a:defRPr>
            </a:pPr>
            <a:r>
              <a:t>정시 공급   ·   총비용   ·   실제 배출   ·   기간 목표 초과</a:t>
            </a:r>
          </a:p>
        </p:txBody>
      </p:sp>
      <p:sp>
        <p:nvSpPr>
          <p:cNvPr id="25" name="TextBox 24"/>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구현: 후보 검사·여유 계산·추천·예외 출력. 현장 예측·배차·승인 장부는 미연동. 적용 범위: 동일 풀링망의 호환 파렛트.</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RESEARCH BASIS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배경은 문헌으로, 현장 문제는 가설로 구분합니다.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06</a:t>
            </a:r>
          </a:p>
        </p:txBody>
      </p:sp>
      <p:sp>
        <p:nvSpPr>
          <p:cNvPr id="8" name="Rectangle 7"/>
          <p:cNvSpPr/>
          <p:nvPr/>
        </p:nvSpPr>
        <p:spPr>
          <a:xfrm>
            <a:off x="768096" y="2852928"/>
            <a:ext cx="1051560"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59536" y="2903220"/>
            <a:ext cx="868680"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R1</a:t>
            </a:r>
          </a:p>
        </p:txBody>
      </p:sp>
      <p:sp>
        <p:nvSpPr>
          <p:cNvPr id="10" name="TextBox 9"/>
          <p:cNvSpPr txBox="1"/>
          <p:nvPr/>
        </p:nvSpPr>
        <p:spPr>
          <a:xfrm>
            <a:off x="2057400" y="2825496"/>
            <a:ext cx="11667744" cy="457200"/>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ISO 14083:2023</a:t>
            </a:r>
          </a:p>
        </p:txBody>
      </p:sp>
      <p:sp>
        <p:nvSpPr>
          <p:cNvPr id="11" name="TextBox 10"/>
          <p:cNvSpPr txBox="1"/>
          <p:nvPr/>
        </p:nvSpPr>
        <p:spPr>
          <a:xfrm>
            <a:off x="2066543" y="3438144"/>
            <a:ext cx="11631168" cy="63093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운송사슬 배출의 정량화·보고 방법론</a:t>
            </a:r>
          </a:p>
          <a:p>
            <a:pPr>
              <a:lnSpc>
                <a:spcPct val="113000"/>
              </a:lnSpc>
              <a:spcAft>
                <a:spcPts val="0"/>
              </a:spcAft>
              <a:defRPr sz="1800" b="0">
                <a:solidFill>
                  <a:srgbClr val="687D94"/>
                </a:solidFill>
                <a:latin typeface="Noto Sans CJK KR"/>
              </a:defRPr>
            </a:pPr>
            <a:r>
              <a:t>공식 표준 소개·초록 확인</a:t>
            </a:r>
          </a:p>
        </p:txBody>
      </p:sp>
      <p:sp>
        <p:nvSpPr>
          <p:cNvPr id="12" name="Rectangle 11"/>
          <p:cNvSpPr/>
          <p:nvPr/>
        </p:nvSpPr>
        <p:spPr>
          <a:xfrm>
            <a:off x="768096" y="4279392"/>
            <a:ext cx="1051560"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59536" y="4329683"/>
            <a:ext cx="868680"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R2</a:t>
            </a:r>
          </a:p>
        </p:txBody>
      </p:sp>
      <p:sp>
        <p:nvSpPr>
          <p:cNvPr id="14" name="TextBox 13"/>
          <p:cNvSpPr txBox="1"/>
          <p:nvPr/>
        </p:nvSpPr>
        <p:spPr>
          <a:xfrm>
            <a:off x="2057400" y="4251959"/>
            <a:ext cx="11667744" cy="457200"/>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Tornese 등 (2021) · 파렛트 공급망 검토</a:t>
            </a:r>
          </a:p>
        </p:txBody>
      </p:sp>
      <p:sp>
        <p:nvSpPr>
          <p:cNvPr id="15" name="TextBox 14"/>
          <p:cNvSpPr txBox="1"/>
          <p:nvPr/>
        </p:nvSpPr>
        <p:spPr>
          <a:xfrm>
            <a:off x="2066543" y="4864607"/>
            <a:ext cx="11631168" cy="63093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반복 사용 자산과 다수 주체의 흐름 조정</a:t>
            </a:r>
          </a:p>
          <a:p>
            <a:pPr>
              <a:lnSpc>
                <a:spcPct val="113000"/>
              </a:lnSpc>
              <a:spcAft>
                <a:spcPts val="0"/>
              </a:spcAft>
              <a:defRPr sz="1800" b="0">
                <a:solidFill>
                  <a:srgbClr val="687D94"/>
                </a:solidFill>
                <a:latin typeface="Noto Sans CJK KR"/>
              </a:defRPr>
            </a:pPr>
            <a:r>
              <a:t>공개 초록 확인</a:t>
            </a:r>
          </a:p>
        </p:txBody>
      </p:sp>
      <p:sp>
        <p:nvSpPr>
          <p:cNvPr id="16" name="Rectangle 15"/>
          <p:cNvSpPr/>
          <p:nvPr/>
        </p:nvSpPr>
        <p:spPr>
          <a:xfrm>
            <a:off x="768096" y="5705856"/>
            <a:ext cx="1051560"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59536" y="5756148"/>
            <a:ext cx="868680"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R3–5</a:t>
            </a:r>
          </a:p>
        </p:txBody>
      </p:sp>
      <p:sp>
        <p:nvSpPr>
          <p:cNvPr id="18" name="TextBox 17"/>
          <p:cNvSpPr txBox="1"/>
          <p:nvPr/>
        </p:nvSpPr>
        <p:spPr>
          <a:xfrm>
            <a:off x="2057400" y="5678424"/>
            <a:ext cx="11667744" cy="457200"/>
          </a:xfrm>
          <a:prstGeom prst="rect">
            <a:avLst/>
          </a:prstGeom>
          <a:noFill/>
        </p:spPr>
        <p:txBody>
          <a:bodyPr wrap="square" lIns="0" rIns="0" tIns="0" bIns="0">
            <a:spAutoFit/>
          </a:bodyPr>
          <a:lstStyle/>
          <a:p>
            <a:pPr>
              <a:lnSpc>
                <a:spcPct val="113000"/>
              </a:lnSpc>
              <a:spcAft>
                <a:spcPts val="0"/>
              </a:spcAft>
              <a:defRPr sz="2600" b="1">
                <a:solidFill>
                  <a:srgbClr val="14243C"/>
                </a:solidFill>
                <a:latin typeface="Noto Sans CJK KR"/>
              </a:defRPr>
            </a:pPr>
            <a:r>
              <a:t>재배치·탄소 제약 관련 선행연구</a:t>
            </a:r>
          </a:p>
        </p:txBody>
      </p:sp>
      <p:sp>
        <p:nvSpPr>
          <p:cNvPr id="19" name="TextBox 18"/>
          <p:cNvSpPr txBox="1"/>
          <p:nvPr/>
        </p:nvSpPr>
        <p:spPr>
          <a:xfrm>
            <a:off x="2066543" y="6291072"/>
            <a:ext cx="11631168" cy="63093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파렛트 재배치와 환경·경제를 다룬 연구가 이미 존재</a:t>
            </a:r>
          </a:p>
          <a:p>
            <a:pPr>
              <a:lnSpc>
                <a:spcPct val="113000"/>
              </a:lnSpc>
              <a:spcAft>
                <a:spcPts val="0"/>
              </a:spcAft>
              <a:defRPr sz="1800" b="0">
                <a:solidFill>
                  <a:srgbClr val="687D94"/>
                </a:solidFill>
                <a:latin typeface="Noto Sans CJK KR"/>
              </a:defRPr>
            </a:pPr>
            <a:r>
              <a:t>서지·제목 확인; 원문 성과·신규성은 단정하지 않음</a:t>
            </a:r>
          </a:p>
        </p:txBody>
      </p:sp>
      <p:sp>
        <p:nvSpPr>
          <p:cNvPr id="20" name="TextBox 19"/>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R1 iso.org/standard/78864.html · R2 doi:10.3390/su132212747 · R3–5 전체 서지와 확인 수준은 연구보고서 참고문헌 참조.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BUDGET</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탄소예산은 기업이 승인하는 내부 관리 목표입니다.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07</a:t>
            </a:r>
          </a:p>
        </p:txBody>
      </p:sp>
      <p:sp>
        <p:nvSpPr>
          <p:cNvPr id="8" name="Rectangle 7"/>
          <p:cNvSpPr/>
          <p:nvPr/>
        </p:nvSpPr>
        <p:spPr>
          <a:xfrm>
            <a:off x="758952" y="3063240"/>
            <a:ext cx="3968496"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50392" y="3113532"/>
            <a:ext cx="3785615"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누가 정하나</a:t>
            </a:r>
          </a:p>
        </p:txBody>
      </p:sp>
      <p:sp>
        <p:nvSpPr>
          <p:cNvPr id="10" name="TextBox 9"/>
          <p:cNvSpPr txBox="1"/>
          <p:nvPr/>
        </p:nvSpPr>
        <p:spPr>
          <a:xfrm>
            <a:off x="758952" y="3703320"/>
            <a:ext cx="3968496" cy="557784"/>
          </a:xfrm>
          <a:prstGeom prst="rect">
            <a:avLst/>
          </a:prstGeom>
          <a:noFill/>
        </p:spPr>
        <p:txBody>
          <a:bodyPr wrap="square" lIns="0" rIns="0" tIns="0" bIns="0">
            <a:spAutoFit/>
          </a:bodyPr>
          <a:lstStyle/>
          <a:p>
            <a:pPr>
              <a:lnSpc>
                <a:spcPct val="113000"/>
              </a:lnSpc>
              <a:spcAft>
                <a:spcPts val="0"/>
              </a:spcAft>
              <a:defRPr sz="3000" b="1">
                <a:solidFill>
                  <a:srgbClr val="14243C"/>
                </a:solidFill>
                <a:latin typeface="Noto Sans CJK KR"/>
              </a:defRPr>
            </a:pPr>
            <a:r>
              <a:t>운영 책임자</a:t>
            </a:r>
          </a:p>
        </p:txBody>
      </p:sp>
      <p:sp>
        <p:nvSpPr>
          <p:cNvPr id="11" name="TextBox 10"/>
          <p:cNvSpPr txBox="1"/>
          <p:nvPr/>
        </p:nvSpPr>
        <p:spPr>
          <a:xfrm>
            <a:off x="758952" y="4599432"/>
            <a:ext cx="3968496" cy="987552"/>
          </a:xfrm>
          <a:prstGeom prst="rect">
            <a:avLst/>
          </a:prstGeom>
          <a:noFill/>
        </p:spPr>
        <p:txBody>
          <a:bodyPr wrap="square" lIns="0" rIns="0" tIns="0" bIns="0">
            <a:spAutoFit/>
          </a:bodyPr>
          <a:lstStyle/>
          <a:p>
            <a:pPr>
              <a:lnSpc>
                <a:spcPct val="113000"/>
              </a:lnSpc>
              <a:spcAft>
                <a:spcPts val="0"/>
              </a:spcAft>
              <a:defRPr sz="2200" b="0">
                <a:solidFill>
                  <a:srgbClr val="687D94"/>
                </a:solidFill>
                <a:latin typeface="Noto Sans CJK KR"/>
              </a:defRPr>
            </a:pPr>
            <a:r>
              <a:t>감축 목표·공급 계획·비용 한도 합의</a:t>
            </a:r>
          </a:p>
        </p:txBody>
      </p:sp>
      <p:sp>
        <p:nvSpPr>
          <p:cNvPr id="12" name="Rectangle 11"/>
          <p:cNvSpPr/>
          <p:nvPr/>
        </p:nvSpPr>
        <p:spPr>
          <a:xfrm>
            <a:off x="5312664" y="3063240"/>
            <a:ext cx="3968496"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404103" y="3113532"/>
            <a:ext cx="3785615"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무엇을 정하나</a:t>
            </a:r>
          </a:p>
        </p:txBody>
      </p:sp>
      <p:sp>
        <p:nvSpPr>
          <p:cNvPr id="14" name="TextBox 13"/>
          <p:cNvSpPr txBox="1"/>
          <p:nvPr/>
        </p:nvSpPr>
        <p:spPr>
          <a:xfrm>
            <a:off x="5312664" y="3703320"/>
            <a:ext cx="3968496" cy="557784"/>
          </a:xfrm>
          <a:prstGeom prst="rect">
            <a:avLst/>
          </a:prstGeom>
          <a:noFill/>
        </p:spPr>
        <p:txBody>
          <a:bodyPr wrap="square" lIns="0" rIns="0" tIns="0" bIns="0">
            <a:spAutoFit/>
          </a:bodyPr>
          <a:lstStyle/>
          <a:p>
            <a:pPr>
              <a:lnSpc>
                <a:spcPct val="113000"/>
              </a:lnSpc>
              <a:spcAft>
                <a:spcPts val="0"/>
              </a:spcAft>
              <a:defRPr sz="3000" b="1">
                <a:solidFill>
                  <a:srgbClr val="14243C"/>
                </a:solidFill>
                <a:latin typeface="Noto Sans CJK KR"/>
              </a:defRPr>
            </a:pPr>
            <a:r>
              <a:t>기간과 범위</a:t>
            </a:r>
          </a:p>
        </p:txBody>
      </p:sp>
      <p:sp>
        <p:nvSpPr>
          <p:cNvPr id="15" name="TextBox 14"/>
          <p:cNvSpPr txBox="1"/>
          <p:nvPr/>
        </p:nvSpPr>
        <p:spPr>
          <a:xfrm>
            <a:off x="5312664" y="4599432"/>
            <a:ext cx="3968496" cy="987552"/>
          </a:xfrm>
          <a:prstGeom prst="rect">
            <a:avLst/>
          </a:prstGeom>
          <a:noFill/>
        </p:spPr>
        <p:txBody>
          <a:bodyPr wrap="square" lIns="0" rIns="0" tIns="0" bIns="0">
            <a:spAutoFit/>
          </a:bodyPr>
          <a:lstStyle/>
          <a:p>
            <a:pPr>
              <a:lnSpc>
                <a:spcPct val="113000"/>
              </a:lnSpc>
              <a:spcAft>
                <a:spcPts val="0"/>
              </a:spcAft>
              <a:defRPr sz="2200" b="0">
                <a:solidFill>
                  <a:srgbClr val="687D94"/>
                </a:solidFill>
                <a:latin typeface="Noto Sans CJK KR"/>
              </a:defRPr>
            </a:pPr>
            <a:r>
              <a:t>같은 거점·운송·산정 경계의 목표</a:t>
            </a:r>
          </a:p>
        </p:txBody>
      </p:sp>
      <p:sp>
        <p:nvSpPr>
          <p:cNvPr id="16" name="Rectangle 15"/>
          <p:cNvSpPr/>
          <p:nvPr/>
        </p:nvSpPr>
        <p:spPr>
          <a:xfrm>
            <a:off x="9866376" y="3063240"/>
            <a:ext cx="3968496"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957815" y="3113532"/>
            <a:ext cx="3785615"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어떻게 정하나</a:t>
            </a:r>
          </a:p>
        </p:txBody>
      </p:sp>
      <p:sp>
        <p:nvSpPr>
          <p:cNvPr id="18" name="TextBox 17"/>
          <p:cNvSpPr txBox="1"/>
          <p:nvPr/>
        </p:nvSpPr>
        <p:spPr>
          <a:xfrm>
            <a:off x="9866376" y="3703320"/>
            <a:ext cx="3968496" cy="557784"/>
          </a:xfrm>
          <a:prstGeom prst="rect">
            <a:avLst/>
          </a:prstGeom>
          <a:noFill/>
        </p:spPr>
        <p:txBody>
          <a:bodyPr wrap="square" lIns="0" rIns="0" tIns="0" bIns="0">
            <a:spAutoFit/>
          </a:bodyPr>
          <a:lstStyle/>
          <a:p>
            <a:pPr>
              <a:lnSpc>
                <a:spcPct val="113000"/>
              </a:lnSpc>
              <a:spcAft>
                <a:spcPts val="0"/>
              </a:spcAft>
              <a:defRPr sz="3000" b="1">
                <a:solidFill>
                  <a:srgbClr val="14243C"/>
                </a:solidFill>
                <a:latin typeface="Noto Sans CJK KR"/>
              </a:defRPr>
            </a:pPr>
            <a:r>
              <a:t>기준과 감축률</a:t>
            </a:r>
          </a:p>
        </p:txBody>
      </p:sp>
      <p:sp>
        <p:nvSpPr>
          <p:cNvPr id="19" name="TextBox 18"/>
          <p:cNvSpPr txBox="1"/>
          <p:nvPr/>
        </p:nvSpPr>
        <p:spPr>
          <a:xfrm>
            <a:off x="9866376" y="4599432"/>
            <a:ext cx="3968496" cy="987552"/>
          </a:xfrm>
          <a:prstGeom prst="rect">
            <a:avLst/>
          </a:prstGeom>
          <a:noFill/>
        </p:spPr>
        <p:txBody>
          <a:bodyPr wrap="square" lIns="0" rIns="0" tIns="0" bIns="0">
            <a:spAutoFit/>
          </a:bodyPr>
          <a:lstStyle/>
          <a:p>
            <a:pPr>
              <a:lnSpc>
                <a:spcPct val="113000"/>
              </a:lnSpc>
              <a:spcAft>
                <a:spcPts val="0"/>
              </a:spcAft>
              <a:defRPr sz="2200" b="0">
                <a:solidFill>
                  <a:srgbClr val="687D94"/>
                </a:solidFill>
                <a:latin typeface="Noto Sans CJK KR"/>
              </a:defRPr>
            </a:pPr>
            <a:r>
              <a:t>과거 배출·예상 물량을 함께 검토</a:t>
            </a:r>
          </a:p>
        </p:txBody>
      </p:sp>
      <p:sp>
        <p:nvSpPr>
          <p:cNvPr id="20" name="Rectangle 19"/>
          <p:cNvSpPr/>
          <p:nvPr/>
        </p:nvSpPr>
        <p:spPr>
          <a:xfrm>
            <a:off x="768096" y="5897880"/>
            <a:ext cx="13103352" cy="105156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6208776"/>
            <a:ext cx="12618720" cy="438912"/>
          </a:xfrm>
          <a:prstGeom prst="rect">
            <a:avLst/>
          </a:prstGeom>
          <a:noFill/>
        </p:spPr>
        <p:txBody>
          <a:bodyPr wrap="square" lIns="0" rIns="0" tIns="0" bIns="0">
            <a:spAutoFit/>
          </a:bodyPr>
          <a:lstStyle/>
          <a:p>
            <a:pPr>
              <a:lnSpc>
                <a:spcPct val="113000"/>
              </a:lnSpc>
              <a:spcAft>
                <a:spcPts val="0"/>
              </a:spcAft>
              <a:defRPr sz="2600" b="1">
                <a:solidFill>
                  <a:srgbClr val="087F70"/>
                </a:solidFill>
                <a:latin typeface="Noto Sans CJK KR"/>
              </a:defRPr>
            </a:pPr>
            <a:r>
              <a:t>내부 목표 잔여분 ≠ 법정 배출권 ≠ 판매 가능한 탄소 크레딧</a:t>
            </a:r>
          </a:p>
        </p:txBody>
      </p:sp>
      <p:sp>
        <p:nvSpPr>
          <p:cNvPr id="22" name="TextBox 21"/>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로지스올의 실제 배차용 탄소예산 운영은 미확인. 목표가 없는 적용처에는 먼저 비용·배출 비교 도구의 필요성을 검증합니다.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FORMULATION</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현재 요청의 추천과 기간 전체 최적화는 다릅니다.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08</a:t>
            </a:r>
          </a:p>
        </p:txBody>
      </p:sp>
      <p:sp>
        <p:nvSpPr>
          <p:cNvPr id="8" name="Rectangle 7"/>
          <p:cNvSpPr/>
          <p:nvPr/>
        </p:nvSpPr>
        <p:spPr>
          <a:xfrm>
            <a:off x="768096" y="2880360"/>
            <a:ext cx="13103352" cy="1060704"/>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78992" y="3163824"/>
            <a:ext cx="12481560" cy="466344"/>
          </a:xfrm>
          <a:prstGeom prst="rect">
            <a:avLst/>
          </a:prstGeom>
          <a:noFill/>
        </p:spPr>
        <p:txBody>
          <a:bodyPr wrap="square" lIns="0" rIns="0" tIns="0" bIns="0">
            <a:spAutoFit/>
          </a:bodyPr>
          <a:lstStyle/>
          <a:p>
            <a:pPr>
              <a:lnSpc>
                <a:spcPct val="113000"/>
              </a:lnSpc>
              <a:spcAft>
                <a:spcPts val="0"/>
              </a:spcAft>
              <a:defRPr sz="3200" b="1">
                <a:solidFill>
                  <a:srgbClr val="54DFC0"/>
                </a:solidFill>
                <a:latin typeface="Noto Sans CJK KR"/>
              </a:defRPr>
            </a:pPr>
            <a:r>
              <a:t>H = B − E − K − F − U</a:t>
            </a:r>
          </a:p>
        </p:txBody>
      </p:sp>
      <p:sp>
        <p:nvSpPr>
          <p:cNvPr id="10" name="TextBox 9"/>
          <p:cNvSpPr txBox="1"/>
          <p:nvPr/>
        </p:nvSpPr>
        <p:spPr>
          <a:xfrm>
            <a:off x="914400" y="4325112"/>
            <a:ext cx="1920240" cy="310896"/>
          </a:xfrm>
          <a:prstGeom prst="rect">
            <a:avLst/>
          </a:prstGeom>
          <a:noFill/>
        </p:spPr>
        <p:txBody>
          <a:bodyPr wrap="square" lIns="0" rIns="0" tIns="0" bIns="0">
            <a:spAutoFit/>
          </a:bodyPr>
          <a:lstStyle/>
          <a:p>
            <a:pPr>
              <a:lnSpc>
                <a:spcPct val="113000"/>
              </a:lnSpc>
              <a:spcAft>
                <a:spcPts val="0"/>
              </a:spcAft>
              <a:defRPr sz="1900" b="1">
                <a:solidFill>
                  <a:srgbClr val="087F70"/>
                </a:solidFill>
                <a:latin typeface="Noto Sans CJK KR"/>
              </a:defRPr>
            </a:pPr>
            <a:r>
              <a:t>B / E</a:t>
            </a:r>
          </a:p>
        </p:txBody>
      </p:sp>
      <p:sp>
        <p:nvSpPr>
          <p:cNvPr id="11" name="TextBox 10"/>
          <p:cNvSpPr txBox="1"/>
          <p:nvPr/>
        </p:nvSpPr>
        <p:spPr>
          <a:xfrm>
            <a:off x="2944368" y="4325112"/>
            <a:ext cx="10561320" cy="320040"/>
          </a:xfrm>
          <a:prstGeom prst="rect">
            <a:avLst/>
          </a:prstGeom>
          <a:noFill/>
        </p:spPr>
        <p:txBody>
          <a:bodyPr wrap="square" lIns="0" rIns="0" tIns="0" bIns="0">
            <a:spAutoFit/>
          </a:bodyPr>
          <a:lstStyle/>
          <a:p>
            <a:pPr>
              <a:lnSpc>
                <a:spcPct val="113000"/>
              </a:lnSpc>
              <a:spcAft>
                <a:spcPts val="0"/>
              </a:spcAft>
              <a:defRPr sz="1900" b="0">
                <a:solidFill>
                  <a:srgbClr val="14243C"/>
                </a:solidFill>
                <a:latin typeface="Noto Sans CJK KR"/>
              </a:defRPr>
            </a:pPr>
            <a:r>
              <a:t>기간 목표 / 실제 누적 배출</a:t>
            </a:r>
          </a:p>
        </p:txBody>
      </p:sp>
      <p:sp>
        <p:nvSpPr>
          <p:cNvPr id="12" name="TextBox 11"/>
          <p:cNvSpPr txBox="1"/>
          <p:nvPr/>
        </p:nvSpPr>
        <p:spPr>
          <a:xfrm>
            <a:off x="914400" y="4882896"/>
            <a:ext cx="1920240" cy="310896"/>
          </a:xfrm>
          <a:prstGeom prst="rect">
            <a:avLst/>
          </a:prstGeom>
          <a:noFill/>
        </p:spPr>
        <p:txBody>
          <a:bodyPr wrap="square" lIns="0" rIns="0" tIns="0" bIns="0">
            <a:spAutoFit/>
          </a:bodyPr>
          <a:lstStyle/>
          <a:p>
            <a:pPr>
              <a:lnSpc>
                <a:spcPct val="113000"/>
              </a:lnSpc>
              <a:spcAft>
                <a:spcPts val="0"/>
              </a:spcAft>
              <a:defRPr sz="1900" b="1">
                <a:solidFill>
                  <a:srgbClr val="087F70"/>
                </a:solidFill>
                <a:latin typeface="Noto Sans CJK KR"/>
              </a:defRPr>
            </a:pPr>
            <a:r>
              <a:t>K / F</a:t>
            </a:r>
          </a:p>
        </p:txBody>
      </p:sp>
      <p:sp>
        <p:nvSpPr>
          <p:cNvPr id="13" name="TextBox 12"/>
          <p:cNvSpPr txBox="1"/>
          <p:nvPr/>
        </p:nvSpPr>
        <p:spPr>
          <a:xfrm>
            <a:off x="2944368" y="4882896"/>
            <a:ext cx="10561320" cy="320040"/>
          </a:xfrm>
          <a:prstGeom prst="rect">
            <a:avLst/>
          </a:prstGeom>
          <a:noFill/>
        </p:spPr>
        <p:txBody>
          <a:bodyPr wrap="square" lIns="0" rIns="0" tIns="0" bIns="0">
            <a:spAutoFit/>
          </a:bodyPr>
          <a:lstStyle/>
          <a:p>
            <a:pPr>
              <a:lnSpc>
                <a:spcPct val="113000"/>
              </a:lnSpc>
              <a:spcAft>
                <a:spcPts val="0"/>
              </a:spcAft>
              <a:defRPr sz="1900" b="0">
                <a:solidFill>
                  <a:srgbClr val="14243C"/>
                </a:solidFill>
                <a:latin typeface="Noto Sans CJK KR"/>
              </a:defRPr>
            </a:pPr>
            <a:r>
              <a:t>확정 미정산 운송 / 현재·확정 요청을 뺀 미래 공급</a:t>
            </a:r>
          </a:p>
        </p:txBody>
      </p:sp>
      <p:sp>
        <p:nvSpPr>
          <p:cNvPr id="14" name="TextBox 13"/>
          <p:cNvSpPr txBox="1"/>
          <p:nvPr/>
        </p:nvSpPr>
        <p:spPr>
          <a:xfrm>
            <a:off x="914400" y="5440680"/>
            <a:ext cx="1920240" cy="310896"/>
          </a:xfrm>
          <a:prstGeom prst="rect">
            <a:avLst/>
          </a:prstGeom>
          <a:noFill/>
        </p:spPr>
        <p:txBody>
          <a:bodyPr wrap="square" lIns="0" rIns="0" tIns="0" bIns="0">
            <a:spAutoFit/>
          </a:bodyPr>
          <a:lstStyle/>
          <a:p>
            <a:pPr>
              <a:lnSpc>
                <a:spcPct val="113000"/>
              </a:lnSpc>
              <a:spcAft>
                <a:spcPts val="0"/>
              </a:spcAft>
              <a:defRPr sz="1900" b="1">
                <a:solidFill>
                  <a:srgbClr val="087F70"/>
                </a:solidFill>
                <a:latin typeface="Noto Sans CJK KR"/>
              </a:defRPr>
            </a:pPr>
            <a:r>
              <a:t>U / H</a:t>
            </a:r>
          </a:p>
        </p:txBody>
      </p:sp>
      <p:sp>
        <p:nvSpPr>
          <p:cNvPr id="15" name="TextBox 14"/>
          <p:cNvSpPr txBox="1"/>
          <p:nvPr/>
        </p:nvSpPr>
        <p:spPr>
          <a:xfrm>
            <a:off x="2944368" y="5440680"/>
            <a:ext cx="10561320" cy="320040"/>
          </a:xfrm>
          <a:prstGeom prst="rect">
            <a:avLst/>
          </a:prstGeom>
          <a:noFill/>
        </p:spPr>
        <p:txBody>
          <a:bodyPr wrap="square" lIns="0" rIns="0" tIns="0" bIns="0">
            <a:spAutoFit/>
          </a:bodyPr>
          <a:lstStyle/>
          <a:p>
            <a:pPr>
              <a:lnSpc>
                <a:spcPct val="113000"/>
              </a:lnSpc>
              <a:spcAft>
                <a:spcPts val="0"/>
              </a:spcAft>
              <a:defRPr sz="1900" b="0">
                <a:solidFill>
                  <a:srgbClr val="14243C"/>
                </a:solidFill>
                <a:latin typeface="Noto Sans CJK KR"/>
              </a:defRPr>
            </a:pPr>
            <a:r>
              <a:t>오차 여유 / 현재 요청에 사용할 계획상 여유</a:t>
            </a:r>
          </a:p>
        </p:txBody>
      </p:sp>
      <p:sp>
        <p:nvSpPr>
          <p:cNvPr id="16" name="Rectangle 15"/>
          <p:cNvSpPr/>
          <p:nvPr/>
        </p:nvSpPr>
        <p:spPr>
          <a:xfrm>
            <a:off x="768096" y="6281928"/>
            <a:ext cx="13103352" cy="64008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87552" y="6464808"/>
            <a:ext cx="12664440" cy="310896"/>
          </a:xfrm>
          <a:prstGeom prst="rect">
            <a:avLst/>
          </a:prstGeom>
          <a:noFill/>
        </p:spPr>
        <p:txBody>
          <a:bodyPr wrap="square" lIns="0" rIns="0" tIns="0" bIns="0">
            <a:spAutoFit/>
          </a:bodyPr>
          <a:lstStyle/>
          <a:p>
            <a:pPr>
              <a:lnSpc>
                <a:spcPct val="113000"/>
              </a:lnSpc>
              <a:spcAft>
                <a:spcPts val="0"/>
              </a:spcAft>
              <a:defRPr sz="2200" b="1">
                <a:solidFill>
                  <a:srgbClr val="087F70"/>
                </a:solidFill>
                <a:latin typeface="Noto Sans CJK KR"/>
              </a:defRPr>
            </a:pPr>
            <a:r>
              <a:t>공급·납기·안전·비용 조건 + 예상 배출 ≤ H  →  현재 후보의 최소비용 선택</a:t>
            </a:r>
          </a:p>
        </p:txBody>
      </p:sp>
      <p:sp>
        <p:nvSpPr>
          <p:cNvPr id="18" name="TextBox 17"/>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미래 요청의 실행 가능성과 기간 전체 최소비용은 보장하지 않습니다. 후보 생성·수요 예측·장부 정산은 별도 업무입니다.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EXCEPTION</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“여유 부족”과 “실제 초과”를 구분합니다.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09</a:t>
            </a:r>
          </a:p>
        </p:txBody>
      </p:sp>
      <p:sp>
        <p:nvSpPr>
          <p:cNvPr id="8" name="TextBox 7"/>
          <p:cNvSpPr txBox="1"/>
          <p:nvPr/>
        </p:nvSpPr>
        <p:spPr>
          <a:xfrm>
            <a:off x="813816" y="3054096"/>
            <a:ext cx="3931920" cy="256032"/>
          </a:xfrm>
          <a:prstGeom prst="rect">
            <a:avLst/>
          </a:prstGeom>
          <a:noFill/>
        </p:spPr>
        <p:txBody>
          <a:bodyPr wrap="square" lIns="0" rIns="0" tIns="0" bIns="0">
            <a:spAutoFit/>
          </a:bodyPr>
          <a:lstStyle/>
          <a:p>
            <a:pPr>
              <a:lnSpc>
                <a:spcPct val="113000"/>
              </a:lnSpc>
              <a:spcAft>
                <a:spcPts val="0"/>
              </a:spcAft>
              <a:defRPr sz="1200" b="1">
                <a:solidFill>
                  <a:srgbClr val="687D94"/>
                </a:solidFill>
                <a:latin typeface="Noto Sans CJK KR"/>
              </a:defRPr>
            </a:pPr>
            <a:r>
              <a:t>현재 계획 여유</a:t>
            </a:r>
          </a:p>
        </p:txBody>
      </p:sp>
      <p:sp>
        <p:nvSpPr>
          <p:cNvPr id="9" name="TextBox 8"/>
          <p:cNvSpPr txBox="1"/>
          <p:nvPr/>
        </p:nvSpPr>
        <p:spPr>
          <a:xfrm>
            <a:off x="813816" y="3419856"/>
            <a:ext cx="3931920" cy="576072"/>
          </a:xfrm>
          <a:prstGeom prst="rect">
            <a:avLst/>
          </a:prstGeom>
          <a:noFill/>
        </p:spPr>
        <p:txBody>
          <a:bodyPr wrap="square" lIns="0" rIns="0" tIns="0" bIns="0">
            <a:spAutoFit/>
          </a:bodyPr>
          <a:lstStyle/>
          <a:p>
            <a:pPr>
              <a:lnSpc>
                <a:spcPct val="113000"/>
              </a:lnSpc>
              <a:spcAft>
                <a:spcPts val="0"/>
              </a:spcAft>
              <a:defRPr sz="3200" b="1">
                <a:solidFill>
                  <a:srgbClr val="087F70"/>
                </a:solidFill>
                <a:latin typeface="Noto Sans CJK KR"/>
              </a:defRPr>
            </a:pPr>
            <a:r>
              <a:t>20kg</a:t>
            </a:r>
          </a:p>
        </p:txBody>
      </p:sp>
      <p:sp>
        <p:nvSpPr>
          <p:cNvPr id="10" name="TextBox 9"/>
          <p:cNvSpPr txBox="1"/>
          <p:nvPr/>
        </p:nvSpPr>
        <p:spPr>
          <a:xfrm>
            <a:off x="5422392" y="3054096"/>
            <a:ext cx="3931920" cy="256032"/>
          </a:xfrm>
          <a:prstGeom prst="rect">
            <a:avLst/>
          </a:prstGeom>
          <a:noFill/>
        </p:spPr>
        <p:txBody>
          <a:bodyPr wrap="square" lIns="0" rIns="0" tIns="0" bIns="0">
            <a:spAutoFit/>
          </a:bodyPr>
          <a:lstStyle/>
          <a:p>
            <a:pPr>
              <a:lnSpc>
                <a:spcPct val="113000"/>
              </a:lnSpc>
              <a:spcAft>
                <a:spcPts val="0"/>
              </a:spcAft>
              <a:defRPr sz="1200" b="1">
                <a:solidFill>
                  <a:srgbClr val="687D94"/>
                </a:solidFill>
                <a:latin typeface="Noto Sans CJK KR"/>
              </a:defRPr>
            </a:pPr>
            <a:r>
              <a:t>최소배출 후보 C</a:t>
            </a:r>
          </a:p>
        </p:txBody>
      </p:sp>
      <p:sp>
        <p:nvSpPr>
          <p:cNvPr id="11" name="TextBox 10"/>
          <p:cNvSpPr txBox="1"/>
          <p:nvPr/>
        </p:nvSpPr>
        <p:spPr>
          <a:xfrm>
            <a:off x="5422392" y="3419856"/>
            <a:ext cx="3931920" cy="576072"/>
          </a:xfrm>
          <a:prstGeom prst="rect">
            <a:avLst/>
          </a:prstGeom>
          <a:noFill/>
        </p:spPr>
        <p:txBody>
          <a:bodyPr wrap="square" lIns="0" rIns="0" tIns="0" bIns="0">
            <a:spAutoFit/>
          </a:bodyPr>
          <a:lstStyle/>
          <a:p>
            <a:pPr>
              <a:lnSpc>
                <a:spcPct val="113000"/>
              </a:lnSpc>
              <a:spcAft>
                <a:spcPts val="0"/>
              </a:spcAft>
              <a:defRPr sz="3200" b="1">
                <a:solidFill>
                  <a:srgbClr val="087F70"/>
                </a:solidFill>
                <a:latin typeface="Noto Sans CJK KR"/>
              </a:defRPr>
            </a:pPr>
            <a:r>
              <a:t>30kg</a:t>
            </a:r>
          </a:p>
        </p:txBody>
      </p:sp>
      <p:sp>
        <p:nvSpPr>
          <p:cNvPr id="12" name="TextBox 11"/>
          <p:cNvSpPr txBox="1"/>
          <p:nvPr/>
        </p:nvSpPr>
        <p:spPr>
          <a:xfrm>
            <a:off x="10040112" y="3054096"/>
            <a:ext cx="3931920" cy="256032"/>
          </a:xfrm>
          <a:prstGeom prst="rect">
            <a:avLst/>
          </a:prstGeom>
          <a:noFill/>
        </p:spPr>
        <p:txBody>
          <a:bodyPr wrap="square" lIns="0" rIns="0" tIns="0" bIns="0">
            <a:spAutoFit/>
          </a:bodyPr>
          <a:lstStyle/>
          <a:p>
            <a:pPr>
              <a:lnSpc>
                <a:spcPct val="113000"/>
              </a:lnSpc>
              <a:spcAft>
                <a:spcPts val="0"/>
              </a:spcAft>
              <a:defRPr sz="1200" b="1">
                <a:solidFill>
                  <a:srgbClr val="687D94"/>
                </a:solidFill>
                <a:latin typeface="Noto Sans CJK KR"/>
              </a:defRPr>
            </a:pPr>
            <a:r>
              <a:t>계획 여유 부족</a:t>
            </a:r>
          </a:p>
        </p:txBody>
      </p:sp>
      <p:sp>
        <p:nvSpPr>
          <p:cNvPr id="13" name="TextBox 12"/>
          <p:cNvSpPr txBox="1"/>
          <p:nvPr/>
        </p:nvSpPr>
        <p:spPr>
          <a:xfrm>
            <a:off x="10040112" y="3419856"/>
            <a:ext cx="3931920" cy="576072"/>
          </a:xfrm>
          <a:prstGeom prst="rect">
            <a:avLst/>
          </a:prstGeom>
          <a:noFill/>
        </p:spPr>
        <p:txBody>
          <a:bodyPr wrap="square" lIns="0" rIns="0" tIns="0" bIns="0">
            <a:spAutoFit/>
          </a:bodyPr>
          <a:lstStyle/>
          <a:p>
            <a:pPr>
              <a:lnSpc>
                <a:spcPct val="113000"/>
              </a:lnSpc>
              <a:spcAft>
                <a:spcPts val="0"/>
              </a:spcAft>
              <a:defRPr sz="3200" b="1">
                <a:solidFill>
                  <a:srgbClr val="087F70"/>
                </a:solidFill>
                <a:latin typeface="Noto Sans CJK KR"/>
              </a:defRPr>
            </a:pPr>
            <a:r>
              <a:t>10kg</a:t>
            </a:r>
          </a:p>
        </p:txBody>
      </p:sp>
      <p:sp>
        <p:nvSpPr>
          <p:cNvPr id="14" name="Rectangle 13"/>
          <p:cNvSpPr/>
          <p:nvPr/>
        </p:nvSpPr>
        <p:spPr>
          <a:xfrm>
            <a:off x="786384" y="4590288"/>
            <a:ext cx="13075920" cy="1115568"/>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42415" y="4882896"/>
            <a:ext cx="12554712" cy="466344"/>
          </a:xfrm>
          <a:prstGeom prst="rect">
            <a:avLst/>
          </a:prstGeom>
          <a:noFill/>
        </p:spPr>
        <p:txBody>
          <a:bodyPr wrap="square" lIns="0" rIns="0" tIns="0" bIns="0">
            <a:spAutoFit/>
          </a:bodyPr>
          <a:lstStyle/>
          <a:p>
            <a:pPr>
              <a:lnSpc>
                <a:spcPct val="113000"/>
              </a:lnSpc>
              <a:spcAft>
                <a:spcPts val="0"/>
              </a:spcAft>
              <a:defRPr sz="2800" b="1">
                <a:solidFill>
                  <a:srgbClr val="FFFFFF"/>
                </a:solidFill>
                <a:latin typeface="Noto Sans CJK KR"/>
              </a:defRPr>
            </a:pPr>
            <a:r>
              <a:t>점추정 990kg   /   오차 여유 포함 1,010kg   /   목표 1,000kg</a:t>
            </a:r>
          </a:p>
        </p:txBody>
      </p:sp>
      <p:sp>
        <p:nvSpPr>
          <p:cNvPr id="16" name="TextBox 15"/>
          <p:cNvSpPr txBox="1"/>
          <p:nvPr/>
        </p:nvSpPr>
        <p:spPr>
          <a:xfrm>
            <a:off x="868680" y="6144768"/>
            <a:ext cx="12774168" cy="768096"/>
          </a:xfrm>
          <a:prstGeom prst="rect">
            <a:avLst/>
          </a:prstGeom>
          <a:noFill/>
        </p:spPr>
        <p:txBody>
          <a:bodyPr wrap="square" lIns="0" rIns="0" tIns="0" bIns="0">
            <a:spAutoFit/>
          </a:bodyPr>
          <a:lstStyle/>
          <a:p>
            <a:pPr>
              <a:lnSpc>
                <a:spcPct val="113000"/>
              </a:lnSpc>
              <a:spcAft>
                <a:spcPts val="0"/>
              </a:spcAft>
              <a:defRPr sz="2400" b="1">
                <a:solidFill>
                  <a:srgbClr val="14243C"/>
                </a:solidFill>
                <a:latin typeface="Noto Sans CJK KR"/>
              </a:defRPr>
            </a:pPr>
            <a:r>
              <a:t>자동 추천은 비우고, 대안·부족량·추가비용을 제시합니다.</a:t>
            </a:r>
          </a:p>
          <a:p>
            <a:pPr>
              <a:lnSpc>
                <a:spcPct val="113000"/>
              </a:lnSpc>
              <a:spcAft>
                <a:spcPts val="0"/>
              </a:spcAft>
              <a:defRPr sz="2400" b="1">
                <a:solidFill>
                  <a:srgbClr val="14243C"/>
                </a:solidFill>
                <a:latin typeface="Noto Sans CJK KR"/>
              </a:defRPr>
            </a:pPr>
            <a:r>
              <a:t>안전·납기 조건을 자동으로 완화하지 않습니다.</a:t>
            </a:r>
          </a:p>
        </p:txBody>
      </p:sp>
      <p:sp>
        <p:nvSpPr>
          <p:cNvPr id="17" name="TextBox 16"/>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가상 입력: E=760, K=0, F=200, U=20. 담당자 승인·실행은 현재 프로토타입 범위에 포함되지 않습니다.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EMISSIONS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복귀편을 활용해도 탄소는 0이 아닙니다.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10</a:t>
            </a:r>
          </a:p>
        </p:txBody>
      </p:sp>
      <p:sp>
        <p:nvSpPr>
          <p:cNvPr id="8" name="Rectangle 7"/>
          <p:cNvSpPr/>
          <p:nvPr/>
        </p:nvSpPr>
        <p:spPr>
          <a:xfrm>
            <a:off x="786384" y="2962656"/>
            <a:ext cx="3959352" cy="2523744"/>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996696" y="3328416"/>
            <a:ext cx="3538728" cy="521207"/>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귀속 배출</a:t>
            </a:r>
          </a:p>
        </p:txBody>
      </p:sp>
      <p:sp>
        <p:nvSpPr>
          <p:cNvPr id="10" name="TextBox 9"/>
          <p:cNvSpPr txBox="1"/>
          <p:nvPr/>
        </p:nvSpPr>
        <p:spPr>
          <a:xfrm>
            <a:off x="996696" y="4242816"/>
            <a:ext cx="3538728" cy="850392"/>
          </a:xfrm>
          <a:prstGeom prst="rect">
            <a:avLst/>
          </a:prstGeom>
          <a:noFill/>
        </p:spPr>
        <p:txBody>
          <a:bodyPr wrap="square" lIns="0" rIns="0" tIns="0" bIns="0">
            <a:spAutoFit/>
          </a:bodyPr>
          <a:lstStyle/>
          <a:p>
            <a:pPr>
              <a:lnSpc>
                <a:spcPct val="113000"/>
              </a:lnSpc>
              <a:spcAft>
                <a:spcPts val="0"/>
              </a:spcAft>
              <a:defRPr sz="2200" b="0">
                <a:solidFill>
                  <a:srgbClr val="687D94"/>
                </a:solidFill>
                <a:latin typeface="Noto Sans CJK KR"/>
              </a:defRPr>
            </a:pPr>
            <a:r>
              <a:t>운송 구간의 배출을</a:t>
            </a:r>
          </a:p>
          <a:p>
            <a:pPr>
              <a:lnSpc>
                <a:spcPct val="113000"/>
              </a:lnSpc>
              <a:spcAft>
                <a:spcPts val="0"/>
              </a:spcAft>
              <a:defRPr sz="2200" b="0">
                <a:solidFill>
                  <a:srgbClr val="687D94"/>
                </a:solidFill>
                <a:latin typeface="Noto Sans CJK KR"/>
              </a:defRPr>
            </a:pPr>
            <a:r>
              <a:t>동일 기준으로 배분</a:t>
            </a:r>
          </a:p>
        </p:txBody>
      </p:sp>
      <p:sp>
        <p:nvSpPr>
          <p:cNvPr id="11" name="Rectangle 10"/>
          <p:cNvSpPr/>
          <p:nvPr/>
        </p:nvSpPr>
        <p:spPr>
          <a:xfrm>
            <a:off x="5330952" y="2962656"/>
            <a:ext cx="3959352" cy="2523744"/>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541264" y="3328416"/>
            <a:ext cx="3538728" cy="521207"/>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운영 변경 효과</a:t>
            </a:r>
          </a:p>
        </p:txBody>
      </p:sp>
      <p:sp>
        <p:nvSpPr>
          <p:cNvPr id="13" name="TextBox 12"/>
          <p:cNvSpPr txBox="1"/>
          <p:nvPr/>
        </p:nvSpPr>
        <p:spPr>
          <a:xfrm>
            <a:off x="5541264" y="4242816"/>
            <a:ext cx="3538728" cy="850392"/>
          </a:xfrm>
          <a:prstGeom prst="rect">
            <a:avLst/>
          </a:prstGeom>
          <a:noFill/>
        </p:spPr>
        <p:txBody>
          <a:bodyPr wrap="square" lIns="0" rIns="0" tIns="0" bIns="0">
            <a:spAutoFit/>
          </a:bodyPr>
          <a:lstStyle/>
          <a:p>
            <a:pPr>
              <a:lnSpc>
                <a:spcPct val="113000"/>
              </a:lnSpc>
              <a:spcAft>
                <a:spcPts val="0"/>
              </a:spcAft>
              <a:defRPr sz="2200" b="0">
                <a:solidFill>
                  <a:srgbClr val="687D94"/>
                </a:solidFill>
                <a:latin typeface="Noto Sans CJK KR"/>
              </a:defRPr>
            </a:pPr>
            <a:r>
              <a:t>변경 전후 전체 운송의</a:t>
            </a:r>
          </a:p>
          <a:p>
            <a:pPr>
              <a:lnSpc>
                <a:spcPct val="113000"/>
              </a:lnSpc>
              <a:spcAft>
                <a:spcPts val="0"/>
              </a:spcAft>
              <a:defRPr sz="2200" b="0">
                <a:solidFill>
                  <a:srgbClr val="687D94"/>
                </a:solidFill>
                <a:latin typeface="Noto Sans CJK KR"/>
              </a:defRPr>
            </a:pPr>
            <a:r>
              <a:t>차이를 별도로 비교</a:t>
            </a:r>
          </a:p>
        </p:txBody>
      </p:sp>
      <p:sp>
        <p:nvSpPr>
          <p:cNvPr id="14" name="Rectangle 13"/>
          <p:cNvSpPr/>
          <p:nvPr/>
        </p:nvSpPr>
        <p:spPr>
          <a:xfrm>
            <a:off x="9875520" y="2962656"/>
            <a:ext cx="3959352" cy="2523744"/>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085832" y="3328416"/>
            <a:ext cx="3538728" cy="521207"/>
          </a:xfrm>
          <a:prstGeom prst="rect">
            <a:avLst/>
          </a:prstGeom>
          <a:noFill/>
        </p:spPr>
        <p:txBody>
          <a:bodyPr wrap="square" lIns="0" rIns="0" tIns="0" bIns="0">
            <a:spAutoFit/>
          </a:bodyPr>
          <a:lstStyle/>
          <a:p>
            <a:pPr>
              <a:lnSpc>
                <a:spcPct val="113000"/>
              </a:lnSpc>
              <a:spcAft>
                <a:spcPts val="0"/>
              </a:spcAft>
              <a:defRPr sz="2800" b="1">
                <a:solidFill>
                  <a:srgbClr val="14243C"/>
                </a:solidFill>
                <a:latin typeface="Noto Sans CJK KR"/>
              </a:defRPr>
            </a:pPr>
            <a:r>
              <a:t>실행 가능성</a:t>
            </a:r>
          </a:p>
        </p:txBody>
      </p:sp>
      <p:sp>
        <p:nvSpPr>
          <p:cNvPr id="16" name="TextBox 15"/>
          <p:cNvSpPr txBox="1"/>
          <p:nvPr/>
        </p:nvSpPr>
        <p:spPr>
          <a:xfrm>
            <a:off x="10085832" y="4242816"/>
            <a:ext cx="3538728" cy="850392"/>
          </a:xfrm>
          <a:prstGeom prst="rect">
            <a:avLst/>
          </a:prstGeom>
          <a:noFill/>
        </p:spPr>
        <p:txBody>
          <a:bodyPr wrap="square" lIns="0" rIns="0" tIns="0" bIns="0">
            <a:spAutoFit/>
          </a:bodyPr>
          <a:lstStyle/>
          <a:p>
            <a:pPr>
              <a:lnSpc>
                <a:spcPct val="113000"/>
              </a:lnSpc>
              <a:spcAft>
                <a:spcPts val="0"/>
              </a:spcAft>
              <a:defRPr sz="2200" b="0">
                <a:solidFill>
                  <a:srgbClr val="687D94"/>
                </a:solidFill>
                <a:latin typeface="Noto Sans CJK KR"/>
              </a:defRPr>
            </a:pPr>
            <a:r>
              <a:t>노선·시각·적재 여유·</a:t>
            </a:r>
          </a:p>
          <a:p>
            <a:pPr>
              <a:lnSpc>
                <a:spcPct val="113000"/>
              </a:lnSpc>
              <a:spcAft>
                <a:spcPts val="0"/>
              </a:spcAft>
              <a:defRPr sz="2200" b="0">
                <a:solidFill>
                  <a:srgbClr val="687D94"/>
                </a:solidFill>
                <a:latin typeface="Noto Sans CJK KR"/>
              </a:defRPr>
            </a:pPr>
            <a:r>
              <a:t>규격과 안전을 확인</a:t>
            </a:r>
          </a:p>
        </p:txBody>
      </p:sp>
      <p:sp>
        <p:nvSpPr>
          <p:cNvPr id="17" name="Rectangle 16"/>
          <p:cNvSpPr/>
          <p:nvPr/>
        </p:nvSpPr>
        <p:spPr>
          <a:xfrm>
            <a:off x="786384" y="5989320"/>
            <a:ext cx="13048488" cy="91440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8" y="6272784"/>
            <a:ext cx="12563856" cy="384048"/>
          </a:xfrm>
          <a:prstGeom prst="rect">
            <a:avLst/>
          </a:prstGeom>
          <a:noFill/>
        </p:spPr>
        <p:txBody>
          <a:bodyPr wrap="square" lIns="0" rIns="0" tIns="0" bIns="0">
            <a:spAutoFit/>
          </a:bodyPr>
          <a:lstStyle/>
          <a:p>
            <a:pPr>
              <a:lnSpc>
                <a:spcPct val="113000"/>
              </a:lnSpc>
              <a:spcAft>
                <a:spcPts val="0"/>
              </a:spcAft>
              <a:defRPr sz="2500" b="1">
                <a:solidFill>
                  <a:srgbClr val="087F70"/>
                </a:solidFill>
                <a:latin typeface="Noto Sans CJK KR"/>
              </a:defRPr>
            </a:pPr>
            <a:r>
              <a:t>실시간 센서보다 먼저: 자료 출처 · 산정 경계 · 배출계수 · 배분 원칙</a:t>
            </a:r>
          </a:p>
        </p:txBody>
      </p:sp>
      <p:sp>
        <p:nvSpPr>
          <p:cNvPr id="19" name="TextBox 18"/>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ISO 14083의 공식 개요를 참고하되 표준 전문 적용·인증을 주장하지 않습니다. 배출 추정과 실제 정산을 구분합니다.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SYNTHETIC REPLAY</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목표를 지키는 데 드는 비용도 공개합니다.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20건 동일 요청 · 목표 1,200kg · 실제=예상 · 모든 정책이 20건 공급. 현장 실적이 아닌 합성 실험.</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11</a:t>
            </a:r>
          </a:p>
        </p:txBody>
      </p:sp>
      <p:sp>
        <p:nvSpPr>
          <p:cNvPr id="9" name="TextBox 8"/>
          <p:cNvSpPr txBox="1"/>
          <p:nvPr/>
        </p:nvSpPr>
        <p:spPr>
          <a:xfrm>
            <a:off x="822960" y="3008376"/>
            <a:ext cx="4023359"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정책</a:t>
            </a:r>
          </a:p>
        </p:txBody>
      </p:sp>
      <p:sp>
        <p:nvSpPr>
          <p:cNvPr id="10" name="TextBox 9"/>
          <p:cNvSpPr txBox="1"/>
          <p:nvPr/>
        </p:nvSpPr>
        <p:spPr>
          <a:xfrm>
            <a:off x="5029200" y="3008376"/>
            <a:ext cx="265176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총비용 / 만원</a:t>
            </a:r>
          </a:p>
        </p:txBody>
      </p:sp>
      <p:sp>
        <p:nvSpPr>
          <p:cNvPr id="11" name="TextBox 10"/>
          <p:cNvSpPr txBox="1"/>
          <p:nvPr/>
        </p:nvSpPr>
        <p:spPr>
          <a:xfrm>
            <a:off x="7863840" y="3008376"/>
            <a:ext cx="265176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배출 / kg</a:t>
            </a:r>
          </a:p>
        </p:txBody>
      </p:sp>
      <p:sp>
        <p:nvSpPr>
          <p:cNvPr id="12" name="TextBox 11"/>
          <p:cNvSpPr txBox="1"/>
          <p:nvPr/>
        </p:nvSpPr>
        <p:spPr>
          <a:xfrm>
            <a:off x="10698480" y="3008376"/>
            <a:ext cx="320040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목표 초과 / kg</a:t>
            </a:r>
          </a:p>
        </p:txBody>
      </p:sp>
      <p:sp>
        <p:nvSpPr>
          <p:cNvPr id="13" name="TextBox 12"/>
          <p:cNvSpPr txBox="1"/>
          <p:nvPr/>
        </p:nvSpPr>
        <p:spPr>
          <a:xfrm>
            <a:off x="822960" y="3886200"/>
            <a:ext cx="4023359"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비용 우선</a:t>
            </a:r>
          </a:p>
        </p:txBody>
      </p:sp>
      <p:sp>
        <p:nvSpPr>
          <p:cNvPr id="14" name="TextBox 13"/>
          <p:cNvSpPr txBox="1"/>
          <p:nvPr/>
        </p:nvSpPr>
        <p:spPr>
          <a:xfrm>
            <a:off x="5029200" y="3886200"/>
            <a:ext cx="265176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2,000</a:t>
            </a:r>
          </a:p>
        </p:txBody>
      </p:sp>
      <p:sp>
        <p:nvSpPr>
          <p:cNvPr id="15" name="TextBox 14"/>
          <p:cNvSpPr txBox="1"/>
          <p:nvPr/>
        </p:nvSpPr>
        <p:spPr>
          <a:xfrm>
            <a:off x="7863840" y="3886200"/>
            <a:ext cx="265176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2,000</a:t>
            </a:r>
          </a:p>
        </p:txBody>
      </p:sp>
      <p:sp>
        <p:nvSpPr>
          <p:cNvPr id="16" name="TextBox 15"/>
          <p:cNvSpPr txBox="1"/>
          <p:nvPr/>
        </p:nvSpPr>
        <p:spPr>
          <a:xfrm>
            <a:off x="10698480" y="3886200"/>
            <a:ext cx="320040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800</a:t>
            </a:r>
          </a:p>
        </p:txBody>
      </p:sp>
      <p:sp>
        <p:nvSpPr>
          <p:cNvPr id="17" name="TextBox 16"/>
          <p:cNvSpPr txBox="1"/>
          <p:nvPr/>
        </p:nvSpPr>
        <p:spPr>
          <a:xfrm>
            <a:off x="822960" y="4809744"/>
            <a:ext cx="4023359"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현재 잔여량</a:t>
            </a:r>
          </a:p>
        </p:txBody>
      </p:sp>
      <p:sp>
        <p:nvSpPr>
          <p:cNvPr id="18" name="TextBox 17"/>
          <p:cNvSpPr txBox="1"/>
          <p:nvPr/>
        </p:nvSpPr>
        <p:spPr>
          <a:xfrm>
            <a:off x="5029200" y="4809744"/>
            <a:ext cx="265176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2,120</a:t>
            </a:r>
          </a:p>
        </p:txBody>
      </p:sp>
      <p:sp>
        <p:nvSpPr>
          <p:cNvPr id="19" name="TextBox 18"/>
          <p:cNvSpPr txBox="1"/>
          <p:nvPr/>
        </p:nvSpPr>
        <p:spPr>
          <a:xfrm>
            <a:off x="7863840" y="4809744"/>
            <a:ext cx="265176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1,440</a:t>
            </a:r>
          </a:p>
        </p:txBody>
      </p:sp>
      <p:sp>
        <p:nvSpPr>
          <p:cNvPr id="20" name="TextBox 19"/>
          <p:cNvSpPr txBox="1"/>
          <p:nvPr/>
        </p:nvSpPr>
        <p:spPr>
          <a:xfrm>
            <a:off x="10698480" y="4809744"/>
            <a:ext cx="320040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240</a:t>
            </a:r>
          </a:p>
        </p:txBody>
      </p:sp>
      <p:sp>
        <p:nvSpPr>
          <p:cNvPr id="21" name="Rectangle 20"/>
          <p:cNvSpPr/>
          <p:nvPr/>
        </p:nvSpPr>
        <p:spPr>
          <a:xfrm>
            <a:off x="676656" y="5641848"/>
            <a:ext cx="13258800" cy="722376"/>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22960" y="5733288"/>
            <a:ext cx="4023359" cy="548640"/>
          </a:xfrm>
          <a:prstGeom prst="rect">
            <a:avLst/>
          </a:prstGeom>
          <a:noFill/>
        </p:spPr>
        <p:txBody>
          <a:bodyPr wrap="square" lIns="0" rIns="0" tIns="0" bIns="0">
            <a:spAutoFit/>
          </a:bodyPr>
          <a:lstStyle/>
          <a:p>
            <a:pPr>
              <a:lnSpc>
                <a:spcPct val="113000"/>
              </a:lnSpc>
              <a:spcAft>
                <a:spcPts val="0"/>
              </a:spcAft>
              <a:defRPr sz="1800" b="1">
                <a:solidFill>
                  <a:srgbClr val="087F70"/>
                </a:solidFill>
                <a:latin typeface="Noto Sans CJK KR"/>
              </a:defRPr>
            </a:pPr>
            <a:r>
              <a:t>예측 반영 CBP</a:t>
            </a:r>
          </a:p>
        </p:txBody>
      </p:sp>
      <p:sp>
        <p:nvSpPr>
          <p:cNvPr id="23" name="TextBox 22"/>
          <p:cNvSpPr txBox="1"/>
          <p:nvPr/>
        </p:nvSpPr>
        <p:spPr>
          <a:xfrm>
            <a:off x="5029200" y="5733288"/>
            <a:ext cx="2651760" cy="548640"/>
          </a:xfrm>
          <a:prstGeom prst="rect">
            <a:avLst/>
          </a:prstGeom>
          <a:noFill/>
        </p:spPr>
        <p:txBody>
          <a:bodyPr wrap="square" lIns="0" rIns="0" tIns="0" bIns="0">
            <a:spAutoFit/>
          </a:bodyPr>
          <a:lstStyle/>
          <a:p>
            <a:pPr>
              <a:lnSpc>
                <a:spcPct val="113000"/>
              </a:lnSpc>
              <a:spcAft>
                <a:spcPts val="0"/>
              </a:spcAft>
              <a:defRPr sz="1800" b="1">
                <a:solidFill>
                  <a:srgbClr val="087F70"/>
                </a:solidFill>
                <a:latin typeface="Noto Sans CJK KR"/>
              </a:defRPr>
            </a:pPr>
            <a:r>
              <a:t>2,167</a:t>
            </a:r>
          </a:p>
        </p:txBody>
      </p:sp>
      <p:sp>
        <p:nvSpPr>
          <p:cNvPr id="24" name="TextBox 23"/>
          <p:cNvSpPr txBox="1"/>
          <p:nvPr/>
        </p:nvSpPr>
        <p:spPr>
          <a:xfrm>
            <a:off x="7863840" y="5733288"/>
            <a:ext cx="2651760" cy="548640"/>
          </a:xfrm>
          <a:prstGeom prst="rect">
            <a:avLst/>
          </a:prstGeom>
          <a:noFill/>
        </p:spPr>
        <p:txBody>
          <a:bodyPr wrap="square" lIns="0" rIns="0" tIns="0" bIns="0">
            <a:spAutoFit/>
          </a:bodyPr>
          <a:lstStyle/>
          <a:p>
            <a:pPr>
              <a:lnSpc>
                <a:spcPct val="113000"/>
              </a:lnSpc>
              <a:spcAft>
                <a:spcPts val="0"/>
              </a:spcAft>
              <a:defRPr sz="1800" b="1">
                <a:solidFill>
                  <a:srgbClr val="087F70"/>
                </a:solidFill>
                <a:latin typeface="Noto Sans CJK KR"/>
              </a:defRPr>
            </a:pPr>
            <a:r>
              <a:t>1,170</a:t>
            </a:r>
          </a:p>
        </p:txBody>
      </p:sp>
      <p:sp>
        <p:nvSpPr>
          <p:cNvPr id="25" name="TextBox 24"/>
          <p:cNvSpPr txBox="1"/>
          <p:nvPr/>
        </p:nvSpPr>
        <p:spPr>
          <a:xfrm>
            <a:off x="10698480" y="5733288"/>
            <a:ext cx="3200400" cy="548640"/>
          </a:xfrm>
          <a:prstGeom prst="rect">
            <a:avLst/>
          </a:prstGeom>
          <a:noFill/>
        </p:spPr>
        <p:txBody>
          <a:bodyPr wrap="square" lIns="0" rIns="0" tIns="0" bIns="0">
            <a:spAutoFit/>
          </a:bodyPr>
          <a:lstStyle/>
          <a:p>
            <a:pPr>
              <a:lnSpc>
                <a:spcPct val="113000"/>
              </a:lnSpc>
              <a:spcAft>
                <a:spcPts val="0"/>
              </a:spcAft>
              <a:defRPr sz="1800" b="1">
                <a:solidFill>
                  <a:srgbClr val="087F70"/>
                </a:solidFill>
                <a:latin typeface="Noto Sans CJK KR"/>
              </a:defRPr>
            </a:pPr>
            <a:r>
              <a:t>0</a:t>
            </a:r>
          </a:p>
        </p:txBody>
      </p:sp>
      <p:sp>
        <p:nvSpPr>
          <p:cNvPr id="26" name="TextBox 25"/>
          <p:cNvSpPr txBox="1"/>
          <p:nvPr/>
        </p:nvSpPr>
        <p:spPr>
          <a:xfrm>
            <a:off x="914400" y="6830568"/>
            <a:ext cx="12783312" cy="310896"/>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정확한 예측·고정 후보라는 조건에서만 관측된 결과입니다.</a:t>
            </a:r>
          </a:p>
        </p:txBody>
      </p:sp>
      <p:sp>
        <p:nvSpPr>
          <p:cNvPr id="27" name="TextBox 26"/>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F=남은 건수×60kg. U=20kg(마지막 0). 후보 부재 시 가상 담당자가 최소배출 대안을 승인. 세부 프로토콜·코드는 보고서와 동봉 파일 참조.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FAILURE CONDITIONS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예측이 틀리면, 목표도 넘을 수 있습니다.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12</a:t>
            </a:r>
          </a:p>
        </p:txBody>
      </p:sp>
      <p:sp>
        <p:nvSpPr>
          <p:cNvPr id="8" name="TextBox 7"/>
          <p:cNvSpPr txBox="1"/>
          <p:nvPr/>
        </p:nvSpPr>
        <p:spPr>
          <a:xfrm>
            <a:off x="822960" y="3108960"/>
            <a:ext cx="2926079"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실제 / 예상</a:t>
            </a:r>
          </a:p>
        </p:txBody>
      </p:sp>
      <p:sp>
        <p:nvSpPr>
          <p:cNvPr id="9" name="TextBox 8"/>
          <p:cNvSpPr txBox="1"/>
          <p:nvPr/>
        </p:nvSpPr>
        <p:spPr>
          <a:xfrm>
            <a:off x="3931920" y="3108960"/>
            <a:ext cx="347472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CBP 총비용 / 만원</a:t>
            </a:r>
          </a:p>
        </p:txBody>
      </p:sp>
      <p:sp>
        <p:nvSpPr>
          <p:cNvPr id="10" name="TextBox 9"/>
          <p:cNvSpPr txBox="1"/>
          <p:nvPr/>
        </p:nvSpPr>
        <p:spPr>
          <a:xfrm>
            <a:off x="7589520" y="3108960"/>
            <a:ext cx="301752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실제 배출 / kg</a:t>
            </a:r>
          </a:p>
        </p:txBody>
      </p:sp>
      <p:sp>
        <p:nvSpPr>
          <p:cNvPr id="11" name="TextBox 10"/>
          <p:cNvSpPr txBox="1"/>
          <p:nvPr/>
        </p:nvSpPr>
        <p:spPr>
          <a:xfrm>
            <a:off x="10789920" y="3108960"/>
            <a:ext cx="310896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목표 초과 / kg</a:t>
            </a:r>
          </a:p>
        </p:txBody>
      </p:sp>
      <p:sp>
        <p:nvSpPr>
          <p:cNvPr id="12" name="TextBox 11"/>
          <p:cNvSpPr txBox="1"/>
          <p:nvPr/>
        </p:nvSpPr>
        <p:spPr>
          <a:xfrm>
            <a:off x="822960" y="4032504"/>
            <a:ext cx="2926079"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1.00배</a:t>
            </a:r>
          </a:p>
        </p:txBody>
      </p:sp>
      <p:sp>
        <p:nvSpPr>
          <p:cNvPr id="13" name="TextBox 12"/>
          <p:cNvSpPr txBox="1"/>
          <p:nvPr/>
        </p:nvSpPr>
        <p:spPr>
          <a:xfrm>
            <a:off x="3931920" y="4032504"/>
            <a:ext cx="347472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2,167</a:t>
            </a:r>
          </a:p>
        </p:txBody>
      </p:sp>
      <p:sp>
        <p:nvSpPr>
          <p:cNvPr id="14" name="TextBox 13"/>
          <p:cNvSpPr txBox="1"/>
          <p:nvPr/>
        </p:nvSpPr>
        <p:spPr>
          <a:xfrm>
            <a:off x="7589520" y="4032504"/>
            <a:ext cx="301752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1,170</a:t>
            </a:r>
          </a:p>
        </p:txBody>
      </p:sp>
      <p:sp>
        <p:nvSpPr>
          <p:cNvPr id="15" name="TextBox 14"/>
          <p:cNvSpPr txBox="1"/>
          <p:nvPr/>
        </p:nvSpPr>
        <p:spPr>
          <a:xfrm>
            <a:off x="10789920" y="4032504"/>
            <a:ext cx="310896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0</a:t>
            </a:r>
          </a:p>
        </p:txBody>
      </p:sp>
      <p:sp>
        <p:nvSpPr>
          <p:cNvPr id="16" name="TextBox 15"/>
          <p:cNvSpPr txBox="1"/>
          <p:nvPr/>
        </p:nvSpPr>
        <p:spPr>
          <a:xfrm>
            <a:off x="822960" y="4956048"/>
            <a:ext cx="2926079"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1.25배</a:t>
            </a:r>
          </a:p>
        </p:txBody>
      </p:sp>
      <p:sp>
        <p:nvSpPr>
          <p:cNvPr id="17" name="TextBox 16"/>
          <p:cNvSpPr txBox="1"/>
          <p:nvPr/>
        </p:nvSpPr>
        <p:spPr>
          <a:xfrm>
            <a:off x="3931920" y="4956048"/>
            <a:ext cx="347472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2,216</a:t>
            </a:r>
          </a:p>
        </p:txBody>
      </p:sp>
      <p:sp>
        <p:nvSpPr>
          <p:cNvPr id="18" name="TextBox 17"/>
          <p:cNvSpPr txBox="1"/>
          <p:nvPr/>
        </p:nvSpPr>
        <p:spPr>
          <a:xfrm>
            <a:off x="7589520" y="4956048"/>
            <a:ext cx="301752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1,200</a:t>
            </a:r>
          </a:p>
        </p:txBody>
      </p:sp>
      <p:sp>
        <p:nvSpPr>
          <p:cNvPr id="19" name="TextBox 18"/>
          <p:cNvSpPr txBox="1"/>
          <p:nvPr/>
        </p:nvSpPr>
        <p:spPr>
          <a:xfrm>
            <a:off x="10789920" y="4956048"/>
            <a:ext cx="3108960" cy="548640"/>
          </a:xfrm>
          <a:prstGeom prst="rect">
            <a:avLst/>
          </a:prstGeom>
          <a:noFill/>
        </p:spPr>
        <p:txBody>
          <a:bodyPr wrap="square" lIns="0" rIns="0" tIns="0" bIns="0">
            <a:spAutoFit/>
          </a:bodyPr>
          <a:lstStyle/>
          <a:p>
            <a:pPr>
              <a:lnSpc>
                <a:spcPct val="113000"/>
              </a:lnSpc>
              <a:spcAft>
                <a:spcPts val="0"/>
              </a:spcAft>
              <a:defRPr sz="1800" b="0">
                <a:solidFill>
                  <a:srgbClr val="14243C"/>
                </a:solidFill>
                <a:latin typeface="Noto Sans CJK KR"/>
              </a:defRPr>
            </a:pPr>
            <a:r>
              <a:t>0</a:t>
            </a:r>
          </a:p>
        </p:txBody>
      </p:sp>
      <p:sp>
        <p:nvSpPr>
          <p:cNvPr id="20" name="Rectangle 19"/>
          <p:cNvSpPr/>
          <p:nvPr/>
        </p:nvSpPr>
        <p:spPr>
          <a:xfrm>
            <a:off x="676656" y="5788152"/>
            <a:ext cx="13258800" cy="722376"/>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5879592"/>
            <a:ext cx="2926079" cy="548640"/>
          </a:xfrm>
          <a:prstGeom prst="rect">
            <a:avLst/>
          </a:prstGeom>
          <a:noFill/>
        </p:spPr>
        <p:txBody>
          <a:bodyPr wrap="square" lIns="0" rIns="0" tIns="0" bIns="0">
            <a:spAutoFit/>
          </a:bodyPr>
          <a:lstStyle/>
          <a:p>
            <a:pPr>
              <a:lnSpc>
                <a:spcPct val="113000"/>
              </a:lnSpc>
              <a:spcAft>
                <a:spcPts val="0"/>
              </a:spcAft>
              <a:defRPr sz="1800" b="1">
                <a:solidFill>
                  <a:srgbClr val="087F70"/>
                </a:solidFill>
                <a:latin typeface="Noto Sans CJK KR"/>
              </a:defRPr>
            </a:pPr>
            <a:r>
              <a:t>1.50배</a:t>
            </a:r>
          </a:p>
        </p:txBody>
      </p:sp>
      <p:sp>
        <p:nvSpPr>
          <p:cNvPr id="22" name="TextBox 21"/>
          <p:cNvSpPr txBox="1"/>
          <p:nvPr/>
        </p:nvSpPr>
        <p:spPr>
          <a:xfrm>
            <a:off x="3931920" y="5879592"/>
            <a:ext cx="3474720" cy="548640"/>
          </a:xfrm>
          <a:prstGeom prst="rect">
            <a:avLst/>
          </a:prstGeom>
          <a:noFill/>
        </p:spPr>
        <p:txBody>
          <a:bodyPr wrap="square" lIns="0" rIns="0" tIns="0" bIns="0">
            <a:spAutoFit/>
          </a:bodyPr>
          <a:lstStyle/>
          <a:p>
            <a:pPr>
              <a:lnSpc>
                <a:spcPct val="113000"/>
              </a:lnSpc>
              <a:spcAft>
                <a:spcPts val="0"/>
              </a:spcAft>
              <a:defRPr sz="1800" b="1">
                <a:solidFill>
                  <a:srgbClr val="087F70"/>
                </a:solidFill>
                <a:latin typeface="Noto Sans CJK KR"/>
              </a:defRPr>
            </a:pPr>
            <a:r>
              <a:t>2,251</a:t>
            </a:r>
          </a:p>
        </p:txBody>
      </p:sp>
      <p:sp>
        <p:nvSpPr>
          <p:cNvPr id="23" name="TextBox 22"/>
          <p:cNvSpPr txBox="1"/>
          <p:nvPr/>
        </p:nvSpPr>
        <p:spPr>
          <a:xfrm>
            <a:off x="7589520" y="5879592"/>
            <a:ext cx="3017520" cy="548640"/>
          </a:xfrm>
          <a:prstGeom prst="rect">
            <a:avLst/>
          </a:prstGeom>
          <a:noFill/>
        </p:spPr>
        <p:txBody>
          <a:bodyPr wrap="square" lIns="0" rIns="0" tIns="0" bIns="0">
            <a:spAutoFit/>
          </a:bodyPr>
          <a:lstStyle/>
          <a:p>
            <a:pPr>
              <a:lnSpc>
                <a:spcPct val="113000"/>
              </a:lnSpc>
              <a:spcAft>
                <a:spcPts val="0"/>
              </a:spcAft>
              <a:defRPr sz="1800" b="1">
                <a:solidFill>
                  <a:srgbClr val="087F70"/>
                </a:solidFill>
                <a:latin typeface="Noto Sans CJK KR"/>
              </a:defRPr>
            </a:pPr>
            <a:r>
              <a:t>1,215</a:t>
            </a:r>
          </a:p>
        </p:txBody>
      </p:sp>
      <p:sp>
        <p:nvSpPr>
          <p:cNvPr id="24" name="TextBox 23"/>
          <p:cNvSpPr txBox="1"/>
          <p:nvPr/>
        </p:nvSpPr>
        <p:spPr>
          <a:xfrm>
            <a:off x="10789920" y="5879592"/>
            <a:ext cx="3108960" cy="548640"/>
          </a:xfrm>
          <a:prstGeom prst="rect">
            <a:avLst/>
          </a:prstGeom>
          <a:noFill/>
        </p:spPr>
        <p:txBody>
          <a:bodyPr wrap="square" lIns="0" rIns="0" tIns="0" bIns="0">
            <a:spAutoFit/>
          </a:bodyPr>
          <a:lstStyle/>
          <a:p>
            <a:pPr>
              <a:lnSpc>
                <a:spcPct val="113000"/>
              </a:lnSpc>
              <a:spcAft>
                <a:spcPts val="0"/>
              </a:spcAft>
              <a:defRPr sz="1800" b="1">
                <a:solidFill>
                  <a:srgbClr val="087F70"/>
                </a:solidFill>
                <a:latin typeface="Noto Sans CJK KR"/>
              </a:defRPr>
            </a:pPr>
            <a:r>
              <a:t>15</a:t>
            </a:r>
          </a:p>
        </p:txBody>
      </p:sp>
      <p:sp>
        <p:nvSpPr>
          <p:cNvPr id="25" name="TextBox 24"/>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합성 스트레스 실험: 매번 실제 배출로 E를 갱신하되 후보 추정·미래 원단위는 보정하지 않음. 현장 오차 분포나 보장 확률을 뜻하지 않습니다.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FORECAST &amp; DECISION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VALIDATION</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성공 여부는 네 지표로 함께 판단합니다.</a:t>
            </a:r>
          </a:p>
        </p:txBody>
      </p:sp>
      <p:cxnSp>
        <p:nvCxnSpPr>
          <p:cNvPr id="5" name="Connector 4"/>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13</a:t>
            </a:r>
          </a:p>
        </p:txBody>
      </p:sp>
      <p:sp>
        <p:nvSpPr>
          <p:cNvPr id="8" name="Rectangle 7"/>
          <p:cNvSpPr/>
          <p:nvPr/>
        </p:nvSpPr>
        <p:spPr>
          <a:xfrm>
            <a:off x="804672" y="2944368"/>
            <a:ext cx="6318504" cy="171907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33271" y="3209544"/>
            <a:ext cx="5852160" cy="475488"/>
          </a:xfrm>
          <a:prstGeom prst="rect">
            <a:avLst/>
          </a:prstGeom>
          <a:noFill/>
        </p:spPr>
        <p:txBody>
          <a:bodyPr wrap="square" lIns="0" rIns="0" tIns="0" bIns="0">
            <a:spAutoFit/>
          </a:bodyPr>
          <a:lstStyle/>
          <a:p>
            <a:pPr>
              <a:lnSpc>
                <a:spcPct val="113000"/>
              </a:lnSpc>
              <a:spcAft>
                <a:spcPts val="0"/>
              </a:spcAft>
              <a:defRPr sz="2900" b="1">
                <a:solidFill>
                  <a:srgbClr val="14243C"/>
                </a:solidFill>
                <a:latin typeface="Noto Sans CJK KR"/>
              </a:defRPr>
            </a:pPr>
            <a:r>
              <a:t>공급 품질</a:t>
            </a:r>
          </a:p>
        </p:txBody>
      </p:sp>
      <p:sp>
        <p:nvSpPr>
          <p:cNvPr id="10" name="TextBox 9"/>
          <p:cNvSpPr txBox="1"/>
          <p:nvPr/>
        </p:nvSpPr>
        <p:spPr>
          <a:xfrm>
            <a:off x="1033271" y="3950208"/>
            <a:ext cx="5852160" cy="39319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정시 공급률 · 미충족 · 이월 물량</a:t>
            </a:r>
          </a:p>
        </p:txBody>
      </p:sp>
      <p:sp>
        <p:nvSpPr>
          <p:cNvPr id="11" name="Rectangle 10"/>
          <p:cNvSpPr/>
          <p:nvPr/>
        </p:nvSpPr>
        <p:spPr>
          <a:xfrm>
            <a:off x="7498079" y="2944368"/>
            <a:ext cx="6318504" cy="171907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726679" y="3209544"/>
            <a:ext cx="5852160" cy="475488"/>
          </a:xfrm>
          <a:prstGeom prst="rect">
            <a:avLst/>
          </a:prstGeom>
          <a:noFill/>
        </p:spPr>
        <p:txBody>
          <a:bodyPr wrap="square" lIns="0" rIns="0" tIns="0" bIns="0">
            <a:spAutoFit/>
          </a:bodyPr>
          <a:lstStyle/>
          <a:p>
            <a:pPr>
              <a:lnSpc>
                <a:spcPct val="113000"/>
              </a:lnSpc>
              <a:spcAft>
                <a:spcPts val="0"/>
              </a:spcAft>
              <a:defRPr sz="2900" b="1">
                <a:solidFill>
                  <a:srgbClr val="14243C"/>
                </a:solidFill>
                <a:latin typeface="Noto Sans CJK KR"/>
              </a:defRPr>
            </a:pPr>
            <a:r>
              <a:t>총비용</a:t>
            </a:r>
          </a:p>
        </p:txBody>
      </p:sp>
      <p:sp>
        <p:nvSpPr>
          <p:cNvPr id="13" name="TextBox 12"/>
          <p:cNvSpPr txBox="1"/>
          <p:nvPr/>
        </p:nvSpPr>
        <p:spPr>
          <a:xfrm>
            <a:off x="7726679" y="3950208"/>
            <a:ext cx="5852160" cy="39319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운송 · 상하차 · 대기 · 운영 비용</a:t>
            </a:r>
          </a:p>
        </p:txBody>
      </p:sp>
      <p:sp>
        <p:nvSpPr>
          <p:cNvPr id="14" name="Rectangle 13"/>
          <p:cNvSpPr/>
          <p:nvPr/>
        </p:nvSpPr>
        <p:spPr>
          <a:xfrm>
            <a:off x="804672" y="5111496"/>
            <a:ext cx="6318504" cy="171907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33271" y="5376672"/>
            <a:ext cx="5852160" cy="475488"/>
          </a:xfrm>
          <a:prstGeom prst="rect">
            <a:avLst/>
          </a:prstGeom>
          <a:noFill/>
        </p:spPr>
        <p:txBody>
          <a:bodyPr wrap="square" lIns="0" rIns="0" tIns="0" bIns="0">
            <a:spAutoFit/>
          </a:bodyPr>
          <a:lstStyle/>
          <a:p>
            <a:pPr>
              <a:lnSpc>
                <a:spcPct val="113000"/>
              </a:lnSpc>
              <a:spcAft>
                <a:spcPts val="0"/>
              </a:spcAft>
              <a:defRPr sz="2900" b="1">
                <a:solidFill>
                  <a:srgbClr val="14243C"/>
                </a:solidFill>
                <a:latin typeface="Noto Sans CJK KR"/>
              </a:defRPr>
            </a:pPr>
            <a:r>
              <a:t>배출과 목표</a:t>
            </a:r>
          </a:p>
        </p:txBody>
      </p:sp>
      <p:sp>
        <p:nvSpPr>
          <p:cNvPr id="16" name="TextBox 15"/>
          <p:cNvSpPr txBox="1"/>
          <p:nvPr/>
        </p:nvSpPr>
        <p:spPr>
          <a:xfrm>
            <a:off x="1033271" y="6117336"/>
            <a:ext cx="5852160" cy="39319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총배출 · 원단위 · 기간 초과량</a:t>
            </a:r>
          </a:p>
        </p:txBody>
      </p:sp>
      <p:sp>
        <p:nvSpPr>
          <p:cNvPr id="17" name="Rectangle 16"/>
          <p:cNvSpPr/>
          <p:nvPr/>
        </p:nvSpPr>
        <p:spPr>
          <a:xfrm>
            <a:off x="7498079" y="5111496"/>
            <a:ext cx="6318504" cy="171907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726679" y="5376672"/>
            <a:ext cx="5852160" cy="475488"/>
          </a:xfrm>
          <a:prstGeom prst="rect">
            <a:avLst/>
          </a:prstGeom>
          <a:noFill/>
        </p:spPr>
        <p:txBody>
          <a:bodyPr wrap="square" lIns="0" rIns="0" tIns="0" bIns="0">
            <a:spAutoFit/>
          </a:bodyPr>
          <a:lstStyle/>
          <a:p>
            <a:pPr>
              <a:lnSpc>
                <a:spcPct val="113000"/>
              </a:lnSpc>
              <a:spcAft>
                <a:spcPts val="0"/>
              </a:spcAft>
              <a:defRPr sz="2900" b="1">
                <a:solidFill>
                  <a:srgbClr val="14243C"/>
                </a:solidFill>
                <a:latin typeface="Noto Sans CJK KR"/>
              </a:defRPr>
            </a:pPr>
            <a:r>
              <a:t>운영 가능성</a:t>
            </a:r>
          </a:p>
        </p:txBody>
      </p:sp>
      <p:sp>
        <p:nvSpPr>
          <p:cNvPr id="19" name="TextBox 18"/>
          <p:cNvSpPr txBox="1"/>
          <p:nvPr/>
        </p:nvSpPr>
        <p:spPr>
          <a:xfrm>
            <a:off x="7726679" y="6117336"/>
            <a:ext cx="5852160" cy="39319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예측 오차 · 추천 수용 · 예외 처리</a:t>
            </a:r>
          </a:p>
        </p:txBody>
      </p:sp>
      <p:sp>
        <p:nvSpPr>
          <p:cNvPr id="20" name="TextBox 19"/>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기간·거점·물량·가용 후보·산정 경계를 맞춘 비교. 학습·보정·평가 구간을 분리하고, 도입 판단 기준은 결과를 보기 전에 합의합니다.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 다음 운송까지 보는 파렛트 탄소예산</dc:title>
  <dc:subject>제13회 ULS 창의성 공모전 본선 · 원안 기반 4분 발표</dc:subject>
  <dc:creator>두런두런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
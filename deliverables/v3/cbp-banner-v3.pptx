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닫힌 고리로 작동하는 CBP</a:t>
            </a:r>
          </a:p>
          <a:p/>
          <a:p>
            <a:r>
              <a:t>작동 방식은 이 순환입니다. 운영자가 기간별 탄소예산을 정하고, 지금까지 쓴 배출량을 나누면 예산 사용률이 나옵니다. 예산 만 킬로그램 중 팔천이백을 썼다면 팔십이 퍼센트입니다. 이 상태에 맞춰 운영 모드를 정하고 운송안을 비교합니다. 단, 필요한 수량과 도착 기한, 적재 조건을 만족하는 안만 비교합니다. 실행 뒤에는 실제 배출을 반영해 다음 선택을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모드</a:t>
            </a:r>
          </a:p>
          <a:p/>
          <a:p>
            <a:r>
              <a:t>원안의 네 가지 모드입니다. 사용률이 올라갈수록 비용의 비중은 낮추고 탄소의 비중은 높입니다. 예를 들어 탄소 모드에서는 비용 이십, 탄소 육십, 도착 시간의 여유 이십 퍼센트를 반영합니다. 이 경계값과 가중치는 초기 설계값이며, 현장 자료로 조정해야 합니다. 어떤 모드에서도 필요한 수량과 기한을 자동으로 포기하지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재현 가능한 숫자 예시</a:t>
            </a:r>
          </a:p>
          <a:p/>
          <a:p>
            <a:r>
              <a:t>천 매를 여덟 시간 안에 보내는 세 가지 운송안이 있다고 가정하겠습니다. A는 백만 원에 배출 사백, B는 백십만 원에 이백육십, C는 백사십만 원에 이백입니다. 각 항목을 영에서 일 사이 점수로 맞추고, 모드별 비중을 곱해 더합니다. 현재 사용률 팔십이 퍼센트의 탄소 모드에서는 C가 영 점 칠이오로 가장 높습니다. 계산 방법과 입력값을 공개해 같은 결과를 다시 확인할 수 있게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후보, 달라지는 선택</a:t>
            </a:r>
          </a:p>
          <a:p/>
          <a:p>
            <a:r>
              <a:t>같은 후보를 놓고 비교하면 비용 모드에서는 A, 균형 모드에서는 B, 탄소 모드에서는 C를 고릅니다. 핵심은 무조건 가장 싼 안도, 무조건 배출이 적은 안도 고정하지 않는다는 점입니다. 물론 대가가 있습니다. 이 예시에서 A 대신 C를 고르면 비용 사십만 원이 더 들고 배출 이백 킬로그램이 줄어듭니다. 이는 실측 성과가 아니라, 선택의 원리를 보여 주는 계산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00877F"/>
                </a:solidFill>
                <a:latin typeface="Noto Sans CJK KR"/>
              </a:defRPr>
            </a:pPr>
            <a:r>
              <a:t>CBP  /  CARBON BUDGET POOLING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98680" y="28346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63778C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34416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3400" b="1">
                <a:solidFill>
                  <a:srgbClr val="20354D"/>
                </a:solidFill>
                <a:latin typeface="Noto Sans CJK KR"/>
              </a:defRPr>
            </a:pPr>
            <a:r>
              <a:t>탄소예산을 “운영 신호”로 바꾸는 순환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20240"/>
            <a:ext cx="13350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0">
                <a:solidFill>
                  <a:srgbClr val="63778C"/>
                </a:solidFill>
                <a:latin typeface="Noto Sans CJK KR"/>
              </a:defRPr>
            </a:pPr>
            <a:r>
              <a:t>CBP는 배출 실적을 다음 파렛트 재배치의 의사결정에 다시 연결합니다.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72400"/>
            <a:ext cx="13441680" cy="0"/>
          </a:xfrm>
          <a:prstGeom prst="line">
            <a:avLst/>
          </a:prstGeom>
          <a:ln w="12700">
            <a:solidFill>
              <a:srgbClr val="D5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7900416"/>
            <a:ext cx="13350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 b="0">
                <a:solidFill>
                  <a:srgbClr val="63778C"/>
                </a:solidFill>
                <a:latin typeface="Noto Sans CJK KR"/>
              </a:defRPr>
            </a:pPr>
            <a:r>
              <a:t>두런두런  |  제13회 유닛로드시스템(ULS) 창의성 공모전  |  탄소예산 기반 재배치 의사결정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" y="2642616"/>
            <a:ext cx="3291840" cy="4443984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907792"/>
            <a:ext cx="2724912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800" b="1">
                <a:solidFill>
                  <a:srgbClr val="AEC3D6"/>
                </a:solidFill>
                <a:latin typeface="Noto Sans CJK KR"/>
              </a:defRPr>
            </a:pPr>
            <a:r>
              <a:t>01  현재 상태 읽기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47288"/>
            <a:ext cx="2743200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6100" b="1">
                <a:solidFill>
                  <a:srgbClr val="FFFFFF"/>
                </a:solidFill>
                <a:latin typeface="Noto Sans CJK KR"/>
              </a:defRPr>
            </a:pPr>
            <a: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462272"/>
            <a:ext cx="27066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1">
                <a:solidFill>
                  <a:srgbClr val="8BDFCC"/>
                </a:solidFill>
                <a:latin typeface="Noto Sans CJK KR"/>
              </a:defRPr>
            </a:pPr>
            <a:r>
              <a:t>탄소예산 사용률 CUR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5056632"/>
            <a:ext cx="2688336" cy="146304"/>
          </a:xfrm>
          <a:prstGeom prst="rect">
            <a:avLst/>
          </a:prstGeom>
          <a:solidFill>
            <a:srgbClr val="4860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5056632"/>
            <a:ext cx="2204435" cy="146304"/>
          </a:xfrm>
          <a:prstGeom prst="rect">
            <a:avLst/>
          </a:prstGeom>
          <a:solidFill>
            <a:srgbClr val="8BD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532120"/>
            <a:ext cx="2697480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Noto Sans CJK KR"/>
              </a:defRPr>
            </a:pPr>
            <a:r>
              <a:t>사용 8,200 ÷ 예산 10,000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700" b="0">
                <a:solidFill>
                  <a:srgbClr val="FFFFFF"/>
                </a:solidFill>
                <a:latin typeface="Noto Sans CJK KR"/>
              </a:defRPr>
            </a:pPr>
            <a:r>
              <a:t>× 100 = 82%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601968"/>
            <a:ext cx="2697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100" b="0">
                <a:solidFill>
                  <a:srgbClr val="AEC3D6"/>
                </a:solidFill>
                <a:latin typeface="Noto Sans CJK KR"/>
              </a:defRPr>
            </a:pPr>
            <a:r>
              <a:t>단위 kgCO₂e · 설명용 가정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78808" y="3730752"/>
            <a:ext cx="566928" cy="210312"/>
          </a:xfrm>
          <a:prstGeom prst="rightArrow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65192" y="2926080"/>
            <a:ext cx="4251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4648" y="3136392"/>
            <a:ext cx="521207" cy="329184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3186684"/>
            <a:ext cx="3383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3136392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500" b="1">
                <a:solidFill>
                  <a:srgbClr val="20354D"/>
                </a:solidFill>
                <a:latin typeface="Noto Sans CJK KR"/>
              </a:defRPr>
            </a:pPr>
            <a:r>
              <a:t>모드 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2936" y="3840480"/>
            <a:ext cx="377647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000" b="0">
                <a:solidFill>
                  <a:srgbClr val="63778C"/>
                </a:solidFill>
                <a:latin typeface="Noto Sans CJK KR"/>
              </a:defRPr>
            </a:pPr>
            <a:r>
              <a:t>사용률 구간에 맞춰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2000" b="0">
                <a:solidFill>
                  <a:srgbClr val="63778C"/>
                </a:solidFill>
                <a:latin typeface="Noto Sans CJK KR"/>
              </a:defRPr>
            </a:pPr>
            <a:r>
              <a:t>비용·탄소 비중 조정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10928" y="2926080"/>
            <a:ext cx="4251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30384" y="3136392"/>
            <a:ext cx="521207" cy="329184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1824" y="3186684"/>
            <a:ext cx="33832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3136392"/>
            <a:ext cx="31272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500" b="1">
                <a:solidFill>
                  <a:srgbClr val="20354D"/>
                </a:solidFill>
                <a:latin typeface="Noto Sans CJK KR"/>
              </a:defRPr>
            </a:pPr>
            <a:r>
              <a:t>후보 평가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3840480"/>
            <a:ext cx="377647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000" b="0">
                <a:solidFill>
                  <a:srgbClr val="63778C"/>
                </a:solidFill>
                <a:latin typeface="Noto Sans CJK KR"/>
              </a:defRPr>
            </a:pPr>
            <a:r>
              <a:t>제약을 통과한 후보만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2000" b="0">
                <a:solidFill>
                  <a:srgbClr val="63778C"/>
                </a:solidFill>
                <a:latin typeface="Noto Sans CJK KR"/>
              </a:defRPr>
            </a:pPr>
            <a:r>
              <a:t>종합점수를 비교해 선택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17736" y="3730752"/>
            <a:ext cx="265176" cy="210312"/>
          </a:xfrm>
          <a:prstGeom prst="rightArrow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65192" y="5330952"/>
            <a:ext cx="8997696" cy="640080"/>
          </a:xfrm>
          <a:prstGeom prst="rect">
            <a:avLst/>
          </a:prstGeom>
          <a:solidFill>
            <a:srgbClr val="E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93792" y="5504688"/>
            <a:ext cx="8540496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1">
                <a:solidFill>
                  <a:srgbClr val="00877F"/>
                </a:solidFill>
                <a:latin typeface="Noto Sans CJK KR"/>
              </a:defRPr>
            </a:pPr>
            <a:r>
              <a:t>후보 진입 조건  |  수량 · 기한 · 호환 규격 · 적재 · 잔여예산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832336" y="5038344"/>
            <a:ext cx="0" cy="265176"/>
          </a:xfrm>
          <a:prstGeom prst="line">
            <a:avLst/>
          </a:prstGeom>
          <a:ln w="25400">
            <a:solidFill>
              <a:srgbClr val="008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965192" y="6355080"/>
            <a:ext cx="8997696" cy="749808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6556248"/>
            <a:ext cx="8503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300" b="1">
                <a:solidFill>
                  <a:srgbClr val="FFFFFF"/>
                </a:solidFill>
                <a:latin typeface="Noto Sans CJK KR"/>
              </a:defRPr>
            </a:pPr>
            <a:r>
              <a:t>04  실행 → 실제 배출 반영 → 다음 의사결정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4325112" y="6748272"/>
            <a:ext cx="640080" cy="0"/>
          </a:xfrm>
          <a:prstGeom prst="line">
            <a:avLst/>
          </a:prstGeom>
          <a:ln w="25400">
            <a:solidFill>
              <a:srgbClr val="008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325112" y="5971032"/>
            <a:ext cx="0" cy="777240"/>
          </a:xfrm>
          <a:prstGeom prst="line">
            <a:avLst/>
          </a:prstGeom>
          <a:ln w="25400">
            <a:solidFill>
              <a:srgbClr val="008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3959352" y="5971032"/>
            <a:ext cx="365760" cy="0"/>
          </a:xfrm>
          <a:prstGeom prst="line">
            <a:avLst/>
          </a:prstGeom>
          <a:ln w="25400">
            <a:solidFill>
              <a:srgbClr val="008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ight Arrow 35"/>
          <p:cNvSpPr/>
          <p:nvPr/>
        </p:nvSpPr>
        <p:spPr>
          <a:xfrm rot="10800000">
            <a:off x="3959352" y="5861304"/>
            <a:ext cx="365760" cy="210312"/>
          </a:xfrm>
          <a:prstGeom prst="rightArrow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wn Arrow 36"/>
          <p:cNvSpPr/>
          <p:nvPr/>
        </p:nvSpPr>
        <p:spPr>
          <a:xfrm>
            <a:off x="11722608" y="6025896"/>
            <a:ext cx="210312" cy="246888"/>
          </a:xfrm>
          <a:prstGeom prst="downArrow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7470648"/>
            <a:ext cx="13304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 b="0">
                <a:solidFill>
                  <a:srgbClr val="63778C"/>
                </a:solidFill>
                <a:latin typeface="Noto Sans CJK KR"/>
              </a:defRPr>
            </a:pPr>
            <a:r>
              <a:t>예산은 운영자가 정하는 내부 관리 한도입니다. 법정 배출권을 뜻하지 않으며, 현재 단계는 가중치 기반 의사결정 모형입니다.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00877F"/>
                </a:solidFill>
                <a:latin typeface="Noto Sans CJK KR"/>
              </a:defRPr>
            </a:pPr>
            <a:r>
              <a:t>CBP  /  CARBON BUDGET POOLING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98680" y="28346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63778C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34416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3400" b="1">
                <a:solidFill>
                  <a:srgbClr val="20354D"/>
                </a:solidFill>
                <a:latin typeface="Noto Sans CJK KR"/>
              </a:defRPr>
            </a:pPr>
            <a:r>
              <a:t>예산을 많이 쓸수록, 탄소의 비중을 높입니다.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20240"/>
            <a:ext cx="13350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0">
                <a:solidFill>
                  <a:srgbClr val="63778C"/>
                </a:solidFill>
                <a:latin typeface="Noto Sans CJK KR"/>
              </a:defRPr>
            </a:pPr>
            <a:r>
              <a:t>재배치 우선순위 점수(RPS): 세 기준의 가중합. 한도에 닿기 전부터 탄소 비중을 높입니다.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72400"/>
            <a:ext cx="13441680" cy="0"/>
          </a:xfrm>
          <a:prstGeom prst="line">
            <a:avLst/>
          </a:prstGeom>
          <a:ln w="12700">
            <a:solidFill>
              <a:srgbClr val="D5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7900416"/>
            <a:ext cx="13350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 b="0">
                <a:solidFill>
                  <a:srgbClr val="63778C"/>
                </a:solidFill>
                <a:latin typeface="Noto Sans CJK KR"/>
              </a:defRPr>
            </a:pPr>
            <a:r>
              <a:t>두런두런  |  제13회 유닛로드시스템(ULS) 창의성 공모전  |  탄소예산 기반 재배치 의사결정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2532888"/>
            <a:ext cx="173736" cy="173736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86215" y="24871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400" b="0">
                <a:solidFill>
                  <a:srgbClr val="63778C"/>
                </a:solidFill>
                <a:latin typeface="Noto Sans CJK KR"/>
              </a:defRPr>
            </a:pPr>
            <a:r>
              <a:t>비용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57816" y="2532888"/>
            <a:ext cx="173736" cy="173736"/>
          </a:xfrm>
          <a:prstGeom prst="rect">
            <a:avLst/>
          </a:prstGeom>
          <a:solidFill>
            <a:srgbClr val="00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2992" y="24871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400" b="0">
                <a:solidFill>
                  <a:srgbClr val="63778C"/>
                </a:solidFill>
                <a:latin typeface="Noto Sans CJK KR"/>
              </a:defRPr>
            </a:pPr>
            <a:r>
              <a:t>탄소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03736" y="2532888"/>
            <a:ext cx="173736" cy="173736"/>
          </a:xfrm>
          <a:prstGeom prst="rect">
            <a:avLst/>
          </a:prstGeom>
          <a:solidFill>
            <a:srgbClr val="DAA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8911" y="2487168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400" b="0">
                <a:solidFill>
                  <a:srgbClr val="63778C"/>
                </a:solidFill>
                <a:latin typeface="Noto Sans CJK KR"/>
              </a:defRPr>
            </a:pPr>
            <a:r>
              <a:t>시간 여유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2980944"/>
            <a:ext cx="3154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09544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300" b="1">
                <a:solidFill>
                  <a:srgbClr val="63778C"/>
                </a:solidFill>
                <a:latin typeface="Noto Sans CJK KR"/>
              </a:defRPr>
            </a:pPr>
            <a:r>
              <a:t>01  / 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12463"/>
            <a:ext cx="27432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800" b="1">
                <a:solidFill>
                  <a:srgbClr val="20354D"/>
                </a:solidFill>
                <a:latin typeface="Noto Sans CJK KR"/>
              </a:defRPr>
            </a:pPr>
            <a:r>
              <a:t>비용 모드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708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600" b="1">
                <a:solidFill>
                  <a:srgbClr val="00877F"/>
                </a:solidFill>
                <a:latin typeface="Noto Sans CJK KR"/>
              </a:defRPr>
            </a:pPr>
            <a:r>
              <a:t>CUR &lt; 60%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983480"/>
            <a:ext cx="1926640" cy="457200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84064"/>
            <a:ext cx="1926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CJK KR"/>
              </a:defRPr>
            </a:pPr>
            <a:r>
              <a:t>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5320" y="4983480"/>
            <a:ext cx="275234" cy="457200"/>
          </a:xfrm>
          <a:prstGeom prst="rect">
            <a:avLst/>
          </a:prstGeom>
          <a:solidFill>
            <a:srgbClr val="00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5320" y="5084064"/>
            <a:ext cx="27523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70555" y="4983480"/>
            <a:ext cx="550468" cy="457200"/>
          </a:xfrm>
          <a:prstGeom prst="rect">
            <a:avLst/>
          </a:prstGeom>
          <a:solidFill>
            <a:srgbClr val="DAA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70555" y="5084064"/>
            <a:ext cx="5504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162D4D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8756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1">
                <a:solidFill>
                  <a:srgbClr val="20354D"/>
                </a:solidFill>
                <a:latin typeface="Noto Sans CJK KR"/>
              </a:defRPr>
            </a:pPr>
            <a:r>
              <a:t>운영 비용에 무게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41648" y="2980944"/>
            <a:ext cx="3154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2816" y="3209544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300" b="1">
                <a:solidFill>
                  <a:srgbClr val="63778C"/>
                </a:solidFill>
                <a:latin typeface="Noto Sans CJK KR"/>
              </a:defRPr>
            </a:pPr>
            <a:r>
              <a:t>02  /  BALANCED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2816" y="3712463"/>
            <a:ext cx="27432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800" b="1">
                <a:solidFill>
                  <a:srgbClr val="20354D"/>
                </a:solidFill>
                <a:latin typeface="Noto Sans CJK KR"/>
              </a:defRPr>
            </a:pPr>
            <a:r>
              <a:t>균형 모드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2816" y="43708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600" b="1">
                <a:solidFill>
                  <a:srgbClr val="00877F"/>
                </a:solidFill>
                <a:latin typeface="Noto Sans CJK KR"/>
              </a:defRPr>
            </a:pPr>
            <a:r>
              <a:t>60% ≤ CUR &lt; 75%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42816" y="4983480"/>
            <a:ext cx="1376172" cy="457200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2816" y="5084064"/>
            <a:ext cx="13761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CJK KR"/>
              </a:defRPr>
            </a:pPr>
            <a:r>
              <a:t>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18988" y="4983480"/>
            <a:ext cx="825703" cy="457200"/>
          </a:xfrm>
          <a:prstGeom prst="rect">
            <a:avLst/>
          </a:prstGeom>
          <a:solidFill>
            <a:srgbClr val="00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8988" y="5084064"/>
            <a:ext cx="82570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CJK KR"/>
              </a:defRPr>
            </a:pPr>
            <a:r>
              <a:t>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4691" y="4983480"/>
            <a:ext cx="550468" cy="457200"/>
          </a:xfrm>
          <a:prstGeom prst="rect">
            <a:avLst/>
          </a:prstGeom>
          <a:solidFill>
            <a:srgbClr val="DAA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4691" y="5084064"/>
            <a:ext cx="5504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162D4D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2816" y="568756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1">
                <a:solidFill>
                  <a:srgbClr val="20354D"/>
                </a:solidFill>
                <a:latin typeface="Noto Sans CJK KR"/>
              </a:defRPr>
            </a:pPr>
            <a:r>
              <a:t>비용과 탄소 절충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15783" y="2980944"/>
            <a:ext cx="3154680" cy="3611880"/>
          </a:xfrm>
          <a:prstGeom prst="rect">
            <a:avLst/>
          </a:prstGeom>
          <a:solidFill>
            <a:srgbClr val="E4F2EF"/>
          </a:solidFill>
          <a:ln w="12700">
            <a:solidFill>
              <a:srgbClr val="008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16952" y="3209544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300" b="1">
                <a:solidFill>
                  <a:srgbClr val="00877F"/>
                </a:solidFill>
                <a:latin typeface="Noto Sans CJK KR"/>
              </a:defRPr>
            </a:pPr>
            <a:r>
              <a:t>03  /  CARBON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3712463"/>
            <a:ext cx="27432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800" b="1">
                <a:solidFill>
                  <a:srgbClr val="20354D"/>
                </a:solidFill>
                <a:latin typeface="Noto Sans CJK KR"/>
              </a:defRPr>
            </a:pPr>
            <a:r>
              <a:t>탄소 모드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2" y="43708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600" b="1">
                <a:solidFill>
                  <a:srgbClr val="00877F"/>
                </a:solidFill>
                <a:latin typeface="Noto Sans CJK KR"/>
              </a:defRPr>
            </a:pPr>
            <a:r>
              <a:t>75% ≤ CUR &lt; 90%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16952" y="4983480"/>
            <a:ext cx="550468" cy="457200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16952" y="5084064"/>
            <a:ext cx="5504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7420" y="4983480"/>
            <a:ext cx="1651406" cy="457200"/>
          </a:xfrm>
          <a:prstGeom prst="rect">
            <a:avLst/>
          </a:prstGeom>
          <a:solidFill>
            <a:srgbClr val="00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7420" y="5084064"/>
            <a:ext cx="165140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CJK KR"/>
              </a:defRPr>
            </a:pPr>
            <a:r>
              <a:t>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18827" y="4983480"/>
            <a:ext cx="550468" cy="457200"/>
          </a:xfrm>
          <a:prstGeom prst="rect">
            <a:avLst/>
          </a:prstGeom>
          <a:solidFill>
            <a:srgbClr val="DAA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18827" y="5084064"/>
            <a:ext cx="55046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162D4D"/>
                </a:solidFill>
                <a:latin typeface="Noto Sans CJK KR"/>
              </a:defRPr>
            </a:pPr>
            <a:r>
              <a:t>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6952" y="568756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1">
                <a:solidFill>
                  <a:srgbClr val="20354D"/>
                </a:solidFill>
                <a:latin typeface="Noto Sans CJK KR"/>
              </a:defRPr>
            </a:pPr>
            <a:r>
              <a:t>탄소 절감에 무게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16952" y="6163056"/>
            <a:ext cx="2724912" cy="329184"/>
          </a:xfrm>
          <a:prstGeom prst="rect">
            <a:avLst/>
          </a:prstGeom>
          <a:solidFill>
            <a:srgbClr val="00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08392" y="6213348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  <a:latin typeface="Noto Sans CJK KR"/>
              </a:defRPr>
            </a:pPr>
            <a:r>
              <a:t>예시 CUR 82% → 이 모드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789920" y="2980944"/>
            <a:ext cx="3154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91088" y="3209544"/>
            <a:ext cx="27432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300" b="1">
                <a:solidFill>
                  <a:srgbClr val="63778C"/>
                </a:solidFill>
                <a:latin typeface="Noto Sans CJK KR"/>
              </a:defRPr>
            </a:pPr>
            <a:r>
              <a:t>04  /  EMERGENCY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91088" y="3712463"/>
            <a:ext cx="27432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800" b="1">
                <a:solidFill>
                  <a:srgbClr val="20354D"/>
                </a:solidFill>
                <a:latin typeface="Noto Sans CJK KR"/>
              </a:defRPr>
            </a:pPr>
            <a:r>
              <a:t>긴급 모드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91088" y="43708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600" b="1">
                <a:solidFill>
                  <a:srgbClr val="00877F"/>
                </a:solidFill>
                <a:latin typeface="Noto Sans CJK KR"/>
              </a:defRPr>
            </a:pPr>
            <a:r>
              <a:t>CUR ≥ 90%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91088" y="4983480"/>
            <a:ext cx="275234" cy="457200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91088" y="5084064"/>
            <a:ext cx="27523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266322" y="4983480"/>
            <a:ext cx="2201875" cy="457200"/>
          </a:xfrm>
          <a:prstGeom prst="rect">
            <a:avLst/>
          </a:prstGeom>
          <a:solidFill>
            <a:srgbClr val="00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66322" y="5084064"/>
            <a:ext cx="22018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FFFFFF"/>
                </a:solidFill>
                <a:latin typeface="Noto Sans CJK KR"/>
              </a:defRPr>
            </a:pPr>
            <a:r>
              <a:t>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468197" y="4983480"/>
            <a:ext cx="275234" cy="457200"/>
          </a:xfrm>
          <a:prstGeom prst="rect">
            <a:avLst/>
          </a:prstGeom>
          <a:solidFill>
            <a:srgbClr val="DAA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468197" y="5084064"/>
            <a:ext cx="27523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100" b="1">
                <a:solidFill>
                  <a:srgbClr val="162D4D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91088" y="5687568"/>
            <a:ext cx="276148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1">
                <a:solidFill>
                  <a:srgbClr val="20354D"/>
                </a:solidFill>
                <a:latin typeface="Noto Sans CJK KR"/>
              </a:defRPr>
            </a:pPr>
            <a:r>
              <a:t>탄소 비중을 더 높임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" y="6885432"/>
            <a:ext cx="13286232" cy="438912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9536" y="6976872"/>
            <a:ext cx="129113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800" b="1">
                <a:solidFill>
                  <a:srgbClr val="20354D"/>
                </a:solidFill>
                <a:latin typeface="Noto Sans CJK KR"/>
              </a:defRPr>
            </a:pPr>
            <a:r>
              <a:t>RPS = 비용점수 × 비용비중 + 탄소점수 × 탄소비중 + 시간여유점수 × 시간비중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" y="7470648"/>
            <a:ext cx="13304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 b="0">
                <a:solidFill>
                  <a:srgbClr val="63778C"/>
                </a:solidFill>
                <a:latin typeface="Noto Sans CJK KR"/>
              </a:defRPr>
            </a:pPr>
            <a:r>
              <a:t>구간과 가중치는 예선 원안의 초기 설계 가정입니다. 검증된 최적값이 아니며, 긴급 모드도 수량·기한을 자동 완화하지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00877F"/>
                </a:solidFill>
                <a:latin typeface="Noto Sans CJK KR"/>
              </a:defRPr>
            </a:pPr>
            <a:r>
              <a:t>CBP  /  CARBON BUDGET POOLING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98680" y="28346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63778C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34416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3400" b="1">
                <a:solidFill>
                  <a:srgbClr val="20354D"/>
                </a:solidFill>
                <a:latin typeface="Noto Sans CJK KR"/>
              </a:defRPr>
            </a:pPr>
            <a:r>
              <a:t>CUR 82%일 때, 세 운송안 중 무엇을 고를까요?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20240"/>
            <a:ext cx="13350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0">
                <a:solidFill>
                  <a:srgbClr val="63778C"/>
                </a:solidFill>
                <a:latin typeface="Noto Sans CJK KR"/>
              </a:defRPr>
            </a:pPr>
            <a:r>
              <a:t>모두 1,000매를 8시간 이내 공급할 수 있다고 가정합니다. 입력값은 실측·견적이 아닌 설명용입니다.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72400"/>
            <a:ext cx="13441680" cy="0"/>
          </a:xfrm>
          <a:prstGeom prst="line">
            <a:avLst/>
          </a:prstGeom>
          <a:ln w="12700">
            <a:solidFill>
              <a:srgbClr val="D5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7900416"/>
            <a:ext cx="13350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 b="0">
                <a:solidFill>
                  <a:srgbClr val="63778C"/>
                </a:solidFill>
                <a:latin typeface="Noto Sans CJK KR"/>
              </a:defRPr>
            </a:pPr>
            <a:r>
              <a:t>두런두런  |  제13회 유닛로드시스템(ULS) 창의성 공모전  |  탄소예산 기반 재배치 의사결정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578608"/>
            <a:ext cx="5376672" cy="329184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628900"/>
            <a:ext cx="519379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400" b="1">
                <a:solidFill>
                  <a:srgbClr val="162D4D"/>
                </a:solidFill>
                <a:latin typeface="Noto Sans CJK KR"/>
              </a:defRPr>
            </a:pPr>
            <a:r>
              <a:t>동일 요청 · 동일 후보 · 동일 계산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27248"/>
            <a:ext cx="960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500" b="1">
                <a:solidFill>
                  <a:srgbClr val="63778C"/>
                </a:solidFill>
                <a:latin typeface="Noto Sans CJK KR"/>
              </a:defRPr>
            </a:pPr>
            <a:r>
              <a:t>운송안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2536" y="3127248"/>
            <a:ext cx="13350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500" b="1">
                <a:solidFill>
                  <a:srgbClr val="63778C"/>
                </a:solidFill>
                <a:latin typeface="Noto Sans CJK KR"/>
              </a:defRPr>
            </a:pPr>
            <a:r>
              <a:t>비용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  <a:defRPr sz="1500" b="1">
                <a:solidFill>
                  <a:srgbClr val="63778C"/>
                </a:solidFill>
                <a:latin typeface="Noto Sans CJK KR"/>
              </a:defRPr>
            </a:pPr>
            <a:r>
              <a:t>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3127248"/>
            <a:ext cx="158191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500" b="1">
                <a:solidFill>
                  <a:srgbClr val="63778C"/>
                </a:solidFill>
                <a:latin typeface="Noto Sans CJK KR"/>
              </a:defRPr>
            </a:pPr>
            <a:r>
              <a:t>배출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  <a:defRPr sz="1500" b="1">
                <a:solidFill>
                  <a:srgbClr val="63778C"/>
                </a:solidFill>
                <a:latin typeface="Noto Sans CJK KR"/>
              </a:defRPr>
            </a:pPr>
            <a:r>
              <a:t>kgCO₂e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127248"/>
            <a:ext cx="11704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500" b="1">
                <a:solidFill>
                  <a:srgbClr val="63778C"/>
                </a:solidFill>
                <a:latin typeface="Noto Sans CJK KR"/>
              </a:defRPr>
            </a:pPr>
            <a:r>
              <a:t>도착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  <a:defRPr sz="1500" b="1">
                <a:solidFill>
                  <a:srgbClr val="63778C"/>
                </a:solidFill>
                <a:latin typeface="Noto Sans CJK KR"/>
              </a:defRPr>
            </a:pPr>
            <a:r>
              <a:t>시간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95344"/>
            <a:ext cx="591616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14215"/>
            <a:ext cx="960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20354D"/>
                </a:solidFill>
                <a:latin typeface="Noto Sans CJK KR"/>
              </a:defRPr>
            </a:pPr>
            <a: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2536" y="4014215"/>
            <a:ext cx="1335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20354D"/>
                </a:solidFill>
                <a:latin typeface="Noto Sans CJK KR"/>
              </a:defRPr>
            </a:pPr>
            <a: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4014215"/>
            <a:ext cx="1581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20354D"/>
                </a:solidFill>
                <a:latin typeface="Noto Sans CJK KR"/>
              </a:defRPr>
            </a:pPr>
            <a:r>
              <a:t>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014215"/>
            <a:ext cx="11704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20354D"/>
                </a:solidFill>
                <a:latin typeface="Noto Sans CJK KR"/>
              </a:defRPr>
            </a:pPr>
            <a: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645152"/>
            <a:ext cx="5916168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764024"/>
            <a:ext cx="960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20354D"/>
                </a:solidFill>
                <a:latin typeface="Noto Sans CJK KR"/>
              </a:defRPr>
            </a:pPr>
            <a: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2536" y="4764024"/>
            <a:ext cx="1335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20354D"/>
                </a:solidFill>
                <a:latin typeface="Noto Sans CJK KR"/>
              </a:defRPr>
            </a:pPr>
            <a:r>
              <a:t>110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4764024"/>
            <a:ext cx="1581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20354D"/>
                </a:solidFill>
                <a:latin typeface="Noto Sans CJK KR"/>
              </a:defRPr>
            </a:pPr>
            <a:r>
              <a:t>260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764024"/>
            <a:ext cx="11704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20354D"/>
                </a:solidFill>
                <a:latin typeface="Noto Sans CJK KR"/>
              </a:defRPr>
            </a:pPr>
            <a: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394959"/>
            <a:ext cx="5916168" cy="603504"/>
          </a:xfrm>
          <a:prstGeom prst="rect">
            <a:avLst/>
          </a:prstGeom>
          <a:solidFill>
            <a:srgbClr val="E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513831"/>
            <a:ext cx="960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00877F"/>
                </a:solidFill>
                <a:latin typeface="Noto Sans CJK KR"/>
              </a:defRPr>
            </a:pPr>
            <a: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2536" y="5513831"/>
            <a:ext cx="1335024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00877F"/>
                </a:solidFill>
                <a:latin typeface="Noto Sans CJK KR"/>
              </a:defRPr>
            </a:pPr>
            <a:r>
              <a:t>140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9584" y="5513831"/>
            <a:ext cx="15819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00877F"/>
                </a:solidFill>
                <a:latin typeface="Noto Sans CJK KR"/>
              </a:defRPr>
            </a:pPr>
            <a:r>
              <a:t>200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513831"/>
            <a:ext cx="117043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00877F"/>
                </a:solidFill>
                <a:latin typeface="Noto Sans CJK KR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6419088"/>
            <a:ext cx="56052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800" b="0">
                <a:solidFill>
                  <a:srgbClr val="63778C"/>
                </a:solidFill>
                <a:latin typeface="Noto Sans CJK KR"/>
              </a:defRPr>
            </a:pPr>
            <a:r>
              <a:t>비용·배출은 작을수록 높은 점수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800" b="0">
                <a:solidFill>
                  <a:srgbClr val="63778C"/>
                </a:solidFill>
                <a:latin typeface="Noto Sans CJK KR"/>
              </a:defRPr>
            </a:pPr>
            <a:r>
              <a:t>시간 여유는 클수록 높은 점수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31152" y="2633472"/>
            <a:ext cx="0" cy="4526280"/>
          </a:xfrm>
          <a:prstGeom prst="line">
            <a:avLst/>
          </a:prstGeom>
          <a:ln w="12700">
            <a:solidFill>
              <a:srgbClr val="D5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51775" y="2651760"/>
            <a:ext cx="65105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000" b="1">
                <a:solidFill>
                  <a:srgbClr val="20354D"/>
                </a:solidFill>
                <a:latin typeface="Noto Sans CJK KR"/>
              </a:defRPr>
            </a:pPr>
            <a:r>
              <a:t>탄소 모드: 비용 20 · 탄소 60 · 시간 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0064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300" b="1">
                <a:solidFill>
                  <a:srgbClr val="20354D"/>
                </a:solidFill>
                <a:latin typeface="Noto Sans CJK KR"/>
              </a:defRPr>
            </a:pPr>
            <a: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3611880"/>
            <a:ext cx="4626864" cy="585216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3611880"/>
            <a:ext cx="925372" cy="585216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26372" y="3611880"/>
            <a:ext cx="231343" cy="585216"/>
          </a:xfrm>
          <a:prstGeom prst="rect">
            <a:avLst/>
          </a:prstGeom>
          <a:solidFill>
            <a:srgbClr val="DAA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0" y="3703320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300" b="1">
                <a:solidFill>
                  <a:srgbClr val="20354D"/>
                </a:solidFill>
                <a:latin typeface="Noto Sans CJK KR"/>
              </a:defRPr>
            </a:pPr>
            <a:r>
              <a:t>0.250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0064" y="47274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300" b="1">
                <a:solidFill>
                  <a:srgbClr val="20354D"/>
                </a:solidFill>
                <a:latin typeface="Noto Sans CJK KR"/>
              </a:defRPr>
            </a:pPr>
            <a:r>
              <a:t>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4636008"/>
            <a:ext cx="4626864" cy="585216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01000" y="4636008"/>
            <a:ext cx="694029" cy="585216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95029" y="4636008"/>
            <a:ext cx="1943282" cy="585216"/>
          </a:xfrm>
          <a:prstGeom prst="rect">
            <a:avLst/>
          </a:prstGeom>
          <a:solidFill>
            <a:srgbClr val="00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638312" y="4636008"/>
            <a:ext cx="462686" cy="585216"/>
          </a:xfrm>
          <a:prstGeom prst="rect">
            <a:avLst/>
          </a:prstGeom>
          <a:solidFill>
            <a:srgbClr val="DAA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0" y="4727448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300" b="1">
                <a:solidFill>
                  <a:srgbClr val="20354D"/>
                </a:solidFill>
                <a:latin typeface="Noto Sans CJK KR"/>
              </a:defRPr>
            </a:pPr>
            <a:r>
              <a:t>0.670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0064" y="575157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300" b="1">
                <a:solidFill>
                  <a:srgbClr val="00877F"/>
                </a:solidFill>
                <a:latin typeface="Noto Sans CJK KR"/>
              </a:defRPr>
            </a:pPr>
            <a:r>
              <a:t>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5660136"/>
            <a:ext cx="4626864" cy="585216"/>
          </a:xfrm>
          <a:prstGeom prst="rect">
            <a:avLst/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1000" y="5660136"/>
            <a:ext cx="2776118" cy="585216"/>
          </a:xfrm>
          <a:prstGeom prst="rect">
            <a:avLst/>
          </a:prstGeom>
          <a:solidFill>
            <a:srgbClr val="00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777118" y="5660136"/>
            <a:ext cx="578358" cy="585216"/>
          </a:xfrm>
          <a:prstGeom prst="rect">
            <a:avLst/>
          </a:prstGeom>
          <a:solidFill>
            <a:srgbClr val="DAA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00" y="5751576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300" b="1">
                <a:solidFill>
                  <a:srgbClr val="00877F"/>
                </a:solidFill>
                <a:latin typeface="Noto Sans CJK KR"/>
              </a:defRPr>
            </a:pPr>
            <a:r>
              <a:t>0.725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8431" y="6766560"/>
            <a:ext cx="58521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600" b="1">
                <a:solidFill>
                  <a:srgbClr val="00877F"/>
                </a:solidFill>
                <a:latin typeface="Noto Sans CJK KR"/>
              </a:defRPr>
            </a:pPr>
            <a:r>
              <a:t>C: 0.2 × 0 + 0.6 × 1 + 0.2 × 0.625 = 0.725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74152" y="6400800"/>
            <a:ext cx="146304" cy="146304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02752" y="634593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비용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55480" y="6400800"/>
            <a:ext cx="146304" cy="146304"/>
          </a:xfrm>
          <a:prstGeom prst="rect">
            <a:avLst/>
          </a:prstGeom>
          <a:solidFill>
            <a:srgbClr val="008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84080" y="634593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탄소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045952" y="6400800"/>
            <a:ext cx="146304" cy="146304"/>
          </a:xfrm>
          <a:prstGeom prst="rect">
            <a:avLst/>
          </a:prstGeom>
          <a:solidFill>
            <a:srgbClr val="DAA6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74552" y="6345936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시간 여유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" y="7470648"/>
            <a:ext cx="13304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 b="0">
                <a:solidFill>
                  <a:srgbClr val="63778C"/>
                </a:solidFill>
                <a:latin typeface="Noto Sans CJK KR"/>
              </a:defRPr>
            </a:pPr>
            <a:r>
              <a:t>점수 범위 0–1: 비용·배출은 후보 간 역방향 min–max, 시간 여유는 (8−도착시간)/8. 상세 산식·전체 점수는 보충자료에 제시.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3464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00877F"/>
                </a:solidFill>
                <a:latin typeface="Noto Sans CJK KR"/>
              </a:defRPr>
            </a:pPr>
            <a:r>
              <a:t>CBP  /  CARBON BUDGET POOLING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298680" y="28346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  <a:defRPr sz="1200" b="1">
                <a:solidFill>
                  <a:srgbClr val="63778C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3441680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3400" b="1">
                <a:solidFill>
                  <a:srgbClr val="20354D"/>
                </a:solidFill>
                <a:latin typeface="Noto Sans CJK KR"/>
              </a:defRPr>
            </a:pPr>
            <a:r>
              <a:t>같은 후보라도, 예산 상태가 바뀌면 선택이 달라집니다.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20240"/>
            <a:ext cx="1335024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0">
                <a:solidFill>
                  <a:srgbClr val="63778C"/>
                </a:solidFill>
                <a:latin typeface="Noto Sans CJK KR"/>
              </a:defRPr>
            </a:pPr>
            <a:r>
              <a:t>CBP의 역할은 비용과 탄소 사이의 선택 기준을 탄소예산 상태에 맞춰 조정하는 것입니다.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7772400"/>
            <a:ext cx="13441680" cy="0"/>
          </a:xfrm>
          <a:prstGeom prst="line">
            <a:avLst/>
          </a:prstGeom>
          <a:ln w="12700">
            <a:solidFill>
              <a:srgbClr val="D5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2648" y="7900416"/>
            <a:ext cx="1335024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 b="0">
                <a:solidFill>
                  <a:srgbClr val="63778C"/>
                </a:solidFill>
                <a:latin typeface="Noto Sans CJK KR"/>
              </a:defRPr>
            </a:pPr>
            <a:r>
              <a:t>두런두런  |  제13회 유닛로드시스템(ULS) 창의성 공모전  |  탄소예산 기반 재배치 의사결정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15184"/>
            <a:ext cx="70408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900" b="1">
                <a:solidFill>
                  <a:srgbClr val="20354D"/>
                </a:solidFill>
                <a:latin typeface="Noto Sans CJK KR"/>
              </a:defRPr>
            </a:pPr>
            <a:r>
              <a:t>세 운송안의 비용–배출 관계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1872" y="6208776"/>
            <a:ext cx="5952744" cy="0"/>
          </a:xfrm>
          <a:prstGeom prst="line">
            <a:avLst/>
          </a:prstGeom>
          <a:ln w="19050">
            <a:solidFill>
              <a:srgbClr val="63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61872" y="3200400"/>
            <a:ext cx="0" cy="3008376"/>
          </a:xfrm>
          <a:prstGeom prst="line">
            <a:avLst/>
          </a:prstGeom>
          <a:ln w="19050">
            <a:solidFill>
              <a:srgbClr val="637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61872" y="5751576"/>
            <a:ext cx="5952744" cy="0"/>
          </a:xfrm>
          <a:prstGeom prst="line">
            <a:avLst/>
          </a:prstGeom>
          <a:ln w="12700">
            <a:solidFill>
              <a:srgbClr val="D5DF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5623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200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61872" y="4837176"/>
            <a:ext cx="5952744" cy="0"/>
          </a:xfrm>
          <a:prstGeom prst="line">
            <a:avLst/>
          </a:prstGeom>
          <a:ln w="12700">
            <a:solidFill>
              <a:srgbClr val="D5DF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7091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300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61872" y="3922776"/>
            <a:ext cx="5952744" cy="0"/>
          </a:xfrm>
          <a:prstGeom prst="line">
            <a:avLst/>
          </a:prstGeom>
          <a:ln w="12700">
            <a:solidFill>
              <a:srgbClr val="D5DF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1114" y="6373368"/>
            <a:ext cx="51206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91663" y="6373368"/>
            <a:ext cx="51206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82211" y="6373368"/>
            <a:ext cx="51206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2760" y="6373368"/>
            <a:ext cx="51206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130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3309" y="6373368"/>
            <a:ext cx="51206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140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1016" y="6775704"/>
            <a:ext cx="5952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  <a:defRPr sz="1400" b="0">
                <a:solidFill>
                  <a:srgbClr val="63778C"/>
                </a:solidFill>
                <a:latin typeface="Noto Sans CJK KR"/>
              </a:defRPr>
            </a:pPr>
            <a:r>
              <a:t>비용 (만원)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999232"/>
            <a:ext cx="399592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200" b="0">
                <a:solidFill>
                  <a:srgbClr val="63778C"/>
                </a:solidFill>
                <a:latin typeface="Noto Sans CJK KR"/>
              </a:defRPr>
            </a:pPr>
            <a:r>
              <a:t>배출 (kgCO₂e)</a:t>
            </a:r>
          </a:p>
        </p:txBody>
      </p:sp>
      <p:sp>
        <p:nvSpPr>
          <p:cNvPr id="24" name="Oval 23"/>
          <p:cNvSpPr/>
          <p:nvPr/>
        </p:nvSpPr>
        <p:spPr>
          <a:xfrm>
            <a:off x="1770278" y="3835908"/>
            <a:ext cx="173736" cy="173736"/>
          </a:xfrm>
          <a:prstGeom prst="ellipse">
            <a:avLst/>
          </a:prstGeom>
          <a:solidFill>
            <a:srgbClr val="16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03450" y="3712463"/>
            <a:ext cx="502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162D4D"/>
                </a:solidFill>
                <a:latin typeface="Noto Sans CJK KR"/>
              </a:defRPr>
            </a:pPr>
            <a: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2960827" y="5116068"/>
            <a:ext cx="173736" cy="173736"/>
          </a:xfrm>
          <a:prstGeom prst="ellipse">
            <a:avLst/>
          </a:prstGeom>
          <a:solidFill>
            <a:srgbClr val="598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93999" y="4992624"/>
            <a:ext cx="502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598C9F"/>
                </a:solidFill>
                <a:latin typeface="Noto Sans CJK KR"/>
              </a:defRPr>
            </a:pPr>
            <a: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6532473" y="5664708"/>
            <a:ext cx="173736" cy="173736"/>
          </a:xfrm>
          <a:prstGeom prst="ellipse">
            <a:avLst/>
          </a:prstGeom>
          <a:solidFill>
            <a:srgbClr val="00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5645" y="5541264"/>
            <a:ext cx="502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00877F"/>
                </a:solidFill>
                <a:latin typeface="Noto Sans CJK KR"/>
              </a:defRPr>
            </a:pPr>
            <a:r>
              <a:t>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66874" y="3995928"/>
            <a:ext cx="971093" cy="1133856"/>
          </a:xfrm>
          <a:prstGeom prst="line">
            <a:avLst/>
          </a:prstGeom>
          <a:ln w="19050">
            <a:solidFill>
              <a:srgbClr val="D5DF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57423" y="5276088"/>
            <a:ext cx="3352190" cy="402336"/>
          </a:xfrm>
          <a:prstGeom prst="line">
            <a:avLst/>
          </a:prstGeom>
          <a:ln w="19050">
            <a:solidFill>
              <a:srgbClr val="D5DF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163824" y="3547872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700" b="0">
                <a:solidFill>
                  <a:srgbClr val="63778C"/>
                </a:solidFill>
                <a:latin typeface="Noto Sans CJK KR"/>
              </a:defRPr>
            </a:pPr>
            <a:r>
              <a:t>배출이 적은 선택에는</a:t>
            </a:r>
          </a:p>
          <a:p>
            <a:pPr>
              <a:lnSpc>
                <a:spcPct val="112000"/>
              </a:lnSpc>
              <a:spcAft>
                <a:spcPts val="200"/>
              </a:spcAft>
              <a:defRPr sz="1700" b="0">
                <a:solidFill>
                  <a:srgbClr val="63778C"/>
                </a:solidFill>
                <a:latin typeface="Noto Sans CJK KR"/>
              </a:defRPr>
            </a:pPr>
            <a:r>
              <a:t>추가 비용이 따를 수 있습니다.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90688" y="2660904"/>
            <a:ext cx="0" cy="4572000"/>
          </a:xfrm>
          <a:prstGeom prst="line">
            <a:avLst/>
          </a:prstGeom>
          <a:ln w="12700">
            <a:solidFill>
              <a:srgbClr val="D5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66175" y="263347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100" b="1">
                <a:solidFill>
                  <a:srgbClr val="20354D"/>
                </a:solidFill>
                <a:latin typeface="Noto Sans CJK KR"/>
              </a:defRPr>
            </a:pPr>
            <a:r>
              <a:t>4개 모드의 선택 결과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57031" y="3236976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8" y="332841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600" b="1">
                <a:solidFill>
                  <a:srgbClr val="20354D"/>
                </a:solidFill>
                <a:latin typeface="Noto Sans CJK KR"/>
              </a:defRPr>
            </a:pPr>
            <a:r>
              <a:t>비용 모드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3888" y="3310128"/>
            <a:ext cx="3566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900" b="1">
                <a:solidFill>
                  <a:srgbClr val="00877F"/>
                </a:solidFill>
                <a:latin typeface="Noto Sans CJK KR"/>
              </a:defRPr>
            </a:pPr>
            <a: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19104" y="3355848"/>
            <a:ext cx="2624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300" b="0">
                <a:solidFill>
                  <a:srgbClr val="63778C"/>
                </a:solidFill>
                <a:latin typeface="Noto Sans CJK KR"/>
              </a:defRPr>
            </a:pPr>
            <a:r>
              <a:t>100만원 · 400kg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57031" y="3849624"/>
            <a:ext cx="566928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8" y="3941063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600" b="1">
                <a:solidFill>
                  <a:srgbClr val="20354D"/>
                </a:solidFill>
                <a:latin typeface="Noto Sans CJK KR"/>
              </a:defRPr>
            </a:pPr>
            <a:r>
              <a:t>균형 모드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3888" y="3922776"/>
            <a:ext cx="3566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900" b="1">
                <a:solidFill>
                  <a:srgbClr val="00877F"/>
                </a:solidFill>
                <a:latin typeface="Noto Sans CJK KR"/>
              </a:defRPr>
            </a:pPr>
            <a: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19104" y="3968496"/>
            <a:ext cx="2624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300" b="0">
                <a:solidFill>
                  <a:srgbClr val="63778C"/>
                </a:solidFill>
                <a:latin typeface="Noto Sans CJK KR"/>
              </a:defRPr>
            </a:pPr>
            <a:r>
              <a:t>110만원 · 260kg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57031" y="4462272"/>
            <a:ext cx="5669280" cy="475488"/>
          </a:xfrm>
          <a:prstGeom prst="rect">
            <a:avLst/>
          </a:prstGeom>
          <a:solidFill>
            <a:srgbClr val="E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8" y="45537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600" b="1">
                <a:solidFill>
                  <a:srgbClr val="20354D"/>
                </a:solidFill>
                <a:latin typeface="Noto Sans CJK KR"/>
              </a:defRPr>
            </a:pPr>
            <a:r>
              <a:t>탄소 모드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33888" y="4535424"/>
            <a:ext cx="3566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900" b="1">
                <a:solidFill>
                  <a:srgbClr val="00877F"/>
                </a:solidFill>
                <a:latin typeface="Noto Sans CJK KR"/>
              </a:defRPr>
            </a:pPr>
            <a: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19104" y="4581144"/>
            <a:ext cx="2624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300" b="0">
                <a:solidFill>
                  <a:srgbClr val="63778C"/>
                </a:solidFill>
                <a:latin typeface="Noto Sans CJK KR"/>
              </a:defRPr>
            </a:pPr>
            <a:r>
              <a:t>140만원 · 200kg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57031" y="5074920"/>
            <a:ext cx="5669280" cy="475488"/>
          </a:xfrm>
          <a:prstGeom prst="rect">
            <a:avLst/>
          </a:prstGeom>
          <a:solidFill>
            <a:srgbClr val="E4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0768" y="51663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600" b="1">
                <a:solidFill>
                  <a:srgbClr val="20354D"/>
                </a:solidFill>
                <a:latin typeface="Noto Sans CJK KR"/>
              </a:defRPr>
            </a:pPr>
            <a:r>
              <a:t>긴급 모드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33888" y="5148072"/>
            <a:ext cx="3566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900" b="1">
                <a:solidFill>
                  <a:srgbClr val="00877F"/>
                </a:solidFill>
                <a:latin typeface="Noto Sans CJK KR"/>
              </a:defRPr>
            </a:pPr>
            <a:r>
              <a:t>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19104" y="5193792"/>
            <a:ext cx="26243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300" b="0">
                <a:solidFill>
                  <a:srgbClr val="63778C"/>
                </a:solidFill>
                <a:latin typeface="Noto Sans CJK KR"/>
              </a:defRPr>
            </a:pPr>
            <a:r>
              <a:t>140만원 · 200kg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57031" y="6053328"/>
            <a:ext cx="5669280" cy="1179576"/>
          </a:xfrm>
          <a:prstGeom prst="rect">
            <a:avLst/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85632" y="6236208"/>
            <a:ext cx="52029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500" b="0">
                <a:solidFill>
                  <a:srgbClr val="AEC3D6"/>
                </a:solidFill>
                <a:latin typeface="Noto Sans CJK KR"/>
              </a:defRPr>
            </a:pPr>
            <a:r>
              <a:t>이 가상 사례에서 A → C로 바꾸면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67344" y="6675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Noto Sans CJK KR"/>
              </a:defRPr>
            </a:pPr>
            <a:r>
              <a:t>비용 +40만원  /  배출 −200kgCO₂e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" y="7470648"/>
            <a:ext cx="133045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  <a:defRPr sz="1000" b="0">
                <a:solidFill>
                  <a:srgbClr val="63778C"/>
                </a:solidFill>
                <a:latin typeface="Noto Sans CJK KR"/>
              </a:defRPr>
            </a:pPr>
            <a:r>
              <a:t>각 모드에서 같은 3개 후보가 모두 허용된 경우의 단일 의사결정 비교입니다. 기간 전체 감축률이나 비용 절감 효과를 입증한 결과가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CBP | 탄소예산 기반 유닛로드시스템 운영 최적화 프레임워크</dc:title>
  <dc:subject>탄소예산 상태에 적응하는 파렛트 재배치 의사결정 모형</dc:subject>
  <dc:creator>두런두런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
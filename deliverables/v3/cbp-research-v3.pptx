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예선의 역비례 점수 예시를 일관된 역방향 min–max 점수로 정리했다. 서비스는 수량·기한 제약으로 보장 여부를 먼저 검사하고, 점수에는 결정 시점의 도착 시간 여유만 반영한다. 정시 도착 확률을 뜻하지 않는다. 후보 집합 변화에 따른 상대 점수 변화에 주의한다.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계산은 model.py, scenario.csv, model_results.json에 동일하게 제공한다. Emergency C는 0.8625, B는 0.685, A는 0.125다. 비용·배출 입력은 실제 견적이나 배출계수로부터 산출된 것이 아니다.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C=B 경계는 α=0.265/1.05, B=A 경계는 α=0.61/0.95. 가상 입력에 의존하는 민감도 분석이다. 더 많은 후보와 현장 비용·배출·납기 자료로 안정성을 확인해야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긴급 모드에서 수요 충족률을 낮추거나 장거리 운송을 일괄 중단하던 원안 표현은 제외했다. 자동 중단 대신 불가능한 제약 조합을 명시하고 담당자가 예외를 승인한다. 수요·차량·규격·예산 예외를 모형이 임의 변경하지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과거 요청 재생 시 각 정책의 선택 이후 재고·누적 배출을 독립적으로 갱신해야 한다. 후보 생성 규칙과 사용 가능한 정보는 동일하게 맞춘다. 수요나 미래 운행의 정답을 한 정책에만 미리 제공하지 않는다. 일정 기간 전체를 반복 평가한 뒤 효과를 말한다.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594360" y="283464"/>
            <a:ext cx="10972800" cy="256032"/>
          </a:xfrm>
          <a:prstGeom prst="rect">
            <a:avLst/>
          </a:prstGeom>
          <a:noFill/>
        </p:spPr>
        <p:txBody>
          <a:bodyPr wrap="square" lIns="0" rIns="0" tIns="0" bIns="0">
            <a:spAutoFit/>
          </a:bodyPr>
          <a:lstStyle/>
          <a:p>
            <a:pPr>
              <a:lnSpc>
                <a:spcPct val="112000"/>
              </a:lnSpc>
              <a:spcAft>
                <a:spcPts val="200"/>
              </a:spcAft>
              <a:defRPr sz="1200" b="1">
                <a:solidFill>
                  <a:srgbClr val="00877F"/>
                </a:solidFill>
                <a:latin typeface="Noto Sans CJK KR"/>
              </a:defRPr>
            </a:pPr>
            <a:r>
              <a:t>CBP  /  CARBON BUDGET POOLING</a:t>
            </a:r>
          </a:p>
        </p:txBody>
      </p:sp>
      <p:sp>
        <p:nvSpPr>
          <p:cNvPr id="3" name="TextBox 2"/>
          <p:cNvSpPr txBox="1"/>
          <p:nvPr/>
        </p:nvSpPr>
        <p:spPr>
          <a:xfrm>
            <a:off x="12298680" y="283464"/>
            <a:ext cx="1737360" cy="256032"/>
          </a:xfrm>
          <a:prstGeom prst="rect">
            <a:avLst/>
          </a:prstGeom>
          <a:noFill/>
        </p:spPr>
        <p:txBody>
          <a:bodyPr wrap="square" lIns="0" rIns="0" tIns="0" bIns="0">
            <a:spAutoFit/>
          </a:bodyPr>
          <a:lstStyle/>
          <a:p>
            <a:pPr algn="r">
              <a:lnSpc>
                <a:spcPct val="112000"/>
              </a:lnSpc>
              <a:spcAft>
                <a:spcPts val="200"/>
              </a:spcAft>
              <a:defRPr sz="1200" b="1">
                <a:solidFill>
                  <a:srgbClr val="63778C"/>
                </a:solidFill>
                <a:latin typeface="Noto Sans CJK KR"/>
              </a:defRPr>
            </a:pPr>
            <a:r>
              <a:t>연구 보충 01</a:t>
            </a:r>
          </a:p>
        </p:txBody>
      </p:sp>
      <p:sp>
        <p:nvSpPr>
          <p:cNvPr id="4" name="TextBox 3"/>
          <p:cNvSpPr txBox="1"/>
          <p:nvPr/>
        </p:nvSpPr>
        <p:spPr>
          <a:xfrm>
            <a:off x="594360" y="850392"/>
            <a:ext cx="13441680" cy="1060704"/>
          </a:xfrm>
          <a:prstGeom prst="rect">
            <a:avLst/>
          </a:prstGeom>
          <a:noFill/>
        </p:spPr>
        <p:txBody>
          <a:bodyPr wrap="square" lIns="0" rIns="0" tIns="0" bIns="0">
            <a:spAutoFit/>
          </a:bodyPr>
          <a:lstStyle/>
          <a:p>
            <a:pPr>
              <a:lnSpc>
                <a:spcPct val="112000"/>
              </a:lnSpc>
              <a:spcAft>
                <a:spcPts val="200"/>
              </a:spcAft>
              <a:defRPr sz="3400" b="1">
                <a:solidFill>
                  <a:srgbClr val="20354D"/>
                </a:solidFill>
                <a:latin typeface="Noto Sans CJK KR"/>
              </a:defRPr>
            </a:pPr>
            <a:r>
              <a:t>모형 정의: 실행 가능한 안을 먼저 남기고, 점수로 고릅니다.</a:t>
            </a:r>
          </a:p>
        </p:txBody>
      </p:sp>
      <p:sp>
        <p:nvSpPr>
          <p:cNvPr id="5" name="TextBox 4"/>
          <p:cNvSpPr txBox="1"/>
          <p:nvPr/>
        </p:nvSpPr>
        <p:spPr>
          <a:xfrm>
            <a:off x="621792" y="1920240"/>
            <a:ext cx="13350240" cy="475488"/>
          </a:xfrm>
          <a:prstGeom prst="rect">
            <a:avLst/>
          </a:prstGeom>
          <a:noFill/>
        </p:spPr>
        <p:txBody>
          <a:bodyPr wrap="square" lIns="0" rIns="0" tIns="0" bIns="0">
            <a:spAutoFit/>
          </a:bodyPr>
          <a:lstStyle/>
          <a:p>
            <a:pPr>
              <a:lnSpc>
                <a:spcPct val="112000"/>
              </a:lnSpc>
              <a:spcAft>
                <a:spcPts val="200"/>
              </a:spcAft>
              <a:defRPr sz="1700" b="0">
                <a:solidFill>
                  <a:srgbClr val="63778C"/>
                </a:solidFill>
                <a:latin typeface="Noto Sans CJK KR"/>
              </a:defRPr>
            </a:pPr>
            <a:r>
              <a:t>범위: 동일 풀링사의 호환 파렛트 재배치. j는 필요한 물량을 충족하는 하나의 완결 운송안입니다.</a:t>
            </a:r>
          </a:p>
        </p:txBody>
      </p:sp>
      <p:cxnSp>
        <p:nvCxnSpPr>
          <p:cNvPr id="6" name="Connector 5"/>
          <p:cNvCxnSpPr/>
          <p:nvPr/>
        </p:nvCxnSpPr>
        <p:spPr>
          <a:xfrm>
            <a:off x="594360" y="7772400"/>
            <a:ext cx="13441680" cy="0"/>
          </a:xfrm>
          <a:prstGeom prst="line">
            <a:avLst/>
          </a:prstGeom>
          <a:ln w="12700">
            <a:solidFill>
              <a:srgbClr val="D5DFE9"/>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12648" y="7900416"/>
            <a:ext cx="13350240" cy="192024"/>
          </a:xfrm>
          <a:prstGeom prst="rect">
            <a:avLst/>
          </a:prstGeom>
          <a:noFill/>
        </p:spPr>
        <p:txBody>
          <a:bodyPr wrap="square" lIns="0" rIns="0" tIns="0" bIns="0">
            <a:spAutoFit/>
          </a:bodyPr>
          <a:lstStyle/>
          <a:p>
            <a:pPr>
              <a:lnSpc>
                <a:spcPct val="112000"/>
              </a:lnSpc>
              <a:spcAft>
                <a:spcPts val="200"/>
              </a:spcAft>
              <a:defRPr sz="1000" b="0">
                <a:solidFill>
                  <a:srgbClr val="63778C"/>
                </a:solidFill>
                <a:latin typeface="Noto Sans CJK KR"/>
              </a:defRPr>
            </a:pPr>
            <a:r>
              <a:t>두런두런  |  제13회 유닛로드시스템(ULS) 창의성 공모전  |  탄소예산 기반 재배치 의사결정</a:t>
            </a:r>
          </a:p>
        </p:txBody>
      </p:sp>
      <p:sp>
        <p:nvSpPr>
          <p:cNvPr id="8" name="Rectangle 7"/>
          <p:cNvSpPr/>
          <p:nvPr/>
        </p:nvSpPr>
        <p:spPr>
          <a:xfrm>
            <a:off x="685800" y="2660904"/>
            <a:ext cx="6099048" cy="4562856"/>
          </a:xfrm>
          <a:prstGeom prst="rect">
            <a:avLst/>
          </a:prstGeom>
          <a:solidFill>
            <a:srgbClr val="FFFFFF"/>
          </a:solidFill>
          <a:ln w="12700">
            <a:solidFill>
              <a:srgbClr val="D5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32688" y="2916936"/>
            <a:ext cx="5596128" cy="356616"/>
          </a:xfrm>
          <a:prstGeom prst="rect">
            <a:avLst/>
          </a:prstGeom>
          <a:noFill/>
        </p:spPr>
        <p:txBody>
          <a:bodyPr wrap="square" lIns="0" rIns="0" tIns="0" bIns="0">
            <a:spAutoFit/>
          </a:bodyPr>
          <a:lstStyle/>
          <a:p>
            <a:pPr>
              <a:lnSpc>
                <a:spcPct val="112000"/>
              </a:lnSpc>
              <a:spcAft>
                <a:spcPts val="200"/>
              </a:spcAft>
              <a:defRPr sz="2300" b="1">
                <a:solidFill>
                  <a:srgbClr val="20354D"/>
                </a:solidFill>
                <a:latin typeface="Noto Sans CJK KR"/>
              </a:defRPr>
            </a:pPr>
            <a:r>
              <a:t>상태와 결정</a:t>
            </a:r>
          </a:p>
        </p:txBody>
      </p:sp>
      <p:sp>
        <p:nvSpPr>
          <p:cNvPr id="10" name="TextBox 9"/>
          <p:cNvSpPr txBox="1"/>
          <p:nvPr/>
        </p:nvSpPr>
        <p:spPr>
          <a:xfrm>
            <a:off x="960120" y="3611880"/>
            <a:ext cx="5577840" cy="365760"/>
          </a:xfrm>
          <a:prstGeom prst="rect">
            <a:avLst/>
          </a:prstGeom>
          <a:noFill/>
        </p:spPr>
        <p:txBody>
          <a:bodyPr wrap="square" lIns="0" rIns="0" tIns="0" bIns="0">
            <a:spAutoFit/>
          </a:bodyPr>
          <a:lstStyle/>
          <a:p>
            <a:pPr>
              <a:lnSpc>
                <a:spcPct val="112000"/>
              </a:lnSpc>
              <a:spcAft>
                <a:spcPts val="200"/>
              </a:spcAft>
              <a:defRPr sz="2000" b="0">
                <a:solidFill>
                  <a:srgbClr val="20354D"/>
                </a:solidFill>
                <a:latin typeface="Noto Sans CJK KR"/>
              </a:defRPr>
            </a:pPr>
            <a:r>
              <a:t>B : 기간별 내부 탄소예산 (kgCO₂e)</a:t>
            </a:r>
          </a:p>
        </p:txBody>
      </p:sp>
      <p:sp>
        <p:nvSpPr>
          <p:cNvPr id="11" name="TextBox 10"/>
          <p:cNvSpPr txBox="1"/>
          <p:nvPr/>
        </p:nvSpPr>
        <p:spPr>
          <a:xfrm>
            <a:off x="960120" y="4123944"/>
            <a:ext cx="5577840" cy="365760"/>
          </a:xfrm>
          <a:prstGeom prst="rect">
            <a:avLst/>
          </a:prstGeom>
          <a:noFill/>
        </p:spPr>
        <p:txBody>
          <a:bodyPr wrap="square" lIns="0" rIns="0" tIns="0" bIns="0">
            <a:spAutoFit/>
          </a:bodyPr>
          <a:lstStyle/>
          <a:p>
            <a:pPr>
              <a:lnSpc>
                <a:spcPct val="112000"/>
              </a:lnSpc>
              <a:spcAft>
                <a:spcPts val="200"/>
              </a:spcAft>
              <a:defRPr sz="2000" b="0">
                <a:solidFill>
                  <a:srgbClr val="20354D"/>
                </a:solidFill>
                <a:latin typeface="Noto Sans CJK KR"/>
              </a:defRPr>
            </a:pPr>
            <a:r>
              <a:t>Eₜ : 현재까지의 실제 누적 배출</a:t>
            </a:r>
          </a:p>
        </p:txBody>
      </p:sp>
      <p:sp>
        <p:nvSpPr>
          <p:cNvPr id="12" name="TextBox 11"/>
          <p:cNvSpPr txBox="1"/>
          <p:nvPr/>
        </p:nvSpPr>
        <p:spPr>
          <a:xfrm>
            <a:off x="960120" y="4636008"/>
            <a:ext cx="5577840" cy="365760"/>
          </a:xfrm>
          <a:prstGeom prst="rect">
            <a:avLst/>
          </a:prstGeom>
          <a:noFill/>
        </p:spPr>
        <p:txBody>
          <a:bodyPr wrap="square" lIns="0" rIns="0" tIns="0" bIns="0">
            <a:spAutoFit/>
          </a:bodyPr>
          <a:lstStyle/>
          <a:p>
            <a:pPr>
              <a:lnSpc>
                <a:spcPct val="112000"/>
              </a:lnSpc>
              <a:spcAft>
                <a:spcPts val="200"/>
              </a:spcAft>
              <a:defRPr sz="2000" b="0">
                <a:solidFill>
                  <a:srgbClr val="20354D"/>
                </a:solidFill>
                <a:latin typeface="Noto Sans CJK KR"/>
              </a:defRPr>
            </a:pPr>
            <a:r>
              <a:t>CURₜ = 100 × Eₜ / B  (B &gt; 0)</a:t>
            </a:r>
          </a:p>
        </p:txBody>
      </p:sp>
      <p:sp>
        <p:nvSpPr>
          <p:cNvPr id="13" name="TextBox 12"/>
          <p:cNvSpPr txBox="1"/>
          <p:nvPr/>
        </p:nvSpPr>
        <p:spPr>
          <a:xfrm>
            <a:off x="960120" y="5148072"/>
            <a:ext cx="5577840" cy="365760"/>
          </a:xfrm>
          <a:prstGeom prst="rect">
            <a:avLst/>
          </a:prstGeom>
          <a:noFill/>
        </p:spPr>
        <p:txBody>
          <a:bodyPr wrap="square" lIns="0" rIns="0" tIns="0" bIns="0">
            <a:spAutoFit/>
          </a:bodyPr>
          <a:lstStyle/>
          <a:p>
            <a:pPr>
              <a:lnSpc>
                <a:spcPct val="112000"/>
              </a:lnSpc>
              <a:spcAft>
                <a:spcPts val="200"/>
              </a:spcAft>
              <a:defRPr sz="2000" b="0">
                <a:solidFill>
                  <a:srgbClr val="20354D"/>
                </a:solidFill>
                <a:latin typeface="Noto Sans CJK KR"/>
              </a:defRPr>
            </a:pPr>
            <a:r>
              <a:t>mₜ : CUR 구간에 따른 운영 모드</a:t>
            </a:r>
          </a:p>
        </p:txBody>
      </p:sp>
      <p:sp>
        <p:nvSpPr>
          <p:cNvPr id="14" name="TextBox 13"/>
          <p:cNvSpPr txBox="1"/>
          <p:nvPr/>
        </p:nvSpPr>
        <p:spPr>
          <a:xfrm>
            <a:off x="960120" y="5660136"/>
            <a:ext cx="5577840" cy="365760"/>
          </a:xfrm>
          <a:prstGeom prst="rect">
            <a:avLst/>
          </a:prstGeom>
          <a:noFill/>
        </p:spPr>
        <p:txBody>
          <a:bodyPr wrap="square" lIns="0" rIns="0" tIns="0" bIns="0">
            <a:spAutoFit/>
          </a:bodyPr>
          <a:lstStyle/>
          <a:p>
            <a:pPr>
              <a:lnSpc>
                <a:spcPct val="112000"/>
              </a:lnSpc>
              <a:spcAft>
                <a:spcPts val="200"/>
              </a:spcAft>
              <a:defRPr sz="2000" b="0">
                <a:solidFill>
                  <a:srgbClr val="20354D"/>
                </a:solidFill>
                <a:latin typeface="Noto Sans CJK KR"/>
              </a:defRPr>
            </a:pPr>
            <a:r>
              <a:t>j* = arg maxⱼ∈Fₜ RPSⱼ(mₜ)</a:t>
            </a:r>
          </a:p>
        </p:txBody>
      </p:sp>
      <p:sp>
        <p:nvSpPr>
          <p:cNvPr id="15" name="TextBox 14"/>
          <p:cNvSpPr txBox="1"/>
          <p:nvPr/>
        </p:nvSpPr>
        <p:spPr>
          <a:xfrm>
            <a:off x="960120" y="6428232"/>
            <a:ext cx="5577840" cy="493776"/>
          </a:xfrm>
          <a:prstGeom prst="rect">
            <a:avLst/>
          </a:prstGeom>
          <a:noFill/>
        </p:spPr>
        <p:txBody>
          <a:bodyPr wrap="square" lIns="0" rIns="0" tIns="0" bIns="0">
            <a:spAutoFit/>
          </a:bodyPr>
          <a:lstStyle/>
          <a:p>
            <a:pPr>
              <a:lnSpc>
                <a:spcPct val="112000"/>
              </a:lnSpc>
              <a:spcAft>
                <a:spcPts val="200"/>
              </a:spcAft>
              <a:defRPr sz="1600" b="0">
                <a:solidFill>
                  <a:srgbClr val="63778C"/>
                </a:solidFill>
                <a:latin typeface="Noto Sans CJK KR"/>
              </a:defRPr>
            </a:pPr>
            <a:r>
              <a:t>Fₜ: 수량·기한·호환·적재·잔여예산을</a:t>
            </a:r>
          </a:p>
          <a:p>
            <a:pPr>
              <a:lnSpc>
                <a:spcPct val="112000"/>
              </a:lnSpc>
              <a:spcAft>
                <a:spcPts val="200"/>
              </a:spcAft>
              <a:defRPr sz="1600" b="0">
                <a:solidFill>
                  <a:srgbClr val="63778C"/>
                </a:solidFill>
                <a:latin typeface="Noto Sans CJK KR"/>
              </a:defRPr>
            </a:pPr>
            <a:r>
              <a:t>충족하는 후보 집합</a:t>
            </a:r>
          </a:p>
        </p:txBody>
      </p:sp>
      <p:sp>
        <p:nvSpPr>
          <p:cNvPr id="16" name="Rectangle 15"/>
          <p:cNvSpPr/>
          <p:nvPr/>
        </p:nvSpPr>
        <p:spPr>
          <a:xfrm>
            <a:off x="7150608" y="2660904"/>
            <a:ext cx="6793992" cy="4562856"/>
          </a:xfrm>
          <a:prstGeom prst="rect">
            <a:avLst/>
          </a:prstGeom>
          <a:solidFill>
            <a:srgbClr val="E4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7406640" y="2916936"/>
            <a:ext cx="6272784" cy="356616"/>
          </a:xfrm>
          <a:prstGeom prst="rect">
            <a:avLst/>
          </a:prstGeom>
          <a:noFill/>
        </p:spPr>
        <p:txBody>
          <a:bodyPr wrap="square" lIns="0" rIns="0" tIns="0" bIns="0">
            <a:spAutoFit/>
          </a:bodyPr>
          <a:lstStyle/>
          <a:p>
            <a:pPr>
              <a:lnSpc>
                <a:spcPct val="112000"/>
              </a:lnSpc>
              <a:spcAft>
                <a:spcPts val="200"/>
              </a:spcAft>
              <a:defRPr sz="2300" b="1">
                <a:solidFill>
                  <a:srgbClr val="00877F"/>
                </a:solidFill>
                <a:latin typeface="Noto Sans CJK KR"/>
              </a:defRPr>
            </a:pPr>
            <a:r>
              <a:t>후보별 0–1 점수</a:t>
            </a:r>
          </a:p>
        </p:txBody>
      </p:sp>
      <p:sp>
        <p:nvSpPr>
          <p:cNvPr id="18" name="TextBox 17"/>
          <p:cNvSpPr txBox="1"/>
          <p:nvPr/>
        </p:nvSpPr>
        <p:spPr>
          <a:xfrm>
            <a:off x="7415783" y="3611880"/>
            <a:ext cx="6272784" cy="402336"/>
          </a:xfrm>
          <a:prstGeom prst="rect">
            <a:avLst/>
          </a:prstGeom>
          <a:noFill/>
        </p:spPr>
        <p:txBody>
          <a:bodyPr wrap="square" lIns="0" rIns="0" tIns="0" bIns="0">
            <a:spAutoFit/>
          </a:bodyPr>
          <a:lstStyle/>
          <a:p>
            <a:pPr>
              <a:lnSpc>
                <a:spcPct val="112000"/>
              </a:lnSpc>
              <a:spcAft>
                <a:spcPts val="200"/>
              </a:spcAft>
              <a:defRPr sz="2000" b="0">
                <a:solidFill>
                  <a:srgbClr val="20354D"/>
                </a:solidFill>
                <a:latin typeface="Noto Sans CJK KR"/>
              </a:defRPr>
            </a:pPr>
            <a:r>
              <a:t>비용: (Cmax − Cⱼ) / (Cmax − Cmin)</a:t>
            </a:r>
          </a:p>
        </p:txBody>
      </p:sp>
      <p:sp>
        <p:nvSpPr>
          <p:cNvPr id="19" name="TextBox 18"/>
          <p:cNvSpPr txBox="1"/>
          <p:nvPr/>
        </p:nvSpPr>
        <p:spPr>
          <a:xfrm>
            <a:off x="7415783" y="4251960"/>
            <a:ext cx="6272784" cy="402336"/>
          </a:xfrm>
          <a:prstGeom prst="rect">
            <a:avLst/>
          </a:prstGeom>
          <a:noFill/>
        </p:spPr>
        <p:txBody>
          <a:bodyPr wrap="square" lIns="0" rIns="0" tIns="0" bIns="0">
            <a:spAutoFit/>
          </a:bodyPr>
          <a:lstStyle/>
          <a:p>
            <a:pPr>
              <a:lnSpc>
                <a:spcPct val="112000"/>
              </a:lnSpc>
              <a:spcAft>
                <a:spcPts val="200"/>
              </a:spcAft>
              <a:defRPr sz="2000" b="0">
                <a:solidFill>
                  <a:srgbClr val="20354D"/>
                </a:solidFill>
                <a:latin typeface="Noto Sans CJK KR"/>
              </a:defRPr>
            </a:pPr>
            <a:r>
              <a:t>탄소: (emax − eⱼ) / (emax − emin)</a:t>
            </a:r>
          </a:p>
        </p:txBody>
      </p:sp>
      <p:sp>
        <p:nvSpPr>
          <p:cNvPr id="20" name="TextBox 19"/>
          <p:cNvSpPr txBox="1"/>
          <p:nvPr/>
        </p:nvSpPr>
        <p:spPr>
          <a:xfrm>
            <a:off x="7415783" y="4892040"/>
            <a:ext cx="6272784" cy="402336"/>
          </a:xfrm>
          <a:prstGeom prst="rect">
            <a:avLst/>
          </a:prstGeom>
          <a:noFill/>
        </p:spPr>
        <p:txBody>
          <a:bodyPr wrap="square" lIns="0" rIns="0" tIns="0" bIns="0">
            <a:spAutoFit/>
          </a:bodyPr>
          <a:lstStyle/>
          <a:p>
            <a:pPr>
              <a:lnSpc>
                <a:spcPct val="112000"/>
              </a:lnSpc>
              <a:spcAft>
                <a:spcPts val="200"/>
              </a:spcAft>
              <a:defRPr sz="2000" b="0">
                <a:solidFill>
                  <a:srgbClr val="20354D"/>
                </a:solidFill>
                <a:latin typeface="Noto Sans CJK KR"/>
              </a:defRPr>
            </a:pPr>
            <a:r>
              <a:t>시간 여유: (D − Tⱼ) / D</a:t>
            </a:r>
          </a:p>
        </p:txBody>
      </p:sp>
      <p:sp>
        <p:nvSpPr>
          <p:cNvPr id="21" name="TextBox 20"/>
          <p:cNvSpPr txBox="1"/>
          <p:nvPr/>
        </p:nvSpPr>
        <p:spPr>
          <a:xfrm>
            <a:off x="7415783" y="5532120"/>
            <a:ext cx="6272784" cy="402336"/>
          </a:xfrm>
          <a:prstGeom prst="rect">
            <a:avLst/>
          </a:prstGeom>
          <a:noFill/>
        </p:spPr>
        <p:txBody>
          <a:bodyPr wrap="square" lIns="0" rIns="0" tIns="0" bIns="0">
            <a:spAutoFit/>
          </a:bodyPr>
          <a:lstStyle/>
          <a:p>
            <a:pPr>
              <a:lnSpc>
                <a:spcPct val="112000"/>
              </a:lnSpc>
              <a:spcAft>
                <a:spcPts val="200"/>
              </a:spcAft>
              <a:defRPr sz="2000" b="0">
                <a:solidFill>
                  <a:srgbClr val="20354D"/>
                </a:solidFill>
                <a:latin typeface="Noto Sans CJK KR"/>
              </a:defRPr>
            </a:pPr>
            <a:r>
              <a:t>RPSⱼ = α·비용점수 + β·탄소점수</a:t>
            </a:r>
          </a:p>
        </p:txBody>
      </p:sp>
      <p:sp>
        <p:nvSpPr>
          <p:cNvPr id="22" name="TextBox 21"/>
          <p:cNvSpPr txBox="1"/>
          <p:nvPr/>
        </p:nvSpPr>
        <p:spPr>
          <a:xfrm>
            <a:off x="7415783" y="5934456"/>
            <a:ext cx="6272784" cy="402336"/>
          </a:xfrm>
          <a:prstGeom prst="rect">
            <a:avLst/>
          </a:prstGeom>
          <a:noFill/>
        </p:spPr>
        <p:txBody>
          <a:bodyPr wrap="square" lIns="0" rIns="0" tIns="0" bIns="0">
            <a:spAutoFit/>
          </a:bodyPr>
          <a:lstStyle/>
          <a:p>
            <a:pPr>
              <a:lnSpc>
                <a:spcPct val="112000"/>
              </a:lnSpc>
              <a:spcAft>
                <a:spcPts val="200"/>
              </a:spcAft>
              <a:defRPr sz="2000" b="0">
                <a:solidFill>
                  <a:srgbClr val="20354D"/>
                </a:solidFill>
                <a:latin typeface="Noto Sans CJK KR"/>
              </a:defRPr>
            </a:pPr>
            <a:r>
              <a:t>               + γ·시간여유점수</a:t>
            </a:r>
          </a:p>
        </p:txBody>
      </p:sp>
      <p:sp>
        <p:nvSpPr>
          <p:cNvPr id="23" name="TextBox 22"/>
          <p:cNvSpPr txBox="1"/>
          <p:nvPr/>
        </p:nvSpPr>
        <p:spPr>
          <a:xfrm>
            <a:off x="7424927" y="6510528"/>
            <a:ext cx="6263640" cy="457200"/>
          </a:xfrm>
          <a:prstGeom prst="rect">
            <a:avLst/>
          </a:prstGeom>
          <a:noFill/>
        </p:spPr>
        <p:txBody>
          <a:bodyPr wrap="square" lIns="0" rIns="0" tIns="0" bIns="0">
            <a:spAutoFit/>
          </a:bodyPr>
          <a:lstStyle/>
          <a:p>
            <a:pPr>
              <a:lnSpc>
                <a:spcPct val="112000"/>
              </a:lnSpc>
              <a:spcAft>
                <a:spcPts val="200"/>
              </a:spcAft>
              <a:defRPr sz="1400" b="0">
                <a:solidFill>
                  <a:srgbClr val="63778C"/>
                </a:solidFill>
                <a:latin typeface="Noto Sans CJK KR"/>
              </a:defRPr>
            </a:pPr>
            <a:r>
              <a:t>C: 비용 / e: 예상 배출 / T: 도착 소요시간</a:t>
            </a:r>
          </a:p>
          <a:p>
            <a:pPr>
              <a:lnSpc>
                <a:spcPct val="112000"/>
              </a:lnSpc>
              <a:spcAft>
                <a:spcPts val="200"/>
              </a:spcAft>
              <a:defRPr sz="1400" b="0">
                <a:solidFill>
                  <a:srgbClr val="63778C"/>
                </a:solidFill>
                <a:latin typeface="Noto Sans CJK KR"/>
              </a:defRPr>
            </a:pPr>
            <a:r>
              <a:t>D: 허용시간 &gt; 0 / α+β+γ=1, 각 가중치 ≥ 0</a:t>
            </a:r>
          </a:p>
        </p:txBody>
      </p:sp>
      <p:sp>
        <p:nvSpPr>
          <p:cNvPr id="24" name="TextBox 23"/>
          <p:cNvSpPr txBox="1"/>
          <p:nvPr/>
        </p:nvSpPr>
        <p:spPr>
          <a:xfrm>
            <a:off x="667512" y="7470648"/>
            <a:ext cx="13304520" cy="219456"/>
          </a:xfrm>
          <a:prstGeom prst="rect">
            <a:avLst/>
          </a:prstGeom>
          <a:noFill/>
        </p:spPr>
        <p:txBody>
          <a:bodyPr wrap="square" lIns="0" rIns="0" tIns="0" bIns="0">
            <a:spAutoFit/>
          </a:bodyPr>
          <a:lstStyle/>
          <a:p>
            <a:pPr>
              <a:lnSpc>
                <a:spcPct val="112000"/>
              </a:lnSpc>
              <a:spcAft>
                <a:spcPts val="200"/>
              </a:spcAft>
              <a:defRPr sz="1000" b="0">
                <a:solidFill>
                  <a:srgbClr val="63778C"/>
                </a:solidFill>
                <a:latin typeface="Noto Sans CJK KR"/>
              </a:defRPr>
            </a:pPr>
            <a:r>
              <a:t>min·max는 같은 실행 가능 후보 집합에서 산출. 전부 같은 값이면 해당 항목은 모두 1점. 동점은 배출 → 비용 → 도착시간 순으로 비교.</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594360" y="283464"/>
            <a:ext cx="10972800" cy="256032"/>
          </a:xfrm>
          <a:prstGeom prst="rect">
            <a:avLst/>
          </a:prstGeom>
          <a:noFill/>
        </p:spPr>
        <p:txBody>
          <a:bodyPr wrap="square" lIns="0" rIns="0" tIns="0" bIns="0">
            <a:spAutoFit/>
          </a:bodyPr>
          <a:lstStyle/>
          <a:p>
            <a:pPr>
              <a:lnSpc>
                <a:spcPct val="112000"/>
              </a:lnSpc>
              <a:spcAft>
                <a:spcPts val="200"/>
              </a:spcAft>
              <a:defRPr sz="1200" b="1">
                <a:solidFill>
                  <a:srgbClr val="00877F"/>
                </a:solidFill>
                <a:latin typeface="Noto Sans CJK KR"/>
              </a:defRPr>
            </a:pPr>
            <a:r>
              <a:t>CBP  /  CARBON BUDGET POOLING</a:t>
            </a:r>
          </a:p>
        </p:txBody>
      </p:sp>
      <p:sp>
        <p:nvSpPr>
          <p:cNvPr id="3" name="TextBox 2"/>
          <p:cNvSpPr txBox="1"/>
          <p:nvPr/>
        </p:nvSpPr>
        <p:spPr>
          <a:xfrm>
            <a:off x="12298680" y="283464"/>
            <a:ext cx="1737360" cy="256032"/>
          </a:xfrm>
          <a:prstGeom prst="rect">
            <a:avLst/>
          </a:prstGeom>
          <a:noFill/>
        </p:spPr>
        <p:txBody>
          <a:bodyPr wrap="square" lIns="0" rIns="0" tIns="0" bIns="0">
            <a:spAutoFit/>
          </a:bodyPr>
          <a:lstStyle/>
          <a:p>
            <a:pPr algn="r">
              <a:lnSpc>
                <a:spcPct val="112000"/>
              </a:lnSpc>
              <a:spcAft>
                <a:spcPts val="200"/>
              </a:spcAft>
              <a:defRPr sz="1200" b="1">
                <a:solidFill>
                  <a:srgbClr val="63778C"/>
                </a:solidFill>
                <a:latin typeface="Noto Sans CJK KR"/>
              </a:defRPr>
            </a:pPr>
            <a:r>
              <a:t>연구 보충 02</a:t>
            </a:r>
          </a:p>
        </p:txBody>
      </p:sp>
      <p:sp>
        <p:nvSpPr>
          <p:cNvPr id="4" name="TextBox 3"/>
          <p:cNvSpPr txBox="1"/>
          <p:nvPr/>
        </p:nvSpPr>
        <p:spPr>
          <a:xfrm>
            <a:off x="594360" y="850392"/>
            <a:ext cx="13441680" cy="1060704"/>
          </a:xfrm>
          <a:prstGeom prst="rect">
            <a:avLst/>
          </a:prstGeom>
          <a:noFill/>
        </p:spPr>
        <p:txBody>
          <a:bodyPr wrap="square" lIns="0" rIns="0" tIns="0" bIns="0">
            <a:spAutoFit/>
          </a:bodyPr>
          <a:lstStyle/>
          <a:p>
            <a:pPr>
              <a:lnSpc>
                <a:spcPct val="112000"/>
              </a:lnSpc>
              <a:spcAft>
                <a:spcPts val="200"/>
              </a:spcAft>
              <a:defRPr sz="3400" b="1">
                <a:solidFill>
                  <a:srgbClr val="20354D"/>
                </a:solidFill>
                <a:latin typeface="Noto Sans CJK KR"/>
              </a:defRPr>
            </a:pPr>
            <a:r>
              <a:t>숫자 검증: 입력부터 선택까지 재계산할 수 있습니다.</a:t>
            </a:r>
          </a:p>
        </p:txBody>
      </p:sp>
      <p:sp>
        <p:nvSpPr>
          <p:cNvPr id="5" name="TextBox 4"/>
          <p:cNvSpPr txBox="1"/>
          <p:nvPr/>
        </p:nvSpPr>
        <p:spPr>
          <a:xfrm>
            <a:off x="621792" y="1920240"/>
            <a:ext cx="13350240" cy="475488"/>
          </a:xfrm>
          <a:prstGeom prst="rect">
            <a:avLst/>
          </a:prstGeom>
          <a:noFill/>
        </p:spPr>
        <p:txBody>
          <a:bodyPr wrap="square" lIns="0" rIns="0" tIns="0" bIns="0">
            <a:spAutoFit/>
          </a:bodyPr>
          <a:lstStyle/>
          <a:p>
            <a:pPr>
              <a:lnSpc>
                <a:spcPct val="112000"/>
              </a:lnSpc>
              <a:spcAft>
                <a:spcPts val="200"/>
              </a:spcAft>
              <a:defRPr sz="1700" b="0">
                <a:solidFill>
                  <a:srgbClr val="63778C"/>
                </a:solidFill>
                <a:latin typeface="Noto Sans CJK KR"/>
              </a:defRPr>
            </a:pPr>
            <a:r>
              <a:t>설명용 가정: 1,000매 · D=8시간 · B=10,000kgCO₂e · Eₜ=8,200kgCO₂e</a:t>
            </a:r>
          </a:p>
        </p:txBody>
      </p:sp>
      <p:cxnSp>
        <p:nvCxnSpPr>
          <p:cNvPr id="6" name="Connector 5"/>
          <p:cNvCxnSpPr/>
          <p:nvPr/>
        </p:nvCxnSpPr>
        <p:spPr>
          <a:xfrm>
            <a:off x="594360" y="7772400"/>
            <a:ext cx="13441680" cy="0"/>
          </a:xfrm>
          <a:prstGeom prst="line">
            <a:avLst/>
          </a:prstGeom>
          <a:ln w="12700">
            <a:solidFill>
              <a:srgbClr val="D5DFE9"/>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12648" y="7900416"/>
            <a:ext cx="13350240" cy="192024"/>
          </a:xfrm>
          <a:prstGeom prst="rect">
            <a:avLst/>
          </a:prstGeom>
          <a:noFill/>
        </p:spPr>
        <p:txBody>
          <a:bodyPr wrap="square" lIns="0" rIns="0" tIns="0" bIns="0">
            <a:spAutoFit/>
          </a:bodyPr>
          <a:lstStyle/>
          <a:p>
            <a:pPr>
              <a:lnSpc>
                <a:spcPct val="112000"/>
              </a:lnSpc>
              <a:spcAft>
                <a:spcPts val="200"/>
              </a:spcAft>
              <a:defRPr sz="1000" b="0">
                <a:solidFill>
                  <a:srgbClr val="63778C"/>
                </a:solidFill>
                <a:latin typeface="Noto Sans CJK KR"/>
              </a:defRPr>
            </a:pPr>
            <a:r>
              <a:t>두런두런  |  제13회 유닛로드시스템(ULS) 창의성 공모전  |  탄소예산 기반 재배치 의사결정</a:t>
            </a:r>
          </a:p>
        </p:txBody>
      </p:sp>
      <p:sp>
        <p:nvSpPr>
          <p:cNvPr id="8" name="TextBox 7"/>
          <p:cNvSpPr txBox="1"/>
          <p:nvPr/>
        </p:nvSpPr>
        <p:spPr>
          <a:xfrm>
            <a:off x="777240" y="2752344"/>
            <a:ext cx="932688" cy="329184"/>
          </a:xfrm>
          <a:prstGeom prst="rect">
            <a:avLst/>
          </a:prstGeom>
          <a:noFill/>
        </p:spPr>
        <p:txBody>
          <a:bodyPr wrap="square" lIns="0" rIns="0" tIns="0" bIns="0">
            <a:spAutoFit/>
          </a:bodyPr>
          <a:lstStyle/>
          <a:p>
            <a:pPr algn="ctr">
              <a:lnSpc>
                <a:spcPct val="112000"/>
              </a:lnSpc>
              <a:spcAft>
                <a:spcPts val="200"/>
              </a:spcAft>
              <a:defRPr sz="1600" b="1">
                <a:solidFill>
                  <a:srgbClr val="63778C"/>
                </a:solidFill>
                <a:latin typeface="Noto Sans CJK KR"/>
              </a:defRPr>
            </a:pPr>
            <a:r>
              <a:t>운송안</a:t>
            </a:r>
          </a:p>
        </p:txBody>
      </p:sp>
      <p:sp>
        <p:nvSpPr>
          <p:cNvPr id="9" name="TextBox 8"/>
          <p:cNvSpPr txBox="1"/>
          <p:nvPr/>
        </p:nvSpPr>
        <p:spPr>
          <a:xfrm>
            <a:off x="1938528" y="2752344"/>
            <a:ext cx="1536192" cy="329184"/>
          </a:xfrm>
          <a:prstGeom prst="rect">
            <a:avLst/>
          </a:prstGeom>
          <a:noFill/>
        </p:spPr>
        <p:txBody>
          <a:bodyPr wrap="square" lIns="0" rIns="0" tIns="0" bIns="0">
            <a:spAutoFit/>
          </a:bodyPr>
          <a:lstStyle/>
          <a:p>
            <a:pPr algn="ctr">
              <a:lnSpc>
                <a:spcPct val="112000"/>
              </a:lnSpc>
              <a:spcAft>
                <a:spcPts val="200"/>
              </a:spcAft>
              <a:defRPr sz="1600" b="1">
                <a:solidFill>
                  <a:srgbClr val="63778C"/>
                </a:solidFill>
                <a:latin typeface="Noto Sans CJK KR"/>
              </a:defRPr>
            </a:pPr>
            <a:r>
              <a:t>비용점수</a:t>
            </a:r>
          </a:p>
        </p:txBody>
      </p:sp>
      <p:sp>
        <p:nvSpPr>
          <p:cNvPr id="10" name="TextBox 9"/>
          <p:cNvSpPr txBox="1"/>
          <p:nvPr/>
        </p:nvSpPr>
        <p:spPr>
          <a:xfrm>
            <a:off x="3639312" y="2752344"/>
            <a:ext cx="1536192" cy="329184"/>
          </a:xfrm>
          <a:prstGeom prst="rect">
            <a:avLst/>
          </a:prstGeom>
          <a:noFill/>
        </p:spPr>
        <p:txBody>
          <a:bodyPr wrap="square" lIns="0" rIns="0" tIns="0" bIns="0">
            <a:spAutoFit/>
          </a:bodyPr>
          <a:lstStyle/>
          <a:p>
            <a:pPr algn="ctr">
              <a:lnSpc>
                <a:spcPct val="112000"/>
              </a:lnSpc>
              <a:spcAft>
                <a:spcPts val="200"/>
              </a:spcAft>
              <a:defRPr sz="1600" b="1">
                <a:solidFill>
                  <a:srgbClr val="63778C"/>
                </a:solidFill>
                <a:latin typeface="Noto Sans CJK KR"/>
              </a:defRPr>
            </a:pPr>
            <a:r>
              <a:t>탄소점수</a:t>
            </a:r>
          </a:p>
        </p:txBody>
      </p:sp>
      <p:sp>
        <p:nvSpPr>
          <p:cNvPr id="11" name="TextBox 10"/>
          <p:cNvSpPr txBox="1"/>
          <p:nvPr/>
        </p:nvSpPr>
        <p:spPr>
          <a:xfrm>
            <a:off x="5330952" y="2752344"/>
            <a:ext cx="1536192" cy="329184"/>
          </a:xfrm>
          <a:prstGeom prst="rect">
            <a:avLst/>
          </a:prstGeom>
          <a:noFill/>
        </p:spPr>
        <p:txBody>
          <a:bodyPr wrap="square" lIns="0" rIns="0" tIns="0" bIns="0">
            <a:spAutoFit/>
          </a:bodyPr>
          <a:lstStyle/>
          <a:p>
            <a:pPr algn="ctr">
              <a:lnSpc>
                <a:spcPct val="112000"/>
              </a:lnSpc>
              <a:spcAft>
                <a:spcPts val="200"/>
              </a:spcAft>
              <a:defRPr sz="1600" b="1">
                <a:solidFill>
                  <a:srgbClr val="63778C"/>
                </a:solidFill>
                <a:latin typeface="Noto Sans CJK KR"/>
              </a:defRPr>
            </a:pPr>
            <a:r>
              <a:t>시간여유</a:t>
            </a:r>
          </a:p>
        </p:txBody>
      </p:sp>
      <p:sp>
        <p:nvSpPr>
          <p:cNvPr id="12" name="TextBox 11"/>
          <p:cNvSpPr txBox="1"/>
          <p:nvPr/>
        </p:nvSpPr>
        <p:spPr>
          <a:xfrm>
            <a:off x="7040880" y="2752344"/>
            <a:ext cx="1536192" cy="329184"/>
          </a:xfrm>
          <a:prstGeom prst="rect">
            <a:avLst/>
          </a:prstGeom>
          <a:noFill/>
        </p:spPr>
        <p:txBody>
          <a:bodyPr wrap="square" lIns="0" rIns="0" tIns="0" bIns="0">
            <a:spAutoFit/>
          </a:bodyPr>
          <a:lstStyle/>
          <a:p>
            <a:pPr algn="ctr">
              <a:lnSpc>
                <a:spcPct val="112000"/>
              </a:lnSpc>
              <a:spcAft>
                <a:spcPts val="200"/>
              </a:spcAft>
              <a:defRPr sz="1600" b="1">
                <a:solidFill>
                  <a:srgbClr val="63778C"/>
                </a:solidFill>
                <a:latin typeface="Noto Sans CJK KR"/>
              </a:defRPr>
            </a:pPr>
            <a:r>
              <a:t>비용 모드</a:t>
            </a:r>
          </a:p>
        </p:txBody>
      </p:sp>
      <p:sp>
        <p:nvSpPr>
          <p:cNvPr id="13" name="TextBox 12"/>
          <p:cNvSpPr txBox="1"/>
          <p:nvPr/>
        </p:nvSpPr>
        <p:spPr>
          <a:xfrm>
            <a:off x="8741664" y="2752344"/>
            <a:ext cx="1536192" cy="329184"/>
          </a:xfrm>
          <a:prstGeom prst="rect">
            <a:avLst/>
          </a:prstGeom>
          <a:noFill/>
        </p:spPr>
        <p:txBody>
          <a:bodyPr wrap="square" lIns="0" rIns="0" tIns="0" bIns="0">
            <a:spAutoFit/>
          </a:bodyPr>
          <a:lstStyle/>
          <a:p>
            <a:pPr algn="ctr">
              <a:lnSpc>
                <a:spcPct val="112000"/>
              </a:lnSpc>
              <a:spcAft>
                <a:spcPts val="200"/>
              </a:spcAft>
              <a:defRPr sz="1600" b="1">
                <a:solidFill>
                  <a:srgbClr val="63778C"/>
                </a:solidFill>
                <a:latin typeface="Noto Sans CJK KR"/>
              </a:defRPr>
            </a:pPr>
            <a:r>
              <a:t>균형 모드</a:t>
            </a:r>
          </a:p>
        </p:txBody>
      </p:sp>
      <p:sp>
        <p:nvSpPr>
          <p:cNvPr id="14" name="TextBox 13"/>
          <p:cNvSpPr txBox="1"/>
          <p:nvPr/>
        </p:nvSpPr>
        <p:spPr>
          <a:xfrm>
            <a:off x="10433304" y="2752344"/>
            <a:ext cx="1536192" cy="329184"/>
          </a:xfrm>
          <a:prstGeom prst="rect">
            <a:avLst/>
          </a:prstGeom>
          <a:noFill/>
        </p:spPr>
        <p:txBody>
          <a:bodyPr wrap="square" lIns="0" rIns="0" tIns="0" bIns="0">
            <a:spAutoFit/>
          </a:bodyPr>
          <a:lstStyle/>
          <a:p>
            <a:pPr algn="ctr">
              <a:lnSpc>
                <a:spcPct val="112000"/>
              </a:lnSpc>
              <a:spcAft>
                <a:spcPts val="200"/>
              </a:spcAft>
              <a:defRPr sz="1600" b="1">
                <a:solidFill>
                  <a:srgbClr val="63778C"/>
                </a:solidFill>
                <a:latin typeface="Noto Sans CJK KR"/>
              </a:defRPr>
            </a:pPr>
            <a:r>
              <a:t>탄소 모드</a:t>
            </a:r>
          </a:p>
        </p:txBody>
      </p:sp>
      <p:sp>
        <p:nvSpPr>
          <p:cNvPr id="15" name="TextBox 14"/>
          <p:cNvSpPr txBox="1"/>
          <p:nvPr/>
        </p:nvSpPr>
        <p:spPr>
          <a:xfrm>
            <a:off x="12124944" y="2752344"/>
            <a:ext cx="1536192" cy="329184"/>
          </a:xfrm>
          <a:prstGeom prst="rect">
            <a:avLst/>
          </a:prstGeom>
          <a:noFill/>
        </p:spPr>
        <p:txBody>
          <a:bodyPr wrap="square" lIns="0" rIns="0" tIns="0" bIns="0">
            <a:spAutoFit/>
          </a:bodyPr>
          <a:lstStyle/>
          <a:p>
            <a:pPr algn="ctr">
              <a:lnSpc>
                <a:spcPct val="112000"/>
              </a:lnSpc>
              <a:spcAft>
                <a:spcPts val="200"/>
              </a:spcAft>
              <a:defRPr sz="1600" b="1">
                <a:solidFill>
                  <a:srgbClr val="63778C"/>
                </a:solidFill>
                <a:latin typeface="Noto Sans CJK KR"/>
              </a:defRPr>
            </a:pPr>
            <a:r>
              <a:t>긴급 모드</a:t>
            </a:r>
          </a:p>
        </p:txBody>
      </p:sp>
      <p:sp>
        <p:nvSpPr>
          <p:cNvPr id="16" name="Rectangle 15"/>
          <p:cNvSpPr/>
          <p:nvPr/>
        </p:nvSpPr>
        <p:spPr>
          <a:xfrm>
            <a:off x="685800" y="3429000"/>
            <a:ext cx="13267944" cy="64922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777240" y="3575304"/>
            <a:ext cx="932688" cy="338328"/>
          </a:xfrm>
          <a:prstGeom prst="rect">
            <a:avLst/>
          </a:prstGeom>
          <a:noFill/>
        </p:spPr>
        <p:txBody>
          <a:bodyPr wrap="square" lIns="0" rIns="0" tIns="0" bIns="0">
            <a:spAutoFit/>
          </a:bodyPr>
          <a:lstStyle/>
          <a:p>
            <a:pPr algn="ctr">
              <a:lnSpc>
                <a:spcPct val="112000"/>
              </a:lnSpc>
              <a:spcAft>
                <a:spcPts val="200"/>
              </a:spcAft>
              <a:defRPr sz="2100" b="1">
                <a:solidFill>
                  <a:srgbClr val="20354D"/>
                </a:solidFill>
                <a:latin typeface="Noto Sans CJK KR"/>
              </a:defRPr>
            </a:pPr>
            <a:r>
              <a:t>A</a:t>
            </a:r>
          </a:p>
        </p:txBody>
      </p:sp>
      <p:sp>
        <p:nvSpPr>
          <p:cNvPr id="18" name="TextBox 17"/>
          <p:cNvSpPr txBox="1"/>
          <p:nvPr/>
        </p:nvSpPr>
        <p:spPr>
          <a:xfrm>
            <a:off x="1938528" y="3575304"/>
            <a:ext cx="1536192" cy="338328"/>
          </a:xfrm>
          <a:prstGeom prst="rect">
            <a:avLst/>
          </a:prstGeom>
          <a:noFill/>
        </p:spPr>
        <p:txBody>
          <a:bodyPr wrap="square" lIns="0" rIns="0" tIns="0" bIns="0">
            <a:spAutoFit/>
          </a:bodyPr>
          <a:lstStyle/>
          <a:p>
            <a:pPr algn="ctr">
              <a:lnSpc>
                <a:spcPct val="112000"/>
              </a:lnSpc>
              <a:spcAft>
                <a:spcPts val="200"/>
              </a:spcAft>
              <a:defRPr sz="2100" b="1">
                <a:solidFill>
                  <a:srgbClr val="20354D"/>
                </a:solidFill>
                <a:latin typeface="Noto Sans CJK KR"/>
              </a:defRPr>
            </a:pPr>
            <a:r>
              <a:t>1.000</a:t>
            </a:r>
          </a:p>
        </p:txBody>
      </p:sp>
      <p:sp>
        <p:nvSpPr>
          <p:cNvPr id="19" name="TextBox 18"/>
          <p:cNvSpPr txBox="1"/>
          <p:nvPr/>
        </p:nvSpPr>
        <p:spPr>
          <a:xfrm>
            <a:off x="3639312" y="3575304"/>
            <a:ext cx="1536192" cy="338328"/>
          </a:xfrm>
          <a:prstGeom prst="rect">
            <a:avLst/>
          </a:prstGeom>
          <a:noFill/>
        </p:spPr>
        <p:txBody>
          <a:bodyPr wrap="square" lIns="0" rIns="0" tIns="0" bIns="0">
            <a:spAutoFit/>
          </a:bodyPr>
          <a:lstStyle/>
          <a:p>
            <a:pPr algn="ctr">
              <a:lnSpc>
                <a:spcPct val="112000"/>
              </a:lnSpc>
              <a:spcAft>
                <a:spcPts val="200"/>
              </a:spcAft>
              <a:defRPr sz="2100" b="1">
                <a:solidFill>
                  <a:srgbClr val="20354D"/>
                </a:solidFill>
                <a:latin typeface="Noto Sans CJK KR"/>
              </a:defRPr>
            </a:pPr>
            <a:r>
              <a:t>0.000</a:t>
            </a:r>
          </a:p>
        </p:txBody>
      </p:sp>
      <p:sp>
        <p:nvSpPr>
          <p:cNvPr id="20" name="TextBox 19"/>
          <p:cNvSpPr txBox="1"/>
          <p:nvPr/>
        </p:nvSpPr>
        <p:spPr>
          <a:xfrm>
            <a:off x="5330952" y="3575304"/>
            <a:ext cx="1536192" cy="338328"/>
          </a:xfrm>
          <a:prstGeom prst="rect">
            <a:avLst/>
          </a:prstGeom>
          <a:noFill/>
        </p:spPr>
        <p:txBody>
          <a:bodyPr wrap="square" lIns="0" rIns="0" tIns="0" bIns="0">
            <a:spAutoFit/>
          </a:bodyPr>
          <a:lstStyle/>
          <a:p>
            <a:pPr algn="ctr">
              <a:lnSpc>
                <a:spcPct val="112000"/>
              </a:lnSpc>
              <a:spcAft>
                <a:spcPts val="200"/>
              </a:spcAft>
              <a:defRPr sz="2100" b="1">
                <a:solidFill>
                  <a:srgbClr val="20354D"/>
                </a:solidFill>
                <a:latin typeface="Noto Sans CJK KR"/>
              </a:defRPr>
            </a:pPr>
            <a:r>
              <a:t>0.250</a:t>
            </a:r>
          </a:p>
        </p:txBody>
      </p:sp>
      <p:sp>
        <p:nvSpPr>
          <p:cNvPr id="21" name="TextBox 20"/>
          <p:cNvSpPr txBox="1"/>
          <p:nvPr/>
        </p:nvSpPr>
        <p:spPr>
          <a:xfrm>
            <a:off x="7040880" y="3575304"/>
            <a:ext cx="1536192" cy="338328"/>
          </a:xfrm>
          <a:prstGeom prst="rect">
            <a:avLst/>
          </a:prstGeom>
          <a:noFill/>
        </p:spPr>
        <p:txBody>
          <a:bodyPr wrap="square" lIns="0" rIns="0" tIns="0" bIns="0">
            <a:spAutoFit/>
          </a:bodyPr>
          <a:lstStyle/>
          <a:p>
            <a:pPr algn="ctr">
              <a:lnSpc>
                <a:spcPct val="112000"/>
              </a:lnSpc>
              <a:spcAft>
                <a:spcPts val="200"/>
              </a:spcAft>
              <a:defRPr sz="2100" b="1">
                <a:solidFill>
                  <a:srgbClr val="20354D"/>
                </a:solidFill>
                <a:latin typeface="Noto Sans CJK KR"/>
              </a:defRPr>
            </a:pPr>
            <a:r>
              <a:t>0.75</a:t>
            </a:r>
          </a:p>
        </p:txBody>
      </p:sp>
      <p:sp>
        <p:nvSpPr>
          <p:cNvPr id="22" name="TextBox 21"/>
          <p:cNvSpPr txBox="1"/>
          <p:nvPr/>
        </p:nvSpPr>
        <p:spPr>
          <a:xfrm>
            <a:off x="8741664" y="3575304"/>
            <a:ext cx="1536192" cy="338328"/>
          </a:xfrm>
          <a:prstGeom prst="rect">
            <a:avLst/>
          </a:prstGeom>
          <a:noFill/>
        </p:spPr>
        <p:txBody>
          <a:bodyPr wrap="square" lIns="0" rIns="0" tIns="0" bIns="0">
            <a:spAutoFit/>
          </a:bodyPr>
          <a:lstStyle/>
          <a:p>
            <a:pPr algn="ctr">
              <a:lnSpc>
                <a:spcPct val="112000"/>
              </a:lnSpc>
              <a:spcAft>
                <a:spcPts val="200"/>
              </a:spcAft>
              <a:defRPr sz="2100" b="1">
                <a:solidFill>
                  <a:srgbClr val="20354D"/>
                </a:solidFill>
                <a:latin typeface="Noto Sans CJK KR"/>
              </a:defRPr>
            </a:pPr>
            <a:r>
              <a:t>0.55</a:t>
            </a:r>
          </a:p>
        </p:txBody>
      </p:sp>
      <p:sp>
        <p:nvSpPr>
          <p:cNvPr id="23" name="TextBox 22"/>
          <p:cNvSpPr txBox="1"/>
          <p:nvPr/>
        </p:nvSpPr>
        <p:spPr>
          <a:xfrm>
            <a:off x="10433304" y="3575304"/>
            <a:ext cx="1536192" cy="338328"/>
          </a:xfrm>
          <a:prstGeom prst="rect">
            <a:avLst/>
          </a:prstGeom>
          <a:noFill/>
        </p:spPr>
        <p:txBody>
          <a:bodyPr wrap="square" lIns="0" rIns="0" tIns="0" bIns="0">
            <a:spAutoFit/>
          </a:bodyPr>
          <a:lstStyle/>
          <a:p>
            <a:pPr algn="ctr">
              <a:lnSpc>
                <a:spcPct val="112000"/>
              </a:lnSpc>
              <a:spcAft>
                <a:spcPts val="200"/>
              </a:spcAft>
              <a:defRPr sz="2100" b="1">
                <a:solidFill>
                  <a:srgbClr val="20354D"/>
                </a:solidFill>
                <a:latin typeface="Noto Sans CJK KR"/>
              </a:defRPr>
            </a:pPr>
            <a:r>
              <a:t>0.25</a:t>
            </a:r>
          </a:p>
        </p:txBody>
      </p:sp>
      <p:sp>
        <p:nvSpPr>
          <p:cNvPr id="24" name="TextBox 23"/>
          <p:cNvSpPr txBox="1"/>
          <p:nvPr/>
        </p:nvSpPr>
        <p:spPr>
          <a:xfrm>
            <a:off x="12124944" y="3575304"/>
            <a:ext cx="1536192" cy="338328"/>
          </a:xfrm>
          <a:prstGeom prst="rect">
            <a:avLst/>
          </a:prstGeom>
          <a:noFill/>
        </p:spPr>
        <p:txBody>
          <a:bodyPr wrap="square" lIns="0" rIns="0" tIns="0" bIns="0">
            <a:spAutoFit/>
          </a:bodyPr>
          <a:lstStyle/>
          <a:p>
            <a:pPr algn="ctr">
              <a:lnSpc>
                <a:spcPct val="112000"/>
              </a:lnSpc>
              <a:spcAft>
                <a:spcPts val="200"/>
              </a:spcAft>
              <a:defRPr sz="2100" b="1">
                <a:solidFill>
                  <a:srgbClr val="20354D"/>
                </a:solidFill>
                <a:latin typeface="Noto Sans CJK KR"/>
              </a:defRPr>
            </a:pPr>
            <a:r>
              <a:t>0.125</a:t>
            </a:r>
          </a:p>
        </p:txBody>
      </p:sp>
      <p:sp>
        <p:nvSpPr>
          <p:cNvPr id="25" name="Rectangle 24"/>
          <p:cNvSpPr/>
          <p:nvPr/>
        </p:nvSpPr>
        <p:spPr>
          <a:xfrm>
            <a:off x="685800" y="4261104"/>
            <a:ext cx="13267944" cy="64922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777240" y="4407408"/>
            <a:ext cx="932688" cy="338328"/>
          </a:xfrm>
          <a:prstGeom prst="rect">
            <a:avLst/>
          </a:prstGeom>
          <a:noFill/>
        </p:spPr>
        <p:txBody>
          <a:bodyPr wrap="square" lIns="0" rIns="0" tIns="0" bIns="0">
            <a:spAutoFit/>
          </a:bodyPr>
          <a:lstStyle/>
          <a:p>
            <a:pPr algn="ctr">
              <a:lnSpc>
                <a:spcPct val="112000"/>
              </a:lnSpc>
              <a:spcAft>
                <a:spcPts val="200"/>
              </a:spcAft>
              <a:defRPr sz="2100" b="1">
                <a:solidFill>
                  <a:srgbClr val="20354D"/>
                </a:solidFill>
                <a:latin typeface="Noto Sans CJK KR"/>
              </a:defRPr>
            </a:pPr>
            <a:r>
              <a:t>B</a:t>
            </a:r>
          </a:p>
        </p:txBody>
      </p:sp>
      <p:sp>
        <p:nvSpPr>
          <p:cNvPr id="27" name="TextBox 26"/>
          <p:cNvSpPr txBox="1"/>
          <p:nvPr/>
        </p:nvSpPr>
        <p:spPr>
          <a:xfrm>
            <a:off x="1938528" y="4407408"/>
            <a:ext cx="1536192" cy="338328"/>
          </a:xfrm>
          <a:prstGeom prst="rect">
            <a:avLst/>
          </a:prstGeom>
          <a:noFill/>
        </p:spPr>
        <p:txBody>
          <a:bodyPr wrap="square" lIns="0" rIns="0" tIns="0" bIns="0">
            <a:spAutoFit/>
          </a:bodyPr>
          <a:lstStyle/>
          <a:p>
            <a:pPr algn="ctr">
              <a:lnSpc>
                <a:spcPct val="112000"/>
              </a:lnSpc>
              <a:spcAft>
                <a:spcPts val="200"/>
              </a:spcAft>
              <a:defRPr sz="2100" b="1">
                <a:solidFill>
                  <a:srgbClr val="20354D"/>
                </a:solidFill>
                <a:latin typeface="Noto Sans CJK KR"/>
              </a:defRPr>
            </a:pPr>
            <a:r>
              <a:t>0.750</a:t>
            </a:r>
          </a:p>
        </p:txBody>
      </p:sp>
      <p:sp>
        <p:nvSpPr>
          <p:cNvPr id="28" name="TextBox 27"/>
          <p:cNvSpPr txBox="1"/>
          <p:nvPr/>
        </p:nvSpPr>
        <p:spPr>
          <a:xfrm>
            <a:off x="3639312" y="4407408"/>
            <a:ext cx="1536192" cy="338328"/>
          </a:xfrm>
          <a:prstGeom prst="rect">
            <a:avLst/>
          </a:prstGeom>
          <a:noFill/>
        </p:spPr>
        <p:txBody>
          <a:bodyPr wrap="square" lIns="0" rIns="0" tIns="0" bIns="0">
            <a:spAutoFit/>
          </a:bodyPr>
          <a:lstStyle/>
          <a:p>
            <a:pPr algn="ctr">
              <a:lnSpc>
                <a:spcPct val="112000"/>
              </a:lnSpc>
              <a:spcAft>
                <a:spcPts val="200"/>
              </a:spcAft>
              <a:defRPr sz="2100" b="1">
                <a:solidFill>
                  <a:srgbClr val="20354D"/>
                </a:solidFill>
                <a:latin typeface="Noto Sans CJK KR"/>
              </a:defRPr>
            </a:pPr>
            <a:r>
              <a:t>0.700</a:t>
            </a:r>
          </a:p>
        </p:txBody>
      </p:sp>
      <p:sp>
        <p:nvSpPr>
          <p:cNvPr id="29" name="TextBox 28"/>
          <p:cNvSpPr txBox="1"/>
          <p:nvPr/>
        </p:nvSpPr>
        <p:spPr>
          <a:xfrm>
            <a:off x="5330952" y="4407408"/>
            <a:ext cx="1536192" cy="338328"/>
          </a:xfrm>
          <a:prstGeom prst="rect">
            <a:avLst/>
          </a:prstGeom>
          <a:noFill/>
        </p:spPr>
        <p:txBody>
          <a:bodyPr wrap="square" lIns="0" rIns="0" tIns="0" bIns="0">
            <a:spAutoFit/>
          </a:bodyPr>
          <a:lstStyle/>
          <a:p>
            <a:pPr algn="ctr">
              <a:lnSpc>
                <a:spcPct val="112000"/>
              </a:lnSpc>
              <a:spcAft>
                <a:spcPts val="200"/>
              </a:spcAft>
              <a:defRPr sz="2100" b="1">
                <a:solidFill>
                  <a:srgbClr val="20354D"/>
                </a:solidFill>
                <a:latin typeface="Noto Sans CJK KR"/>
              </a:defRPr>
            </a:pPr>
            <a:r>
              <a:t>0.500</a:t>
            </a:r>
          </a:p>
        </p:txBody>
      </p:sp>
      <p:sp>
        <p:nvSpPr>
          <p:cNvPr id="30" name="TextBox 29"/>
          <p:cNvSpPr txBox="1"/>
          <p:nvPr/>
        </p:nvSpPr>
        <p:spPr>
          <a:xfrm>
            <a:off x="7040880" y="4407408"/>
            <a:ext cx="1536192" cy="338328"/>
          </a:xfrm>
          <a:prstGeom prst="rect">
            <a:avLst/>
          </a:prstGeom>
          <a:noFill/>
        </p:spPr>
        <p:txBody>
          <a:bodyPr wrap="square" lIns="0" rIns="0" tIns="0" bIns="0">
            <a:spAutoFit/>
          </a:bodyPr>
          <a:lstStyle/>
          <a:p>
            <a:pPr algn="ctr">
              <a:lnSpc>
                <a:spcPct val="112000"/>
              </a:lnSpc>
              <a:spcAft>
                <a:spcPts val="200"/>
              </a:spcAft>
              <a:defRPr sz="2100" b="1">
                <a:solidFill>
                  <a:srgbClr val="20354D"/>
                </a:solidFill>
                <a:latin typeface="Noto Sans CJK KR"/>
              </a:defRPr>
            </a:pPr>
            <a:r>
              <a:t>0.695</a:t>
            </a:r>
          </a:p>
        </p:txBody>
      </p:sp>
      <p:sp>
        <p:nvSpPr>
          <p:cNvPr id="31" name="TextBox 30"/>
          <p:cNvSpPr txBox="1"/>
          <p:nvPr/>
        </p:nvSpPr>
        <p:spPr>
          <a:xfrm>
            <a:off x="8741664" y="4407408"/>
            <a:ext cx="1536192" cy="338328"/>
          </a:xfrm>
          <a:prstGeom prst="rect">
            <a:avLst/>
          </a:prstGeom>
          <a:noFill/>
        </p:spPr>
        <p:txBody>
          <a:bodyPr wrap="square" lIns="0" rIns="0" tIns="0" bIns="0">
            <a:spAutoFit/>
          </a:bodyPr>
          <a:lstStyle/>
          <a:p>
            <a:pPr algn="ctr">
              <a:lnSpc>
                <a:spcPct val="112000"/>
              </a:lnSpc>
              <a:spcAft>
                <a:spcPts val="200"/>
              </a:spcAft>
              <a:defRPr sz="2100" b="1">
                <a:solidFill>
                  <a:srgbClr val="20354D"/>
                </a:solidFill>
                <a:latin typeface="Noto Sans CJK KR"/>
              </a:defRPr>
            </a:pPr>
            <a:r>
              <a:t>0.685</a:t>
            </a:r>
          </a:p>
        </p:txBody>
      </p:sp>
      <p:sp>
        <p:nvSpPr>
          <p:cNvPr id="32" name="TextBox 31"/>
          <p:cNvSpPr txBox="1"/>
          <p:nvPr/>
        </p:nvSpPr>
        <p:spPr>
          <a:xfrm>
            <a:off x="10433304" y="4407408"/>
            <a:ext cx="1536192" cy="338328"/>
          </a:xfrm>
          <a:prstGeom prst="rect">
            <a:avLst/>
          </a:prstGeom>
          <a:noFill/>
        </p:spPr>
        <p:txBody>
          <a:bodyPr wrap="square" lIns="0" rIns="0" tIns="0" bIns="0">
            <a:spAutoFit/>
          </a:bodyPr>
          <a:lstStyle/>
          <a:p>
            <a:pPr algn="ctr">
              <a:lnSpc>
                <a:spcPct val="112000"/>
              </a:lnSpc>
              <a:spcAft>
                <a:spcPts val="200"/>
              </a:spcAft>
              <a:defRPr sz="2100" b="1">
                <a:solidFill>
                  <a:srgbClr val="20354D"/>
                </a:solidFill>
                <a:latin typeface="Noto Sans CJK KR"/>
              </a:defRPr>
            </a:pPr>
            <a:r>
              <a:t>0.67</a:t>
            </a:r>
          </a:p>
        </p:txBody>
      </p:sp>
      <p:sp>
        <p:nvSpPr>
          <p:cNvPr id="33" name="TextBox 32"/>
          <p:cNvSpPr txBox="1"/>
          <p:nvPr/>
        </p:nvSpPr>
        <p:spPr>
          <a:xfrm>
            <a:off x="12124944" y="4407408"/>
            <a:ext cx="1536192" cy="338328"/>
          </a:xfrm>
          <a:prstGeom prst="rect">
            <a:avLst/>
          </a:prstGeom>
          <a:noFill/>
        </p:spPr>
        <p:txBody>
          <a:bodyPr wrap="square" lIns="0" rIns="0" tIns="0" bIns="0">
            <a:spAutoFit/>
          </a:bodyPr>
          <a:lstStyle/>
          <a:p>
            <a:pPr algn="ctr">
              <a:lnSpc>
                <a:spcPct val="112000"/>
              </a:lnSpc>
              <a:spcAft>
                <a:spcPts val="200"/>
              </a:spcAft>
              <a:defRPr sz="2100" b="1">
                <a:solidFill>
                  <a:srgbClr val="20354D"/>
                </a:solidFill>
                <a:latin typeface="Noto Sans CJK KR"/>
              </a:defRPr>
            </a:pPr>
            <a:r>
              <a:t>0.685</a:t>
            </a:r>
          </a:p>
        </p:txBody>
      </p:sp>
      <p:sp>
        <p:nvSpPr>
          <p:cNvPr id="34" name="Rectangle 33"/>
          <p:cNvSpPr/>
          <p:nvPr/>
        </p:nvSpPr>
        <p:spPr>
          <a:xfrm>
            <a:off x="685800" y="5093208"/>
            <a:ext cx="13267944" cy="649224"/>
          </a:xfrm>
          <a:prstGeom prst="rect">
            <a:avLst/>
          </a:prstGeom>
          <a:solidFill>
            <a:srgbClr val="E4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777240" y="5239512"/>
            <a:ext cx="932688" cy="338328"/>
          </a:xfrm>
          <a:prstGeom prst="rect">
            <a:avLst/>
          </a:prstGeom>
          <a:noFill/>
        </p:spPr>
        <p:txBody>
          <a:bodyPr wrap="square" lIns="0" rIns="0" tIns="0" bIns="0">
            <a:spAutoFit/>
          </a:bodyPr>
          <a:lstStyle/>
          <a:p>
            <a:pPr algn="ctr">
              <a:lnSpc>
                <a:spcPct val="112000"/>
              </a:lnSpc>
              <a:spcAft>
                <a:spcPts val="200"/>
              </a:spcAft>
              <a:defRPr sz="2100" b="1">
                <a:solidFill>
                  <a:srgbClr val="00877F"/>
                </a:solidFill>
                <a:latin typeface="Noto Sans CJK KR"/>
              </a:defRPr>
            </a:pPr>
            <a:r>
              <a:t>C</a:t>
            </a:r>
          </a:p>
        </p:txBody>
      </p:sp>
      <p:sp>
        <p:nvSpPr>
          <p:cNvPr id="36" name="TextBox 35"/>
          <p:cNvSpPr txBox="1"/>
          <p:nvPr/>
        </p:nvSpPr>
        <p:spPr>
          <a:xfrm>
            <a:off x="1938528" y="5239512"/>
            <a:ext cx="1536192" cy="338328"/>
          </a:xfrm>
          <a:prstGeom prst="rect">
            <a:avLst/>
          </a:prstGeom>
          <a:noFill/>
        </p:spPr>
        <p:txBody>
          <a:bodyPr wrap="square" lIns="0" rIns="0" tIns="0" bIns="0">
            <a:spAutoFit/>
          </a:bodyPr>
          <a:lstStyle/>
          <a:p>
            <a:pPr algn="ctr">
              <a:lnSpc>
                <a:spcPct val="112000"/>
              </a:lnSpc>
              <a:spcAft>
                <a:spcPts val="200"/>
              </a:spcAft>
              <a:defRPr sz="2100" b="1">
                <a:solidFill>
                  <a:srgbClr val="00877F"/>
                </a:solidFill>
                <a:latin typeface="Noto Sans CJK KR"/>
              </a:defRPr>
            </a:pPr>
            <a:r>
              <a:t>0.000</a:t>
            </a:r>
          </a:p>
        </p:txBody>
      </p:sp>
      <p:sp>
        <p:nvSpPr>
          <p:cNvPr id="37" name="TextBox 36"/>
          <p:cNvSpPr txBox="1"/>
          <p:nvPr/>
        </p:nvSpPr>
        <p:spPr>
          <a:xfrm>
            <a:off x="3639312" y="5239512"/>
            <a:ext cx="1536192" cy="338328"/>
          </a:xfrm>
          <a:prstGeom prst="rect">
            <a:avLst/>
          </a:prstGeom>
          <a:noFill/>
        </p:spPr>
        <p:txBody>
          <a:bodyPr wrap="square" lIns="0" rIns="0" tIns="0" bIns="0">
            <a:spAutoFit/>
          </a:bodyPr>
          <a:lstStyle/>
          <a:p>
            <a:pPr algn="ctr">
              <a:lnSpc>
                <a:spcPct val="112000"/>
              </a:lnSpc>
              <a:spcAft>
                <a:spcPts val="200"/>
              </a:spcAft>
              <a:defRPr sz="2100" b="1">
                <a:solidFill>
                  <a:srgbClr val="00877F"/>
                </a:solidFill>
                <a:latin typeface="Noto Sans CJK KR"/>
              </a:defRPr>
            </a:pPr>
            <a:r>
              <a:t>1.000</a:t>
            </a:r>
          </a:p>
        </p:txBody>
      </p:sp>
      <p:sp>
        <p:nvSpPr>
          <p:cNvPr id="38" name="TextBox 37"/>
          <p:cNvSpPr txBox="1"/>
          <p:nvPr/>
        </p:nvSpPr>
        <p:spPr>
          <a:xfrm>
            <a:off x="5330952" y="5239512"/>
            <a:ext cx="1536192" cy="338328"/>
          </a:xfrm>
          <a:prstGeom prst="rect">
            <a:avLst/>
          </a:prstGeom>
          <a:noFill/>
        </p:spPr>
        <p:txBody>
          <a:bodyPr wrap="square" lIns="0" rIns="0" tIns="0" bIns="0">
            <a:spAutoFit/>
          </a:bodyPr>
          <a:lstStyle/>
          <a:p>
            <a:pPr algn="ctr">
              <a:lnSpc>
                <a:spcPct val="112000"/>
              </a:lnSpc>
              <a:spcAft>
                <a:spcPts val="200"/>
              </a:spcAft>
              <a:defRPr sz="2100" b="1">
                <a:solidFill>
                  <a:srgbClr val="00877F"/>
                </a:solidFill>
                <a:latin typeface="Noto Sans CJK KR"/>
              </a:defRPr>
            </a:pPr>
            <a:r>
              <a:t>0.625</a:t>
            </a:r>
          </a:p>
        </p:txBody>
      </p:sp>
      <p:sp>
        <p:nvSpPr>
          <p:cNvPr id="39" name="TextBox 38"/>
          <p:cNvSpPr txBox="1"/>
          <p:nvPr/>
        </p:nvSpPr>
        <p:spPr>
          <a:xfrm>
            <a:off x="7040880" y="5239512"/>
            <a:ext cx="1536192" cy="338328"/>
          </a:xfrm>
          <a:prstGeom prst="rect">
            <a:avLst/>
          </a:prstGeom>
          <a:noFill/>
        </p:spPr>
        <p:txBody>
          <a:bodyPr wrap="square" lIns="0" rIns="0" tIns="0" bIns="0">
            <a:spAutoFit/>
          </a:bodyPr>
          <a:lstStyle/>
          <a:p>
            <a:pPr algn="ctr">
              <a:lnSpc>
                <a:spcPct val="112000"/>
              </a:lnSpc>
              <a:spcAft>
                <a:spcPts val="200"/>
              </a:spcAft>
              <a:defRPr sz="2100" b="1">
                <a:solidFill>
                  <a:srgbClr val="00877F"/>
                </a:solidFill>
                <a:latin typeface="Noto Sans CJK KR"/>
              </a:defRPr>
            </a:pPr>
            <a:r>
              <a:t>0.225</a:t>
            </a:r>
          </a:p>
        </p:txBody>
      </p:sp>
      <p:sp>
        <p:nvSpPr>
          <p:cNvPr id="40" name="TextBox 39"/>
          <p:cNvSpPr txBox="1"/>
          <p:nvPr/>
        </p:nvSpPr>
        <p:spPr>
          <a:xfrm>
            <a:off x="8741664" y="5239512"/>
            <a:ext cx="1536192" cy="338328"/>
          </a:xfrm>
          <a:prstGeom prst="rect">
            <a:avLst/>
          </a:prstGeom>
          <a:noFill/>
        </p:spPr>
        <p:txBody>
          <a:bodyPr wrap="square" lIns="0" rIns="0" tIns="0" bIns="0">
            <a:spAutoFit/>
          </a:bodyPr>
          <a:lstStyle/>
          <a:p>
            <a:pPr algn="ctr">
              <a:lnSpc>
                <a:spcPct val="112000"/>
              </a:lnSpc>
              <a:spcAft>
                <a:spcPts val="200"/>
              </a:spcAft>
              <a:defRPr sz="2100" b="1">
                <a:solidFill>
                  <a:srgbClr val="00877F"/>
                </a:solidFill>
                <a:latin typeface="Noto Sans CJK KR"/>
              </a:defRPr>
            </a:pPr>
            <a:r>
              <a:t>0.425</a:t>
            </a:r>
          </a:p>
        </p:txBody>
      </p:sp>
      <p:sp>
        <p:nvSpPr>
          <p:cNvPr id="41" name="TextBox 40"/>
          <p:cNvSpPr txBox="1"/>
          <p:nvPr/>
        </p:nvSpPr>
        <p:spPr>
          <a:xfrm>
            <a:off x="10433304" y="5239512"/>
            <a:ext cx="1536192" cy="338328"/>
          </a:xfrm>
          <a:prstGeom prst="rect">
            <a:avLst/>
          </a:prstGeom>
          <a:noFill/>
        </p:spPr>
        <p:txBody>
          <a:bodyPr wrap="square" lIns="0" rIns="0" tIns="0" bIns="0">
            <a:spAutoFit/>
          </a:bodyPr>
          <a:lstStyle/>
          <a:p>
            <a:pPr algn="ctr">
              <a:lnSpc>
                <a:spcPct val="112000"/>
              </a:lnSpc>
              <a:spcAft>
                <a:spcPts val="200"/>
              </a:spcAft>
              <a:defRPr sz="2100" b="1">
                <a:solidFill>
                  <a:srgbClr val="00877F"/>
                </a:solidFill>
                <a:latin typeface="Noto Sans CJK KR"/>
              </a:defRPr>
            </a:pPr>
            <a:r>
              <a:t>0.725</a:t>
            </a:r>
          </a:p>
        </p:txBody>
      </p:sp>
      <p:sp>
        <p:nvSpPr>
          <p:cNvPr id="42" name="TextBox 41"/>
          <p:cNvSpPr txBox="1"/>
          <p:nvPr/>
        </p:nvSpPr>
        <p:spPr>
          <a:xfrm>
            <a:off x="12124944" y="5239512"/>
            <a:ext cx="1536192" cy="338328"/>
          </a:xfrm>
          <a:prstGeom prst="rect">
            <a:avLst/>
          </a:prstGeom>
          <a:noFill/>
        </p:spPr>
        <p:txBody>
          <a:bodyPr wrap="square" lIns="0" rIns="0" tIns="0" bIns="0">
            <a:spAutoFit/>
          </a:bodyPr>
          <a:lstStyle/>
          <a:p>
            <a:pPr algn="ctr">
              <a:lnSpc>
                <a:spcPct val="112000"/>
              </a:lnSpc>
              <a:spcAft>
                <a:spcPts val="200"/>
              </a:spcAft>
              <a:defRPr sz="2100" b="1">
                <a:solidFill>
                  <a:srgbClr val="00877F"/>
                </a:solidFill>
                <a:latin typeface="Noto Sans CJK KR"/>
              </a:defRPr>
            </a:pPr>
            <a:r>
              <a:t>0.8625</a:t>
            </a:r>
          </a:p>
        </p:txBody>
      </p:sp>
      <p:sp>
        <p:nvSpPr>
          <p:cNvPr id="43" name="Rectangle 42"/>
          <p:cNvSpPr/>
          <p:nvPr/>
        </p:nvSpPr>
        <p:spPr>
          <a:xfrm>
            <a:off x="694944" y="6300216"/>
            <a:ext cx="13258800" cy="896112"/>
          </a:xfrm>
          <a:prstGeom prst="rect">
            <a:avLst/>
          </a:prstGeom>
          <a:solidFill>
            <a:srgbClr val="162D4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932688" y="6519672"/>
            <a:ext cx="12801600" cy="438912"/>
          </a:xfrm>
          <a:prstGeom prst="rect">
            <a:avLst/>
          </a:prstGeom>
          <a:noFill/>
        </p:spPr>
        <p:txBody>
          <a:bodyPr wrap="square" lIns="0" rIns="0" tIns="0" bIns="0">
            <a:spAutoFit/>
          </a:bodyPr>
          <a:lstStyle/>
          <a:p>
            <a:pPr>
              <a:lnSpc>
                <a:spcPct val="112000"/>
              </a:lnSpc>
              <a:spcAft>
                <a:spcPts val="200"/>
              </a:spcAft>
              <a:defRPr sz="2400" b="1">
                <a:solidFill>
                  <a:srgbClr val="FFFFFF"/>
                </a:solidFill>
                <a:latin typeface="Noto Sans CJK KR"/>
              </a:defRPr>
            </a:pPr>
            <a:r>
              <a:t>C의 실제 배출도 200kg라면  →  Eₜ₊₁ = 8,400kg  →  다음 CUR = 84%</a:t>
            </a:r>
          </a:p>
        </p:txBody>
      </p:sp>
      <p:sp>
        <p:nvSpPr>
          <p:cNvPr id="45" name="TextBox 44"/>
          <p:cNvSpPr txBox="1"/>
          <p:nvPr/>
        </p:nvSpPr>
        <p:spPr>
          <a:xfrm>
            <a:off x="667512" y="7470648"/>
            <a:ext cx="13304520" cy="219456"/>
          </a:xfrm>
          <a:prstGeom prst="rect">
            <a:avLst/>
          </a:prstGeom>
          <a:noFill/>
        </p:spPr>
        <p:txBody>
          <a:bodyPr wrap="square" lIns="0" rIns="0" tIns="0" bIns="0">
            <a:spAutoFit/>
          </a:bodyPr>
          <a:lstStyle/>
          <a:p>
            <a:pPr>
              <a:lnSpc>
                <a:spcPct val="112000"/>
              </a:lnSpc>
              <a:spcAft>
                <a:spcPts val="200"/>
              </a:spcAft>
              <a:defRPr sz="1000" b="0">
                <a:solidFill>
                  <a:srgbClr val="63778C"/>
                </a:solidFill>
                <a:latin typeface="Noto Sans CJK KR"/>
              </a:defRPr>
            </a:pPr>
            <a:r>
              <a:t>예상 배출은 선택에 사용하고, 실제 누적 배출은 실행 실적에 따라 갱신합니다. 예상 200kg을 실측값으로 간주하지 않습니다.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594360" y="283464"/>
            <a:ext cx="10972800" cy="256032"/>
          </a:xfrm>
          <a:prstGeom prst="rect">
            <a:avLst/>
          </a:prstGeom>
          <a:noFill/>
        </p:spPr>
        <p:txBody>
          <a:bodyPr wrap="square" lIns="0" rIns="0" tIns="0" bIns="0">
            <a:spAutoFit/>
          </a:bodyPr>
          <a:lstStyle/>
          <a:p>
            <a:pPr>
              <a:lnSpc>
                <a:spcPct val="112000"/>
              </a:lnSpc>
              <a:spcAft>
                <a:spcPts val="200"/>
              </a:spcAft>
              <a:defRPr sz="1200" b="1">
                <a:solidFill>
                  <a:srgbClr val="00877F"/>
                </a:solidFill>
                <a:latin typeface="Noto Sans CJK KR"/>
              </a:defRPr>
            </a:pPr>
            <a:r>
              <a:t>CBP  /  CARBON BUDGET POOLING</a:t>
            </a:r>
          </a:p>
        </p:txBody>
      </p:sp>
      <p:sp>
        <p:nvSpPr>
          <p:cNvPr id="3" name="TextBox 2"/>
          <p:cNvSpPr txBox="1"/>
          <p:nvPr/>
        </p:nvSpPr>
        <p:spPr>
          <a:xfrm>
            <a:off x="12298680" y="283464"/>
            <a:ext cx="1737360" cy="256032"/>
          </a:xfrm>
          <a:prstGeom prst="rect">
            <a:avLst/>
          </a:prstGeom>
          <a:noFill/>
        </p:spPr>
        <p:txBody>
          <a:bodyPr wrap="square" lIns="0" rIns="0" tIns="0" bIns="0">
            <a:spAutoFit/>
          </a:bodyPr>
          <a:lstStyle/>
          <a:p>
            <a:pPr algn="r">
              <a:lnSpc>
                <a:spcPct val="112000"/>
              </a:lnSpc>
              <a:spcAft>
                <a:spcPts val="200"/>
              </a:spcAft>
              <a:defRPr sz="1200" b="1">
                <a:solidFill>
                  <a:srgbClr val="63778C"/>
                </a:solidFill>
                <a:latin typeface="Noto Sans CJK KR"/>
              </a:defRPr>
            </a:pPr>
            <a:r>
              <a:t>연구 보충 03</a:t>
            </a:r>
          </a:p>
        </p:txBody>
      </p:sp>
      <p:sp>
        <p:nvSpPr>
          <p:cNvPr id="4" name="TextBox 3"/>
          <p:cNvSpPr txBox="1"/>
          <p:nvPr/>
        </p:nvSpPr>
        <p:spPr>
          <a:xfrm>
            <a:off x="594360" y="850392"/>
            <a:ext cx="13441680" cy="1060704"/>
          </a:xfrm>
          <a:prstGeom prst="rect">
            <a:avLst/>
          </a:prstGeom>
          <a:noFill/>
        </p:spPr>
        <p:txBody>
          <a:bodyPr wrap="square" lIns="0" rIns="0" tIns="0" bIns="0">
            <a:spAutoFit/>
          </a:bodyPr>
          <a:lstStyle/>
          <a:p>
            <a:pPr>
              <a:lnSpc>
                <a:spcPct val="112000"/>
              </a:lnSpc>
              <a:spcAft>
                <a:spcPts val="200"/>
              </a:spcAft>
              <a:defRPr sz="3400" b="1">
                <a:solidFill>
                  <a:srgbClr val="20354D"/>
                </a:solidFill>
                <a:latin typeface="Noto Sans CJK KR"/>
              </a:defRPr>
            </a:pPr>
            <a:r>
              <a:t>가중치를 조금 바꾸면, 선택은 어디에서 달라질까요?</a:t>
            </a:r>
          </a:p>
        </p:txBody>
      </p:sp>
      <p:sp>
        <p:nvSpPr>
          <p:cNvPr id="5" name="TextBox 4"/>
          <p:cNvSpPr txBox="1"/>
          <p:nvPr/>
        </p:nvSpPr>
        <p:spPr>
          <a:xfrm>
            <a:off x="621792" y="1920240"/>
            <a:ext cx="13350240" cy="475488"/>
          </a:xfrm>
          <a:prstGeom prst="rect">
            <a:avLst/>
          </a:prstGeom>
          <a:noFill/>
        </p:spPr>
        <p:txBody>
          <a:bodyPr wrap="square" lIns="0" rIns="0" tIns="0" bIns="0">
            <a:spAutoFit/>
          </a:bodyPr>
          <a:lstStyle/>
          <a:p>
            <a:pPr>
              <a:lnSpc>
                <a:spcPct val="112000"/>
              </a:lnSpc>
              <a:spcAft>
                <a:spcPts val="200"/>
              </a:spcAft>
              <a:defRPr sz="1700" b="0">
                <a:solidFill>
                  <a:srgbClr val="63778C"/>
                </a:solidFill>
                <a:latin typeface="Noto Sans CJK KR"/>
              </a:defRPr>
            </a:pPr>
            <a:r>
              <a:t>동일 가상 후보에서 γ=0.2를 고정하고, 비용 α와 탄소 β=0.8−α 사이의 민감도를 확인했습니다.</a:t>
            </a:r>
          </a:p>
        </p:txBody>
      </p:sp>
      <p:cxnSp>
        <p:nvCxnSpPr>
          <p:cNvPr id="6" name="Connector 5"/>
          <p:cNvCxnSpPr/>
          <p:nvPr/>
        </p:nvCxnSpPr>
        <p:spPr>
          <a:xfrm>
            <a:off x="594360" y="7772400"/>
            <a:ext cx="13441680" cy="0"/>
          </a:xfrm>
          <a:prstGeom prst="line">
            <a:avLst/>
          </a:prstGeom>
          <a:ln w="12700">
            <a:solidFill>
              <a:srgbClr val="D5DFE9"/>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12648" y="7900416"/>
            <a:ext cx="13350240" cy="192024"/>
          </a:xfrm>
          <a:prstGeom prst="rect">
            <a:avLst/>
          </a:prstGeom>
          <a:noFill/>
        </p:spPr>
        <p:txBody>
          <a:bodyPr wrap="square" lIns="0" rIns="0" tIns="0" bIns="0">
            <a:spAutoFit/>
          </a:bodyPr>
          <a:lstStyle/>
          <a:p>
            <a:pPr>
              <a:lnSpc>
                <a:spcPct val="112000"/>
              </a:lnSpc>
              <a:spcAft>
                <a:spcPts val="200"/>
              </a:spcAft>
              <a:defRPr sz="1000" b="0">
                <a:solidFill>
                  <a:srgbClr val="63778C"/>
                </a:solidFill>
                <a:latin typeface="Noto Sans CJK KR"/>
              </a:defRPr>
            </a:pPr>
            <a:r>
              <a:t>두런두런  |  제13회 유닛로드시스템(ULS) 창의성 공모전  |  탄소예산 기반 재배치 의사결정</a:t>
            </a:r>
          </a:p>
        </p:txBody>
      </p:sp>
      <p:pic>
        <p:nvPicPr>
          <p:cNvPr id="8" name="Picture 7" descr="weight_sensitivity.png"/>
          <p:cNvPicPr>
            <a:picLocks noChangeAspect="1"/>
          </p:cNvPicPr>
          <p:nvPr/>
        </p:nvPicPr>
        <p:blipFill>
          <a:blip r:embed="rId2"/>
          <a:stretch>
            <a:fillRect/>
          </a:stretch>
        </p:blipFill>
        <p:spPr>
          <a:xfrm>
            <a:off x="731520" y="2715768"/>
            <a:ext cx="9235440" cy="4315968"/>
          </a:xfrm>
          <a:prstGeom prst="rect">
            <a:avLst/>
          </a:prstGeom>
        </p:spPr>
      </p:pic>
      <p:sp>
        <p:nvSpPr>
          <p:cNvPr id="9" name="Rectangle 8"/>
          <p:cNvSpPr/>
          <p:nvPr/>
        </p:nvSpPr>
        <p:spPr>
          <a:xfrm>
            <a:off x="10259568" y="2761488"/>
            <a:ext cx="3685032" cy="4251960"/>
          </a:xfrm>
          <a:prstGeom prst="rect">
            <a:avLst/>
          </a:prstGeom>
          <a:solidFill>
            <a:srgbClr val="FFFFFF"/>
          </a:solidFill>
          <a:ln w="12700">
            <a:solidFill>
              <a:srgbClr val="D5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10497312" y="3035808"/>
            <a:ext cx="3209544" cy="347472"/>
          </a:xfrm>
          <a:prstGeom prst="rect">
            <a:avLst/>
          </a:prstGeom>
          <a:noFill/>
        </p:spPr>
        <p:txBody>
          <a:bodyPr wrap="square" lIns="0" rIns="0" tIns="0" bIns="0">
            <a:spAutoFit/>
          </a:bodyPr>
          <a:lstStyle/>
          <a:p>
            <a:pPr>
              <a:lnSpc>
                <a:spcPct val="112000"/>
              </a:lnSpc>
              <a:spcAft>
                <a:spcPts val="200"/>
              </a:spcAft>
              <a:defRPr sz="2300" b="1">
                <a:solidFill>
                  <a:srgbClr val="20354D"/>
                </a:solidFill>
                <a:latin typeface="Noto Sans CJK KR"/>
              </a:defRPr>
            </a:pPr>
            <a:r>
              <a:t>선택 경계</a:t>
            </a:r>
          </a:p>
        </p:txBody>
      </p:sp>
      <p:sp>
        <p:nvSpPr>
          <p:cNvPr id="11" name="TextBox 10"/>
          <p:cNvSpPr txBox="1"/>
          <p:nvPr/>
        </p:nvSpPr>
        <p:spPr>
          <a:xfrm>
            <a:off x="10506456" y="3721608"/>
            <a:ext cx="3200400" cy="292608"/>
          </a:xfrm>
          <a:prstGeom prst="rect">
            <a:avLst/>
          </a:prstGeom>
          <a:noFill/>
        </p:spPr>
        <p:txBody>
          <a:bodyPr wrap="square" lIns="0" rIns="0" tIns="0" bIns="0">
            <a:spAutoFit/>
          </a:bodyPr>
          <a:lstStyle/>
          <a:p>
            <a:pPr>
              <a:lnSpc>
                <a:spcPct val="112000"/>
              </a:lnSpc>
              <a:spcAft>
                <a:spcPts val="200"/>
              </a:spcAft>
              <a:defRPr sz="1500" b="0">
                <a:solidFill>
                  <a:srgbClr val="63778C"/>
                </a:solidFill>
                <a:latin typeface="Noto Sans CJK KR"/>
              </a:defRPr>
            </a:pPr>
            <a:r>
              <a:t>α &lt; 0.2524</a:t>
            </a:r>
          </a:p>
        </p:txBody>
      </p:sp>
      <p:sp>
        <p:nvSpPr>
          <p:cNvPr id="12" name="TextBox 11"/>
          <p:cNvSpPr txBox="1"/>
          <p:nvPr/>
        </p:nvSpPr>
        <p:spPr>
          <a:xfrm>
            <a:off x="10506456" y="4087368"/>
            <a:ext cx="3200400" cy="356616"/>
          </a:xfrm>
          <a:prstGeom prst="rect">
            <a:avLst/>
          </a:prstGeom>
          <a:noFill/>
        </p:spPr>
        <p:txBody>
          <a:bodyPr wrap="square" lIns="0" rIns="0" tIns="0" bIns="0">
            <a:spAutoFit/>
          </a:bodyPr>
          <a:lstStyle/>
          <a:p>
            <a:pPr>
              <a:lnSpc>
                <a:spcPct val="112000"/>
              </a:lnSpc>
              <a:spcAft>
                <a:spcPts val="200"/>
              </a:spcAft>
              <a:defRPr sz="2200" b="1">
                <a:solidFill>
                  <a:srgbClr val="00877F"/>
                </a:solidFill>
                <a:latin typeface="Noto Sans CJK KR"/>
              </a:defRPr>
            </a:pPr>
            <a:r>
              <a:t>C가 우선</a:t>
            </a:r>
          </a:p>
        </p:txBody>
      </p:sp>
      <p:sp>
        <p:nvSpPr>
          <p:cNvPr id="13" name="TextBox 12"/>
          <p:cNvSpPr txBox="1"/>
          <p:nvPr/>
        </p:nvSpPr>
        <p:spPr>
          <a:xfrm>
            <a:off x="10506456" y="4636008"/>
            <a:ext cx="3200400" cy="292608"/>
          </a:xfrm>
          <a:prstGeom prst="rect">
            <a:avLst/>
          </a:prstGeom>
          <a:noFill/>
        </p:spPr>
        <p:txBody>
          <a:bodyPr wrap="square" lIns="0" rIns="0" tIns="0" bIns="0">
            <a:spAutoFit/>
          </a:bodyPr>
          <a:lstStyle/>
          <a:p>
            <a:pPr>
              <a:lnSpc>
                <a:spcPct val="112000"/>
              </a:lnSpc>
              <a:spcAft>
                <a:spcPts val="200"/>
              </a:spcAft>
              <a:defRPr sz="1500" b="0">
                <a:solidFill>
                  <a:srgbClr val="63778C"/>
                </a:solidFill>
                <a:latin typeface="Noto Sans CJK KR"/>
              </a:defRPr>
            </a:pPr>
            <a:r>
              <a:t>0.2524 &lt; α &lt; 0.6421</a:t>
            </a:r>
          </a:p>
        </p:txBody>
      </p:sp>
      <p:sp>
        <p:nvSpPr>
          <p:cNvPr id="14" name="TextBox 13"/>
          <p:cNvSpPr txBox="1"/>
          <p:nvPr/>
        </p:nvSpPr>
        <p:spPr>
          <a:xfrm>
            <a:off x="10506456" y="5001768"/>
            <a:ext cx="3200400" cy="356616"/>
          </a:xfrm>
          <a:prstGeom prst="rect">
            <a:avLst/>
          </a:prstGeom>
          <a:noFill/>
        </p:spPr>
        <p:txBody>
          <a:bodyPr wrap="square" lIns="0" rIns="0" tIns="0" bIns="0">
            <a:spAutoFit/>
          </a:bodyPr>
          <a:lstStyle/>
          <a:p>
            <a:pPr>
              <a:lnSpc>
                <a:spcPct val="112000"/>
              </a:lnSpc>
              <a:spcAft>
                <a:spcPts val="200"/>
              </a:spcAft>
              <a:defRPr sz="2200" b="1">
                <a:solidFill>
                  <a:srgbClr val="00877F"/>
                </a:solidFill>
                <a:latin typeface="Noto Sans CJK KR"/>
              </a:defRPr>
            </a:pPr>
            <a:r>
              <a:t>B가 우선</a:t>
            </a:r>
          </a:p>
        </p:txBody>
      </p:sp>
      <p:sp>
        <p:nvSpPr>
          <p:cNvPr id="15" name="TextBox 14"/>
          <p:cNvSpPr txBox="1"/>
          <p:nvPr/>
        </p:nvSpPr>
        <p:spPr>
          <a:xfrm>
            <a:off x="10506456" y="5559552"/>
            <a:ext cx="3200400" cy="292608"/>
          </a:xfrm>
          <a:prstGeom prst="rect">
            <a:avLst/>
          </a:prstGeom>
          <a:noFill/>
        </p:spPr>
        <p:txBody>
          <a:bodyPr wrap="square" lIns="0" rIns="0" tIns="0" bIns="0">
            <a:spAutoFit/>
          </a:bodyPr>
          <a:lstStyle/>
          <a:p>
            <a:pPr>
              <a:lnSpc>
                <a:spcPct val="112000"/>
              </a:lnSpc>
              <a:spcAft>
                <a:spcPts val="200"/>
              </a:spcAft>
              <a:defRPr sz="1500" b="0">
                <a:solidFill>
                  <a:srgbClr val="63778C"/>
                </a:solidFill>
                <a:latin typeface="Noto Sans CJK KR"/>
              </a:defRPr>
            </a:pPr>
            <a:r>
              <a:t>α &gt; 0.6421</a:t>
            </a:r>
          </a:p>
        </p:txBody>
      </p:sp>
      <p:sp>
        <p:nvSpPr>
          <p:cNvPr id="16" name="TextBox 15"/>
          <p:cNvSpPr txBox="1"/>
          <p:nvPr/>
        </p:nvSpPr>
        <p:spPr>
          <a:xfrm>
            <a:off x="10506456" y="5925312"/>
            <a:ext cx="3200400" cy="356616"/>
          </a:xfrm>
          <a:prstGeom prst="rect">
            <a:avLst/>
          </a:prstGeom>
          <a:noFill/>
        </p:spPr>
        <p:txBody>
          <a:bodyPr wrap="square" lIns="0" rIns="0" tIns="0" bIns="0">
            <a:spAutoFit/>
          </a:bodyPr>
          <a:lstStyle/>
          <a:p>
            <a:pPr>
              <a:lnSpc>
                <a:spcPct val="112000"/>
              </a:lnSpc>
              <a:spcAft>
                <a:spcPts val="200"/>
              </a:spcAft>
              <a:defRPr sz="2200" b="1">
                <a:solidFill>
                  <a:srgbClr val="00877F"/>
                </a:solidFill>
                <a:latin typeface="Noto Sans CJK KR"/>
              </a:defRPr>
            </a:pPr>
            <a:r>
              <a:t>A가 우선</a:t>
            </a:r>
          </a:p>
        </p:txBody>
      </p:sp>
      <p:sp>
        <p:nvSpPr>
          <p:cNvPr id="17" name="TextBox 16"/>
          <p:cNvSpPr txBox="1"/>
          <p:nvPr/>
        </p:nvSpPr>
        <p:spPr>
          <a:xfrm>
            <a:off x="667512" y="7470648"/>
            <a:ext cx="13304520" cy="219456"/>
          </a:xfrm>
          <a:prstGeom prst="rect">
            <a:avLst/>
          </a:prstGeom>
          <a:noFill/>
        </p:spPr>
        <p:txBody>
          <a:bodyPr wrap="square" lIns="0" rIns="0" tIns="0" bIns="0">
            <a:spAutoFit/>
          </a:bodyPr>
          <a:lstStyle/>
          <a:p>
            <a:pPr>
              <a:lnSpc>
                <a:spcPct val="112000"/>
              </a:lnSpc>
              <a:spcAft>
                <a:spcPts val="200"/>
              </a:spcAft>
              <a:defRPr sz="1000" b="0">
                <a:solidFill>
                  <a:srgbClr val="63778C"/>
                </a:solidFill>
                <a:latin typeface="Noto Sans CJK KR"/>
              </a:defRPr>
            </a:pPr>
            <a:r>
              <a:t>경계에서 두 후보가 동점. 이 그림은 가중치가 선택에 미치는 영향을 보여 주며 최적 가중치를 입증하지 않습니다. γ=0.1인 긴급 모드는 제외.</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594360" y="283464"/>
            <a:ext cx="10972800" cy="256032"/>
          </a:xfrm>
          <a:prstGeom prst="rect">
            <a:avLst/>
          </a:prstGeom>
          <a:noFill/>
        </p:spPr>
        <p:txBody>
          <a:bodyPr wrap="square" lIns="0" rIns="0" tIns="0" bIns="0">
            <a:spAutoFit/>
          </a:bodyPr>
          <a:lstStyle/>
          <a:p>
            <a:pPr>
              <a:lnSpc>
                <a:spcPct val="112000"/>
              </a:lnSpc>
              <a:spcAft>
                <a:spcPts val="200"/>
              </a:spcAft>
              <a:defRPr sz="1200" b="1">
                <a:solidFill>
                  <a:srgbClr val="00877F"/>
                </a:solidFill>
                <a:latin typeface="Noto Sans CJK KR"/>
              </a:defRPr>
            </a:pPr>
            <a:r>
              <a:t>CBP  /  CARBON BUDGET POOLING</a:t>
            </a:r>
          </a:p>
        </p:txBody>
      </p:sp>
      <p:sp>
        <p:nvSpPr>
          <p:cNvPr id="3" name="TextBox 2"/>
          <p:cNvSpPr txBox="1"/>
          <p:nvPr/>
        </p:nvSpPr>
        <p:spPr>
          <a:xfrm>
            <a:off x="12298680" y="283464"/>
            <a:ext cx="1737360" cy="256032"/>
          </a:xfrm>
          <a:prstGeom prst="rect">
            <a:avLst/>
          </a:prstGeom>
          <a:noFill/>
        </p:spPr>
        <p:txBody>
          <a:bodyPr wrap="square" lIns="0" rIns="0" tIns="0" bIns="0">
            <a:spAutoFit/>
          </a:bodyPr>
          <a:lstStyle/>
          <a:p>
            <a:pPr algn="r">
              <a:lnSpc>
                <a:spcPct val="112000"/>
              </a:lnSpc>
              <a:spcAft>
                <a:spcPts val="200"/>
              </a:spcAft>
              <a:defRPr sz="1200" b="1">
                <a:solidFill>
                  <a:srgbClr val="63778C"/>
                </a:solidFill>
                <a:latin typeface="Noto Sans CJK KR"/>
              </a:defRPr>
            </a:pPr>
            <a:r>
              <a:t>연구 보충 04</a:t>
            </a:r>
          </a:p>
        </p:txBody>
      </p:sp>
      <p:sp>
        <p:nvSpPr>
          <p:cNvPr id="4" name="TextBox 3"/>
          <p:cNvSpPr txBox="1"/>
          <p:nvPr/>
        </p:nvSpPr>
        <p:spPr>
          <a:xfrm>
            <a:off x="594360" y="850392"/>
            <a:ext cx="13441680" cy="1060704"/>
          </a:xfrm>
          <a:prstGeom prst="rect">
            <a:avLst/>
          </a:prstGeom>
          <a:noFill/>
        </p:spPr>
        <p:txBody>
          <a:bodyPr wrap="square" lIns="0" rIns="0" tIns="0" bIns="0">
            <a:spAutoFit/>
          </a:bodyPr>
          <a:lstStyle/>
          <a:p>
            <a:pPr>
              <a:lnSpc>
                <a:spcPct val="112000"/>
              </a:lnSpc>
              <a:spcAft>
                <a:spcPts val="200"/>
              </a:spcAft>
              <a:defRPr sz="3400" b="1">
                <a:solidFill>
                  <a:srgbClr val="20354D"/>
                </a:solidFill>
                <a:latin typeface="Noto Sans CJK KR"/>
              </a:defRPr>
            </a:pPr>
            <a:r>
              <a:t>현장 적용에서 지켜야 할 세 가지 경계</a:t>
            </a:r>
          </a:p>
        </p:txBody>
      </p:sp>
      <p:sp>
        <p:nvSpPr>
          <p:cNvPr id="5" name="TextBox 4"/>
          <p:cNvSpPr txBox="1"/>
          <p:nvPr/>
        </p:nvSpPr>
        <p:spPr>
          <a:xfrm>
            <a:off x="621792" y="1920240"/>
            <a:ext cx="13350240" cy="475488"/>
          </a:xfrm>
          <a:prstGeom prst="rect">
            <a:avLst/>
          </a:prstGeom>
          <a:noFill/>
        </p:spPr>
        <p:txBody>
          <a:bodyPr wrap="square" lIns="0" rIns="0" tIns="0" bIns="0">
            <a:spAutoFit/>
          </a:bodyPr>
          <a:lstStyle/>
          <a:p>
            <a:pPr>
              <a:lnSpc>
                <a:spcPct val="112000"/>
              </a:lnSpc>
              <a:spcAft>
                <a:spcPts val="200"/>
              </a:spcAft>
              <a:defRPr sz="1700" b="0">
                <a:solidFill>
                  <a:srgbClr val="63778C"/>
                </a:solidFill>
                <a:latin typeface="Noto Sans CJK KR"/>
              </a:defRPr>
            </a:pPr>
            <a:r>
              <a:t>탄소예산을 지키려다가 공급을 자동 중단하거나, 모형의 추천을 곧바로 실행하지 않습니다.</a:t>
            </a:r>
          </a:p>
        </p:txBody>
      </p:sp>
      <p:cxnSp>
        <p:nvCxnSpPr>
          <p:cNvPr id="6" name="Connector 5"/>
          <p:cNvCxnSpPr/>
          <p:nvPr/>
        </p:nvCxnSpPr>
        <p:spPr>
          <a:xfrm>
            <a:off x="594360" y="7772400"/>
            <a:ext cx="13441680" cy="0"/>
          </a:xfrm>
          <a:prstGeom prst="line">
            <a:avLst/>
          </a:prstGeom>
          <a:ln w="12700">
            <a:solidFill>
              <a:srgbClr val="D5DFE9"/>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12648" y="7900416"/>
            <a:ext cx="13350240" cy="192024"/>
          </a:xfrm>
          <a:prstGeom prst="rect">
            <a:avLst/>
          </a:prstGeom>
          <a:noFill/>
        </p:spPr>
        <p:txBody>
          <a:bodyPr wrap="square" lIns="0" rIns="0" tIns="0" bIns="0">
            <a:spAutoFit/>
          </a:bodyPr>
          <a:lstStyle/>
          <a:p>
            <a:pPr>
              <a:lnSpc>
                <a:spcPct val="112000"/>
              </a:lnSpc>
              <a:spcAft>
                <a:spcPts val="200"/>
              </a:spcAft>
              <a:defRPr sz="1000" b="0">
                <a:solidFill>
                  <a:srgbClr val="63778C"/>
                </a:solidFill>
                <a:latin typeface="Noto Sans CJK KR"/>
              </a:defRPr>
            </a:pPr>
            <a:r>
              <a:t>두런두런  |  제13회 유닛로드시스템(ULS) 창의성 공모전  |  탄소예산 기반 재배치 의사결정</a:t>
            </a:r>
          </a:p>
        </p:txBody>
      </p:sp>
      <p:sp>
        <p:nvSpPr>
          <p:cNvPr id="8" name="Oval 7"/>
          <p:cNvSpPr/>
          <p:nvPr/>
        </p:nvSpPr>
        <p:spPr>
          <a:xfrm>
            <a:off x="740664" y="2798064"/>
            <a:ext cx="484632" cy="484632"/>
          </a:xfrm>
          <a:prstGeom prst="ellipse">
            <a:avLst/>
          </a:prstGeom>
          <a:solidFill>
            <a:srgbClr val="00877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40664" y="2880360"/>
            <a:ext cx="484632" cy="274320"/>
          </a:xfrm>
          <a:prstGeom prst="rect">
            <a:avLst/>
          </a:prstGeom>
          <a:noFill/>
        </p:spPr>
        <p:txBody>
          <a:bodyPr wrap="square" lIns="0" rIns="0" tIns="0" bIns="0">
            <a:spAutoFit/>
          </a:bodyPr>
          <a:lstStyle/>
          <a:p>
            <a:pPr algn="ctr">
              <a:lnSpc>
                <a:spcPct val="112000"/>
              </a:lnSpc>
              <a:spcAft>
                <a:spcPts val="200"/>
              </a:spcAft>
              <a:defRPr sz="1500" b="1">
                <a:solidFill>
                  <a:srgbClr val="FFFFFF"/>
                </a:solidFill>
                <a:latin typeface="Noto Sans CJK KR"/>
              </a:defRPr>
            </a:pPr>
            <a:r>
              <a:t>01</a:t>
            </a:r>
          </a:p>
        </p:txBody>
      </p:sp>
      <p:sp>
        <p:nvSpPr>
          <p:cNvPr id="10" name="TextBox 9"/>
          <p:cNvSpPr txBox="1"/>
          <p:nvPr/>
        </p:nvSpPr>
        <p:spPr>
          <a:xfrm>
            <a:off x="1517904" y="2743200"/>
            <a:ext cx="12070080" cy="384048"/>
          </a:xfrm>
          <a:prstGeom prst="rect">
            <a:avLst/>
          </a:prstGeom>
          <a:noFill/>
        </p:spPr>
        <p:txBody>
          <a:bodyPr wrap="square" lIns="0" rIns="0" tIns="0" bIns="0">
            <a:spAutoFit/>
          </a:bodyPr>
          <a:lstStyle/>
          <a:p>
            <a:pPr>
              <a:lnSpc>
                <a:spcPct val="112000"/>
              </a:lnSpc>
              <a:spcAft>
                <a:spcPts val="200"/>
              </a:spcAft>
              <a:defRPr sz="2500" b="1">
                <a:solidFill>
                  <a:srgbClr val="20354D"/>
                </a:solidFill>
                <a:latin typeface="Noto Sans CJK KR"/>
              </a:defRPr>
            </a:pPr>
            <a:r>
              <a:t>실행 가능한 후보가 없다면</a:t>
            </a:r>
          </a:p>
        </p:txBody>
      </p:sp>
      <p:sp>
        <p:nvSpPr>
          <p:cNvPr id="11" name="TextBox 10"/>
          <p:cNvSpPr txBox="1"/>
          <p:nvPr/>
        </p:nvSpPr>
        <p:spPr>
          <a:xfrm>
            <a:off x="1545336" y="3337560"/>
            <a:ext cx="12070080" cy="704088"/>
          </a:xfrm>
          <a:prstGeom prst="rect">
            <a:avLst/>
          </a:prstGeom>
          <a:noFill/>
        </p:spPr>
        <p:txBody>
          <a:bodyPr wrap="square" lIns="0" rIns="0" tIns="0" bIns="0">
            <a:spAutoFit/>
          </a:bodyPr>
          <a:lstStyle/>
          <a:p>
            <a:pPr>
              <a:lnSpc>
                <a:spcPct val="112000"/>
              </a:lnSpc>
              <a:spcAft>
                <a:spcPts val="200"/>
              </a:spcAft>
              <a:defRPr sz="1900" b="0">
                <a:solidFill>
                  <a:srgbClr val="63778C"/>
                </a:solidFill>
                <a:latin typeface="Noto Sans CJK KR"/>
              </a:defRPr>
            </a:pPr>
            <a:r>
              <a:t>수량·기한·적재·예산을 모두 만족하는 안이 없음을 알리고,</a:t>
            </a:r>
          </a:p>
          <a:p>
            <a:pPr>
              <a:lnSpc>
                <a:spcPct val="112000"/>
              </a:lnSpc>
              <a:spcAft>
                <a:spcPts val="200"/>
              </a:spcAft>
              <a:defRPr sz="1900" b="0">
                <a:solidFill>
                  <a:srgbClr val="63778C"/>
                </a:solidFill>
                <a:latin typeface="Noto Sans CJK KR"/>
              </a:defRPr>
            </a:pPr>
            <a:r>
              <a:t>담당자가 대체 조달·기한 협의·예산 예외 승인 여부를 결정합니다.</a:t>
            </a:r>
          </a:p>
        </p:txBody>
      </p:sp>
      <p:sp>
        <p:nvSpPr>
          <p:cNvPr id="12" name="Oval 11"/>
          <p:cNvSpPr/>
          <p:nvPr/>
        </p:nvSpPr>
        <p:spPr>
          <a:xfrm>
            <a:off x="740664" y="4261103"/>
            <a:ext cx="484632" cy="484632"/>
          </a:xfrm>
          <a:prstGeom prst="ellipse">
            <a:avLst/>
          </a:prstGeom>
          <a:solidFill>
            <a:srgbClr val="00877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40664" y="4343400"/>
            <a:ext cx="484632" cy="274320"/>
          </a:xfrm>
          <a:prstGeom prst="rect">
            <a:avLst/>
          </a:prstGeom>
          <a:noFill/>
        </p:spPr>
        <p:txBody>
          <a:bodyPr wrap="square" lIns="0" rIns="0" tIns="0" bIns="0">
            <a:spAutoFit/>
          </a:bodyPr>
          <a:lstStyle/>
          <a:p>
            <a:pPr algn="ctr">
              <a:lnSpc>
                <a:spcPct val="112000"/>
              </a:lnSpc>
              <a:spcAft>
                <a:spcPts val="200"/>
              </a:spcAft>
              <a:defRPr sz="1500" b="1">
                <a:solidFill>
                  <a:srgbClr val="FFFFFF"/>
                </a:solidFill>
                <a:latin typeface="Noto Sans CJK KR"/>
              </a:defRPr>
            </a:pPr>
            <a:r>
              <a:t>02</a:t>
            </a:r>
          </a:p>
        </p:txBody>
      </p:sp>
      <p:sp>
        <p:nvSpPr>
          <p:cNvPr id="14" name="TextBox 13"/>
          <p:cNvSpPr txBox="1"/>
          <p:nvPr/>
        </p:nvSpPr>
        <p:spPr>
          <a:xfrm>
            <a:off x="1517904" y="4206240"/>
            <a:ext cx="12070080" cy="384048"/>
          </a:xfrm>
          <a:prstGeom prst="rect">
            <a:avLst/>
          </a:prstGeom>
          <a:noFill/>
        </p:spPr>
        <p:txBody>
          <a:bodyPr wrap="square" lIns="0" rIns="0" tIns="0" bIns="0">
            <a:spAutoFit/>
          </a:bodyPr>
          <a:lstStyle/>
          <a:p>
            <a:pPr>
              <a:lnSpc>
                <a:spcPct val="112000"/>
              </a:lnSpc>
              <a:spcAft>
                <a:spcPts val="200"/>
              </a:spcAft>
              <a:defRPr sz="2500" b="1">
                <a:solidFill>
                  <a:srgbClr val="20354D"/>
                </a:solidFill>
                <a:latin typeface="Noto Sans CJK KR"/>
              </a:defRPr>
            </a:pPr>
            <a:r>
              <a:t>예상 배출과 실제 배출이 다르면</a:t>
            </a:r>
          </a:p>
        </p:txBody>
      </p:sp>
      <p:sp>
        <p:nvSpPr>
          <p:cNvPr id="15" name="TextBox 14"/>
          <p:cNvSpPr txBox="1"/>
          <p:nvPr/>
        </p:nvSpPr>
        <p:spPr>
          <a:xfrm>
            <a:off x="1545336" y="4800600"/>
            <a:ext cx="12070080" cy="704088"/>
          </a:xfrm>
          <a:prstGeom prst="rect">
            <a:avLst/>
          </a:prstGeom>
          <a:noFill/>
        </p:spPr>
        <p:txBody>
          <a:bodyPr wrap="square" lIns="0" rIns="0" tIns="0" bIns="0">
            <a:spAutoFit/>
          </a:bodyPr>
          <a:lstStyle/>
          <a:p>
            <a:pPr>
              <a:lnSpc>
                <a:spcPct val="112000"/>
              </a:lnSpc>
              <a:spcAft>
                <a:spcPts val="200"/>
              </a:spcAft>
              <a:defRPr sz="1900" b="0">
                <a:solidFill>
                  <a:srgbClr val="63778C"/>
                </a:solidFill>
                <a:latin typeface="Noto Sans CJK KR"/>
              </a:defRPr>
            </a:pPr>
            <a:r>
              <a:t>실적을 갱신하고 다음 선택을 다시 계산합니다. 예산 준수는 보장되지 않습니다.</a:t>
            </a:r>
          </a:p>
          <a:p>
            <a:pPr>
              <a:lnSpc>
                <a:spcPct val="112000"/>
              </a:lnSpc>
              <a:spcAft>
                <a:spcPts val="200"/>
              </a:spcAft>
              <a:defRPr sz="1900" b="0">
                <a:solidFill>
                  <a:srgbClr val="63778C"/>
                </a:solidFill>
                <a:latin typeface="Noto Sans CJK KR"/>
              </a:defRPr>
            </a:pPr>
            <a:r>
              <a:t>실증에서 배출 추정 오차와 예산 초과를 함께 측정합니다.</a:t>
            </a:r>
          </a:p>
        </p:txBody>
      </p:sp>
      <p:sp>
        <p:nvSpPr>
          <p:cNvPr id="16" name="Oval 15"/>
          <p:cNvSpPr/>
          <p:nvPr/>
        </p:nvSpPr>
        <p:spPr>
          <a:xfrm>
            <a:off x="740664" y="5724144"/>
            <a:ext cx="484632" cy="484632"/>
          </a:xfrm>
          <a:prstGeom prst="ellipse">
            <a:avLst/>
          </a:prstGeom>
          <a:solidFill>
            <a:srgbClr val="00877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740664" y="5806440"/>
            <a:ext cx="484632" cy="274320"/>
          </a:xfrm>
          <a:prstGeom prst="rect">
            <a:avLst/>
          </a:prstGeom>
          <a:noFill/>
        </p:spPr>
        <p:txBody>
          <a:bodyPr wrap="square" lIns="0" rIns="0" tIns="0" bIns="0">
            <a:spAutoFit/>
          </a:bodyPr>
          <a:lstStyle/>
          <a:p>
            <a:pPr algn="ctr">
              <a:lnSpc>
                <a:spcPct val="112000"/>
              </a:lnSpc>
              <a:spcAft>
                <a:spcPts val="200"/>
              </a:spcAft>
              <a:defRPr sz="1500" b="1">
                <a:solidFill>
                  <a:srgbClr val="FFFFFF"/>
                </a:solidFill>
                <a:latin typeface="Noto Sans CJK KR"/>
              </a:defRPr>
            </a:pPr>
            <a:r>
              <a:t>03</a:t>
            </a:r>
          </a:p>
        </p:txBody>
      </p:sp>
      <p:sp>
        <p:nvSpPr>
          <p:cNvPr id="18" name="TextBox 17"/>
          <p:cNvSpPr txBox="1"/>
          <p:nvPr/>
        </p:nvSpPr>
        <p:spPr>
          <a:xfrm>
            <a:off x="1517904" y="5669280"/>
            <a:ext cx="12070080" cy="384048"/>
          </a:xfrm>
          <a:prstGeom prst="rect">
            <a:avLst/>
          </a:prstGeom>
          <a:noFill/>
        </p:spPr>
        <p:txBody>
          <a:bodyPr wrap="square" lIns="0" rIns="0" tIns="0" bIns="0">
            <a:spAutoFit/>
          </a:bodyPr>
          <a:lstStyle/>
          <a:p>
            <a:pPr>
              <a:lnSpc>
                <a:spcPct val="112000"/>
              </a:lnSpc>
              <a:spcAft>
                <a:spcPts val="200"/>
              </a:spcAft>
              <a:defRPr sz="2500" b="1">
                <a:solidFill>
                  <a:srgbClr val="20354D"/>
                </a:solidFill>
                <a:latin typeface="Noto Sans CJK KR"/>
              </a:defRPr>
            </a:pPr>
            <a:r>
              <a:t>월초 50%와 월말 50%는 다르므로</a:t>
            </a:r>
          </a:p>
        </p:txBody>
      </p:sp>
      <p:sp>
        <p:nvSpPr>
          <p:cNvPr id="19" name="TextBox 18"/>
          <p:cNvSpPr txBox="1"/>
          <p:nvPr/>
        </p:nvSpPr>
        <p:spPr>
          <a:xfrm>
            <a:off x="1545336" y="6263640"/>
            <a:ext cx="12070080" cy="704088"/>
          </a:xfrm>
          <a:prstGeom prst="rect">
            <a:avLst/>
          </a:prstGeom>
          <a:noFill/>
        </p:spPr>
        <p:txBody>
          <a:bodyPr wrap="square" lIns="0" rIns="0" tIns="0" bIns="0">
            <a:spAutoFit/>
          </a:bodyPr>
          <a:lstStyle/>
          <a:p>
            <a:pPr>
              <a:lnSpc>
                <a:spcPct val="112000"/>
              </a:lnSpc>
              <a:spcAft>
                <a:spcPts val="200"/>
              </a:spcAft>
              <a:defRPr sz="1900" b="0">
                <a:solidFill>
                  <a:srgbClr val="63778C"/>
                </a:solidFill>
                <a:latin typeface="Noto Sans CJK KR"/>
              </a:defRPr>
            </a:pPr>
            <a:r>
              <a:t>기본 CUR만으로 남은 기간과 수요를 표현할 수 없습니다.</a:t>
            </a:r>
          </a:p>
          <a:p>
            <a:pPr>
              <a:lnSpc>
                <a:spcPct val="112000"/>
              </a:lnSpc>
              <a:spcAft>
                <a:spcPts val="200"/>
              </a:spcAft>
              <a:defRPr sz="1900" b="0">
                <a:solidFill>
                  <a:srgbClr val="63778C"/>
                </a:solidFill>
                <a:latin typeface="Noto Sans CJK KR"/>
              </a:defRPr>
            </a:pPr>
            <a:r>
              <a:t>기말 예상 배출 점검을 후속 확장으로 두고, 기본 모형과 분리해 검증합니다.</a:t>
            </a:r>
          </a:p>
        </p:txBody>
      </p:sp>
      <p:sp>
        <p:nvSpPr>
          <p:cNvPr id="20" name="TextBox 19"/>
          <p:cNvSpPr txBox="1"/>
          <p:nvPr/>
        </p:nvSpPr>
        <p:spPr>
          <a:xfrm>
            <a:off x="667512" y="7470648"/>
            <a:ext cx="13304520" cy="219456"/>
          </a:xfrm>
          <a:prstGeom prst="rect">
            <a:avLst/>
          </a:prstGeom>
          <a:noFill/>
        </p:spPr>
        <p:txBody>
          <a:bodyPr wrap="square" lIns="0" rIns="0" tIns="0" bIns="0">
            <a:spAutoFit/>
          </a:bodyPr>
          <a:lstStyle/>
          <a:p>
            <a:pPr>
              <a:lnSpc>
                <a:spcPct val="112000"/>
              </a:lnSpc>
              <a:spcAft>
                <a:spcPts val="200"/>
              </a:spcAft>
              <a:defRPr sz="1000" b="0">
                <a:solidFill>
                  <a:srgbClr val="63778C"/>
                </a:solidFill>
                <a:latin typeface="Noto Sans CJK KR"/>
              </a:defRPr>
            </a:pPr>
            <a:r>
              <a:t>동시 배차에서는 미정산 확정 운행의 예상 배출을 별도로 관리해야 합니다. 이번 계산 예시는 한 번의 순차 의사결정만 다룹니다.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594360" y="283464"/>
            <a:ext cx="10972800" cy="256032"/>
          </a:xfrm>
          <a:prstGeom prst="rect">
            <a:avLst/>
          </a:prstGeom>
          <a:noFill/>
        </p:spPr>
        <p:txBody>
          <a:bodyPr wrap="square" lIns="0" rIns="0" tIns="0" bIns="0">
            <a:spAutoFit/>
          </a:bodyPr>
          <a:lstStyle/>
          <a:p>
            <a:pPr>
              <a:lnSpc>
                <a:spcPct val="112000"/>
              </a:lnSpc>
              <a:spcAft>
                <a:spcPts val="200"/>
              </a:spcAft>
              <a:defRPr sz="1200" b="1">
                <a:solidFill>
                  <a:srgbClr val="00877F"/>
                </a:solidFill>
                <a:latin typeface="Noto Sans CJK KR"/>
              </a:defRPr>
            </a:pPr>
            <a:r>
              <a:t>CBP  /  CARBON BUDGET POOLING</a:t>
            </a:r>
          </a:p>
        </p:txBody>
      </p:sp>
      <p:sp>
        <p:nvSpPr>
          <p:cNvPr id="3" name="TextBox 2"/>
          <p:cNvSpPr txBox="1"/>
          <p:nvPr/>
        </p:nvSpPr>
        <p:spPr>
          <a:xfrm>
            <a:off x="12298680" y="283464"/>
            <a:ext cx="1737360" cy="256032"/>
          </a:xfrm>
          <a:prstGeom prst="rect">
            <a:avLst/>
          </a:prstGeom>
          <a:noFill/>
        </p:spPr>
        <p:txBody>
          <a:bodyPr wrap="square" lIns="0" rIns="0" tIns="0" bIns="0">
            <a:spAutoFit/>
          </a:bodyPr>
          <a:lstStyle/>
          <a:p>
            <a:pPr algn="r">
              <a:lnSpc>
                <a:spcPct val="112000"/>
              </a:lnSpc>
              <a:spcAft>
                <a:spcPts val="200"/>
              </a:spcAft>
              <a:defRPr sz="1200" b="1">
                <a:solidFill>
                  <a:srgbClr val="63778C"/>
                </a:solidFill>
                <a:latin typeface="Noto Sans CJK KR"/>
              </a:defRPr>
            </a:pPr>
            <a:r>
              <a:t>연구 보충 05</a:t>
            </a:r>
          </a:p>
        </p:txBody>
      </p:sp>
      <p:sp>
        <p:nvSpPr>
          <p:cNvPr id="4" name="TextBox 3"/>
          <p:cNvSpPr txBox="1"/>
          <p:nvPr/>
        </p:nvSpPr>
        <p:spPr>
          <a:xfrm>
            <a:off x="594360" y="850392"/>
            <a:ext cx="13441680" cy="1060704"/>
          </a:xfrm>
          <a:prstGeom prst="rect">
            <a:avLst/>
          </a:prstGeom>
          <a:noFill/>
        </p:spPr>
        <p:txBody>
          <a:bodyPr wrap="square" lIns="0" rIns="0" tIns="0" bIns="0">
            <a:spAutoFit/>
          </a:bodyPr>
          <a:lstStyle/>
          <a:p>
            <a:pPr>
              <a:lnSpc>
                <a:spcPct val="112000"/>
              </a:lnSpc>
              <a:spcAft>
                <a:spcPts val="200"/>
              </a:spcAft>
              <a:defRPr sz="3400" b="1">
                <a:solidFill>
                  <a:srgbClr val="20354D"/>
                </a:solidFill>
                <a:latin typeface="Noto Sans CJK KR"/>
              </a:defRPr>
            </a:pPr>
            <a:r>
              <a:t>검증 설계: 무엇을 비교하고, 무엇을 아직 주장하지 않는가</a:t>
            </a:r>
          </a:p>
        </p:txBody>
      </p:sp>
      <p:sp>
        <p:nvSpPr>
          <p:cNvPr id="5" name="TextBox 4"/>
          <p:cNvSpPr txBox="1"/>
          <p:nvPr/>
        </p:nvSpPr>
        <p:spPr>
          <a:xfrm>
            <a:off x="621792" y="1920240"/>
            <a:ext cx="13350240" cy="475488"/>
          </a:xfrm>
          <a:prstGeom prst="rect">
            <a:avLst/>
          </a:prstGeom>
          <a:noFill/>
        </p:spPr>
        <p:txBody>
          <a:bodyPr wrap="square" lIns="0" rIns="0" tIns="0" bIns="0">
            <a:spAutoFit/>
          </a:bodyPr>
          <a:lstStyle/>
          <a:p>
            <a:pPr>
              <a:lnSpc>
                <a:spcPct val="112000"/>
              </a:lnSpc>
              <a:spcAft>
                <a:spcPts val="200"/>
              </a:spcAft>
              <a:defRPr sz="1700" b="0">
                <a:solidFill>
                  <a:srgbClr val="63778C"/>
                </a:solidFill>
                <a:latin typeface="Noto Sans CJK KR"/>
              </a:defRPr>
            </a:pPr>
            <a:r>
              <a:t>개념 제안 → 가상 계산 → 과거 요청 재생 → 현장 추천 → 제한적 실행의 순서로 검증합니다.</a:t>
            </a:r>
          </a:p>
        </p:txBody>
      </p:sp>
      <p:cxnSp>
        <p:nvCxnSpPr>
          <p:cNvPr id="6" name="Connector 5"/>
          <p:cNvCxnSpPr/>
          <p:nvPr/>
        </p:nvCxnSpPr>
        <p:spPr>
          <a:xfrm>
            <a:off x="594360" y="7772400"/>
            <a:ext cx="13441680" cy="0"/>
          </a:xfrm>
          <a:prstGeom prst="line">
            <a:avLst/>
          </a:prstGeom>
          <a:ln w="12700">
            <a:solidFill>
              <a:srgbClr val="D5DFE9"/>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12648" y="7900416"/>
            <a:ext cx="13350240" cy="192024"/>
          </a:xfrm>
          <a:prstGeom prst="rect">
            <a:avLst/>
          </a:prstGeom>
          <a:noFill/>
        </p:spPr>
        <p:txBody>
          <a:bodyPr wrap="square" lIns="0" rIns="0" tIns="0" bIns="0">
            <a:spAutoFit/>
          </a:bodyPr>
          <a:lstStyle/>
          <a:p>
            <a:pPr>
              <a:lnSpc>
                <a:spcPct val="112000"/>
              </a:lnSpc>
              <a:spcAft>
                <a:spcPts val="200"/>
              </a:spcAft>
              <a:defRPr sz="1000" b="0">
                <a:solidFill>
                  <a:srgbClr val="63778C"/>
                </a:solidFill>
                <a:latin typeface="Noto Sans CJK KR"/>
              </a:defRPr>
            </a:pPr>
            <a:r>
              <a:t>두런두런  |  제13회 유닛로드시스템(ULS) 창의성 공모전  |  탄소예산 기반 재배치 의사결정</a:t>
            </a:r>
          </a:p>
        </p:txBody>
      </p:sp>
      <p:sp>
        <p:nvSpPr>
          <p:cNvPr id="8" name="Rectangle 7"/>
          <p:cNvSpPr/>
          <p:nvPr/>
        </p:nvSpPr>
        <p:spPr>
          <a:xfrm>
            <a:off x="685800" y="2734056"/>
            <a:ext cx="6547104" cy="4553712"/>
          </a:xfrm>
          <a:prstGeom prst="rect">
            <a:avLst/>
          </a:prstGeom>
          <a:solidFill>
            <a:srgbClr val="FFFFFF"/>
          </a:solidFill>
          <a:ln w="12700">
            <a:solidFill>
              <a:srgbClr val="D5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41832" y="2990088"/>
            <a:ext cx="6016752" cy="356616"/>
          </a:xfrm>
          <a:prstGeom prst="rect">
            <a:avLst/>
          </a:prstGeom>
          <a:noFill/>
        </p:spPr>
        <p:txBody>
          <a:bodyPr wrap="square" lIns="0" rIns="0" tIns="0" bIns="0">
            <a:spAutoFit/>
          </a:bodyPr>
          <a:lstStyle/>
          <a:p>
            <a:pPr>
              <a:lnSpc>
                <a:spcPct val="112000"/>
              </a:lnSpc>
              <a:spcAft>
                <a:spcPts val="200"/>
              </a:spcAft>
              <a:defRPr sz="2400" b="1">
                <a:solidFill>
                  <a:srgbClr val="20354D"/>
                </a:solidFill>
                <a:latin typeface="Noto Sans CJK KR"/>
              </a:defRPr>
            </a:pPr>
            <a:r>
              <a:t>공정한 비교 설계</a:t>
            </a:r>
          </a:p>
        </p:txBody>
      </p:sp>
      <p:sp>
        <p:nvSpPr>
          <p:cNvPr id="10" name="TextBox 9"/>
          <p:cNvSpPr txBox="1"/>
          <p:nvPr/>
        </p:nvSpPr>
        <p:spPr>
          <a:xfrm>
            <a:off x="960120" y="3703320"/>
            <a:ext cx="1225296" cy="310896"/>
          </a:xfrm>
          <a:prstGeom prst="rect">
            <a:avLst/>
          </a:prstGeom>
          <a:noFill/>
        </p:spPr>
        <p:txBody>
          <a:bodyPr wrap="square" lIns="0" rIns="0" tIns="0" bIns="0">
            <a:spAutoFit/>
          </a:bodyPr>
          <a:lstStyle/>
          <a:p>
            <a:pPr>
              <a:lnSpc>
                <a:spcPct val="112000"/>
              </a:lnSpc>
              <a:spcAft>
                <a:spcPts val="200"/>
              </a:spcAft>
              <a:defRPr sz="1700" b="1">
                <a:solidFill>
                  <a:srgbClr val="00877F"/>
                </a:solidFill>
                <a:latin typeface="Noto Sans CJK KR"/>
              </a:defRPr>
            </a:pPr>
            <a:r>
              <a:t>대조군</a:t>
            </a:r>
          </a:p>
        </p:txBody>
      </p:sp>
      <p:sp>
        <p:nvSpPr>
          <p:cNvPr id="11" name="TextBox 10"/>
          <p:cNvSpPr txBox="1"/>
          <p:nvPr/>
        </p:nvSpPr>
        <p:spPr>
          <a:xfrm>
            <a:off x="2313432" y="3703320"/>
            <a:ext cx="4636008" cy="576072"/>
          </a:xfrm>
          <a:prstGeom prst="rect">
            <a:avLst/>
          </a:prstGeom>
          <a:noFill/>
        </p:spPr>
        <p:txBody>
          <a:bodyPr wrap="square" lIns="0" rIns="0" tIns="0" bIns="0">
            <a:spAutoFit/>
          </a:bodyPr>
          <a:lstStyle/>
          <a:p>
            <a:pPr>
              <a:lnSpc>
                <a:spcPct val="112000"/>
              </a:lnSpc>
              <a:spcAft>
                <a:spcPts val="200"/>
              </a:spcAft>
              <a:defRPr sz="1700" b="0">
                <a:solidFill>
                  <a:srgbClr val="63778C"/>
                </a:solidFill>
                <a:latin typeface="Noto Sans CJK KR"/>
              </a:defRPr>
            </a:pPr>
            <a:r>
              <a:t>비용 우선 / 고정 가중치 / 적응형 CBP</a:t>
            </a:r>
          </a:p>
        </p:txBody>
      </p:sp>
      <p:sp>
        <p:nvSpPr>
          <p:cNvPr id="12" name="TextBox 11"/>
          <p:cNvSpPr txBox="1"/>
          <p:nvPr/>
        </p:nvSpPr>
        <p:spPr>
          <a:xfrm>
            <a:off x="960120" y="4572000"/>
            <a:ext cx="1225296" cy="310896"/>
          </a:xfrm>
          <a:prstGeom prst="rect">
            <a:avLst/>
          </a:prstGeom>
          <a:noFill/>
        </p:spPr>
        <p:txBody>
          <a:bodyPr wrap="square" lIns="0" rIns="0" tIns="0" bIns="0">
            <a:spAutoFit/>
          </a:bodyPr>
          <a:lstStyle/>
          <a:p>
            <a:pPr>
              <a:lnSpc>
                <a:spcPct val="112000"/>
              </a:lnSpc>
              <a:spcAft>
                <a:spcPts val="200"/>
              </a:spcAft>
              <a:defRPr sz="1700" b="1">
                <a:solidFill>
                  <a:srgbClr val="00877F"/>
                </a:solidFill>
                <a:latin typeface="Noto Sans CJK KR"/>
              </a:defRPr>
            </a:pPr>
            <a:r>
              <a:t>동일 조건</a:t>
            </a:r>
          </a:p>
        </p:txBody>
      </p:sp>
      <p:sp>
        <p:nvSpPr>
          <p:cNvPr id="13" name="TextBox 12"/>
          <p:cNvSpPr txBox="1"/>
          <p:nvPr/>
        </p:nvSpPr>
        <p:spPr>
          <a:xfrm>
            <a:off x="2313432" y="4572000"/>
            <a:ext cx="4636008" cy="576072"/>
          </a:xfrm>
          <a:prstGeom prst="rect">
            <a:avLst/>
          </a:prstGeom>
          <a:noFill/>
        </p:spPr>
        <p:txBody>
          <a:bodyPr wrap="square" lIns="0" rIns="0" tIns="0" bIns="0">
            <a:spAutoFit/>
          </a:bodyPr>
          <a:lstStyle/>
          <a:p>
            <a:pPr>
              <a:lnSpc>
                <a:spcPct val="112000"/>
              </a:lnSpc>
              <a:spcAft>
                <a:spcPts val="200"/>
              </a:spcAft>
              <a:defRPr sz="1700" b="0">
                <a:solidFill>
                  <a:srgbClr val="63778C"/>
                </a:solidFill>
                <a:latin typeface="Noto Sans CJK KR"/>
              </a:defRPr>
            </a:pPr>
            <a:r>
              <a:t>수요·후보 생성 규칙·배출 산정·제약·정보</a:t>
            </a:r>
          </a:p>
        </p:txBody>
      </p:sp>
      <p:sp>
        <p:nvSpPr>
          <p:cNvPr id="14" name="TextBox 13"/>
          <p:cNvSpPr txBox="1"/>
          <p:nvPr/>
        </p:nvSpPr>
        <p:spPr>
          <a:xfrm>
            <a:off x="960120" y="5440680"/>
            <a:ext cx="1225296" cy="310896"/>
          </a:xfrm>
          <a:prstGeom prst="rect">
            <a:avLst/>
          </a:prstGeom>
          <a:noFill/>
        </p:spPr>
        <p:txBody>
          <a:bodyPr wrap="square" lIns="0" rIns="0" tIns="0" bIns="0">
            <a:spAutoFit/>
          </a:bodyPr>
          <a:lstStyle/>
          <a:p>
            <a:pPr>
              <a:lnSpc>
                <a:spcPct val="112000"/>
              </a:lnSpc>
              <a:spcAft>
                <a:spcPts val="200"/>
              </a:spcAft>
              <a:defRPr sz="1700" b="1">
                <a:solidFill>
                  <a:srgbClr val="00877F"/>
                </a:solidFill>
                <a:latin typeface="Noto Sans CJK KR"/>
              </a:defRPr>
            </a:pPr>
            <a:r>
              <a:t>공통 기록</a:t>
            </a:r>
          </a:p>
        </p:txBody>
      </p:sp>
      <p:sp>
        <p:nvSpPr>
          <p:cNvPr id="15" name="TextBox 14"/>
          <p:cNvSpPr txBox="1"/>
          <p:nvPr/>
        </p:nvSpPr>
        <p:spPr>
          <a:xfrm>
            <a:off x="2313432" y="5440680"/>
            <a:ext cx="4636008" cy="576072"/>
          </a:xfrm>
          <a:prstGeom prst="rect">
            <a:avLst/>
          </a:prstGeom>
          <a:noFill/>
        </p:spPr>
        <p:txBody>
          <a:bodyPr wrap="square" lIns="0" rIns="0" tIns="0" bIns="0">
            <a:spAutoFit/>
          </a:bodyPr>
          <a:lstStyle/>
          <a:p>
            <a:pPr>
              <a:lnSpc>
                <a:spcPct val="112000"/>
              </a:lnSpc>
              <a:spcAft>
                <a:spcPts val="200"/>
              </a:spcAft>
              <a:defRPr sz="1700" b="0">
                <a:solidFill>
                  <a:srgbClr val="63778C"/>
                </a:solidFill>
                <a:latin typeface="Noto Sans CJK KR"/>
              </a:defRPr>
            </a:pPr>
            <a:r>
              <a:t>비용·실제 배출·정시 공급·기말 예산 초과</a:t>
            </a:r>
          </a:p>
        </p:txBody>
      </p:sp>
      <p:sp>
        <p:nvSpPr>
          <p:cNvPr id="16" name="TextBox 15"/>
          <p:cNvSpPr txBox="1"/>
          <p:nvPr/>
        </p:nvSpPr>
        <p:spPr>
          <a:xfrm>
            <a:off x="960120" y="6309360"/>
            <a:ext cx="1225296" cy="310896"/>
          </a:xfrm>
          <a:prstGeom prst="rect">
            <a:avLst/>
          </a:prstGeom>
          <a:noFill/>
        </p:spPr>
        <p:txBody>
          <a:bodyPr wrap="square" lIns="0" rIns="0" tIns="0" bIns="0">
            <a:spAutoFit/>
          </a:bodyPr>
          <a:lstStyle/>
          <a:p>
            <a:pPr>
              <a:lnSpc>
                <a:spcPct val="112000"/>
              </a:lnSpc>
              <a:spcAft>
                <a:spcPts val="200"/>
              </a:spcAft>
              <a:defRPr sz="1700" b="1">
                <a:solidFill>
                  <a:srgbClr val="00877F"/>
                </a:solidFill>
                <a:latin typeface="Noto Sans CJK KR"/>
              </a:defRPr>
            </a:pPr>
            <a:r>
              <a:t>민감도</a:t>
            </a:r>
          </a:p>
        </p:txBody>
      </p:sp>
      <p:sp>
        <p:nvSpPr>
          <p:cNvPr id="17" name="TextBox 16"/>
          <p:cNvSpPr txBox="1"/>
          <p:nvPr/>
        </p:nvSpPr>
        <p:spPr>
          <a:xfrm>
            <a:off x="2313432" y="6309360"/>
            <a:ext cx="4636008" cy="576072"/>
          </a:xfrm>
          <a:prstGeom prst="rect">
            <a:avLst/>
          </a:prstGeom>
          <a:noFill/>
        </p:spPr>
        <p:txBody>
          <a:bodyPr wrap="square" lIns="0" rIns="0" tIns="0" bIns="0">
            <a:spAutoFit/>
          </a:bodyPr>
          <a:lstStyle/>
          <a:p>
            <a:pPr>
              <a:lnSpc>
                <a:spcPct val="112000"/>
              </a:lnSpc>
              <a:spcAft>
                <a:spcPts val="200"/>
              </a:spcAft>
              <a:defRPr sz="1700" b="0">
                <a:solidFill>
                  <a:srgbClr val="63778C"/>
                </a:solidFill>
                <a:latin typeface="Noto Sans CJK KR"/>
              </a:defRPr>
            </a:pPr>
            <a:r>
              <a:t>B·임계값·가중치·수요·배출 오차 변화</a:t>
            </a:r>
          </a:p>
        </p:txBody>
      </p:sp>
      <p:sp>
        <p:nvSpPr>
          <p:cNvPr id="18" name="Rectangle 17"/>
          <p:cNvSpPr/>
          <p:nvPr/>
        </p:nvSpPr>
        <p:spPr>
          <a:xfrm>
            <a:off x="7589520" y="2734056"/>
            <a:ext cx="6355080" cy="4553712"/>
          </a:xfrm>
          <a:prstGeom prst="rect">
            <a:avLst/>
          </a:prstGeom>
          <a:solidFill>
            <a:srgbClr val="E4F2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7845552" y="2990088"/>
            <a:ext cx="5843016" cy="356616"/>
          </a:xfrm>
          <a:prstGeom prst="rect">
            <a:avLst/>
          </a:prstGeom>
          <a:noFill/>
        </p:spPr>
        <p:txBody>
          <a:bodyPr wrap="square" lIns="0" rIns="0" tIns="0" bIns="0">
            <a:spAutoFit/>
          </a:bodyPr>
          <a:lstStyle/>
          <a:p>
            <a:pPr>
              <a:lnSpc>
                <a:spcPct val="112000"/>
              </a:lnSpc>
              <a:spcAft>
                <a:spcPts val="200"/>
              </a:spcAft>
              <a:defRPr sz="2400" b="1">
                <a:solidFill>
                  <a:srgbClr val="00877F"/>
                </a:solidFill>
                <a:latin typeface="Noto Sans CJK KR"/>
              </a:defRPr>
            </a:pPr>
            <a:r>
              <a:t>현재 제시할 수 있는 근거</a:t>
            </a:r>
          </a:p>
        </p:txBody>
      </p:sp>
      <p:sp>
        <p:nvSpPr>
          <p:cNvPr id="20" name="TextBox 19"/>
          <p:cNvSpPr txBox="1"/>
          <p:nvPr/>
        </p:nvSpPr>
        <p:spPr>
          <a:xfrm>
            <a:off x="7872983" y="3703320"/>
            <a:ext cx="5769864" cy="1124712"/>
          </a:xfrm>
          <a:prstGeom prst="rect">
            <a:avLst/>
          </a:prstGeom>
          <a:noFill/>
        </p:spPr>
        <p:txBody>
          <a:bodyPr wrap="square" lIns="0" rIns="0" tIns="0" bIns="0">
            <a:spAutoFit/>
          </a:bodyPr>
          <a:lstStyle/>
          <a:p>
            <a:pPr>
              <a:lnSpc>
                <a:spcPct val="112000"/>
              </a:lnSpc>
              <a:spcAft>
                <a:spcPts val="200"/>
              </a:spcAft>
              <a:defRPr sz="2000" b="0">
                <a:solidFill>
                  <a:srgbClr val="20354D"/>
                </a:solidFill>
                <a:latin typeface="Noto Sans CJK KR"/>
              </a:defRPr>
            </a:pPr>
            <a:r>
              <a:t>원안 CBP의 일관된 작동 규칙</a:t>
            </a:r>
          </a:p>
          <a:p>
            <a:pPr>
              <a:lnSpc>
                <a:spcPct val="112000"/>
              </a:lnSpc>
              <a:spcAft>
                <a:spcPts val="200"/>
              </a:spcAft>
              <a:defRPr sz="2000" b="0">
                <a:solidFill>
                  <a:srgbClr val="20354D"/>
                </a:solidFill>
                <a:latin typeface="Noto Sans CJK KR"/>
              </a:defRPr>
            </a:pPr>
            <a:r>
              <a:t>공개 입력으로 재현 가능한 선택 결과</a:t>
            </a:r>
          </a:p>
          <a:p>
            <a:pPr>
              <a:lnSpc>
                <a:spcPct val="112000"/>
              </a:lnSpc>
              <a:spcAft>
                <a:spcPts val="200"/>
              </a:spcAft>
              <a:defRPr sz="2000" b="0">
                <a:solidFill>
                  <a:srgbClr val="20354D"/>
                </a:solidFill>
                <a:latin typeface="Noto Sans CJK KR"/>
              </a:defRPr>
            </a:pPr>
            <a:r>
              <a:t>가중치 변화에 대한 민감도</a:t>
            </a:r>
          </a:p>
        </p:txBody>
      </p:sp>
      <p:cxnSp>
        <p:nvCxnSpPr>
          <p:cNvPr id="21" name="Connector 20"/>
          <p:cNvCxnSpPr/>
          <p:nvPr/>
        </p:nvCxnSpPr>
        <p:spPr>
          <a:xfrm>
            <a:off x="7872983" y="5157216"/>
            <a:ext cx="5788153" cy="0"/>
          </a:xfrm>
          <a:prstGeom prst="line">
            <a:avLst/>
          </a:prstGeom>
          <a:ln w="12700">
            <a:solidFill>
              <a:srgbClr val="B8D7D1"/>
            </a:solidFill>
          </a:ln>
        </p:spPr>
        <p:style>
          <a:lnRef idx="2">
            <a:schemeClr val="accent1"/>
          </a:lnRef>
          <a:fillRef idx="0">
            <a:schemeClr val="accent1"/>
          </a:fillRef>
          <a:effectRef idx="0">
            <a:schemeClr val="accent1"/>
          </a:effectRef>
          <a:fontRef idx="minor">
            <a:schemeClr val="tx1"/>
          </a:fontRef>
        </p:style>
      </p:cxnSp>
      <p:sp>
        <p:nvSpPr>
          <p:cNvPr id="22" name="TextBox 21"/>
          <p:cNvSpPr txBox="1"/>
          <p:nvPr/>
        </p:nvSpPr>
        <p:spPr>
          <a:xfrm>
            <a:off x="7872983" y="5477256"/>
            <a:ext cx="5751576" cy="1289304"/>
          </a:xfrm>
          <a:prstGeom prst="rect">
            <a:avLst/>
          </a:prstGeom>
          <a:noFill/>
        </p:spPr>
        <p:txBody>
          <a:bodyPr wrap="square" lIns="0" rIns="0" tIns="0" bIns="0">
            <a:spAutoFit/>
          </a:bodyPr>
          <a:lstStyle/>
          <a:p>
            <a:pPr>
              <a:lnSpc>
                <a:spcPct val="112000"/>
              </a:lnSpc>
              <a:spcAft>
                <a:spcPts val="200"/>
              </a:spcAft>
              <a:defRPr sz="2000" b="0">
                <a:solidFill>
                  <a:srgbClr val="20354D"/>
                </a:solidFill>
                <a:latin typeface="Noto Sans CJK KR"/>
              </a:defRPr>
            </a:pPr>
            <a:r>
              <a:t>아직 검증되지 않은 것</a:t>
            </a:r>
          </a:p>
          <a:p>
            <a:pPr>
              <a:lnSpc>
                <a:spcPct val="112000"/>
              </a:lnSpc>
              <a:spcAft>
                <a:spcPts val="200"/>
              </a:spcAft>
              <a:defRPr sz="2000" b="0">
                <a:solidFill>
                  <a:srgbClr val="20354D"/>
                </a:solidFill>
                <a:latin typeface="Noto Sans CJK KR"/>
              </a:defRPr>
            </a:pPr>
            <a:r>
              <a:t>현장 감축률 · 비용 절감률 · 전역 최적성</a:t>
            </a:r>
          </a:p>
          <a:p>
            <a:pPr>
              <a:lnSpc>
                <a:spcPct val="112000"/>
              </a:lnSpc>
              <a:spcAft>
                <a:spcPts val="200"/>
              </a:spcAft>
              <a:defRPr sz="2000" b="0">
                <a:solidFill>
                  <a:srgbClr val="20354D"/>
                </a:solidFill>
                <a:latin typeface="Noto Sans CJK KR"/>
              </a:defRPr>
            </a:pPr>
            <a:r>
              <a:t>선행 연구·기존 제품 대비 신규성</a:t>
            </a:r>
          </a:p>
        </p:txBody>
      </p:sp>
      <p:sp>
        <p:nvSpPr>
          <p:cNvPr id="23" name="TextBox 22"/>
          <p:cNvSpPr txBox="1"/>
          <p:nvPr/>
        </p:nvSpPr>
        <p:spPr>
          <a:xfrm>
            <a:off x="667512" y="7470648"/>
            <a:ext cx="13304520" cy="219456"/>
          </a:xfrm>
          <a:prstGeom prst="rect">
            <a:avLst/>
          </a:prstGeom>
          <a:noFill/>
        </p:spPr>
        <p:txBody>
          <a:bodyPr wrap="square" lIns="0" rIns="0" tIns="0" bIns="0">
            <a:spAutoFit/>
          </a:bodyPr>
          <a:lstStyle/>
          <a:p>
            <a:pPr>
              <a:lnSpc>
                <a:spcPct val="112000"/>
              </a:lnSpc>
              <a:spcAft>
                <a:spcPts val="200"/>
              </a:spcAft>
              <a:defRPr sz="1000" b="0">
                <a:solidFill>
                  <a:srgbClr val="63778C"/>
                </a:solidFill>
                <a:latin typeface="Noto Sans CJK KR"/>
              </a:defRPr>
            </a:pPr>
            <a:r>
              <a:t>자료 근거: 제출한 예선 PPT(아이디어), KPCA 합격 안내 및 배너 예시(제출 형식). 외부 논문·수상작 원문 비교는 이번 자료에서 미검증.</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CBP | 탄소예산 기반 유닛로드시스템 운영 최적화 프레임워크</dc:title>
  <dc:subject>탄소예산 상태에 적응하는 파렛트 재배치 의사결정 모형</dc:subject>
  <dc:creator>두런두런</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
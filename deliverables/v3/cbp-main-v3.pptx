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문제와 연구 질문</a:t>
            </a:r>
          </a:p>
          <a:p/>
          <a:p>
            <a:r>
              <a:t>같은 파렛트 천 매를 옮기더라도, 이번 달 탄소예산을 얼마나 썼는지에 따라 선택이 달라져야 하지 않을까요? 저희 CBP는 탄소예산을 운영의 신호로 쓰는 아이디어입니다. 예산이 충분할 때는 비용에, 많이 썼을 때는 탄소에 더 무게를 두어, 파렛트 재배치의 우선순위를 조정합니다.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닫힌 고리로 작동하는 CBP</a:t>
            </a:r>
          </a:p>
          <a:p/>
          <a:p>
            <a:r>
              <a:t>작동 방식은 이 순환입니다. 운영자가 기간별 탄소예산을 정하고, 지금까지 쓴 배출량을 나누면 예산 사용률이 나옵니다. 예산 만 킬로그램 중 팔천이백을 썼다면 팔십이 퍼센트입니다. 이 상태에 맞춰 운영 모드를 정하고 운송안을 비교합니다. 단, 필요한 수량과 도착 기한, 적재 조건을 만족하는 안만 비교합니다. 실행 뒤에는 실제 배출을 반영해 다음 선택을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모드</a:t>
            </a:r>
          </a:p>
          <a:p/>
          <a:p>
            <a:r>
              <a:t>원안의 네 가지 모드입니다. 사용률이 올라갈수록 비용의 비중은 낮추고 탄소의 비중은 높입니다. 예를 들어 탄소 모드에서는 비용 이십, 탄소 육십, 도착 시간의 여유 이십 퍼센트를 반영합니다. 이 경계값과 가중치는 초기 설계값이며, 현장 자료로 조정해야 합니다. 어떤 모드에서도 필요한 수량과 기한을 자동으로 포기하지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재현 가능한 숫자 예시</a:t>
            </a:r>
          </a:p>
          <a:p/>
          <a:p>
            <a:r>
              <a:t>천 매를 여덟 시간 안에 보내는 세 가지 운송안이 있다고 가정하겠습니다. A는 백만 원에 배출 사백, B는 백십만 원에 이백육십, C는 백사십만 원에 이백입니다. 각 항목을 영에서 일 사이 점수로 맞추고, 모드별 비중을 곱해 더합니다. 현재 사용률 팔십이 퍼센트의 탄소 모드에서는 C가 영 점 칠이오로 가장 높습니다. 계산 방법과 입력값을 공개해 같은 결과를 다시 확인할 수 있게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후보, 달라지는 선택</a:t>
            </a:r>
          </a:p>
          <a:p/>
          <a:p>
            <a:r>
              <a:t>같은 후보를 놓고 비교하면 비용 모드에서는 A, 균형 모드에서는 B, 탄소 모드에서는 C를 고릅니다. 핵심은 무조건 가장 싼 안도, 무조건 배출이 적은 안도 고정하지 않는다는 점입니다. 물론 대가가 있습니다. 이 예시에서 A 대신 C를 고르면 비용 사십만 원이 더 들고 배출 이백 킬로그램이 줄어듭니다. 이는 실측 성과가 아니라, 선택의 원리를 보여 주는 계산 예시입니다.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실증 계획과 기여</a:t>
            </a:r>
          </a:p>
          <a:p/>
          <a:p>
            <a:r>
              <a:t>현장에서는 동일 풀링사의 호환 파렛트부터 시작합니다. 먼저 실제 배차에 영향을 주지 않는 추천으로 시험하고, 비용 중심 방식과 고정 가중치 방식, CBP를 같은 요청과 후보로 비교하겠습니다. 평가 기준은 총비용, 실제 배출, 정시 공급, 기간말 예산 초과입니다. 남은 기간과 수요도 함께 검토해야 합니다. CBP의 제안은 명확합니다. 탄소를 보고서에 남는 숫자에서, 다음 파렛트 이동을 바꾸는 의사결정 신호로 만드는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D4D"/>
        </a:solidFill>
        <a:effectLst/>
      </p:bgPr>
    </p:bg>
    <p:spTree>
      <p:nvGrpSpPr>
        <p:cNvPr id="1" name=""/>
        <p:cNvGrpSpPr/>
        <p:nvPr/>
      </p:nvGrpSpPr>
      <p:grpSpPr/>
      <p:sp>
        <p:nvSpPr>
          <p:cNvPr id="2" name="TextBox 1"/>
          <p:cNvSpPr txBox="1"/>
          <p:nvPr/>
        </p:nvSpPr>
        <p:spPr>
          <a:xfrm>
            <a:off x="594360" y="283464"/>
            <a:ext cx="10972800" cy="256032"/>
          </a:xfrm>
          <a:prstGeom prst="rect">
            <a:avLst/>
          </a:prstGeom>
          <a:noFill/>
        </p:spPr>
        <p:txBody>
          <a:bodyPr wrap="square" lIns="0" rIns="0" tIns="0" bIns="0">
            <a:spAutoFit/>
          </a:bodyPr>
          <a:lstStyle/>
          <a:p>
            <a:pPr>
              <a:lnSpc>
                <a:spcPct val="112000"/>
              </a:lnSpc>
              <a:spcAft>
                <a:spcPts val="200"/>
              </a:spcAft>
              <a:defRPr sz="1200" b="1">
                <a:solidFill>
                  <a:srgbClr val="AEC3D6"/>
                </a:solidFill>
                <a:latin typeface="Noto Sans CJK KR"/>
              </a:defRPr>
            </a:pPr>
            <a:r>
              <a:t>CBP  /  CARBON BUDGET POOLING</a:t>
            </a:r>
          </a:p>
        </p:txBody>
      </p:sp>
      <p:sp>
        <p:nvSpPr>
          <p:cNvPr id="3" name="TextBox 2"/>
          <p:cNvSpPr txBox="1"/>
          <p:nvPr/>
        </p:nvSpPr>
        <p:spPr>
          <a:xfrm>
            <a:off x="12298680" y="283464"/>
            <a:ext cx="1737360" cy="256032"/>
          </a:xfrm>
          <a:prstGeom prst="rect">
            <a:avLst/>
          </a:prstGeom>
          <a:noFill/>
        </p:spPr>
        <p:txBody>
          <a:bodyPr wrap="square" lIns="0" rIns="0" tIns="0" bIns="0">
            <a:spAutoFit/>
          </a:bodyPr>
          <a:lstStyle/>
          <a:p>
            <a:pPr algn="r">
              <a:lnSpc>
                <a:spcPct val="112000"/>
              </a:lnSpc>
              <a:spcAft>
                <a:spcPts val="200"/>
              </a:spcAft>
              <a:defRPr sz="1200" b="1">
                <a:solidFill>
                  <a:srgbClr val="AEC3D6"/>
                </a:solidFill>
                <a:latin typeface="Noto Sans CJK KR"/>
              </a:defRPr>
            </a:pPr>
            <a:r>
              <a:t>01</a:t>
            </a:r>
          </a:p>
        </p:txBody>
      </p:sp>
      <p:sp>
        <p:nvSpPr>
          <p:cNvPr id="4" name="TextBox 3"/>
          <p:cNvSpPr txBox="1"/>
          <p:nvPr/>
        </p:nvSpPr>
        <p:spPr>
          <a:xfrm>
            <a:off x="594360" y="850392"/>
            <a:ext cx="13441680" cy="1060704"/>
          </a:xfrm>
          <a:prstGeom prst="rect">
            <a:avLst/>
          </a:prstGeom>
          <a:noFill/>
        </p:spPr>
        <p:txBody>
          <a:bodyPr wrap="square" lIns="0" rIns="0" tIns="0" bIns="0">
            <a:spAutoFit/>
          </a:bodyPr>
          <a:lstStyle/>
          <a:p>
            <a:pPr>
              <a:lnSpc>
                <a:spcPct val="112000"/>
              </a:lnSpc>
              <a:spcAft>
                <a:spcPts val="200"/>
              </a:spcAft>
              <a:defRPr sz="3400" b="1">
                <a:solidFill>
                  <a:srgbClr val="FFFFFF"/>
                </a:solidFill>
                <a:latin typeface="Noto Sans CJK KR"/>
              </a:defRPr>
            </a:pPr>
            <a:r>
              <a:t>같은 파렛트 요청,</a:t>
            </a:r>
          </a:p>
          <a:p>
            <a:pPr>
              <a:lnSpc>
                <a:spcPct val="112000"/>
              </a:lnSpc>
              <a:spcAft>
                <a:spcPts val="200"/>
              </a:spcAft>
              <a:defRPr sz="3400" b="1">
                <a:solidFill>
                  <a:srgbClr val="FFFFFF"/>
                </a:solidFill>
                <a:latin typeface="Noto Sans CJK KR"/>
              </a:defRPr>
            </a:pPr>
            <a:r>
              <a:t>탄소예산이 다르면 선택도 달라져야 합니다.</a:t>
            </a:r>
          </a:p>
        </p:txBody>
      </p:sp>
      <p:cxnSp>
        <p:nvCxnSpPr>
          <p:cNvPr id="5" name="Connector 4"/>
          <p:cNvCxnSpPr/>
          <p:nvPr/>
        </p:nvCxnSpPr>
        <p:spPr>
          <a:xfrm>
            <a:off x="594360" y="7772400"/>
            <a:ext cx="13441680" cy="0"/>
          </a:xfrm>
          <a:prstGeom prst="line">
            <a:avLst/>
          </a:prstGeom>
          <a:ln w="12700">
            <a:solidFill>
              <a:srgbClr val="3B5571"/>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12648" y="7900416"/>
            <a:ext cx="13350240" cy="192024"/>
          </a:xfrm>
          <a:prstGeom prst="rect">
            <a:avLst/>
          </a:prstGeom>
          <a:noFill/>
        </p:spPr>
        <p:txBody>
          <a:bodyPr wrap="square" lIns="0" rIns="0" tIns="0" bIns="0">
            <a:spAutoFit/>
          </a:bodyPr>
          <a:lstStyle/>
          <a:p>
            <a:pPr>
              <a:lnSpc>
                <a:spcPct val="112000"/>
              </a:lnSpc>
              <a:spcAft>
                <a:spcPts val="200"/>
              </a:spcAft>
              <a:defRPr sz="1000" b="0">
                <a:solidFill>
                  <a:srgbClr val="AEC3D6"/>
                </a:solidFill>
                <a:latin typeface="Noto Sans CJK KR"/>
              </a:defRPr>
            </a:pPr>
            <a:r>
              <a:t>두런두런  |  제13회 유닛로드시스템(ULS) 창의성 공모전  |  탄소예산 기반 재배치 의사결정</a:t>
            </a:r>
          </a:p>
        </p:txBody>
      </p:sp>
      <p:sp>
        <p:nvSpPr>
          <p:cNvPr id="7" name="TextBox 6"/>
          <p:cNvSpPr txBox="1"/>
          <p:nvPr/>
        </p:nvSpPr>
        <p:spPr>
          <a:xfrm>
            <a:off x="658368" y="2331720"/>
            <a:ext cx="5715000" cy="420624"/>
          </a:xfrm>
          <a:prstGeom prst="rect">
            <a:avLst/>
          </a:prstGeom>
          <a:noFill/>
        </p:spPr>
        <p:txBody>
          <a:bodyPr wrap="square" lIns="0" rIns="0" tIns="0" bIns="0">
            <a:spAutoFit/>
          </a:bodyPr>
          <a:lstStyle/>
          <a:p>
            <a:pPr>
              <a:lnSpc>
                <a:spcPct val="112000"/>
              </a:lnSpc>
              <a:spcAft>
                <a:spcPts val="200"/>
              </a:spcAft>
              <a:defRPr sz="2100" b="1">
                <a:solidFill>
                  <a:srgbClr val="FFFFFF"/>
                </a:solidFill>
                <a:latin typeface="Noto Sans CJK KR"/>
              </a:defRPr>
            </a:pPr>
            <a:r>
              <a:t>탄소예산 기반 유닛로드시스템</a:t>
            </a:r>
          </a:p>
          <a:p>
            <a:pPr>
              <a:lnSpc>
                <a:spcPct val="112000"/>
              </a:lnSpc>
              <a:spcAft>
                <a:spcPts val="200"/>
              </a:spcAft>
              <a:defRPr sz="2100" b="1">
                <a:solidFill>
                  <a:srgbClr val="FFFFFF"/>
                </a:solidFill>
                <a:latin typeface="Noto Sans CJK KR"/>
              </a:defRPr>
            </a:pPr>
            <a:r>
              <a:t>운영 최적화 프레임워크</a:t>
            </a:r>
          </a:p>
        </p:txBody>
      </p:sp>
      <p:sp>
        <p:nvSpPr>
          <p:cNvPr id="8" name="TextBox 7"/>
          <p:cNvSpPr txBox="1"/>
          <p:nvPr/>
        </p:nvSpPr>
        <p:spPr>
          <a:xfrm>
            <a:off x="667512" y="3502152"/>
            <a:ext cx="5303520" cy="987552"/>
          </a:xfrm>
          <a:prstGeom prst="rect">
            <a:avLst/>
          </a:prstGeom>
          <a:noFill/>
        </p:spPr>
        <p:txBody>
          <a:bodyPr wrap="square" lIns="0" rIns="0" tIns="0" bIns="0">
            <a:spAutoFit/>
          </a:bodyPr>
          <a:lstStyle/>
          <a:p>
            <a:pPr>
              <a:lnSpc>
                <a:spcPct val="112000"/>
              </a:lnSpc>
              <a:spcAft>
                <a:spcPts val="200"/>
              </a:spcAft>
              <a:defRPr sz="2700" b="1">
                <a:solidFill>
                  <a:srgbClr val="8BDFCC"/>
                </a:solidFill>
                <a:latin typeface="Noto Sans CJK KR"/>
              </a:defRPr>
            </a:pPr>
            <a:r>
              <a:t>탄소예산 사용률에 따라</a:t>
            </a:r>
          </a:p>
          <a:p>
            <a:pPr>
              <a:lnSpc>
                <a:spcPct val="112000"/>
              </a:lnSpc>
              <a:spcAft>
                <a:spcPts val="200"/>
              </a:spcAft>
              <a:defRPr sz="2700" b="1">
                <a:solidFill>
                  <a:srgbClr val="8BDFCC"/>
                </a:solidFill>
                <a:latin typeface="Noto Sans CJK KR"/>
              </a:defRPr>
            </a:pPr>
            <a:r>
              <a:t>재배치의 우선순위를 바꾸는 CBP</a:t>
            </a:r>
          </a:p>
        </p:txBody>
      </p:sp>
      <p:sp>
        <p:nvSpPr>
          <p:cNvPr id="9" name="TextBox 8"/>
          <p:cNvSpPr txBox="1"/>
          <p:nvPr/>
        </p:nvSpPr>
        <p:spPr>
          <a:xfrm>
            <a:off x="676656" y="4846320"/>
            <a:ext cx="5257800" cy="1170432"/>
          </a:xfrm>
          <a:prstGeom prst="rect">
            <a:avLst/>
          </a:prstGeom>
          <a:noFill/>
        </p:spPr>
        <p:txBody>
          <a:bodyPr wrap="square" lIns="0" rIns="0" tIns="0" bIns="0">
            <a:spAutoFit/>
          </a:bodyPr>
          <a:lstStyle/>
          <a:p>
            <a:pPr>
              <a:lnSpc>
                <a:spcPct val="112000"/>
              </a:lnSpc>
              <a:spcAft>
                <a:spcPts val="200"/>
              </a:spcAft>
              <a:defRPr sz="2100" b="0">
                <a:solidFill>
                  <a:srgbClr val="FFFFFF"/>
                </a:solidFill>
                <a:latin typeface="Noto Sans CJK KR"/>
              </a:defRPr>
            </a:pPr>
            <a:r>
              <a:t>예산 여유가 크면 → 비용에 무게</a:t>
            </a:r>
          </a:p>
          <a:p>
            <a:pPr>
              <a:lnSpc>
                <a:spcPct val="112000"/>
              </a:lnSpc>
              <a:spcAft>
                <a:spcPts val="200"/>
              </a:spcAft>
              <a:defRPr sz="2100" b="0">
                <a:solidFill>
                  <a:srgbClr val="FFFFFF"/>
                </a:solidFill>
                <a:latin typeface="Noto Sans CJK KR"/>
              </a:defRPr>
            </a:pPr>
            <a:r>
              <a:t>예산을 많이 썼으면 → 탄소에 무게</a:t>
            </a:r>
          </a:p>
        </p:txBody>
      </p:sp>
      <p:sp>
        <p:nvSpPr>
          <p:cNvPr id="10" name="TextBox 9"/>
          <p:cNvSpPr txBox="1"/>
          <p:nvPr/>
        </p:nvSpPr>
        <p:spPr>
          <a:xfrm>
            <a:off x="685800" y="6446520"/>
            <a:ext cx="5074920" cy="630936"/>
          </a:xfrm>
          <a:prstGeom prst="rect">
            <a:avLst/>
          </a:prstGeom>
          <a:noFill/>
        </p:spPr>
        <p:txBody>
          <a:bodyPr wrap="square" lIns="0" rIns="0" tIns="0" bIns="0">
            <a:spAutoFit/>
          </a:bodyPr>
          <a:lstStyle/>
          <a:p>
            <a:pPr>
              <a:lnSpc>
                <a:spcPct val="112000"/>
              </a:lnSpc>
              <a:spcAft>
                <a:spcPts val="200"/>
              </a:spcAft>
              <a:defRPr sz="1600" b="0">
                <a:solidFill>
                  <a:srgbClr val="AEC3D6"/>
                </a:solidFill>
                <a:latin typeface="Noto Sans CJK KR"/>
              </a:defRPr>
            </a:pPr>
            <a:r>
              <a:t>연구 질문</a:t>
            </a:r>
          </a:p>
          <a:p>
            <a:pPr>
              <a:lnSpc>
                <a:spcPct val="112000"/>
              </a:lnSpc>
              <a:spcAft>
                <a:spcPts val="200"/>
              </a:spcAft>
              <a:defRPr sz="1600" b="0">
                <a:solidFill>
                  <a:srgbClr val="AEC3D6"/>
                </a:solidFill>
                <a:latin typeface="Noto Sans CJK KR"/>
              </a:defRPr>
            </a:pPr>
            <a:r>
              <a:t>“탄소 상태를 다음 운송 선택에 어떻게 연결할까?”</a:t>
            </a:r>
          </a:p>
        </p:txBody>
      </p:sp>
      <p:sp>
        <p:nvSpPr>
          <p:cNvPr id="11" name="Rectangle 10"/>
          <p:cNvSpPr/>
          <p:nvPr/>
        </p:nvSpPr>
        <p:spPr>
          <a:xfrm>
            <a:off x="6675120" y="2423160"/>
            <a:ext cx="7333488" cy="4553712"/>
          </a:xfrm>
          <a:prstGeom prst="rect">
            <a:avLst/>
          </a:prstGeom>
          <a:solidFill>
            <a:srgbClr val="233E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022592" y="2715768"/>
            <a:ext cx="6638544" cy="320040"/>
          </a:xfrm>
          <a:prstGeom prst="rect">
            <a:avLst/>
          </a:prstGeom>
          <a:noFill/>
        </p:spPr>
        <p:txBody>
          <a:bodyPr wrap="square" lIns="0" rIns="0" tIns="0" bIns="0">
            <a:spAutoFit/>
          </a:bodyPr>
          <a:lstStyle/>
          <a:p>
            <a:pPr>
              <a:lnSpc>
                <a:spcPct val="112000"/>
              </a:lnSpc>
              <a:spcAft>
                <a:spcPts val="200"/>
              </a:spcAft>
              <a:defRPr sz="2200" b="1">
                <a:solidFill>
                  <a:srgbClr val="FFFFFF"/>
                </a:solidFill>
                <a:latin typeface="Noto Sans CJK KR"/>
              </a:defRPr>
            </a:pPr>
            <a:r>
              <a:t>1,000매를 보내는 세 가지 운송안</a:t>
            </a:r>
          </a:p>
        </p:txBody>
      </p:sp>
      <p:sp>
        <p:nvSpPr>
          <p:cNvPr id="13" name="Rectangle 12"/>
          <p:cNvSpPr/>
          <p:nvPr/>
        </p:nvSpPr>
        <p:spPr>
          <a:xfrm>
            <a:off x="7132320" y="3598712"/>
            <a:ext cx="658368" cy="399409"/>
          </a:xfrm>
          <a:prstGeom prst="rect">
            <a:avLst/>
          </a:prstGeom>
          <a:solidFill>
            <a:srgbClr val="AEC3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Isosceles Triangle 13"/>
          <p:cNvSpPr/>
          <p:nvPr/>
        </p:nvSpPr>
        <p:spPr>
          <a:xfrm>
            <a:off x="7105985" y="3449482"/>
            <a:ext cx="711037" cy="263347"/>
          </a:xfrm>
          <a:prstGeom prst="triangle">
            <a:avLst/>
          </a:prstGeom>
          <a:solidFill>
            <a:srgbClr val="AEC3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7321052" y="3765499"/>
            <a:ext cx="280903" cy="232623"/>
          </a:xfrm>
          <a:prstGeom prst="rect">
            <a:avLst/>
          </a:prstGeom>
          <a:solidFill>
            <a:srgbClr val="D1E0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065008" y="3593592"/>
            <a:ext cx="1828800" cy="274320"/>
          </a:xfrm>
          <a:prstGeom prst="rect">
            <a:avLst/>
          </a:prstGeom>
          <a:noFill/>
        </p:spPr>
        <p:txBody>
          <a:bodyPr wrap="square" lIns="0" rIns="0" tIns="0" bIns="0">
            <a:spAutoFit/>
          </a:bodyPr>
          <a:lstStyle/>
          <a:p>
            <a:pPr>
              <a:lnSpc>
                <a:spcPct val="112000"/>
              </a:lnSpc>
              <a:spcAft>
                <a:spcPts val="200"/>
              </a:spcAft>
              <a:defRPr sz="1700" b="1">
                <a:solidFill>
                  <a:srgbClr val="FFFFFF"/>
                </a:solidFill>
                <a:latin typeface="Noto Sans CJK KR"/>
              </a:defRPr>
            </a:pPr>
            <a:r>
              <a:t>A 거점</a:t>
            </a:r>
          </a:p>
        </p:txBody>
      </p:sp>
      <p:cxnSp>
        <p:nvCxnSpPr>
          <p:cNvPr id="17" name="Connector 16"/>
          <p:cNvCxnSpPr/>
          <p:nvPr/>
        </p:nvCxnSpPr>
        <p:spPr>
          <a:xfrm>
            <a:off x="9326880" y="3776472"/>
            <a:ext cx="2020824" cy="1024128"/>
          </a:xfrm>
          <a:prstGeom prst="line">
            <a:avLst/>
          </a:prstGeom>
          <a:ln w="25400">
            <a:solidFill>
              <a:srgbClr val="AEC3D6"/>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9235440" y="3383280"/>
            <a:ext cx="1965960" cy="274320"/>
          </a:xfrm>
          <a:prstGeom prst="rect">
            <a:avLst/>
          </a:prstGeom>
          <a:noFill/>
        </p:spPr>
        <p:txBody>
          <a:bodyPr wrap="square" lIns="0" rIns="0" tIns="0" bIns="0">
            <a:spAutoFit/>
          </a:bodyPr>
          <a:lstStyle/>
          <a:p>
            <a:pPr>
              <a:lnSpc>
                <a:spcPct val="112000"/>
              </a:lnSpc>
              <a:spcAft>
                <a:spcPts val="200"/>
              </a:spcAft>
              <a:defRPr sz="1500" b="0">
                <a:solidFill>
                  <a:srgbClr val="AEC3D6"/>
                </a:solidFill>
                <a:latin typeface="Noto Sans CJK KR"/>
              </a:defRPr>
            </a:pPr>
            <a:r>
              <a:t>저비용형</a:t>
            </a:r>
          </a:p>
        </p:txBody>
      </p:sp>
      <p:sp>
        <p:nvSpPr>
          <p:cNvPr id="19" name="Rectangle 18"/>
          <p:cNvSpPr/>
          <p:nvPr/>
        </p:nvSpPr>
        <p:spPr>
          <a:xfrm>
            <a:off x="7132320" y="4641128"/>
            <a:ext cx="658368" cy="399409"/>
          </a:xfrm>
          <a:prstGeom prst="rect">
            <a:avLst/>
          </a:prstGeom>
          <a:solidFill>
            <a:srgbClr val="8BDF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Isosceles Triangle 19"/>
          <p:cNvSpPr/>
          <p:nvPr/>
        </p:nvSpPr>
        <p:spPr>
          <a:xfrm>
            <a:off x="7105985" y="4491898"/>
            <a:ext cx="711037" cy="263347"/>
          </a:xfrm>
          <a:prstGeom prst="triangle">
            <a:avLst/>
          </a:prstGeom>
          <a:solidFill>
            <a:srgbClr val="8BDFC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7321052" y="4807915"/>
            <a:ext cx="280903" cy="232623"/>
          </a:xfrm>
          <a:prstGeom prst="rect">
            <a:avLst/>
          </a:prstGeom>
          <a:solidFill>
            <a:srgbClr val="D1E0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065008" y="4636007"/>
            <a:ext cx="1828800" cy="274320"/>
          </a:xfrm>
          <a:prstGeom prst="rect">
            <a:avLst/>
          </a:prstGeom>
          <a:noFill/>
        </p:spPr>
        <p:txBody>
          <a:bodyPr wrap="square" lIns="0" rIns="0" tIns="0" bIns="0">
            <a:spAutoFit/>
          </a:bodyPr>
          <a:lstStyle/>
          <a:p>
            <a:pPr>
              <a:lnSpc>
                <a:spcPct val="112000"/>
              </a:lnSpc>
              <a:spcAft>
                <a:spcPts val="200"/>
              </a:spcAft>
              <a:defRPr sz="1700" b="1">
                <a:solidFill>
                  <a:srgbClr val="FFFFFF"/>
                </a:solidFill>
                <a:latin typeface="Noto Sans CJK KR"/>
              </a:defRPr>
            </a:pPr>
            <a:r>
              <a:t>B 거점</a:t>
            </a:r>
          </a:p>
        </p:txBody>
      </p:sp>
      <p:cxnSp>
        <p:nvCxnSpPr>
          <p:cNvPr id="23" name="Connector 22"/>
          <p:cNvCxnSpPr/>
          <p:nvPr/>
        </p:nvCxnSpPr>
        <p:spPr>
          <a:xfrm flipV="1">
            <a:off x="9326880" y="4800600"/>
            <a:ext cx="2020824" cy="18288"/>
          </a:xfrm>
          <a:prstGeom prst="line">
            <a:avLst/>
          </a:prstGeom>
          <a:ln w="25400">
            <a:solidFill>
              <a:srgbClr val="8BDFCC"/>
            </a:solidFill>
          </a:ln>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9235440" y="4425696"/>
            <a:ext cx="1965960" cy="274320"/>
          </a:xfrm>
          <a:prstGeom prst="rect">
            <a:avLst/>
          </a:prstGeom>
          <a:noFill/>
        </p:spPr>
        <p:txBody>
          <a:bodyPr wrap="square" lIns="0" rIns="0" tIns="0" bIns="0">
            <a:spAutoFit/>
          </a:bodyPr>
          <a:lstStyle/>
          <a:p>
            <a:pPr>
              <a:lnSpc>
                <a:spcPct val="112000"/>
              </a:lnSpc>
              <a:spcAft>
                <a:spcPts val="200"/>
              </a:spcAft>
              <a:defRPr sz="1500" b="0">
                <a:solidFill>
                  <a:srgbClr val="8BDFCC"/>
                </a:solidFill>
                <a:latin typeface="Noto Sans CJK KR"/>
              </a:defRPr>
            </a:pPr>
            <a:r>
              <a:t>절충형</a:t>
            </a:r>
          </a:p>
        </p:txBody>
      </p:sp>
      <p:sp>
        <p:nvSpPr>
          <p:cNvPr id="25" name="Rectangle 24"/>
          <p:cNvSpPr/>
          <p:nvPr/>
        </p:nvSpPr>
        <p:spPr>
          <a:xfrm>
            <a:off x="7132320" y="5683544"/>
            <a:ext cx="658368" cy="399409"/>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Isosceles Triangle 25"/>
          <p:cNvSpPr/>
          <p:nvPr/>
        </p:nvSpPr>
        <p:spPr>
          <a:xfrm>
            <a:off x="7105985" y="5534314"/>
            <a:ext cx="711037" cy="263347"/>
          </a:xfrm>
          <a:prstGeom prst="triangle">
            <a:avLst/>
          </a:prstGeom>
          <a:solidFill>
            <a:srgbClr val="DAA64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7321052" y="5850331"/>
            <a:ext cx="280903" cy="232623"/>
          </a:xfrm>
          <a:prstGeom prst="rect">
            <a:avLst/>
          </a:prstGeom>
          <a:solidFill>
            <a:srgbClr val="D1E0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8065008" y="5678424"/>
            <a:ext cx="1828800" cy="274320"/>
          </a:xfrm>
          <a:prstGeom prst="rect">
            <a:avLst/>
          </a:prstGeom>
          <a:noFill/>
        </p:spPr>
        <p:txBody>
          <a:bodyPr wrap="square" lIns="0" rIns="0" tIns="0" bIns="0">
            <a:spAutoFit/>
          </a:bodyPr>
          <a:lstStyle/>
          <a:p>
            <a:pPr>
              <a:lnSpc>
                <a:spcPct val="112000"/>
              </a:lnSpc>
              <a:spcAft>
                <a:spcPts val="200"/>
              </a:spcAft>
              <a:defRPr sz="1700" b="1">
                <a:solidFill>
                  <a:srgbClr val="FFFFFF"/>
                </a:solidFill>
                <a:latin typeface="Noto Sans CJK KR"/>
              </a:defRPr>
            </a:pPr>
            <a:r>
              <a:t>C 거점</a:t>
            </a:r>
          </a:p>
        </p:txBody>
      </p:sp>
      <p:cxnSp>
        <p:nvCxnSpPr>
          <p:cNvPr id="29" name="Connector 28"/>
          <p:cNvCxnSpPr/>
          <p:nvPr/>
        </p:nvCxnSpPr>
        <p:spPr>
          <a:xfrm flipV="1">
            <a:off x="9326880" y="4800600"/>
            <a:ext cx="2020824" cy="1060704"/>
          </a:xfrm>
          <a:prstGeom prst="line">
            <a:avLst/>
          </a:prstGeom>
          <a:ln w="25400">
            <a:solidFill>
              <a:srgbClr val="DAA64D"/>
            </a:solidFill>
          </a:ln>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9235440" y="5468112"/>
            <a:ext cx="1965960" cy="274320"/>
          </a:xfrm>
          <a:prstGeom prst="rect">
            <a:avLst/>
          </a:prstGeom>
          <a:noFill/>
        </p:spPr>
        <p:txBody>
          <a:bodyPr wrap="square" lIns="0" rIns="0" tIns="0" bIns="0">
            <a:spAutoFit/>
          </a:bodyPr>
          <a:lstStyle/>
          <a:p>
            <a:pPr>
              <a:lnSpc>
                <a:spcPct val="112000"/>
              </a:lnSpc>
              <a:spcAft>
                <a:spcPts val="200"/>
              </a:spcAft>
              <a:defRPr sz="1500" b="0">
                <a:solidFill>
                  <a:srgbClr val="DAA64D"/>
                </a:solidFill>
                <a:latin typeface="Noto Sans CJK KR"/>
              </a:defRPr>
            </a:pPr>
            <a:r>
              <a:t>저탄소형</a:t>
            </a:r>
          </a:p>
        </p:txBody>
      </p:sp>
      <p:sp>
        <p:nvSpPr>
          <p:cNvPr id="31" name="Rectangle 30"/>
          <p:cNvSpPr/>
          <p:nvPr/>
        </p:nvSpPr>
        <p:spPr>
          <a:xfrm>
            <a:off x="11932920" y="4432096"/>
            <a:ext cx="1165860" cy="707288"/>
          </a:xfrm>
          <a:prstGeom prst="rect">
            <a:avLst/>
          </a:prstGeom>
          <a:solidFill>
            <a:srgbClr val="8BDF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Isosceles Triangle 31"/>
          <p:cNvSpPr/>
          <p:nvPr/>
        </p:nvSpPr>
        <p:spPr>
          <a:xfrm>
            <a:off x="11886285" y="4167835"/>
            <a:ext cx="1259128" cy="466344"/>
          </a:xfrm>
          <a:prstGeom prst="triangle">
            <a:avLst/>
          </a:prstGeom>
          <a:solidFill>
            <a:srgbClr val="8BDFC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12267133" y="4727448"/>
            <a:ext cx="497433" cy="411937"/>
          </a:xfrm>
          <a:prstGeom prst="rect">
            <a:avLst/>
          </a:prstGeom>
          <a:solidFill>
            <a:srgbClr val="D1E0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12152376" y="5623560"/>
            <a:ext cx="672084" cy="41605"/>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12184380" y="5665165"/>
            <a:ext cx="64007" cy="44805"/>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12453213" y="5665165"/>
            <a:ext cx="64007" cy="44805"/>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12722047" y="5665165"/>
            <a:ext cx="64007" cy="44805"/>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12152376" y="5533948"/>
            <a:ext cx="672084" cy="41605"/>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12184380" y="5575554"/>
            <a:ext cx="64007" cy="44805"/>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12453213" y="5575554"/>
            <a:ext cx="64007" cy="44805"/>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12722047" y="5575554"/>
            <a:ext cx="64007" cy="44805"/>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12152376" y="5444337"/>
            <a:ext cx="672084" cy="41605"/>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ectangle 42"/>
          <p:cNvSpPr/>
          <p:nvPr/>
        </p:nvSpPr>
        <p:spPr>
          <a:xfrm>
            <a:off x="12184380" y="5485942"/>
            <a:ext cx="64007" cy="44805"/>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12453213" y="5485942"/>
            <a:ext cx="64007" cy="44805"/>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ectangle 44"/>
          <p:cNvSpPr/>
          <p:nvPr/>
        </p:nvSpPr>
        <p:spPr>
          <a:xfrm>
            <a:off x="12722047" y="5485942"/>
            <a:ext cx="64007" cy="44805"/>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11649456" y="5980176"/>
            <a:ext cx="2002536" cy="320040"/>
          </a:xfrm>
          <a:prstGeom prst="rect">
            <a:avLst/>
          </a:prstGeom>
          <a:noFill/>
        </p:spPr>
        <p:txBody>
          <a:bodyPr wrap="square" lIns="0" rIns="0" tIns="0" bIns="0">
            <a:spAutoFit/>
          </a:bodyPr>
          <a:lstStyle/>
          <a:p>
            <a:pPr algn="ctr">
              <a:lnSpc>
                <a:spcPct val="112000"/>
              </a:lnSpc>
              <a:spcAft>
                <a:spcPts val="200"/>
              </a:spcAft>
              <a:defRPr sz="1800" b="1">
                <a:solidFill>
                  <a:srgbClr val="FFFFFF"/>
                </a:solidFill>
                <a:latin typeface="Noto Sans CJK KR"/>
              </a:defRPr>
            </a:pPr>
            <a:r>
              <a:t>수요 거점</a:t>
            </a:r>
          </a:p>
        </p:txBody>
      </p:sp>
      <p:sp>
        <p:nvSpPr>
          <p:cNvPr id="47" name="TextBox 46"/>
          <p:cNvSpPr txBox="1"/>
          <p:nvPr/>
        </p:nvSpPr>
        <p:spPr>
          <a:xfrm>
            <a:off x="7040880" y="6547104"/>
            <a:ext cx="6601968" cy="228600"/>
          </a:xfrm>
          <a:prstGeom prst="rect">
            <a:avLst/>
          </a:prstGeom>
          <a:noFill/>
        </p:spPr>
        <p:txBody>
          <a:bodyPr wrap="square" lIns="0" rIns="0" tIns="0" bIns="0">
            <a:spAutoFit/>
          </a:bodyPr>
          <a:lstStyle/>
          <a:p>
            <a:pPr>
              <a:lnSpc>
                <a:spcPct val="112000"/>
              </a:lnSpc>
              <a:spcAft>
                <a:spcPts val="200"/>
              </a:spcAft>
              <a:defRPr sz="1200" b="0">
                <a:solidFill>
                  <a:srgbClr val="AEC3D6"/>
                </a:solidFill>
                <a:latin typeface="Noto Sans CJK KR"/>
              </a:defRPr>
            </a:pPr>
            <a:r>
              <a:t>개념도 · 운송안은 재고·노선·차량 조합으로 구성</a:t>
            </a:r>
          </a:p>
        </p:txBody>
      </p:sp>
      <p:sp>
        <p:nvSpPr>
          <p:cNvPr id="48" name="TextBox 47"/>
          <p:cNvSpPr txBox="1"/>
          <p:nvPr/>
        </p:nvSpPr>
        <p:spPr>
          <a:xfrm>
            <a:off x="6748272" y="7242048"/>
            <a:ext cx="7214616" cy="256032"/>
          </a:xfrm>
          <a:prstGeom prst="rect">
            <a:avLst/>
          </a:prstGeom>
          <a:noFill/>
        </p:spPr>
        <p:txBody>
          <a:bodyPr wrap="square" lIns="0" rIns="0" tIns="0" bIns="0">
            <a:spAutoFit/>
          </a:bodyPr>
          <a:lstStyle/>
          <a:p>
            <a:pPr>
              <a:lnSpc>
                <a:spcPct val="112000"/>
              </a:lnSpc>
              <a:spcAft>
                <a:spcPts val="200"/>
              </a:spcAft>
              <a:defRPr sz="1400" b="1">
                <a:solidFill>
                  <a:srgbClr val="8BDFCC"/>
                </a:solidFill>
                <a:latin typeface="Noto Sans CJK KR"/>
              </a:defRPr>
            </a:pPr>
            <a:r>
              <a:t>예선 원안 계승  /  CUR · 4단계 운영 모드 · RPS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94360" y="283464"/>
            <a:ext cx="10972800" cy="256032"/>
          </a:xfrm>
          <a:prstGeom prst="rect">
            <a:avLst/>
          </a:prstGeom>
          <a:noFill/>
        </p:spPr>
        <p:txBody>
          <a:bodyPr wrap="square" lIns="0" rIns="0" tIns="0" bIns="0">
            <a:spAutoFit/>
          </a:bodyPr>
          <a:lstStyle/>
          <a:p>
            <a:pPr>
              <a:lnSpc>
                <a:spcPct val="112000"/>
              </a:lnSpc>
              <a:spcAft>
                <a:spcPts val="200"/>
              </a:spcAft>
              <a:defRPr sz="1200" b="1">
                <a:solidFill>
                  <a:srgbClr val="00877F"/>
                </a:solidFill>
                <a:latin typeface="Noto Sans CJK KR"/>
              </a:defRPr>
            </a:pPr>
            <a:r>
              <a:t>CBP  /  CARBON BUDGET POOLING</a:t>
            </a:r>
          </a:p>
        </p:txBody>
      </p:sp>
      <p:sp>
        <p:nvSpPr>
          <p:cNvPr id="3" name="TextBox 2"/>
          <p:cNvSpPr txBox="1"/>
          <p:nvPr/>
        </p:nvSpPr>
        <p:spPr>
          <a:xfrm>
            <a:off x="12298680" y="283464"/>
            <a:ext cx="1737360" cy="256032"/>
          </a:xfrm>
          <a:prstGeom prst="rect">
            <a:avLst/>
          </a:prstGeom>
          <a:noFill/>
        </p:spPr>
        <p:txBody>
          <a:bodyPr wrap="square" lIns="0" rIns="0" tIns="0" bIns="0">
            <a:spAutoFit/>
          </a:bodyPr>
          <a:lstStyle/>
          <a:p>
            <a:pPr algn="r">
              <a:lnSpc>
                <a:spcPct val="112000"/>
              </a:lnSpc>
              <a:spcAft>
                <a:spcPts val="200"/>
              </a:spcAft>
              <a:defRPr sz="1200" b="1">
                <a:solidFill>
                  <a:srgbClr val="63778C"/>
                </a:solidFill>
                <a:latin typeface="Noto Sans CJK KR"/>
              </a:defRPr>
            </a:pPr>
            <a:r>
              <a:t>02</a:t>
            </a:r>
          </a:p>
        </p:txBody>
      </p:sp>
      <p:sp>
        <p:nvSpPr>
          <p:cNvPr id="4" name="TextBox 3"/>
          <p:cNvSpPr txBox="1"/>
          <p:nvPr/>
        </p:nvSpPr>
        <p:spPr>
          <a:xfrm>
            <a:off x="594360" y="850392"/>
            <a:ext cx="13441680" cy="1060704"/>
          </a:xfrm>
          <a:prstGeom prst="rect">
            <a:avLst/>
          </a:prstGeom>
          <a:noFill/>
        </p:spPr>
        <p:txBody>
          <a:bodyPr wrap="square" lIns="0" rIns="0" tIns="0" bIns="0">
            <a:spAutoFit/>
          </a:bodyPr>
          <a:lstStyle/>
          <a:p>
            <a:pPr>
              <a:lnSpc>
                <a:spcPct val="112000"/>
              </a:lnSpc>
              <a:spcAft>
                <a:spcPts val="200"/>
              </a:spcAft>
              <a:defRPr sz="3400" b="1">
                <a:solidFill>
                  <a:srgbClr val="20354D"/>
                </a:solidFill>
                <a:latin typeface="Noto Sans CJK KR"/>
              </a:defRPr>
            </a:pPr>
            <a:r>
              <a:t>탄소예산을 “운영 신호”로 바꾸는 순환</a:t>
            </a:r>
          </a:p>
        </p:txBody>
      </p:sp>
      <p:sp>
        <p:nvSpPr>
          <p:cNvPr id="5" name="TextBox 4"/>
          <p:cNvSpPr txBox="1"/>
          <p:nvPr/>
        </p:nvSpPr>
        <p:spPr>
          <a:xfrm>
            <a:off x="621792" y="1920240"/>
            <a:ext cx="13350240" cy="475488"/>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CBP는 배출 실적을 다음 파렛트 재배치의 의사결정에 다시 연결합니다.</a:t>
            </a:r>
          </a:p>
        </p:txBody>
      </p:sp>
      <p:cxnSp>
        <p:nvCxnSpPr>
          <p:cNvPr id="6" name="Connector 5"/>
          <p:cNvCxnSpPr/>
          <p:nvPr/>
        </p:nvCxnSpPr>
        <p:spPr>
          <a:xfrm>
            <a:off x="594360" y="7772400"/>
            <a:ext cx="13441680" cy="0"/>
          </a:xfrm>
          <a:prstGeom prst="line">
            <a:avLst/>
          </a:prstGeom>
          <a:ln w="12700">
            <a:solidFill>
              <a:srgbClr val="D5DFE9"/>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12648" y="7900416"/>
            <a:ext cx="13350240" cy="192024"/>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두런두런  |  제13회 유닛로드시스템(ULS) 창의성 공모전  |  탄소예산 기반 재배치 의사결정</a:t>
            </a:r>
          </a:p>
        </p:txBody>
      </p:sp>
      <p:sp>
        <p:nvSpPr>
          <p:cNvPr id="8" name="Rectangle 7"/>
          <p:cNvSpPr/>
          <p:nvPr/>
        </p:nvSpPr>
        <p:spPr>
          <a:xfrm>
            <a:off x="667512" y="2642616"/>
            <a:ext cx="3291840" cy="4443984"/>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41832" y="2907792"/>
            <a:ext cx="2724912" cy="283464"/>
          </a:xfrm>
          <a:prstGeom prst="rect">
            <a:avLst/>
          </a:prstGeom>
          <a:noFill/>
        </p:spPr>
        <p:txBody>
          <a:bodyPr wrap="square" lIns="0" rIns="0" tIns="0" bIns="0">
            <a:spAutoFit/>
          </a:bodyPr>
          <a:lstStyle/>
          <a:p>
            <a:pPr>
              <a:lnSpc>
                <a:spcPct val="112000"/>
              </a:lnSpc>
              <a:spcAft>
                <a:spcPts val="200"/>
              </a:spcAft>
              <a:defRPr sz="1800" b="1">
                <a:solidFill>
                  <a:srgbClr val="AEC3D6"/>
                </a:solidFill>
                <a:latin typeface="Noto Sans CJK KR"/>
              </a:defRPr>
            </a:pPr>
            <a:r>
              <a:t>01  현재 상태 읽기</a:t>
            </a:r>
          </a:p>
        </p:txBody>
      </p:sp>
      <p:sp>
        <p:nvSpPr>
          <p:cNvPr id="10" name="TextBox 9"/>
          <p:cNvSpPr txBox="1"/>
          <p:nvPr/>
        </p:nvSpPr>
        <p:spPr>
          <a:xfrm>
            <a:off x="914400" y="3447288"/>
            <a:ext cx="2743200" cy="832104"/>
          </a:xfrm>
          <a:prstGeom prst="rect">
            <a:avLst/>
          </a:prstGeom>
          <a:noFill/>
        </p:spPr>
        <p:txBody>
          <a:bodyPr wrap="square" lIns="0" rIns="0" tIns="0" bIns="0">
            <a:spAutoFit/>
          </a:bodyPr>
          <a:lstStyle/>
          <a:p>
            <a:pPr>
              <a:lnSpc>
                <a:spcPct val="112000"/>
              </a:lnSpc>
              <a:spcAft>
                <a:spcPts val="200"/>
              </a:spcAft>
              <a:defRPr sz="6100" b="1">
                <a:solidFill>
                  <a:srgbClr val="FFFFFF"/>
                </a:solidFill>
                <a:latin typeface="Noto Sans CJK KR"/>
              </a:defRPr>
            </a:pPr>
            <a:r>
              <a:t>82%</a:t>
            </a:r>
          </a:p>
        </p:txBody>
      </p:sp>
      <p:sp>
        <p:nvSpPr>
          <p:cNvPr id="11" name="TextBox 10"/>
          <p:cNvSpPr txBox="1"/>
          <p:nvPr/>
        </p:nvSpPr>
        <p:spPr>
          <a:xfrm>
            <a:off x="950976" y="4462272"/>
            <a:ext cx="2706624" cy="329184"/>
          </a:xfrm>
          <a:prstGeom prst="rect">
            <a:avLst/>
          </a:prstGeom>
          <a:noFill/>
        </p:spPr>
        <p:txBody>
          <a:bodyPr wrap="square" lIns="0" rIns="0" tIns="0" bIns="0">
            <a:spAutoFit/>
          </a:bodyPr>
          <a:lstStyle/>
          <a:p>
            <a:pPr>
              <a:lnSpc>
                <a:spcPct val="112000"/>
              </a:lnSpc>
              <a:spcAft>
                <a:spcPts val="200"/>
              </a:spcAft>
              <a:defRPr sz="1700" b="1">
                <a:solidFill>
                  <a:srgbClr val="8BDFCC"/>
                </a:solidFill>
                <a:latin typeface="Noto Sans CJK KR"/>
              </a:defRPr>
            </a:pPr>
            <a:r>
              <a:t>탄소예산 사용률 CUR</a:t>
            </a:r>
          </a:p>
        </p:txBody>
      </p:sp>
      <p:sp>
        <p:nvSpPr>
          <p:cNvPr id="12" name="Rectangle 11"/>
          <p:cNvSpPr/>
          <p:nvPr/>
        </p:nvSpPr>
        <p:spPr>
          <a:xfrm>
            <a:off x="960120" y="5056632"/>
            <a:ext cx="2688336" cy="146304"/>
          </a:xfrm>
          <a:prstGeom prst="rect">
            <a:avLst/>
          </a:prstGeom>
          <a:solidFill>
            <a:srgbClr val="4860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960120" y="5056632"/>
            <a:ext cx="2204435" cy="146304"/>
          </a:xfrm>
          <a:prstGeom prst="rect">
            <a:avLst/>
          </a:prstGeom>
          <a:solidFill>
            <a:srgbClr val="8BDF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0120" y="5532120"/>
            <a:ext cx="2697480" cy="813816"/>
          </a:xfrm>
          <a:prstGeom prst="rect">
            <a:avLst/>
          </a:prstGeom>
          <a:noFill/>
        </p:spPr>
        <p:txBody>
          <a:bodyPr wrap="square" lIns="0" rIns="0" tIns="0" bIns="0">
            <a:spAutoFit/>
          </a:bodyPr>
          <a:lstStyle/>
          <a:p>
            <a:pPr>
              <a:lnSpc>
                <a:spcPct val="112000"/>
              </a:lnSpc>
              <a:spcAft>
                <a:spcPts val="200"/>
              </a:spcAft>
              <a:defRPr sz="1700" b="0">
                <a:solidFill>
                  <a:srgbClr val="FFFFFF"/>
                </a:solidFill>
                <a:latin typeface="Noto Sans CJK KR"/>
              </a:defRPr>
            </a:pPr>
            <a:r>
              <a:t>사용 8,200 ÷ 예산 10,000</a:t>
            </a:r>
          </a:p>
          <a:p>
            <a:pPr>
              <a:lnSpc>
                <a:spcPct val="112000"/>
              </a:lnSpc>
              <a:spcAft>
                <a:spcPts val="200"/>
              </a:spcAft>
              <a:defRPr sz="1700" b="0">
                <a:solidFill>
                  <a:srgbClr val="FFFFFF"/>
                </a:solidFill>
                <a:latin typeface="Noto Sans CJK KR"/>
              </a:defRPr>
            </a:pPr>
            <a:r>
              <a:t>× 100 = 82%</a:t>
            </a:r>
          </a:p>
        </p:txBody>
      </p:sp>
      <p:sp>
        <p:nvSpPr>
          <p:cNvPr id="15" name="TextBox 14"/>
          <p:cNvSpPr txBox="1"/>
          <p:nvPr/>
        </p:nvSpPr>
        <p:spPr>
          <a:xfrm>
            <a:off x="960120" y="6601968"/>
            <a:ext cx="2697480" cy="237744"/>
          </a:xfrm>
          <a:prstGeom prst="rect">
            <a:avLst/>
          </a:prstGeom>
          <a:noFill/>
        </p:spPr>
        <p:txBody>
          <a:bodyPr wrap="square" lIns="0" rIns="0" tIns="0" bIns="0">
            <a:spAutoFit/>
          </a:bodyPr>
          <a:lstStyle/>
          <a:p>
            <a:pPr>
              <a:lnSpc>
                <a:spcPct val="112000"/>
              </a:lnSpc>
              <a:spcAft>
                <a:spcPts val="200"/>
              </a:spcAft>
              <a:defRPr sz="1100" b="0">
                <a:solidFill>
                  <a:srgbClr val="AEC3D6"/>
                </a:solidFill>
                <a:latin typeface="Noto Sans CJK KR"/>
              </a:defRPr>
            </a:pPr>
            <a:r>
              <a:t>단위 kgCO₂e · 설명용 가정</a:t>
            </a:r>
          </a:p>
        </p:txBody>
      </p:sp>
      <p:sp>
        <p:nvSpPr>
          <p:cNvPr id="16" name="Right Arrow 15"/>
          <p:cNvSpPr/>
          <p:nvPr/>
        </p:nvSpPr>
        <p:spPr>
          <a:xfrm>
            <a:off x="4178808" y="3730752"/>
            <a:ext cx="566928" cy="210312"/>
          </a:xfrm>
          <a:prstGeom prst="rightArrow">
            <a:avLst/>
          </a:prstGeom>
          <a:solidFill>
            <a:srgbClr val="00877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965192" y="2926080"/>
            <a:ext cx="4251960" cy="2103120"/>
          </a:xfrm>
          <a:prstGeom prst="rect">
            <a:avLst/>
          </a:prstGeom>
          <a:solidFill>
            <a:srgbClr val="FFFFFF"/>
          </a:solidFill>
          <a:ln w="12700">
            <a:solidFill>
              <a:srgbClr val="D5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5184648" y="3136392"/>
            <a:ext cx="521207" cy="329184"/>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276088" y="3186684"/>
            <a:ext cx="338327" cy="228600"/>
          </a:xfrm>
          <a:prstGeom prst="rect">
            <a:avLst/>
          </a:prstGeom>
          <a:noFill/>
        </p:spPr>
        <p:txBody>
          <a:bodyPr wrap="square" lIns="0" rIns="0" tIns="0" bIns="0">
            <a:spAutoFit/>
          </a:bodyPr>
          <a:lstStyle/>
          <a:p>
            <a:pPr>
              <a:lnSpc>
                <a:spcPct val="112000"/>
              </a:lnSpc>
              <a:spcAft>
                <a:spcPts val="200"/>
              </a:spcAft>
              <a:defRPr sz="1200" b="1">
                <a:solidFill>
                  <a:srgbClr val="FFFFFF"/>
                </a:solidFill>
                <a:latin typeface="Noto Sans CJK KR"/>
              </a:defRPr>
            </a:pPr>
            <a:r>
              <a:t>02</a:t>
            </a:r>
          </a:p>
        </p:txBody>
      </p:sp>
      <p:sp>
        <p:nvSpPr>
          <p:cNvPr id="20" name="TextBox 19"/>
          <p:cNvSpPr txBox="1"/>
          <p:nvPr/>
        </p:nvSpPr>
        <p:spPr>
          <a:xfrm>
            <a:off x="5861304" y="3136392"/>
            <a:ext cx="3127248" cy="384048"/>
          </a:xfrm>
          <a:prstGeom prst="rect">
            <a:avLst/>
          </a:prstGeom>
          <a:noFill/>
        </p:spPr>
        <p:txBody>
          <a:bodyPr wrap="square" lIns="0" rIns="0" tIns="0" bIns="0">
            <a:spAutoFit/>
          </a:bodyPr>
          <a:lstStyle/>
          <a:p>
            <a:pPr>
              <a:lnSpc>
                <a:spcPct val="112000"/>
              </a:lnSpc>
              <a:spcAft>
                <a:spcPts val="200"/>
              </a:spcAft>
              <a:defRPr sz="2500" b="1">
                <a:solidFill>
                  <a:srgbClr val="20354D"/>
                </a:solidFill>
                <a:latin typeface="Noto Sans CJK KR"/>
              </a:defRPr>
            </a:pPr>
            <a:r>
              <a:t>모드 결정</a:t>
            </a:r>
          </a:p>
        </p:txBody>
      </p:sp>
      <p:sp>
        <p:nvSpPr>
          <p:cNvPr id="21" name="TextBox 20"/>
          <p:cNvSpPr txBox="1"/>
          <p:nvPr/>
        </p:nvSpPr>
        <p:spPr>
          <a:xfrm>
            <a:off x="5202936" y="3840480"/>
            <a:ext cx="3776472" cy="758952"/>
          </a:xfrm>
          <a:prstGeom prst="rect">
            <a:avLst/>
          </a:prstGeom>
          <a:noFill/>
        </p:spPr>
        <p:txBody>
          <a:bodyPr wrap="square" lIns="0" rIns="0" tIns="0" bIns="0">
            <a:spAutoFit/>
          </a:bodyPr>
          <a:lstStyle/>
          <a:p>
            <a:pPr>
              <a:lnSpc>
                <a:spcPct val="112000"/>
              </a:lnSpc>
              <a:spcAft>
                <a:spcPts val="200"/>
              </a:spcAft>
              <a:defRPr sz="2000" b="0">
                <a:solidFill>
                  <a:srgbClr val="63778C"/>
                </a:solidFill>
                <a:latin typeface="Noto Sans CJK KR"/>
              </a:defRPr>
            </a:pPr>
            <a:r>
              <a:t>사용률 구간에 맞춰</a:t>
            </a:r>
          </a:p>
          <a:p>
            <a:pPr>
              <a:lnSpc>
                <a:spcPct val="112000"/>
              </a:lnSpc>
              <a:spcAft>
                <a:spcPts val="200"/>
              </a:spcAft>
              <a:defRPr sz="2000" b="0">
                <a:solidFill>
                  <a:srgbClr val="63778C"/>
                </a:solidFill>
                <a:latin typeface="Noto Sans CJK KR"/>
              </a:defRPr>
            </a:pPr>
            <a:r>
              <a:t>비용·탄소 비중 조정</a:t>
            </a:r>
          </a:p>
        </p:txBody>
      </p:sp>
      <p:sp>
        <p:nvSpPr>
          <p:cNvPr id="22" name="Rectangle 21"/>
          <p:cNvSpPr/>
          <p:nvPr/>
        </p:nvSpPr>
        <p:spPr>
          <a:xfrm>
            <a:off x="9710928" y="2926080"/>
            <a:ext cx="4251960" cy="2103120"/>
          </a:xfrm>
          <a:prstGeom prst="rect">
            <a:avLst/>
          </a:prstGeom>
          <a:solidFill>
            <a:srgbClr val="FFFFFF"/>
          </a:solidFill>
          <a:ln w="12700">
            <a:solidFill>
              <a:srgbClr val="D5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930384" y="3136392"/>
            <a:ext cx="521207" cy="329184"/>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021824" y="3186684"/>
            <a:ext cx="338327" cy="228600"/>
          </a:xfrm>
          <a:prstGeom prst="rect">
            <a:avLst/>
          </a:prstGeom>
          <a:noFill/>
        </p:spPr>
        <p:txBody>
          <a:bodyPr wrap="square" lIns="0" rIns="0" tIns="0" bIns="0">
            <a:spAutoFit/>
          </a:bodyPr>
          <a:lstStyle/>
          <a:p>
            <a:pPr>
              <a:lnSpc>
                <a:spcPct val="112000"/>
              </a:lnSpc>
              <a:spcAft>
                <a:spcPts val="200"/>
              </a:spcAft>
              <a:defRPr sz="1200" b="1">
                <a:solidFill>
                  <a:srgbClr val="FFFFFF"/>
                </a:solidFill>
                <a:latin typeface="Noto Sans CJK KR"/>
              </a:defRPr>
            </a:pPr>
            <a:r>
              <a:t>03</a:t>
            </a:r>
          </a:p>
        </p:txBody>
      </p:sp>
      <p:sp>
        <p:nvSpPr>
          <p:cNvPr id="25" name="TextBox 24"/>
          <p:cNvSpPr txBox="1"/>
          <p:nvPr/>
        </p:nvSpPr>
        <p:spPr>
          <a:xfrm>
            <a:off x="10607040" y="3136392"/>
            <a:ext cx="3127248" cy="384048"/>
          </a:xfrm>
          <a:prstGeom prst="rect">
            <a:avLst/>
          </a:prstGeom>
          <a:noFill/>
        </p:spPr>
        <p:txBody>
          <a:bodyPr wrap="square" lIns="0" rIns="0" tIns="0" bIns="0">
            <a:spAutoFit/>
          </a:bodyPr>
          <a:lstStyle/>
          <a:p>
            <a:pPr>
              <a:lnSpc>
                <a:spcPct val="112000"/>
              </a:lnSpc>
              <a:spcAft>
                <a:spcPts val="200"/>
              </a:spcAft>
              <a:defRPr sz="2500" b="1">
                <a:solidFill>
                  <a:srgbClr val="20354D"/>
                </a:solidFill>
                <a:latin typeface="Noto Sans CJK KR"/>
              </a:defRPr>
            </a:pPr>
            <a:r>
              <a:t>후보 평가</a:t>
            </a:r>
          </a:p>
        </p:txBody>
      </p:sp>
      <p:sp>
        <p:nvSpPr>
          <p:cNvPr id="26" name="TextBox 25"/>
          <p:cNvSpPr txBox="1"/>
          <p:nvPr/>
        </p:nvSpPr>
        <p:spPr>
          <a:xfrm>
            <a:off x="9948672" y="3840480"/>
            <a:ext cx="3776472" cy="758952"/>
          </a:xfrm>
          <a:prstGeom prst="rect">
            <a:avLst/>
          </a:prstGeom>
          <a:noFill/>
        </p:spPr>
        <p:txBody>
          <a:bodyPr wrap="square" lIns="0" rIns="0" tIns="0" bIns="0">
            <a:spAutoFit/>
          </a:bodyPr>
          <a:lstStyle/>
          <a:p>
            <a:pPr>
              <a:lnSpc>
                <a:spcPct val="112000"/>
              </a:lnSpc>
              <a:spcAft>
                <a:spcPts val="200"/>
              </a:spcAft>
              <a:defRPr sz="2000" b="0">
                <a:solidFill>
                  <a:srgbClr val="63778C"/>
                </a:solidFill>
                <a:latin typeface="Noto Sans CJK KR"/>
              </a:defRPr>
            </a:pPr>
            <a:r>
              <a:t>제약을 통과한 후보만</a:t>
            </a:r>
          </a:p>
          <a:p>
            <a:pPr>
              <a:lnSpc>
                <a:spcPct val="112000"/>
              </a:lnSpc>
              <a:spcAft>
                <a:spcPts val="200"/>
              </a:spcAft>
              <a:defRPr sz="2000" b="0">
                <a:solidFill>
                  <a:srgbClr val="63778C"/>
                </a:solidFill>
                <a:latin typeface="Noto Sans CJK KR"/>
              </a:defRPr>
            </a:pPr>
            <a:r>
              <a:t>종합점수를 비교해 선택</a:t>
            </a:r>
          </a:p>
        </p:txBody>
      </p:sp>
      <p:sp>
        <p:nvSpPr>
          <p:cNvPr id="27" name="Right Arrow 26"/>
          <p:cNvSpPr/>
          <p:nvPr/>
        </p:nvSpPr>
        <p:spPr>
          <a:xfrm>
            <a:off x="9317736" y="3730752"/>
            <a:ext cx="265176" cy="210312"/>
          </a:xfrm>
          <a:prstGeom prst="rightArrow">
            <a:avLst/>
          </a:prstGeom>
          <a:solidFill>
            <a:srgbClr val="00877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4965192" y="5330952"/>
            <a:ext cx="8997696" cy="640080"/>
          </a:xfrm>
          <a:prstGeom prst="rect">
            <a:avLst/>
          </a:prstGeom>
          <a:solidFill>
            <a:srgbClr val="E4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193792" y="5504688"/>
            <a:ext cx="8540496" cy="301752"/>
          </a:xfrm>
          <a:prstGeom prst="rect">
            <a:avLst/>
          </a:prstGeom>
          <a:noFill/>
        </p:spPr>
        <p:txBody>
          <a:bodyPr wrap="square" lIns="0" rIns="0" tIns="0" bIns="0">
            <a:spAutoFit/>
          </a:bodyPr>
          <a:lstStyle/>
          <a:p>
            <a:pPr>
              <a:lnSpc>
                <a:spcPct val="112000"/>
              </a:lnSpc>
              <a:spcAft>
                <a:spcPts val="200"/>
              </a:spcAft>
              <a:defRPr sz="1700" b="1">
                <a:solidFill>
                  <a:srgbClr val="00877F"/>
                </a:solidFill>
                <a:latin typeface="Noto Sans CJK KR"/>
              </a:defRPr>
            </a:pPr>
            <a:r>
              <a:t>후보 진입 조건  |  수량 · 기한 · 호환 규격 · 적재 · 잔여예산</a:t>
            </a:r>
          </a:p>
        </p:txBody>
      </p:sp>
      <p:cxnSp>
        <p:nvCxnSpPr>
          <p:cNvPr id="30" name="Connector 29"/>
          <p:cNvCxnSpPr/>
          <p:nvPr/>
        </p:nvCxnSpPr>
        <p:spPr>
          <a:xfrm>
            <a:off x="11832336" y="5038344"/>
            <a:ext cx="0" cy="265176"/>
          </a:xfrm>
          <a:prstGeom prst="line">
            <a:avLst/>
          </a:prstGeom>
          <a:ln w="25400">
            <a:solidFill>
              <a:srgbClr val="00877F"/>
            </a:solidFill>
          </a:ln>
        </p:spPr>
        <p:style>
          <a:lnRef idx="2">
            <a:schemeClr val="accent1"/>
          </a:lnRef>
          <a:fillRef idx="0">
            <a:schemeClr val="accent1"/>
          </a:fillRef>
          <a:effectRef idx="0">
            <a:schemeClr val="accent1"/>
          </a:effectRef>
          <a:fontRef idx="minor">
            <a:schemeClr val="tx1"/>
          </a:fontRef>
        </p:style>
      </p:cxnSp>
      <p:sp>
        <p:nvSpPr>
          <p:cNvPr id="31" name="Rectangle 30"/>
          <p:cNvSpPr/>
          <p:nvPr/>
        </p:nvSpPr>
        <p:spPr>
          <a:xfrm>
            <a:off x="4965192" y="6355080"/>
            <a:ext cx="8997696" cy="749808"/>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212080" y="6556248"/>
            <a:ext cx="8503920" cy="338328"/>
          </a:xfrm>
          <a:prstGeom prst="rect">
            <a:avLst/>
          </a:prstGeom>
          <a:noFill/>
        </p:spPr>
        <p:txBody>
          <a:bodyPr wrap="square" lIns="0" rIns="0" tIns="0" bIns="0">
            <a:spAutoFit/>
          </a:bodyPr>
          <a:lstStyle/>
          <a:p>
            <a:pPr>
              <a:lnSpc>
                <a:spcPct val="112000"/>
              </a:lnSpc>
              <a:spcAft>
                <a:spcPts val="200"/>
              </a:spcAft>
              <a:defRPr sz="2300" b="1">
                <a:solidFill>
                  <a:srgbClr val="FFFFFF"/>
                </a:solidFill>
                <a:latin typeface="Noto Sans CJK KR"/>
              </a:defRPr>
            </a:pPr>
            <a:r>
              <a:t>04  실행 → 실제 배출 반영 → 다음 의사결정</a:t>
            </a:r>
          </a:p>
        </p:txBody>
      </p:sp>
      <p:cxnSp>
        <p:nvCxnSpPr>
          <p:cNvPr id="33" name="Connector 32"/>
          <p:cNvCxnSpPr/>
          <p:nvPr/>
        </p:nvCxnSpPr>
        <p:spPr>
          <a:xfrm flipH="1">
            <a:off x="4325112" y="6748272"/>
            <a:ext cx="640080" cy="0"/>
          </a:xfrm>
          <a:prstGeom prst="line">
            <a:avLst/>
          </a:prstGeom>
          <a:ln w="25400">
            <a:solidFill>
              <a:srgbClr val="00877F"/>
            </a:solidFill>
          </a:ln>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V="1">
            <a:off x="4325112" y="5971032"/>
            <a:ext cx="0" cy="777240"/>
          </a:xfrm>
          <a:prstGeom prst="line">
            <a:avLst/>
          </a:prstGeom>
          <a:ln w="25400">
            <a:solidFill>
              <a:srgbClr val="00877F"/>
            </a:solidFill>
          </a:ln>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flipH="1">
            <a:off x="3959352" y="5971032"/>
            <a:ext cx="365760" cy="0"/>
          </a:xfrm>
          <a:prstGeom prst="line">
            <a:avLst/>
          </a:prstGeom>
          <a:ln w="25400">
            <a:solidFill>
              <a:srgbClr val="00877F"/>
            </a:solidFill>
          </a:ln>
        </p:spPr>
        <p:style>
          <a:lnRef idx="2">
            <a:schemeClr val="accent1"/>
          </a:lnRef>
          <a:fillRef idx="0">
            <a:schemeClr val="accent1"/>
          </a:fillRef>
          <a:effectRef idx="0">
            <a:schemeClr val="accent1"/>
          </a:effectRef>
          <a:fontRef idx="minor">
            <a:schemeClr val="tx1"/>
          </a:fontRef>
        </p:style>
      </p:cxnSp>
      <p:sp>
        <p:nvSpPr>
          <p:cNvPr id="36" name="Right Arrow 35"/>
          <p:cNvSpPr/>
          <p:nvPr/>
        </p:nvSpPr>
        <p:spPr>
          <a:xfrm rot="10800000">
            <a:off x="3959352" y="5861304"/>
            <a:ext cx="365760" cy="210312"/>
          </a:xfrm>
          <a:prstGeom prst="rightArrow">
            <a:avLst/>
          </a:prstGeom>
          <a:solidFill>
            <a:srgbClr val="00877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Down Arrow 36"/>
          <p:cNvSpPr/>
          <p:nvPr/>
        </p:nvSpPr>
        <p:spPr>
          <a:xfrm>
            <a:off x="11722608" y="6025896"/>
            <a:ext cx="210312" cy="246888"/>
          </a:xfrm>
          <a:prstGeom prst="downArrow">
            <a:avLst/>
          </a:prstGeom>
          <a:solidFill>
            <a:srgbClr val="00877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67512" y="7470648"/>
            <a:ext cx="13304520" cy="219456"/>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예산은 운영자가 정하는 내부 관리 한도입니다. 법정 배출권을 뜻하지 않으며, 현재 단계는 가중치 기반 의사결정 모형입니다.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94360" y="283464"/>
            <a:ext cx="10972800" cy="256032"/>
          </a:xfrm>
          <a:prstGeom prst="rect">
            <a:avLst/>
          </a:prstGeom>
          <a:noFill/>
        </p:spPr>
        <p:txBody>
          <a:bodyPr wrap="square" lIns="0" rIns="0" tIns="0" bIns="0">
            <a:spAutoFit/>
          </a:bodyPr>
          <a:lstStyle/>
          <a:p>
            <a:pPr>
              <a:lnSpc>
                <a:spcPct val="112000"/>
              </a:lnSpc>
              <a:spcAft>
                <a:spcPts val="200"/>
              </a:spcAft>
              <a:defRPr sz="1200" b="1">
                <a:solidFill>
                  <a:srgbClr val="00877F"/>
                </a:solidFill>
                <a:latin typeface="Noto Sans CJK KR"/>
              </a:defRPr>
            </a:pPr>
            <a:r>
              <a:t>CBP  /  CARBON BUDGET POOLING</a:t>
            </a:r>
          </a:p>
        </p:txBody>
      </p:sp>
      <p:sp>
        <p:nvSpPr>
          <p:cNvPr id="3" name="TextBox 2"/>
          <p:cNvSpPr txBox="1"/>
          <p:nvPr/>
        </p:nvSpPr>
        <p:spPr>
          <a:xfrm>
            <a:off x="12298680" y="283464"/>
            <a:ext cx="1737360" cy="256032"/>
          </a:xfrm>
          <a:prstGeom prst="rect">
            <a:avLst/>
          </a:prstGeom>
          <a:noFill/>
        </p:spPr>
        <p:txBody>
          <a:bodyPr wrap="square" lIns="0" rIns="0" tIns="0" bIns="0">
            <a:spAutoFit/>
          </a:bodyPr>
          <a:lstStyle/>
          <a:p>
            <a:pPr algn="r">
              <a:lnSpc>
                <a:spcPct val="112000"/>
              </a:lnSpc>
              <a:spcAft>
                <a:spcPts val="200"/>
              </a:spcAft>
              <a:defRPr sz="1200" b="1">
                <a:solidFill>
                  <a:srgbClr val="63778C"/>
                </a:solidFill>
                <a:latin typeface="Noto Sans CJK KR"/>
              </a:defRPr>
            </a:pPr>
            <a:r>
              <a:t>03</a:t>
            </a:r>
          </a:p>
        </p:txBody>
      </p:sp>
      <p:sp>
        <p:nvSpPr>
          <p:cNvPr id="4" name="TextBox 3"/>
          <p:cNvSpPr txBox="1"/>
          <p:nvPr/>
        </p:nvSpPr>
        <p:spPr>
          <a:xfrm>
            <a:off x="594360" y="850392"/>
            <a:ext cx="13441680" cy="1060704"/>
          </a:xfrm>
          <a:prstGeom prst="rect">
            <a:avLst/>
          </a:prstGeom>
          <a:noFill/>
        </p:spPr>
        <p:txBody>
          <a:bodyPr wrap="square" lIns="0" rIns="0" tIns="0" bIns="0">
            <a:spAutoFit/>
          </a:bodyPr>
          <a:lstStyle/>
          <a:p>
            <a:pPr>
              <a:lnSpc>
                <a:spcPct val="112000"/>
              </a:lnSpc>
              <a:spcAft>
                <a:spcPts val="200"/>
              </a:spcAft>
              <a:defRPr sz="3400" b="1">
                <a:solidFill>
                  <a:srgbClr val="20354D"/>
                </a:solidFill>
                <a:latin typeface="Noto Sans CJK KR"/>
              </a:defRPr>
            </a:pPr>
            <a:r>
              <a:t>예산을 많이 쓸수록, 탄소의 비중을 높입니다.</a:t>
            </a:r>
          </a:p>
        </p:txBody>
      </p:sp>
      <p:sp>
        <p:nvSpPr>
          <p:cNvPr id="5" name="TextBox 4"/>
          <p:cNvSpPr txBox="1"/>
          <p:nvPr/>
        </p:nvSpPr>
        <p:spPr>
          <a:xfrm>
            <a:off x="621792" y="1920240"/>
            <a:ext cx="13350240" cy="475488"/>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재배치 우선순위 점수(RPS): 세 기준의 가중합. 한도에 닿기 전부터 탄소 비중을 높입니다.</a:t>
            </a:r>
          </a:p>
        </p:txBody>
      </p:sp>
      <p:cxnSp>
        <p:nvCxnSpPr>
          <p:cNvPr id="6" name="Connector 5"/>
          <p:cNvCxnSpPr/>
          <p:nvPr/>
        </p:nvCxnSpPr>
        <p:spPr>
          <a:xfrm>
            <a:off x="594360" y="7772400"/>
            <a:ext cx="13441680" cy="0"/>
          </a:xfrm>
          <a:prstGeom prst="line">
            <a:avLst/>
          </a:prstGeom>
          <a:ln w="12700">
            <a:solidFill>
              <a:srgbClr val="D5DFE9"/>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12648" y="7900416"/>
            <a:ext cx="13350240" cy="192024"/>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두런두런  |  제13회 유닛로드시스템(ULS) 창의성 공모전  |  탄소예산 기반 재배치 의사결정</a:t>
            </a:r>
          </a:p>
        </p:txBody>
      </p:sp>
      <p:sp>
        <p:nvSpPr>
          <p:cNvPr id="8" name="Rectangle 7"/>
          <p:cNvSpPr/>
          <p:nvPr/>
        </p:nvSpPr>
        <p:spPr>
          <a:xfrm>
            <a:off x="8321040" y="2532888"/>
            <a:ext cx="173736" cy="173736"/>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586215" y="2487168"/>
            <a:ext cx="1691640" cy="274320"/>
          </a:xfrm>
          <a:prstGeom prst="rect">
            <a:avLst/>
          </a:prstGeom>
          <a:noFill/>
        </p:spPr>
        <p:txBody>
          <a:bodyPr wrap="square" lIns="0" rIns="0" tIns="0" bIns="0">
            <a:spAutoFit/>
          </a:bodyPr>
          <a:lstStyle/>
          <a:p>
            <a:pPr>
              <a:lnSpc>
                <a:spcPct val="112000"/>
              </a:lnSpc>
              <a:spcAft>
                <a:spcPts val="200"/>
              </a:spcAft>
              <a:defRPr sz="1400" b="0">
                <a:solidFill>
                  <a:srgbClr val="63778C"/>
                </a:solidFill>
                <a:latin typeface="Noto Sans CJK KR"/>
              </a:defRPr>
            </a:pPr>
            <a:r>
              <a:t>비용</a:t>
            </a:r>
          </a:p>
        </p:txBody>
      </p:sp>
      <p:sp>
        <p:nvSpPr>
          <p:cNvPr id="10" name="Rectangle 9"/>
          <p:cNvSpPr/>
          <p:nvPr/>
        </p:nvSpPr>
        <p:spPr>
          <a:xfrm>
            <a:off x="9957816" y="2532888"/>
            <a:ext cx="173736" cy="173736"/>
          </a:xfrm>
          <a:prstGeom prst="rect">
            <a:avLst/>
          </a:prstGeom>
          <a:solidFill>
            <a:srgbClr val="0087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222992" y="2487168"/>
            <a:ext cx="1691640" cy="274320"/>
          </a:xfrm>
          <a:prstGeom prst="rect">
            <a:avLst/>
          </a:prstGeom>
          <a:noFill/>
        </p:spPr>
        <p:txBody>
          <a:bodyPr wrap="square" lIns="0" rIns="0" tIns="0" bIns="0">
            <a:spAutoFit/>
          </a:bodyPr>
          <a:lstStyle/>
          <a:p>
            <a:pPr>
              <a:lnSpc>
                <a:spcPct val="112000"/>
              </a:lnSpc>
              <a:spcAft>
                <a:spcPts val="200"/>
              </a:spcAft>
              <a:defRPr sz="1400" b="0">
                <a:solidFill>
                  <a:srgbClr val="63778C"/>
                </a:solidFill>
                <a:latin typeface="Noto Sans CJK KR"/>
              </a:defRPr>
            </a:pPr>
            <a:r>
              <a:t>탄소</a:t>
            </a:r>
          </a:p>
        </p:txBody>
      </p:sp>
      <p:sp>
        <p:nvSpPr>
          <p:cNvPr id="12" name="Rectangle 11"/>
          <p:cNvSpPr/>
          <p:nvPr/>
        </p:nvSpPr>
        <p:spPr>
          <a:xfrm>
            <a:off x="11603736" y="2532888"/>
            <a:ext cx="173736" cy="173736"/>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68911" y="2487168"/>
            <a:ext cx="1691640" cy="274320"/>
          </a:xfrm>
          <a:prstGeom prst="rect">
            <a:avLst/>
          </a:prstGeom>
          <a:noFill/>
        </p:spPr>
        <p:txBody>
          <a:bodyPr wrap="square" lIns="0" rIns="0" tIns="0" bIns="0">
            <a:spAutoFit/>
          </a:bodyPr>
          <a:lstStyle/>
          <a:p>
            <a:pPr>
              <a:lnSpc>
                <a:spcPct val="112000"/>
              </a:lnSpc>
              <a:spcAft>
                <a:spcPts val="200"/>
              </a:spcAft>
              <a:defRPr sz="1400" b="0">
                <a:solidFill>
                  <a:srgbClr val="63778C"/>
                </a:solidFill>
                <a:latin typeface="Noto Sans CJK KR"/>
              </a:defRPr>
            </a:pPr>
            <a:r>
              <a:t>시간 여유</a:t>
            </a:r>
          </a:p>
        </p:txBody>
      </p:sp>
      <p:sp>
        <p:nvSpPr>
          <p:cNvPr id="14" name="Rectangle 13"/>
          <p:cNvSpPr/>
          <p:nvPr/>
        </p:nvSpPr>
        <p:spPr>
          <a:xfrm>
            <a:off x="667512" y="2980944"/>
            <a:ext cx="3154680" cy="3611880"/>
          </a:xfrm>
          <a:prstGeom prst="rect">
            <a:avLst/>
          </a:prstGeom>
          <a:solidFill>
            <a:srgbClr val="FFFFFF"/>
          </a:solidFill>
          <a:ln w="12700">
            <a:solidFill>
              <a:srgbClr val="D5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68680" y="3209544"/>
            <a:ext cx="2743200" cy="265176"/>
          </a:xfrm>
          <a:prstGeom prst="rect">
            <a:avLst/>
          </a:prstGeom>
          <a:noFill/>
        </p:spPr>
        <p:txBody>
          <a:bodyPr wrap="square" lIns="0" rIns="0" tIns="0" bIns="0">
            <a:spAutoFit/>
          </a:bodyPr>
          <a:lstStyle/>
          <a:p>
            <a:pPr>
              <a:lnSpc>
                <a:spcPct val="112000"/>
              </a:lnSpc>
              <a:spcAft>
                <a:spcPts val="200"/>
              </a:spcAft>
              <a:defRPr sz="1300" b="1">
                <a:solidFill>
                  <a:srgbClr val="63778C"/>
                </a:solidFill>
                <a:latin typeface="Noto Sans CJK KR"/>
              </a:defRPr>
            </a:pPr>
            <a:r>
              <a:t>01  /  COST</a:t>
            </a:r>
          </a:p>
        </p:txBody>
      </p:sp>
      <p:sp>
        <p:nvSpPr>
          <p:cNvPr id="16" name="TextBox 15"/>
          <p:cNvSpPr txBox="1"/>
          <p:nvPr/>
        </p:nvSpPr>
        <p:spPr>
          <a:xfrm>
            <a:off x="868680" y="3712463"/>
            <a:ext cx="2743200" cy="466344"/>
          </a:xfrm>
          <a:prstGeom prst="rect">
            <a:avLst/>
          </a:prstGeom>
          <a:noFill/>
        </p:spPr>
        <p:txBody>
          <a:bodyPr wrap="square" lIns="0" rIns="0" tIns="0" bIns="0">
            <a:spAutoFit/>
          </a:bodyPr>
          <a:lstStyle/>
          <a:p>
            <a:pPr>
              <a:lnSpc>
                <a:spcPct val="112000"/>
              </a:lnSpc>
              <a:spcAft>
                <a:spcPts val="200"/>
              </a:spcAft>
              <a:defRPr sz="2800" b="1">
                <a:solidFill>
                  <a:srgbClr val="20354D"/>
                </a:solidFill>
                <a:latin typeface="Noto Sans CJK KR"/>
              </a:defRPr>
            </a:pPr>
            <a:r>
              <a:t>비용 모드</a:t>
            </a:r>
          </a:p>
        </p:txBody>
      </p:sp>
      <p:sp>
        <p:nvSpPr>
          <p:cNvPr id="17" name="TextBox 16"/>
          <p:cNvSpPr txBox="1"/>
          <p:nvPr/>
        </p:nvSpPr>
        <p:spPr>
          <a:xfrm>
            <a:off x="868680" y="4370832"/>
            <a:ext cx="2743200" cy="292608"/>
          </a:xfrm>
          <a:prstGeom prst="rect">
            <a:avLst/>
          </a:prstGeom>
          <a:noFill/>
        </p:spPr>
        <p:txBody>
          <a:bodyPr wrap="square" lIns="0" rIns="0" tIns="0" bIns="0">
            <a:spAutoFit/>
          </a:bodyPr>
          <a:lstStyle/>
          <a:p>
            <a:pPr>
              <a:lnSpc>
                <a:spcPct val="112000"/>
              </a:lnSpc>
              <a:spcAft>
                <a:spcPts val="200"/>
              </a:spcAft>
              <a:defRPr sz="1600" b="1">
                <a:solidFill>
                  <a:srgbClr val="00877F"/>
                </a:solidFill>
                <a:latin typeface="Noto Sans CJK KR"/>
              </a:defRPr>
            </a:pPr>
            <a:r>
              <a:t>CUR &lt; 60%</a:t>
            </a:r>
          </a:p>
        </p:txBody>
      </p:sp>
      <p:sp>
        <p:nvSpPr>
          <p:cNvPr id="18" name="Rectangle 17"/>
          <p:cNvSpPr/>
          <p:nvPr/>
        </p:nvSpPr>
        <p:spPr>
          <a:xfrm>
            <a:off x="868680" y="4983480"/>
            <a:ext cx="1926640" cy="457200"/>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5084064"/>
            <a:ext cx="1926640" cy="237744"/>
          </a:xfrm>
          <a:prstGeom prst="rect">
            <a:avLst/>
          </a:prstGeom>
          <a:noFill/>
        </p:spPr>
        <p:txBody>
          <a:bodyPr wrap="square" lIns="0" rIns="0" tIns="0" bIns="0">
            <a:spAutoFit/>
          </a:bodyPr>
          <a:lstStyle/>
          <a:p>
            <a:pPr algn="ctr">
              <a:lnSpc>
                <a:spcPct val="112000"/>
              </a:lnSpc>
              <a:spcAft>
                <a:spcPts val="200"/>
              </a:spcAft>
              <a:defRPr sz="1100" b="1">
                <a:solidFill>
                  <a:srgbClr val="FFFFFF"/>
                </a:solidFill>
                <a:latin typeface="Noto Sans CJK KR"/>
              </a:defRPr>
            </a:pPr>
            <a:r>
              <a:t>70</a:t>
            </a:r>
          </a:p>
        </p:txBody>
      </p:sp>
      <p:sp>
        <p:nvSpPr>
          <p:cNvPr id="20" name="Rectangle 19"/>
          <p:cNvSpPr/>
          <p:nvPr/>
        </p:nvSpPr>
        <p:spPr>
          <a:xfrm>
            <a:off x="2795320" y="4983480"/>
            <a:ext cx="275234" cy="457200"/>
          </a:xfrm>
          <a:prstGeom prst="rect">
            <a:avLst/>
          </a:prstGeom>
          <a:solidFill>
            <a:srgbClr val="0087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795320" y="5084064"/>
            <a:ext cx="275234" cy="237744"/>
          </a:xfrm>
          <a:prstGeom prst="rect">
            <a:avLst/>
          </a:prstGeom>
          <a:noFill/>
        </p:spPr>
        <p:txBody>
          <a:bodyPr wrap="square" lIns="0" rIns="0" tIns="0" bIns="0">
            <a:spAutoFit/>
          </a:bodyPr>
          <a:lstStyle/>
          <a:p>
            <a:pPr algn="ctr">
              <a:lnSpc>
                <a:spcPct val="112000"/>
              </a:lnSpc>
              <a:spcAft>
                <a:spcPts val="200"/>
              </a:spcAft>
              <a:defRPr sz="1100" b="1">
                <a:solidFill>
                  <a:srgbClr val="FFFFFF"/>
                </a:solidFill>
                <a:latin typeface="Noto Sans CJK KR"/>
              </a:defRPr>
            </a:pPr>
            <a:r>
              <a:t>10</a:t>
            </a:r>
          </a:p>
        </p:txBody>
      </p:sp>
      <p:sp>
        <p:nvSpPr>
          <p:cNvPr id="22" name="Rectangle 21"/>
          <p:cNvSpPr/>
          <p:nvPr/>
        </p:nvSpPr>
        <p:spPr>
          <a:xfrm>
            <a:off x="3070555" y="4983480"/>
            <a:ext cx="550468" cy="457200"/>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3070555" y="5084064"/>
            <a:ext cx="550468" cy="237744"/>
          </a:xfrm>
          <a:prstGeom prst="rect">
            <a:avLst/>
          </a:prstGeom>
          <a:noFill/>
        </p:spPr>
        <p:txBody>
          <a:bodyPr wrap="square" lIns="0" rIns="0" tIns="0" bIns="0">
            <a:spAutoFit/>
          </a:bodyPr>
          <a:lstStyle/>
          <a:p>
            <a:pPr algn="ctr">
              <a:lnSpc>
                <a:spcPct val="112000"/>
              </a:lnSpc>
              <a:spcAft>
                <a:spcPts val="200"/>
              </a:spcAft>
              <a:defRPr sz="1100" b="1">
                <a:solidFill>
                  <a:srgbClr val="162D4D"/>
                </a:solidFill>
                <a:latin typeface="Noto Sans CJK KR"/>
              </a:defRPr>
            </a:pPr>
            <a:r>
              <a:t>20</a:t>
            </a:r>
          </a:p>
        </p:txBody>
      </p:sp>
      <p:sp>
        <p:nvSpPr>
          <p:cNvPr id="24" name="TextBox 23"/>
          <p:cNvSpPr txBox="1"/>
          <p:nvPr/>
        </p:nvSpPr>
        <p:spPr>
          <a:xfrm>
            <a:off x="868680" y="5687568"/>
            <a:ext cx="2761488" cy="310896"/>
          </a:xfrm>
          <a:prstGeom prst="rect">
            <a:avLst/>
          </a:prstGeom>
          <a:noFill/>
        </p:spPr>
        <p:txBody>
          <a:bodyPr wrap="square" lIns="0" rIns="0" tIns="0" bIns="0">
            <a:spAutoFit/>
          </a:bodyPr>
          <a:lstStyle/>
          <a:p>
            <a:pPr>
              <a:lnSpc>
                <a:spcPct val="112000"/>
              </a:lnSpc>
              <a:spcAft>
                <a:spcPts val="200"/>
              </a:spcAft>
              <a:defRPr sz="1700" b="1">
                <a:solidFill>
                  <a:srgbClr val="20354D"/>
                </a:solidFill>
                <a:latin typeface="Noto Sans CJK KR"/>
              </a:defRPr>
            </a:pPr>
            <a:r>
              <a:t>운영 비용에 무게</a:t>
            </a:r>
          </a:p>
        </p:txBody>
      </p:sp>
      <p:sp>
        <p:nvSpPr>
          <p:cNvPr id="25" name="Rectangle 24"/>
          <p:cNvSpPr/>
          <p:nvPr/>
        </p:nvSpPr>
        <p:spPr>
          <a:xfrm>
            <a:off x="4041648" y="2980944"/>
            <a:ext cx="3154680" cy="3611880"/>
          </a:xfrm>
          <a:prstGeom prst="rect">
            <a:avLst/>
          </a:prstGeom>
          <a:solidFill>
            <a:srgbClr val="FFFFFF"/>
          </a:solidFill>
          <a:ln w="12700">
            <a:solidFill>
              <a:srgbClr val="D5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242816" y="3209544"/>
            <a:ext cx="2743200" cy="265176"/>
          </a:xfrm>
          <a:prstGeom prst="rect">
            <a:avLst/>
          </a:prstGeom>
          <a:noFill/>
        </p:spPr>
        <p:txBody>
          <a:bodyPr wrap="square" lIns="0" rIns="0" tIns="0" bIns="0">
            <a:spAutoFit/>
          </a:bodyPr>
          <a:lstStyle/>
          <a:p>
            <a:pPr>
              <a:lnSpc>
                <a:spcPct val="112000"/>
              </a:lnSpc>
              <a:spcAft>
                <a:spcPts val="200"/>
              </a:spcAft>
              <a:defRPr sz="1300" b="1">
                <a:solidFill>
                  <a:srgbClr val="63778C"/>
                </a:solidFill>
                <a:latin typeface="Noto Sans CJK KR"/>
              </a:defRPr>
            </a:pPr>
            <a:r>
              <a:t>02  /  BALANCED</a:t>
            </a:r>
          </a:p>
        </p:txBody>
      </p:sp>
      <p:sp>
        <p:nvSpPr>
          <p:cNvPr id="27" name="TextBox 26"/>
          <p:cNvSpPr txBox="1"/>
          <p:nvPr/>
        </p:nvSpPr>
        <p:spPr>
          <a:xfrm>
            <a:off x="4242816" y="3712463"/>
            <a:ext cx="2743200" cy="466344"/>
          </a:xfrm>
          <a:prstGeom prst="rect">
            <a:avLst/>
          </a:prstGeom>
          <a:noFill/>
        </p:spPr>
        <p:txBody>
          <a:bodyPr wrap="square" lIns="0" rIns="0" tIns="0" bIns="0">
            <a:spAutoFit/>
          </a:bodyPr>
          <a:lstStyle/>
          <a:p>
            <a:pPr>
              <a:lnSpc>
                <a:spcPct val="112000"/>
              </a:lnSpc>
              <a:spcAft>
                <a:spcPts val="200"/>
              </a:spcAft>
              <a:defRPr sz="2800" b="1">
                <a:solidFill>
                  <a:srgbClr val="20354D"/>
                </a:solidFill>
                <a:latin typeface="Noto Sans CJK KR"/>
              </a:defRPr>
            </a:pPr>
            <a:r>
              <a:t>균형 모드</a:t>
            </a:r>
          </a:p>
        </p:txBody>
      </p:sp>
      <p:sp>
        <p:nvSpPr>
          <p:cNvPr id="28" name="TextBox 27"/>
          <p:cNvSpPr txBox="1"/>
          <p:nvPr/>
        </p:nvSpPr>
        <p:spPr>
          <a:xfrm>
            <a:off x="4242816" y="4370832"/>
            <a:ext cx="2743200" cy="292608"/>
          </a:xfrm>
          <a:prstGeom prst="rect">
            <a:avLst/>
          </a:prstGeom>
          <a:noFill/>
        </p:spPr>
        <p:txBody>
          <a:bodyPr wrap="square" lIns="0" rIns="0" tIns="0" bIns="0">
            <a:spAutoFit/>
          </a:bodyPr>
          <a:lstStyle/>
          <a:p>
            <a:pPr>
              <a:lnSpc>
                <a:spcPct val="112000"/>
              </a:lnSpc>
              <a:spcAft>
                <a:spcPts val="200"/>
              </a:spcAft>
              <a:defRPr sz="1600" b="1">
                <a:solidFill>
                  <a:srgbClr val="00877F"/>
                </a:solidFill>
                <a:latin typeface="Noto Sans CJK KR"/>
              </a:defRPr>
            </a:pPr>
            <a:r>
              <a:t>60% ≤ CUR &lt; 75%</a:t>
            </a:r>
          </a:p>
        </p:txBody>
      </p:sp>
      <p:sp>
        <p:nvSpPr>
          <p:cNvPr id="29" name="Rectangle 28"/>
          <p:cNvSpPr/>
          <p:nvPr/>
        </p:nvSpPr>
        <p:spPr>
          <a:xfrm>
            <a:off x="4242816" y="4983480"/>
            <a:ext cx="1376172" cy="457200"/>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242816" y="5084064"/>
            <a:ext cx="1376172" cy="237744"/>
          </a:xfrm>
          <a:prstGeom prst="rect">
            <a:avLst/>
          </a:prstGeom>
          <a:noFill/>
        </p:spPr>
        <p:txBody>
          <a:bodyPr wrap="square" lIns="0" rIns="0" tIns="0" bIns="0">
            <a:spAutoFit/>
          </a:bodyPr>
          <a:lstStyle/>
          <a:p>
            <a:pPr algn="ctr">
              <a:lnSpc>
                <a:spcPct val="112000"/>
              </a:lnSpc>
              <a:spcAft>
                <a:spcPts val="200"/>
              </a:spcAft>
              <a:defRPr sz="1100" b="1">
                <a:solidFill>
                  <a:srgbClr val="FFFFFF"/>
                </a:solidFill>
                <a:latin typeface="Noto Sans CJK KR"/>
              </a:defRPr>
            </a:pPr>
            <a:r>
              <a:t>50</a:t>
            </a:r>
          </a:p>
        </p:txBody>
      </p:sp>
      <p:sp>
        <p:nvSpPr>
          <p:cNvPr id="31" name="Rectangle 30"/>
          <p:cNvSpPr/>
          <p:nvPr/>
        </p:nvSpPr>
        <p:spPr>
          <a:xfrm>
            <a:off x="5618988" y="4983480"/>
            <a:ext cx="825703" cy="457200"/>
          </a:xfrm>
          <a:prstGeom prst="rect">
            <a:avLst/>
          </a:prstGeom>
          <a:solidFill>
            <a:srgbClr val="0087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618988" y="5084064"/>
            <a:ext cx="825703" cy="237744"/>
          </a:xfrm>
          <a:prstGeom prst="rect">
            <a:avLst/>
          </a:prstGeom>
          <a:noFill/>
        </p:spPr>
        <p:txBody>
          <a:bodyPr wrap="square" lIns="0" rIns="0" tIns="0" bIns="0">
            <a:spAutoFit/>
          </a:bodyPr>
          <a:lstStyle/>
          <a:p>
            <a:pPr algn="ctr">
              <a:lnSpc>
                <a:spcPct val="112000"/>
              </a:lnSpc>
              <a:spcAft>
                <a:spcPts val="200"/>
              </a:spcAft>
              <a:defRPr sz="1100" b="1">
                <a:solidFill>
                  <a:srgbClr val="FFFFFF"/>
                </a:solidFill>
                <a:latin typeface="Noto Sans CJK KR"/>
              </a:defRPr>
            </a:pPr>
            <a:r>
              <a:t>30</a:t>
            </a:r>
          </a:p>
        </p:txBody>
      </p:sp>
      <p:sp>
        <p:nvSpPr>
          <p:cNvPr id="33" name="Rectangle 32"/>
          <p:cNvSpPr/>
          <p:nvPr/>
        </p:nvSpPr>
        <p:spPr>
          <a:xfrm>
            <a:off x="6444691" y="4983480"/>
            <a:ext cx="550468" cy="457200"/>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44691" y="5084064"/>
            <a:ext cx="550468" cy="237744"/>
          </a:xfrm>
          <a:prstGeom prst="rect">
            <a:avLst/>
          </a:prstGeom>
          <a:noFill/>
        </p:spPr>
        <p:txBody>
          <a:bodyPr wrap="square" lIns="0" rIns="0" tIns="0" bIns="0">
            <a:spAutoFit/>
          </a:bodyPr>
          <a:lstStyle/>
          <a:p>
            <a:pPr algn="ctr">
              <a:lnSpc>
                <a:spcPct val="112000"/>
              </a:lnSpc>
              <a:spcAft>
                <a:spcPts val="200"/>
              </a:spcAft>
              <a:defRPr sz="1100" b="1">
                <a:solidFill>
                  <a:srgbClr val="162D4D"/>
                </a:solidFill>
                <a:latin typeface="Noto Sans CJK KR"/>
              </a:defRPr>
            </a:pPr>
            <a:r>
              <a:t>20</a:t>
            </a:r>
          </a:p>
        </p:txBody>
      </p:sp>
      <p:sp>
        <p:nvSpPr>
          <p:cNvPr id="35" name="TextBox 34"/>
          <p:cNvSpPr txBox="1"/>
          <p:nvPr/>
        </p:nvSpPr>
        <p:spPr>
          <a:xfrm>
            <a:off x="4242816" y="5687568"/>
            <a:ext cx="2761488" cy="310896"/>
          </a:xfrm>
          <a:prstGeom prst="rect">
            <a:avLst/>
          </a:prstGeom>
          <a:noFill/>
        </p:spPr>
        <p:txBody>
          <a:bodyPr wrap="square" lIns="0" rIns="0" tIns="0" bIns="0">
            <a:spAutoFit/>
          </a:bodyPr>
          <a:lstStyle/>
          <a:p>
            <a:pPr>
              <a:lnSpc>
                <a:spcPct val="112000"/>
              </a:lnSpc>
              <a:spcAft>
                <a:spcPts val="200"/>
              </a:spcAft>
              <a:defRPr sz="1700" b="1">
                <a:solidFill>
                  <a:srgbClr val="20354D"/>
                </a:solidFill>
                <a:latin typeface="Noto Sans CJK KR"/>
              </a:defRPr>
            </a:pPr>
            <a:r>
              <a:t>비용과 탄소 절충</a:t>
            </a:r>
          </a:p>
        </p:txBody>
      </p:sp>
      <p:sp>
        <p:nvSpPr>
          <p:cNvPr id="36" name="Rectangle 35"/>
          <p:cNvSpPr/>
          <p:nvPr/>
        </p:nvSpPr>
        <p:spPr>
          <a:xfrm>
            <a:off x="7415783" y="2980944"/>
            <a:ext cx="3154680" cy="3611880"/>
          </a:xfrm>
          <a:prstGeom prst="rect">
            <a:avLst/>
          </a:prstGeom>
          <a:solidFill>
            <a:srgbClr val="E4F2EF"/>
          </a:solidFill>
          <a:ln w="12700">
            <a:solidFill>
              <a:srgbClr val="00877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616952" y="3209544"/>
            <a:ext cx="2743200" cy="265176"/>
          </a:xfrm>
          <a:prstGeom prst="rect">
            <a:avLst/>
          </a:prstGeom>
          <a:noFill/>
        </p:spPr>
        <p:txBody>
          <a:bodyPr wrap="square" lIns="0" rIns="0" tIns="0" bIns="0">
            <a:spAutoFit/>
          </a:bodyPr>
          <a:lstStyle/>
          <a:p>
            <a:pPr>
              <a:lnSpc>
                <a:spcPct val="112000"/>
              </a:lnSpc>
              <a:spcAft>
                <a:spcPts val="200"/>
              </a:spcAft>
              <a:defRPr sz="1300" b="1">
                <a:solidFill>
                  <a:srgbClr val="00877F"/>
                </a:solidFill>
                <a:latin typeface="Noto Sans CJK KR"/>
              </a:defRPr>
            </a:pPr>
            <a:r>
              <a:t>03  /  CARBON</a:t>
            </a:r>
          </a:p>
        </p:txBody>
      </p:sp>
      <p:sp>
        <p:nvSpPr>
          <p:cNvPr id="38" name="TextBox 37"/>
          <p:cNvSpPr txBox="1"/>
          <p:nvPr/>
        </p:nvSpPr>
        <p:spPr>
          <a:xfrm>
            <a:off x="7616952" y="3712463"/>
            <a:ext cx="2743200" cy="466344"/>
          </a:xfrm>
          <a:prstGeom prst="rect">
            <a:avLst/>
          </a:prstGeom>
          <a:noFill/>
        </p:spPr>
        <p:txBody>
          <a:bodyPr wrap="square" lIns="0" rIns="0" tIns="0" bIns="0">
            <a:spAutoFit/>
          </a:bodyPr>
          <a:lstStyle/>
          <a:p>
            <a:pPr>
              <a:lnSpc>
                <a:spcPct val="112000"/>
              </a:lnSpc>
              <a:spcAft>
                <a:spcPts val="200"/>
              </a:spcAft>
              <a:defRPr sz="2800" b="1">
                <a:solidFill>
                  <a:srgbClr val="20354D"/>
                </a:solidFill>
                <a:latin typeface="Noto Sans CJK KR"/>
              </a:defRPr>
            </a:pPr>
            <a:r>
              <a:t>탄소 모드</a:t>
            </a:r>
          </a:p>
        </p:txBody>
      </p:sp>
      <p:sp>
        <p:nvSpPr>
          <p:cNvPr id="39" name="TextBox 38"/>
          <p:cNvSpPr txBox="1"/>
          <p:nvPr/>
        </p:nvSpPr>
        <p:spPr>
          <a:xfrm>
            <a:off x="7616952" y="4370832"/>
            <a:ext cx="2743200" cy="292608"/>
          </a:xfrm>
          <a:prstGeom prst="rect">
            <a:avLst/>
          </a:prstGeom>
          <a:noFill/>
        </p:spPr>
        <p:txBody>
          <a:bodyPr wrap="square" lIns="0" rIns="0" tIns="0" bIns="0">
            <a:spAutoFit/>
          </a:bodyPr>
          <a:lstStyle/>
          <a:p>
            <a:pPr>
              <a:lnSpc>
                <a:spcPct val="112000"/>
              </a:lnSpc>
              <a:spcAft>
                <a:spcPts val="200"/>
              </a:spcAft>
              <a:defRPr sz="1600" b="1">
                <a:solidFill>
                  <a:srgbClr val="00877F"/>
                </a:solidFill>
                <a:latin typeface="Noto Sans CJK KR"/>
              </a:defRPr>
            </a:pPr>
            <a:r>
              <a:t>75% ≤ CUR &lt; 90%</a:t>
            </a:r>
          </a:p>
        </p:txBody>
      </p:sp>
      <p:sp>
        <p:nvSpPr>
          <p:cNvPr id="40" name="Rectangle 39"/>
          <p:cNvSpPr/>
          <p:nvPr/>
        </p:nvSpPr>
        <p:spPr>
          <a:xfrm>
            <a:off x="7616952" y="4983480"/>
            <a:ext cx="550468" cy="457200"/>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616952" y="5084064"/>
            <a:ext cx="550468" cy="237744"/>
          </a:xfrm>
          <a:prstGeom prst="rect">
            <a:avLst/>
          </a:prstGeom>
          <a:noFill/>
        </p:spPr>
        <p:txBody>
          <a:bodyPr wrap="square" lIns="0" rIns="0" tIns="0" bIns="0">
            <a:spAutoFit/>
          </a:bodyPr>
          <a:lstStyle/>
          <a:p>
            <a:pPr algn="ctr">
              <a:lnSpc>
                <a:spcPct val="112000"/>
              </a:lnSpc>
              <a:spcAft>
                <a:spcPts val="200"/>
              </a:spcAft>
              <a:defRPr sz="1100" b="1">
                <a:solidFill>
                  <a:srgbClr val="FFFFFF"/>
                </a:solidFill>
                <a:latin typeface="Noto Sans CJK KR"/>
              </a:defRPr>
            </a:pPr>
            <a:r>
              <a:t>20</a:t>
            </a:r>
          </a:p>
        </p:txBody>
      </p:sp>
      <p:sp>
        <p:nvSpPr>
          <p:cNvPr id="42" name="Rectangle 41"/>
          <p:cNvSpPr/>
          <p:nvPr/>
        </p:nvSpPr>
        <p:spPr>
          <a:xfrm>
            <a:off x="8167420" y="4983480"/>
            <a:ext cx="1651406" cy="457200"/>
          </a:xfrm>
          <a:prstGeom prst="rect">
            <a:avLst/>
          </a:prstGeom>
          <a:solidFill>
            <a:srgbClr val="0087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8167420" y="5084064"/>
            <a:ext cx="1651406" cy="237744"/>
          </a:xfrm>
          <a:prstGeom prst="rect">
            <a:avLst/>
          </a:prstGeom>
          <a:noFill/>
        </p:spPr>
        <p:txBody>
          <a:bodyPr wrap="square" lIns="0" rIns="0" tIns="0" bIns="0">
            <a:spAutoFit/>
          </a:bodyPr>
          <a:lstStyle/>
          <a:p>
            <a:pPr algn="ctr">
              <a:lnSpc>
                <a:spcPct val="112000"/>
              </a:lnSpc>
              <a:spcAft>
                <a:spcPts val="200"/>
              </a:spcAft>
              <a:defRPr sz="1100" b="1">
                <a:solidFill>
                  <a:srgbClr val="FFFFFF"/>
                </a:solidFill>
                <a:latin typeface="Noto Sans CJK KR"/>
              </a:defRPr>
            </a:pPr>
            <a:r>
              <a:t>60</a:t>
            </a:r>
          </a:p>
        </p:txBody>
      </p:sp>
      <p:sp>
        <p:nvSpPr>
          <p:cNvPr id="44" name="Rectangle 43"/>
          <p:cNvSpPr/>
          <p:nvPr/>
        </p:nvSpPr>
        <p:spPr>
          <a:xfrm>
            <a:off x="9818827" y="4983480"/>
            <a:ext cx="550468" cy="457200"/>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9818827" y="5084064"/>
            <a:ext cx="550468" cy="237744"/>
          </a:xfrm>
          <a:prstGeom prst="rect">
            <a:avLst/>
          </a:prstGeom>
          <a:noFill/>
        </p:spPr>
        <p:txBody>
          <a:bodyPr wrap="square" lIns="0" rIns="0" tIns="0" bIns="0">
            <a:spAutoFit/>
          </a:bodyPr>
          <a:lstStyle/>
          <a:p>
            <a:pPr algn="ctr">
              <a:lnSpc>
                <a:spcPct val="112000"/>
              </a:lnSpc>
              <a:spcAft>
                <a:spcPts val="200"/>
              </a:spcAft>
              <a:defRPr sz="1100" b="1">
                <a:solidFill>
                  <a:srgbClr val="162D4D"/>
                </a:solidFill>
                <a:latin typeface="Noto Sans CJK KR"/>
              </a:defRPr>
            </a:pPr>
            <a:r>
              <a:t>20</a:t>
            </a:r>
          </a:p>
        </p:txBody>
      </p:sp>
      <p:sp>
        <p:nvSpPr>
          <p:cNvPr id="46" name="TextBox 45"/>
          <p:cNvSpPr txBox="1"/>
          <p:nvPr/>
        </p:nvSpPr>
        <p:spPr>
          <a:xfrm>
            <a:off x="7616952" y="5687568"/>
            <a:ext cx="2761488" cy="310896"/>
          </a:xfrm>
          <a:prstGeom prst="rect">
            <a:avLst/>
          </a:prstGeom>
          <a:noFill/>
        </p:spPr>
        <p:txBody>
          <a:bodyPr wrap="square" lIns="0" rIns="0" tIns="0" bIns="0">
            <a:spAutoFit/>
          </a:bodyPr>
          <a:lstStyle/>
          <a:p>
            <a:pPr>
              <a:lnSpc>
                <a:spcPct val="112000"/>
              </a:lnSpc>
              <a:spcAft>
                <a:spcPts val="200"/>
              </a:spcAft>
              <a:defRPr sz="1700" b="1">
                <a:solidFill>
                  <a:srgbClr val="20354D"/>
                </a:solidFill>
                <a:latin typeface="Noto Sans CJK KR"/>
              </a:defRPr>
            </a:pPr>
            <a:r>
              <a:t>탄소 절감에 무게</a:t>
            </a:r>
          </a:p>
        </p:txBody>
      </p:sp>
      <p:sp>
        <p:nvSpPr>
          <p:cNvPr id="47" name="Rectangle 46"/>
          <p:cNvSpPr/>
          <p:nvPr/>
        </p:nvSpPr>
        <p:spPr>
          <a:xfrm>
            <a:off x="7616952" y="6163056"/>
            <a:ext cx="2724912" cy="329184"/>
          </a:xfrm>
          <a:prstGeom prst="rect">
            <a:avLst/>
          </a:prstGeom>
          <a:solidFill>
            <a:srgbClr val="0087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7708392" y="6213348"/>
            <a:ext cx="2542032" cy="228600"/>
          </a:xfrm>
          <a:prstGeom prst="rect">
            <a:avLst/>
          </a:prstGeom>
          <a:noFill/>
        </p:spPr>
        <p:txBody>
          <a:bodyPr wrap="square" lIns="0" rIns="0" tIns="0" bIns="0">
            <a:spAutoFit/>
          </a:bodyPr>
          <a:lstStyle/>
          <a:p>
            <a:pPr>
              <a:lnSpc>
                <a:spcPct val="112000"/>
              </a:lnSpc>
              <a:spcAft>
                <a:spcPts val="200"/>
              </a:spcAft>
              <a:defRPr sz="1200" b="1">
                <a:solidFill>
                  <a:srgbClr val="FFFFFF"/>
                </a:solidFill>
                <a:latin typeface="Noto Sans CJK KR"/>
              </a:defRPr>
            </a:pPr>
            <a:r>
              <a:t>예시 CUR 82% → 이 모드</a:t>
            </a:r>
          </a:p>
        </p:txBody>
      </p:sp>
      <p:sp>
        <p:nvSpPr>
          <p:cNvPr id="49" name="Rectangle 48"/>
          <p:cNvSpPr/>
          <p:nvPr/>
        </p:nvSpPr>
        <p:spPr>
          <a:xfrm>
            <a:off x="10789920" y="2980944"/>
            <a:ext cx="3154680" cy="3611880"/>
          </a:xfrm>
          <a:prstGeom prst="rect">
            <a:avLst/>
          </a:prstGeom>
          <a:solidFill>
            <a:srgbClr val="FFFFFF"/>
          </a:solidFill>
          <a:ln w="12700">
            <a:solidFill>
              <a:srgbClr val="D5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10991088" y="3209544"/>
            <a:ext cx="2743200" cy="265176"/>
          </a:xfrm>
          <a:prstGeom prst="rect">
            <a:avLst/>
          </a:prstGeom>
          <a:noFill/>
        </p:spPr>
        <p:txBody>
          <a:bodyPr wrap="square" lIns="0" rIns="0" tIns="0" bIns="0">
            <a:spAutoFit/>
          </a:bodyPr>
          <a:lstStyle/>
          <a:p>
            <a:pPr>
              <a:lnSpc>
                <a:spcPct val="112000"/>
              </a:lnSpc>
              <a:spcAft>
                <a:spcPts val="200"/>
              </a:spcAft>
              <a:defRPr sz="1300" b="1">
                <a:solidFill>
                  <a:srgbClr val="63778C"/>
                </a:solidFill>
                <a:latin typeface="Noto Sans CJK KR"/>
              </a:defRPr>
            </a:pPr>
            <a:r>
              <a:t>04  /  EMERGENCY</a:t>
            </a:r>
          </a:p>
        </p:txBody>
      </p:sp>
      <p:sp>
        <p:nvSpPr>
          <p:cNvPr id="51" name="TextBox 50"/>
          <p:cNvSpPr txBox="1"/>
          <p:nvPr/>
        </p:nvSpPr>
        <p:spPr>
          <a:xfrm>
            <a:off x="10991088" y="3712463"/>
            <a:ext cx="2743200" cy="466344"/>
          </a:xfrm>
          <a:prstGeom prst="rect">
            <a:avLst/>
          </a:prstGeom>
          <a:noFill/>
        </p:spPr>
        <p:txBody>
          <a:bodyPr wrap="square" lIns="0" rIns="0" tIns="0" bIns="0">
            <a:spAutoFit/>
          </a:bodyPr>
          <a:lstStyle/>
          <a:p>
            <a:pPr>
              <a:lnSpc>
                <a:spcPct val="112000"/>
              </a:lnSpc>
              <a:spcAft>
                <a:spcPts val="200"/>
              </a:spcAft>
              <a:defRPr sz="2800" b="1">
                <a:solidFill>
                  <a:srgbClr val="20354D"/>
                </a:solidFill>
                <a:latin typeface="Noto Sans CJK KR"/>
              </a:defRPr>
            </a:pPr>
            <a:r>
              <a:t>긴급 모드</a:t>
            </a:r>
          </a:p>
        </p:txBody>
      </p:sp>
      <p:sp>
        <p:nvSpPr>
          <p:cNvPr id="52" name="TextBox 51"/>
          <p:cNvSpPr txBox="1"/>
          <p:nvPr/>
        </p:nvSpPr>
        <p:spPr>
          <a:xfrm>
            <a:off x="10991088" y="4370832"/>
            <a:ext cx="2743200" cy="292608"/>
          </a:xfrm>
          <a:prstGeom prst="rect">
            <a:avLst/>
          </a:prstGeom>
          <a:noFill/>
        </p:spPr>
        <p:txBody>
          <a:bodyPr wrap="square" lIns="0" rIns="0" tIns="0" bIns="0">
            <a:spAutoFit/>
          </a:bodyPr>
          <a:lstStyle/>
          <a:p>
            <a:pPr>
              <a:lnSpc>
                <a:spcPct val="112000"/>
              </a:lnSpc>
              <a:spcAft>
                <a:spcPts val="200"/>
              </a:spcAft>
              <a:defRPr sz="1600" b="1">
                <a:solidFill>
                  <a:srgbClr val="00877F"/>
                </a:solidFill>
                <a:latin typeface="Noto Sans CJK KR"/>
              </a:defRPr>
            </a:pPr>
            <a:r>
              <a:t>CUR ≥ 90%</a:t>
            </a:r>
          </a:p>
        </p:txBody>
      </p:sp>
      <p:sp>
        <p:nvSpPr>
          <p:cNvPr id="53" name="Rectangle 52"/>
          <p:cNvSpPr/>
          <p:nvPr/>
        </p:nvSpPr>
        <p:spPr>
          <a:xfrm>
            <a:off x="10991088" y="4983480"/>
            <a:ext cx="275234" cy="457200"/>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10991088" y="5084064"/>
            <a:ext cx="275234" cy="237744"/>
          </a:xfrm>
          <a:prstGeom prst="rect">
            <a:avLst/>
          </a:prstGeom>
          <a:noFill/>
        </p:spPr>
        <p:txBody>
          <a:bodyPr wrap="square" lIns="0" rIns="0" tIns="0" bIns="0">
            <a:spAutoFit/>
          </a:bodyPr>
          <a:lstStyle/>
          <a:p>
            <a:pPr algn="ctr">
              <a:lnSpc>
                <a:spcPct val="112000"/>
              </a:lnSpc>
              <a:spcAft>
                <a:spcPts val="200"/>
              </a:spcAft>
              <a:defRPr sz="1100" b="1">
                <a:solidFill>
                  <a:srgbClr val="FFFFFF"/>
                </a:solidFill>
                <a:latin typeface="Noto Sans CJK KR"/>
              </a:defRPr>
            </a:pPr>
            <a:r>
              <a:t>10</a:t>
            </a:r>
          </a:p>
        </p:txBody>
      </p:sp>
      <p:sp>
        <p:nvSpPr>
          <p:cNvPr id="55" name="Rectangle 54"/>
          <p:cNvSpPr/>
          <p:nvPr/>
        </p:nvSpPr>
        <p:spPr>
          <a:xfrm>
            <a:off x="11266322" y="4983480"/>
            <a:ext cx="2201875" cy="457200"/>
          </a:xfrm>
          <a:prstGeom prst="rect">
            <a:avLst/>
          </a:prstGeom>
          <a:solidFill>
            <a:srgbClr val="0087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1266322" y="5084064"/>
            <a:ext cx="2201875" cy="237744"/>
          </a:xfrm>
          <a:prstGeom prst="rect">
            <a:avLst/>
          </a:prstGeom>
          <a:noFill/>
        </p:spPr>
        <p:txBody>
          <a:bodyPr wrap="square" lIns="0" rIns="0" tIns="0" bIns="0">
            <a:spAutoFit/>
          </a:bodyPr>
          <a:lstStyle/>
          <a:p>
            <a:pPr algn="ctr">
              <a:lnSpc>
                <a:spcPct val="112000"/>
              </a:lnSpc>
              <a:spcAft>
                <a:spcPts val="200"/>
              </a:spcAft>
              <a:defRPr sz="1100" b="1">
                <a:solidFill>
                  <a:srgbClr val="FFFFFF"/>
                </a:solidFill>
                <a:latin typeface="Noto Sans CJK KR"/>
              </a:defRPr>
            </a:pPr>
            <a:r>
              <a:t>80</a:t>
            </a:r>
          </a:p>
        </p:txBody>
      </p:sp>
      <p:sp>
        <p:nvSpPr>
          <p:cNvPr id="57" name="Rectangle 56"/>
          <p:cNvSpPr/>
          <p:nvPr/>
        </p:nvSpPr>
        <p:spPr>
          <a:xfrm>
            <a:off x="13468197" y="4983480"/>
            <a:ext cx="275234" cy="457200"/>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13468197" y="5084064"/>
            <a:ext cx="275234" cy="237744"/>
          </a:xfrm>
          <a:prstGeom prst="rect">
            <a:avLst/>
          </a:prstGeom>
          <a:noFill/>
        </p:spPr>
        <p:txBody>
          <a:bodyPr wrap="square" lIns="0" rIns="0" tIns="0" bIns="0">
            <a:spAutoFit/>
          </a:bodyPr>
          <a:lstStyle/>
          <a:p>
            <a:pPr algn="ctr">
              <a:lnSpc>
                <a:spcPct val="112000"/>
              </a:lnSpc>
              <a:spcAft>
                <a:spcPts val="200"/>
              </a:spcAft>
              <a:defRPr sz="1100" b="1">
                <a:solidFill>
                  <a:srgbClr val="162D4D"/>
                </a:solidFill>
                <a:latin typeface="Noto Sans CJK KR"/>
              </a:defRPr>
            </a:pPr>
            <a:r>
              <a:t>10</a:t>
            </a:r>
          </a:p>
        </p:txBody>
      </p:sp>
      <p:sp>
        <p:nvSpPr>
          <p:cNvPr id="59" name="TextBox 58"/>
          <p:cNvSpPr txBox="1"/>
          <p:nvPr/>
        </p:nvSpPr>
        <p:spPr>
          <a:xfrm>
            <a:off x="10991088" y="5687568"/>
            <a:ext cx="2761488" cy="310896"/>
          </a:xfrm>
          <a:prstGeom prst="rect">
            <a:avLst/>
          </a:prstGeom>
          <a:noFill/>
        </p:spPr>
        <p:txBody>
          <a:bodyPr wrap="square" lIns="0" rIns="0" tIns="0" bIns="0">
            <a:spAutoFit/>
          </a:bodyPr>
          <a:lstStyle/>
          <a:p>
            <a:pPr>
              <a:lnSpc>
                <a:spcPct val="112000"/>
              </a:lnSpc>
              <a:spcAft>
                <a:spcPts val="200"/>
              </a:spcAft>
              <a:defRPr sz="1700" b="1">
                <a:solidFill>
                  <a:srgbClr val="20354D"/>
                </a:solidFill>
                <a:latin typeface="Noto Sans CJK KR"/>
              </a:defRPr>
            </a:pPr>
            <a:r>
              <a:t>탄소 비중을 더 높임</a:t>
            </a:r>
          </a:p>
        </p:txBody>
      </p:sp>
      <p:sp>
        <p:nvSpPr>
          <p:cNvPr id="60" name="Rectangle 59"/>
          <p:cNvSpPr/>
          <p:nvPr/>
        </p:nvSpPr>
        <p:spPr>
          <a:xfrm>
            <a:off x="667512" y="6885432"/>
            <a:ext cx="13286232" cy="438912"/>
          </a:xfrm>
          <a:prstGeom prst="rect">
            <a:avLst/>
          </a:prstGeom>
          <a:solidFill>
            <a:srgbClr val="E8EE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859536" y="6976872"/>
            <a:ext cx="12911328" cy="256032"/>
          </a:xfrm>
          <a:prstGeom prst="rect">
            <a:avLst/>
          </a:prstGeom>
          <a:noFill/>
        </p:spPr>
        <p:txBody>
          <a:bodyPr wrap="square" lIns="0" rIns="0" tIns="0" bIns="0">
            <a:spAutoFit/>
          </a:bodyPr>
          <a:lstStyle/>
          <a:p>
            <a:pPr>
              <a:lnSpc>
                <a:spcPct val="112000"/>
              </a:lnSpc>
              <a:spcAft>
                <a:spcPts val="200"/>
              </a:spcAft>
              <a:defRPr sz="1800" b="1">
                <a:solidFill>
                  <a:srgbClr val="20354D"/>
                </a:solidFill>
                <a:latin typeface="Noto Sans CJK KR"/>
              </a:defRPr>
            </a:pPr>
            <a:r>
              <a:t>RPS = 비용점수 × 비용비중 + 탄소점수 × 탄소비중 + 시간여유점수 × 시간비중</a:t>
            </a:r>
          </a:p>
        </p:txBody>
      </p:sp>
      <p:sp>
        <p:nvSpPr>
          <p:cNvPr id="62" name="TextBox 61"/>
          <p:cNvSpPr txBox="1"/>
          <p:nvPr/>
        </p:nvSpPr>
        <p:spPr>
          <a:xfrm>
            <a:off x="667512" y="7470648"/>
            <a:ext cx="13304520" cy="219456"/>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구간과 가중치는 예선 원안의 초기 설계 가정입니다. 검증된 최적값이 아니며, 긴급 모드도 수량·기한을 자동 완화하지 않습니다.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94360" y="283464"/>
            <a:ext cx="10972800" cy="256032"/>
          </a:xfrm>
          <a:prstGeom prst="rect">
            <a:avLst/>
          </a:prstGeom>
          <a:noFill/>
        </p:spPr>
        <p:txBody>
          <a:bodyPr wrap="square" lIns="0" rIns="0" tIns="0" bIns="0">
            <a:spAutoFit/>
          </a:bodyPr>
          <a:lstStyle/>
          <a:p>
            <a:pPr>
              <a:lnSpc>
                <a:spcPct val="112000"/>
              </a:lnSpc>
              <a:spcAft>
                <a:spcPts val="200"/>
              </a:spcAft>
              <a:defRPr sz="1200" b="1">
                <a:solidFill>
                  <a:srgbClr val="00877F"/>
                </a:solidFill>
                <a:latin typeface="Noto Sans CJK KR"/>
              </a:defRPr>
            </a:pPr>
            <a:r>
              <a:t>CBP  /  CARBON BUDGET POOLING</a:t>
            </a:r>
          </a:p>
        </p:txBody>
      </p:sp>
      <p:sp>
        <p:nvSpPr>
          <p:cNvPr id="3" name="TextBox 2"/>
          <p:cNvSpPr txBox="1"/>
          <p:nvPr/>
        </p:nvSpPr>
        <p:spPr>
          <a:xfrm>
            <a:off x="12298680" y="283464"/>
            <a:ext cx="1737360" cy="256032"/>
          </a:xfrm>
          <a:prstGeom prst="rect">
            <a:avLst/>
          </a:prstGeom>
          <a:noFill/>
        </p:spPr>
        <p:txBody>
          <a:bodyPr wrap="square" lIns="0" rIns="0" tIns="0" bIns="0">
            <a:spAutoFit/>
          </a:bodyPr>
          <a:lstStyle/>
          <a:p>
            <a:pPr algn="r">
              <a:lnSpc>
                <a:spcPct val="112000"/>
              </a:lnSpc>
              <a:spcAft>
                <a:spcPts val="200"/>
              </a:spcAft>
              <a:defRPr sz="1200" b="1">
                <a:solidFill>
                  <a:srgbClr val="63778C"/>
                </a:solidFill>
                <a:latin typeface="Noto Sans CJK KR"/>
              </a:defRPr>
            </a:pPr>
            <a:r>
              <a:t>04</a:t>
            </a:r>
          </a:p>
        </p:txBody>
      </p:sp>
      <p:sp>
        <p:nvSpPr>
          <p:cNvPr id="4" name="TextBox 3"/>
          <p:cNvSpPr txBox="1"/>
          <p:nvPr/>
        </p:nvSpPr>
        <p:spPr>
          <a:xfrm>
            <a:off x="594360" y="850392"/>
            <a:ext cx="13441680" cy="1060704"/>
          </a:xfrm>
          <a:prstGeom prst="rect">
            <a:avLst/>
          </a:prstGeom>
          <a:noFill/>
        </p:spPr>
        <p:txBody>
          <a:bodyPr wrap="square" lIns="0" rIns="0" tIns="0" bIns="0">
            <a:spAutoFit/>
          </a:bodyPr>
          <a:lstStyle/>
          <a:p>
            <a:pPr>
              <a:lnSpc>
                <a:spcPct val="112000"/>
              </a:lnSpc>
              <a:spcAft>
                <a:spcPts val="200"/>
              </a:spcAft>
              <a:defRPr sz="3400" b="1">
                <a:solidFill>
                  <a:srgbClr val="20354D"/>
                </a:solidFill>
                <a:latin typeface="Noto Sans CJK KR"/>
              </a:defRPr>
            </a:pPr>
            <a:r>
              <a:t>CUR 82%일 때, 세 운송안 중 무엇을 고를까요?</a:t>
            </a:r>
          </a:p>
        </p:txBody>
      </p:sp>
      <p:sp>
        <p:nvSpPr>
          <p:cNvPr id="5" name="TextBox 4"/>
          <p:cNvSpPr txBox="1"/>
          <p:nvPr/>
        </p:nvSpPr>
        <p:spPr>
          <a:xfrm>
            <a:off x="621792" y="1920240"/>
            <a:ext cx="13350240" cy="475488"/>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모두 1,000매를 8시간 이내 공급할 수 있다고 가정합니다. 입력값은 실측·견적이 아닌 설명용입니다.</a:t>
            </a:r>
          </a:p>
        </p:txBody>
      </p:sp>
      <p:cxnSp>
        <p:nvCxnSpPr>
          <p:cNvPr id="6" name="Connector 5"/>
          <p:cNvCxnSpPr/>
          <p:nvPr/>
        </p:nvCxnSpPr>
        <p:spPr>
          <a:xfrm>
            <a:off x="594360" y="7772400"/>
            <a:ext cx="13441680" cy="0"/>
          </a:xfrm>
          <a:prstGeom prst="line">
            <a:avLst/>
          </a:prstGeom>
          <a:ln w="12700">
            <a:solidFill>
              <a:srgbClr val="D5DFE9"/>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12648" y="7900416"/>
            <a:ext cx="13350240" cy="192024"/>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두런두런  |  제13회 유닛로드시스템(ULS) 창의성 공모전  |  탄소예산 기반 재배치 의사결정</a:t>
            </a:r>
          </a:p>
        </p:txBody>
      </p:sp>
      <p:sp>
        <p:nvSpPr>
          <p:cNvPr id="8" name="Rectangle 7"/>
          <p:cNvSpPr/>
          <p:nvPr/>
        </p:nvSpPr>
        <p:spPr>
          <a:xfrm>
            <a:off x="676656" y="2578608"/>
            <a:ext cx="5376672" cy="329184"/>
          </a:xfrm>
          <a:prstGeom prst="rect">
            <a:avLst/>
          </a:prstGeom>
          <a:solidFill>
            <a:srgbClr val="E8EE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68096" y="2628900"/>
            <a:ext cx="5193792" cy="228600"/>
          </a:xfrm>
          <a:prstGeom prst="rect">
            <a:avLst/>
          </a:prstGeom>
          <a:noFill/>
        </p:spPr>
        <p:txBody>
          <a:bodyPr wrap="square" lIns="0" rIns="0" tIns="0" bIns="0">
            <a:spAutoFit/>
          </a:bodyPr>
          <a:lstStyle/>
          <a:p>
            <a:pPr>
              <a:lnSpc>
                <a:spcPct val="112000"/>
              </a:lnSpc>
              <a:spcAft>
                <a:spcPts val="200"/>
              </a:spcAft>
              <a:defRPr sz="1400" b="1">
                <a:solidFill>
                  <a:srgbClr val="162D4D"/>
                </a:solidFill>
                <a:latin typeface="Noto Sans CJK KR"/>
              </a:defRPr>
            </a:pPr>
            <a:r>
              <a:t>동일 요청 · 동일 후보 · 동일 계산 기준</a:t>
            </a:r>
          </a:p>
        </p:txBody>
      </p:sp>
      <p:sp>
        <p:nvSpPr>
          <p:cNvPr id="10" name="TextBox 9"/>
          <p:cNvSpPr txBox="1"/>
          <p:nvPr/>
        </p:nvSpPr>
        <p:spPr>
          <a:xfrm>
            <a:off x="850392" y="3127248"/>
            <a:ext cx="960120" cy="594360"/>
          </a:xfrm>
          <a:prstGeom prst="rect">
            <a:avLst/>
          </a:prstGeom>
          <a:noFill/>
        </p:spPr>
        <p:txBody>
          <a:bodyPr wrap="square" lIns="0" rIns="0" tIns="0" bIns="0">
            <a:spAutoFit/>
          </a:bodyPr>
          <a:lstStyle/>
          <a:p>
            <a:pPr algn="ctr">
              <a:lnSpc>
                <a:spcPct val="112000"/>
              </a:lnSpc>
              <a:spcAft>
                <a:spcPts val="200"/>
              </a:spcAft>
              <a:defRPr sz="1500" b="1">
                <a:solidFill>
                  <a:srgbClr val="63778C"/>
                </a:solidFill>
                <a:latin typeface="Noto Sans CJK KR"/>
              </a:defRPr>
            </a:pPr>
            <a:r>
              <a:t>운송안</a:t>
            </a:r>
          </a:p>
        </p:txBody>
      </p:sp>
      <p:sp>
        <p:nvSpPr>
          <p:cNvPr id="11" name="TextBox 10"/>
          <p:cNvSpPr txBox="1"/>
          <p:nvPr/>
        </p:nvSpPr>
        <p:spPr>
          <a:xfrm>
            <a:off x="2002536" y="3127248"/>
            <a:ext cx="1335024" cy="594360"/>
          </a:xfrm>
          <a:prstGeom prst="rect">
            <a:avLst/>
          </a:prstGeom>
          <a:noFill/>
        </p:spPr>
        <p:txBody>
          <a:bodyPr wrap="square" lIns="0" rIns="0" tIns="0" bIns="0">
            <a:spAutoFit/>
          </a:bodyPr>
          <a:lstStyle/>
          <a:p>
            <a:pPr algn="ctr">
              <a:lnSpc>
                <a:spcPct val="112000"/>
              </a:lnSpc>
              <a:spcAft>
                <a:spcPts val="200"/>
              </a:spcAft>
              <a:defRPr sz="1500" b="1">
                <a:solidFill>
                  <a:srgbClr val="63778C"/>
                </a:solidFill>
                <a:latin typeface="Noto Sans CJK KR"/>
              </a:defRPr>
            </a:pPr>
            <a:r>
              <a:t>비용</a:t>
            </a:r>
          </a:p>
          <a:p>
            <a:pPr algn="ctr">
              <a:lnSpc>
                <a:spcPct val="112000"/>
              </a:lnSpc>
              <a:spcAft>
                <a:spcPts val="200"/>
              </a:spcAft>
              <a:defRPr sz="1500" b="1">
                <a:solidFill>
                  <a:srgbClr val="63778C"/>
                </a:solidFill>
                <a:latin typeface="Noto Sans CJK KR"/>
              </a:defRPr>
            </a:pPr>
            <a:r>
              <a:t>만원</a:t>
            </a:r>
          </a:p>
        </p:txBody>
      </p:sp>
      <p:sp>
        <p:nvSpPr>
          <p:cNvPr id="12" name="TextBox 11"/>
          <p:cNvSpPr txBox="1"/>
          <p:nvPr/>
        </p:nvSpPr>
        <p:spPr>
          <a:xfrm>
            <a:off x="3529584" y="3127248"/>
            <a:ext cx="1581912" cy="594360"/>
          </a:xfrm>
          <a:prstGeom prst="rect">
            <a:avLst/>
          </a:prstGeom>
          <a:noFill/>
        </p:spPr>
        <p:txBody>
          <a:bodyPr wrap="square" lIns="0" rIns="0" tIns="0" bIns="0">
            <a:spAutoFit/>
          </a:bodyPr>
          <a:lstStyle/>
          <a:p>
            <a:pPr algn="ctr">
              <a:lnSpc>
                <a:spcPct val="112000"/>
              </a:lnSpc>
              <a:spcAft>
                <a:spcPts val="200"/>
              </a:spcAft>
              <a:defRPr sz="1500" b="1">
                <a:solidFill>
                  <a:srgbClr val="63778C"/>
                </a:solidFill>
                <a:latin typeface="Noto Sans CJK KR"/>
              </a:defRPr>
            </a:pPr>
            <a:r>
              <a:t>배출</a:t>
            </a:r>
          </a:p>
          <a:p>
            <a:pPr algn="ctr">
              <a:lnSpc>
                <a:spcPct val="112000"/>
              </a:lnSpc>
              <a:spcAft>
                <a:spcPts val="200"/>
              </a:spcAft>
              <a:defRPr sz="1500" b="1">
                <a:solidFill>
                  <a:srgbClr val="63778C"/>
                </a:solidFill>
                <a:latin typeface="Noto Sans CJK KR"/>
              </a:defRPr>
            </a:pPr>
            <a:r>
              <a:t>kgCO₂e</a:t>
            </a:r>
          </a:p>
        </p:txBody>
      </p:sp>
      <p:sp>
        <p:nvSpPr>
          <p:cNvPr id="13" name="TextBox 12"/>
          <p:cNvSpPr txBox="1"/>
          <p:nvPr/>
        </p:nvSpPr>
        <p:spPr>
          <a:xfrm>
            <a:off x="5303520" y="3127248"/>
            <a:ext cx="1170432" cy="594360"/>
          </a:xfrm>
          <a:prstGeom prst="rect">
            <a:avLst/>
          </a:prstGeom>
          <a:noFill/>
        </p:spPr>
        <p:txBody>
          <a:bodyPr wrap="square" lIns="0" rIns="0" tIns="0" bIns="0">
            <a:spAutoFit/>
          </a:bodyPr>
          <a:lstStyle/>
          <a:p>
            <a:pPr algn="ctr">
              <a:lnSpc>
                <a:spcPct val="112000"/>
              </a:lnSpc>
              <a:spcAft>
                <a:spcPts val="200"/>
              </a:spcAft>
              <a:defRPr sz="1500" b="1">
                <a:solidFill>
                  <a:srgbClr val="63778C"/>
                </a:solidFill>
                <a:latin typeface="Noto Sans CJK KR"/>
              </a:defRPr>
            </a:pPr>
            <a:r>
              <a:t>도착</a:t>
            </a:r>
          </a:p>
          <a:p>
            <a:pPr algn="ctr">
              <a:lnSpc>
                <a:spcPct val="112000"/>
              </a:lnSpc>
              <a:spcAft>
                <a:spcPts val="200"/>
              </a:spcAft>
              <a:defRPr sz="1500" b="1">
                <a:solidFill>
                  <a:srgbClr val="63778C"/>
                </a:solidFill>
                <a:latin typeface="Noto Sans CJK KR"/>
              </a:defRPr>
            </a:pPr>
            <a:r>
              <a:t>시간</a:t>
            </a:r>
          </a:p>
        </p:txBody>
      </p:sp>
      <p:sp>
        <p:nvSpPr>
          <p:cNvPr id="14" name="Rectangle 13"/>
          <p:cNvSpPr/>
          <p:nvPr/>
        </p:nvSpPr>
        <p:spPr>
          <a:xfrm>
            <a:off x="685800" y="3895344"/>
            <a:ext cx="5916168" cy="6035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50392" y="4014215"/>
            <a:ext cx="960120" cy="347472"/>
          </a:xfrm>
          <a:prstGeom prst="rect">
            <a:avLst/>
          </a:prstGeom>
          <a:noFill/>
        </p:spPr>
        <p:txBody>
          <a:bodyPr wrap="square" lIns="0" rIns="0" tIns="0" bIns="0">
            <a:spAutoFit/>
          </a:bodyPr>
          <a:lstStyle/>
          <a:p>
            <a:pPr algn="ctr">
              <a:lnSpc>
                <a:spcPct val="112000"/>
              </a:lnSpc>
              <a:spcAft>
                <a:spcPts val="200"/>
              </a:spcAft>
              <a:defRPr sz="2200" b="1">
                <a:solidFill>
                  <a:srgbClr val="20354D"/>
                </a:solidFill>
                <a:latin typeface="Noto Sans CJK KR"/>
              </a:defRPr>
            </a:pPr>
            <a:r>
              <a:t>A</a:t>
            </a:r>
          </a:p>
        </p:txBody>
      </p:sp>
      <p:sp>
        <p:nvSpPr>
          <p:cNvPr id="16" name="TextBox 15"/>
          <p:cNvSpPr txBox="1"/>
          <p:nvPr/>
        </p:nvSpPr>
        <p:spPr>
          <a:xfrm>
            <a:off x="2002536" y="4014215"/>
            <a:ext cx="1335024" cy="347472"/>
          </a:xfrm>
          <a:prstGeom prst="rect">
            <a:avLst/>
          </a:prstGeom>
          <a:noFill/>
        </p:spPr>
        <p:txBody>
          <a:bodyPr wrap="square" lIns="0" rIns="0" tIns="0" bIns="0">
            <a:spAutoFit/>
          </a:bodyPr>
          <a:lstStyle/>
          <a:p>
            <a:pPr algn="ctr">
              <a:lnSpc>
                <a:spcPct val="112000"/>
              </a:lnSpc>
              <a:spcAft>
                <a:spcPts val="200"/>
              </a:spcAft>
              <a:defRPr sz="2200" b="1">
                <a:solidFill>
                  <a:srgbClr val="20354D"/>
                </a:solidFill>
                <a:latin typeface="Noto Sans CJK KR"/>
              </a:defRPr>
            </a:pPr>
            <a:r>
              <a:t>100</a:t>
            </a:r>
          </a:p>
        </p:txBody>
      </p:sp>
      <p:sp>
        <p:nvSpPr>
          <p:cNvPr id="17" name="TextBox 16"/>
          <p:cNvSpPr txBox="1"/>
          <p:nvPr/>
        </p:nvSpPr>
        <p:spPr>
          <a:xfrm>
            <a:off x="3529584" y="4014215"/>
            <a:ext cx="1581912" cy="347472"/>
          </a:xfrm>
          <a:prstGeom prst="rect">
            <a:avLst/>
          </a:prstGeom>
          <a:noFill/>
        </p:spPr>
        <p:txBody>
          <a:bodyPr wrap="square" lIns="0" rIns="0" tIns="0" bIns="0">
            <a:spAutoFit/>
          </a:bodyPr>
          <a:lstStyle/>
          <a:p>
            <a:pPr algn="ctr">
              <a:lnSpc>
                <a:spcPct val="112000"/>
              </a:lnSpc>
              <a:spcAft>
                <a:spcPts val="200"/>
              </a:spcAft>
              <a:defRPr sz="2200" b="1">
                <a:solidFill>
                  <a:srgbClr val="20354D"/>
                </a:solidFill>
                <a:latin typeface="Noto Sans CJK KR"/>
              </a:defRPr>
            </a:pPr>
            <a:r>
              <a:t>400</a:t>
            </a:r>
          </a:p>
        </p:txBody>
      </p:sp>
      <p:sp>
        <p:nvSpPr>
          <p:cNvPr id="18" name="TextBox 17"/>
          <p:cNvSpPr txBox="1"/>
          <p:nvPr/>
        </p:nvSpPr>
        <p:spPr>
          <a:xfrm>
            <a:off x="5303520" y="4014215"/>
            <a:ext cx="1170432" cy="347472"/>
          </a:xfrm>
          <a:prstGeom prst="rect">
            <a:avLst/>
          </a:prstGeom>
          <a:noFill/>
        </p:spPr>
        <p:txBody>
          <a:bodyPr wrap="square" lIns="0" rIns="0" tIns="0" bIns="0">
            <a:spAutoFit/>
          </a:bodyPr>
          <a:lstStyle/>
          <a:p>
            <a:pPr algn="ctr">
              <a:lnSpc>
                <a:spcPct val="112000"/>
              </a:lnSpc>
              <a:spcAft>
                <a:spcPts val="200"/>
              </a:spcAft>
              <a:defRPr sz="2200" b="1">
                <a:solidFill>
                  <a:srgbClr val="20354D"/>
                </a:solidFill>
                <a:latin typeface="Noto Sans CJK KR"/>
              </a:defRPr>
            </a:pPr>
            <a:r>
              <a:t>6</a:t>
            </a:r>
          </a:p>
        </p:txBody>
      </p:sp>
      <p:sp>
        <p:nvSpPr>
          <p:cNvPr id="19" name="Rectangle 18"/>
          <p:cNvSpPr/>
          <p:nvPr/>
        </p:nvSpPr>
        <p:spPr>
          <a:xfrm>
            <a:off x="685800" y="4645152"/>
            <a:ext cx="5916168" cy="6035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50392" y="4764024"/>
            <a:ext cx="960120" cy="347472"/>
          </a:xfrm>
          <a:prstGeom prst="rect">
            <a:avLst/>
          </a:prstGeom>
          <a:noFill/>
        </p:spPr>
        <p:txBody>
          <a:bodyPr wrap="square" lIns="0" rIns="0" tIns="0" bIns="0">
            <a:spAutoFit/>
          </a:bodyPr>
          <a:lstStyle/>
          <a:p>
            <a:pPr algn="ctr">
              <a:lnSpc>
                <a:spcPct val="112000"/>
              </a:lnSpc>
              <a:spcAft>
                <a:spcPts val="200"/>
              </a:spcAft>
              <a:defRPr sz="2200" b="1">
                <a:solidFill>
                  <a:srgbClr val="20354D"/>
                </a:solidFill>
                <a:latin typeface="Noto Sans CJK KR"/>
              </a:defRPr>
            </a:pPr>
            <a:r>
              <a:t>B</a:t>
            </a:r>
          </a:p>
        </p:txBody>
      </p:sp>
      <p:sp>
        <p:nvSpPr>
          <p:cNvPr id="21" name="TextBox 20"/>
          <p:cNvSpPr txBox="1"/>
          <p:nvPr/>
        </p:nvSpPr>
        <p:spPr>
          <a:xfrm>
            <a:off x="2002536" y="4764024"/>
            <a:ext cx="1335024" cy="347472"/>
          </a:xfrm>
          <a:prstGeom prst="rect">
            <a:avLst/>
          </a:prstGeom>
          <a:noFill/>
        </p:spPr>
        <p:txBody>
          <a:bodyPr wrap="square" lIns="0" rIns="0" tIns="0" bIns="0">
            <a:spAutoFit/>
          </a:bodyPr>
          <a:lstStyle/>
          <a:p>
            <a:pPr algn="ctr">
              <a:lnSpc>
                <a:spcPct val="112000"/>
              </a:lnSpc>
              <a:spcAft>
                <a:spcPts val="200"/>
              </a:spcAft>
              <a:defRPr sz="2200" b="1">
                <a:solidFill>
                  <a:srgbClr val="20354D"/>
                </a:solidFill>
                <a:latin typeface="Noto Sans CJK KR"/>
              </a:defRPr>
            </a:pPr>
            <a:r>
              <a:t>110</a:t>
            </a:r>
          </a:p>
        </p:txBody>
      </p:sp>
      <p:sp>
        <p:nvSpPr>
          <p:cNvPr id="22" name="TextBox 21"/>
          <p:cNvSpPr txBox="1"/>
          <p:nvPr/>
        </p:nvSpPr>
        <p:spPr>
          <a:xfrm>
            <a:off x="3529584" y="4764024"/>
            <a:ext cx="1581912" cy="347472"/>
          </a:xfrm>
          <a:prstGeom prst="rect">
            <a:avLst/>
          </a:prstGeom>
          <a:noFill/>
        </p:spPr>
        <p:txBody>
          <a:bodyPr wrap="square" lIns="0" rIns="0" tIns="0" bIns="0">
            <a:spAutoFit/>
          </a:bodyPr>
          <a:lstStyle/>
          <a:p>
            <a:pPr algn="ctr">
              <a:lnSpc>
                <a:spcPct val="112000"/>
              </a:lnSpc>
              <a:spcAft>
                <a:spcPts val="200"/>
              </a:spcAft>
              <a:defRPr sz="2200" b="1">
                <a:solidFill>
                  <a:srgbClr val="20354D"/>
                </a:solidFill>
                <a:latin typeface="Noto Sans CJK KR"/>
              </a:defRPr>
            </a:pPr>
            <a:r>
              <a:t>260</a:t>
            </a:r>
          </a:p>
        </p:txBody>
      </p:sp>
      <p:sp>
        <p:nvSpPr>
          <p:cNvPr id="23" name="TextBox 22"/>
          <p:cNvSpPr txBox="1"/>
          <p:nvPr/>
        </p:nvSpPr>
        <p:spPr>
          <a:xfrm>
            <a:off x="5303520" y="4764024"/>
            <a:ext cx="1170432" cy="347472"/>
          </a:xfrm>
          <a:prstGeom prst="rect">
            <a:avLst/>
          </a:prstGeom>
          <a:noFill/>
        </p:spPr>
        <p:txBody>
          <a:bodyPr wrap="square" lIns="0" rIns="0" tIns="0" bIns="0">
            <a:spAutoFit/>
          </a:bodyPr>
          <a:lstStyle/>
          <a:p>
            <a:pPr algn="ctr">
              <a:lnSpc>
                <a:spcPct val="112000"/>
              </a:lnSpc>
              <a:spcAft>
                <a:spcPts val="200"/>
              </a:spcAft>
              <a:defRPr sz="2200" b="1">
                <a:solidFill>
                  <a:srgbClr val="20354D"/>
                </a:solidFill>
                <a:latin typeface="Noto Sans CJK KR"/>
              </a:defRPr>
            </a:pPr>
            <a:r>
              <a:t>4</a:t>
            </a:r>
          </a:p>
        </p:txBody>
      </p:sp>
      <p:sp>
        <p:nvSpPr>
          <p:cNvPr id="24" name="Rectangle 23"/>
          <p:cNvSpPr/>
          <p:nvPr/>
        </p:nvSpPr>
        <p:spPr>
          <a:xfrm>
            <a:off x="685800" y="5394959"/>
            <a:ext cx="5916168" cy="603504"/>
          </a:xfrm>
          <a:prstGeom prst="rect">
            <a:avLst/>
          </a:prstGeom>
          <a:solidFill>
            <a:srgbClr val="E4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50392" y="5513831"/>
            <a:ext cx="960120" cy="347472"/>
          </a:xfrm>
          <a:prstGeom prst="rect">
            <a:avLst/>
          </a:prstGeom>
          <a:noFill/>
        </p:spPr>
        <p:txBody>
          <a:bodyPr wrap="square" lIns="0" rIns="0" tIns="0" bIns="0">
            <a:spAutoFit/>
          </a:bodyPr>
          <a:lstStyle/>
          <a:p>
            <a:pPr algn="ctr">
              <a:lnSpc>
                <a:spcPct val="112000"/>
              </a:lnSpc>
              <a:spcAft>
                <a:spcPts val="200"/>
              </a:spcAft>
              <a:defRPr sz="2200" b="1">
                <a:solidFill>
                  <a:srgbClr val="00877F"/>
                </a:solidFill>
                <a:latin typeface="Noto Sans CJK KR"/>
              </a:defRPr>
            </a:pPr>
            <a:r>
              <a:t>C</a:t>
            </a:r>
          </a:p>
        </p:txBody>
      </p:sp>
      <p:sp>
        <p:nvSpPr>
          <p:cNvPr id="26" name="TextBox 25"/>
          <p:cNvSpPr txBox="1"/>
          <p:nvPr/>
        </p:nvSpPr>
        <p:spPr>
          <a:xfrm>
            <a:off x="2002536" y="5513831"/>
            <a:ext cx="1335024" cy="347472"/>
          </a:xfrm>
          <a:prstGeom prst="rect">
            <a:avLst/>
          </a:prstGeom>
          <a:noFill/>
        </p:spPr>
        <p:txBody>
          <a:bodyPr wrap="square" lIns="0" rIns="0" tIns="0" bIns="0">
            <a:spAutoFit/>
          </a:bodyPr>
          <a:lstStyle/>
          <a:p>
            <a:pPr algn="ctr">
              <a:lnSpc>
                <a:spcPct val="112000"/>
              </a:lnSpc>
              <a:spcAft>
                <a:spcPts val="200"/>
              </a:spcAft>
              <a:defRPr sz="2200" b="1">
                <a:solidFill>
                  <a:srgbClr val="00877F"/>
                </a:solidFill>
                <a:latin typeface="Noto Sans CJK KR"/>
              </a:defRPr>
            </a:pPr>
            <a:r>
              <a:t>140</a:t>
            </a:r>
          </a:p>
        </p:txBody>
      </p:sp>
      <p:sp>
        <p:nvSpPr>
          <p:cNvPr id="27" name="TextBox 26"/>
          <p:cNvSpPr txBox="1"/>
          <p:nvPr/>
        </p:nvSpPr>
        <p:spPr>
          <a:xfrm>
            <a:off x="3529584" y="5513831"/>
            <a:ext cx="1581912" cy="347472"/>
          </a:xfrm>
          <a:prstGeom prst="rect">
            <a:avLst/>
          </a:prstGeom>
          <a:noFill/>
        </p:spPr>
        <p:txBody>
          <a:bodyPr wrap="square" lIns="0" rIns="0" tIns="0" bIns="0">
            <a:spAutoFit/>
          </a:bodyPr>
          <a:lstStyle/>
          <a:p>
            <a:pPr algn="ctr">
              <a:lnSpc>
                <a:spcPct val="112000"/>
              </a:lnSpc>
              <a:spcAft>
                <a:spcPts val="200"/>
              </a:spcAft>
              <a:defRPr sz="2200" b="1">
                <a:solidFill>
                  <a:srgbClr val="00877F"/>
                </a:solidFill>
                <a:latin typeface="Noto Sans CJK KR"/>
              </a:defRPr>
            </a:pPr>
            <a:r>
              <a:t>200</a:t>
            </a:r>
          </a:p>
        </p:txBody>
      </p:sp>
      <p:sp>
        <p:nvSpPr>
          <p:cNvPr id="28" name="TextBox 27"/>
          <p:cNvSpPr txBox="1"/>
          <p:nvPr/>
        </p:nvSpPr>
        <p:spPr>
          <a:xfrm>
            <a:off x="5303520" y="5513831"/>
            <a:ext cx="1170432" cy="347472"/>
          </a:xfrm>
          <a:prstGeom prst="rect">
            <a:avLst/>
          </a:prstGeom>
          <a:noFill/>
        </p:spPr>
        <p:txBody>
          <a:bodyPr wrap="square" lIns="0" rIns="0" tIns="0" bIns="0">
            <a:spAutoFit/>
          </a:bodyPr>
          <a:lstStyle/>
          <a:p>
            <a:pPr algn="ctr">
              <a:lnSpc>
                <a:spcPct val="112000"/>
              </a:lnSpc>
              <a:spcAft>
                <a:spcPts val="200"/>
              </a:spcAft>
              <a:defRPr sz="2200" b="1">
                <a:solidFill>
                  <a:srgbClr val="00877F"/>
                </a:solidFill>
                <a:latin typeface="Noto Sans CJK KR"/>
              </a:defRPr>
            </a:pPr>
            <a:r>
              <a:t>3</a:t>
            </a:r>
          </a:p>
        </p:txBody>
      </p:sp>
      <p:sp>
        <p:nvSpPr>
          <p:cNvPr id="29" name="TextBox 28"/>
          <p:cNvSpPr txBox="1"/>
          <p:nvPr/>
        </p:nvSpPr>
        <p:spPr>
          <a:xfrm>
            <a:off x="859536" y="6419088"/>
            <a:ext cx="5605272" cy="594360"/>
          </a:xfrm>
          <a:prstGeom prst="rect">
            <a:avLst/>
          </a:prstGeom>
          <a:noFill/>
        </p:spPr>
        <p:txBody>
          <a:bodyPr wrap="square" lIns="0" rIns="0" tIns="0" bIns="0">
            <a:spAutoFit/>
          </a:bodyPr>
          <a:lstStyle/>
          <a:p>
            <a:pPr>
              <a:lnSpc>
                <a:spcPct val="112000"/>
              </a:lnSpc>
              <a:spcAft>
                <a:spcPts val="200"/>
              </a:spcAft>
              <a:defRPr sz="1800" b="0">
                <a:solidFill>
                  <a:srgbClr val="63778C"/>
                </a:solidFill>
                <a:latin typeface="Noto Sans CJK KR"/>
              </a:defRPr>
            </a:pPr>
            <a:r>
              <a:t>비용·배출은 작을수록 높은 점수</a:t>
            </a:r>
          </a:p>
          <a:p>
            <a:pPr>
              <a:lnSpc>
                <a:spcPct val="112000"/>
              </a:lnSpc>
              <a:spcAft>
                <a:spcPts val="200"/>
              </a:spcAft>
              <a:defRPr sz="1800" b="0">
                <a:solidFill>
                  <a:srgbClr val="63778C"/>
                </a:solidFill>
                <a:latin typeface="Noto Sans CJK KR"/>
              </a:defRPr>
            </a:pPr>
            <a:r>
              <a:t>시간 여유는 클수록 높은 점수</a:t>
            </a:r>
          </a:p>
        </p:txBody>
      </p:sp>
      <p:cxnSp>
        <p:nvCxnSpPr>
          <p:cNvPr id="30" name="Connector 29"/>
          <p:cNvCxnSpPr/>
          <p:nvPr/>
        </p:nvCxnSpPr>
        <p:spPr>
          <a:xfrm>
            <a:off x="6931152" y="2633472"/>
            <a:ext cx="0" cy="4526280"/>
          </a:xfrm>
          <a:prstGeom prst="line">
            <a:avLst/>
          </a:prstGeom>
          <a:ln w="12700">
            <a:solidFill>
              <a:srgbClr val="D5DFE9"/>
            </a:solidFill>
          </a:ln>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351775" y="2651760"/>
            <a:ext cx="6510528" cy="365760"/>
          </a:xfrm>
          <a:prstGeom prst="rect">
            <a:avLst/>
          </a:prstGeom>
          <a:noFill/>
        </p:spPr>
        <p:txBody>
          <a:bodyPr wrap="square" lIns="0" rIns="0" tIns="0" bIns="0">
            <a:spAutoFit/>
          </a:bodyPr>
          <a:lstStyle/>
          <a:p>
            <a:pPr>
              <a:lnSpc>
                <a:spcPct val="112000"/>
              </a:lnSpc>
              <a:spcAft>
                <a:spcPts val="200"/>
              </a:spcAft>
              <a:defRPr sz="2000" b="1">
                <a:solidFill>
                  <a:srgbClr val="20354D"/>
                </a:solidFill>
                <a:latin typeface="Noto Sans CJK KR"/>
              </a:defRPr>
            </a:pPr>
            <a:r>
              <a:t>탄소 모드: 비용 20 · 탄소 60 · 시간 20</a:t>
            </a:r>
          </a:p>
        </p:txBody>
      </p:sp>
      <p:sp>
        <p:nvSpPr>
          <p:cNvPr id="32" name="TextBox 31"/>
          <p:cNvSpPr txBox="1"/>
          <p:nvPr/>
        </p:nvSpPr>
        <p:spPr>
          <a:xfrm>
            <a:off x="7370064" y="3703320"/>
            <a:ext cx="365760" cy="365760"/>
          </a:xfrm>
          <a:prstGeom prst="rect">
            <a:avLst/>
          </a:prstGeom>
          <a:noFill/>
        </p:spPr>
        <p:txBody>
          <a:bodyPr wrap="square" lIns="0" rIns="0" tIns="0" bIns="0">
            <a:spAutoFit/>
          </a:bodyPr>
          <a:lstStyle/>
          <a:p>
            <a:pPr>
              <a:lnSpc>
                <a:spcPct val="112000"/>
              </a:lnSpc>
              <a:spcAft>
                <a:spcPts val="200"/>
              </a:spcAft>
              <a:defRPr sz="2300" b="1">
                <a:solidFill>
                  <a:srgbClr val="20354D"/>
                </a:solidFill>
                <a:latin typeface="Noto Sans CJK KR"/>
              </a:defRPr>
            </a:pPr>
            <a:r>
              <a:t>A</a:t>
            </a:r>
          </a:p>
        </p:txBody>
      </p:sp>
      <p:sp>
        <p:nvSpPr>
          <p:cNvPr id="33" name="Rectangle 32"/>
          <p:cNvSpPr/>
          <p:nvPr/>
        </p:nvSpPr>
        <p:spPr>
          <a:xfrm>
            <a:off x="8001000" y="3611880"/>
            <a:ext cx="4626864" cy="585216"/>
          </a:xfrm>
          <a:prstGeom prst="rect">
            <a:avLst/>
          </a:prstGeom>
          <a:solidFill>
            <a:srgbClr val="E8EE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8001000" y="3611880"/>
            <a:ext cx="925372" cy="585216"/>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8926372" y="3611880"/>
            <a:ext cx="231343" cy="585216"/>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2801600" y="3703320"/>
            <a:ext cx="1033271" cy="365760"/>
          </a:xfrm>
          <a:prstGeom prst="rect">
            <a:avLst/>
          </a:prstGeom>
          <a:noFill/>
        </p:spPr>
        <p:txBody>
          <a:bodyPr wrap="square" lIns="0" rIns="0" tIns="0" bIns="0">
            <a:spAutoFit/>
          </a:bodyPr>
          <a:lstStyle/>
          <a:p>
            <a:pPr>
              <a:lnSpc>
                <a:spcPct val="112000"/>
              </a:lnSpc>
              <a:spcAft>
                <a:spcPts val="200"/>
              </a:spcAft>
              <a:defRPr sz="2300" b="1">
                <a:solidFill>
                  <a:srgbClr val="20354D"/>
                </a:solidFill>
                <a:latin typeface="Noto Sans CJK KR"/>
              </a:defRPr>
            </a:pPr>
            <a:r>
              <a:t>0.250</a:t>
            </a:r>
          </a:p>
        </p:txBody>
      </p:sp>
      <p:sp>
        <p:nvSpPr>
          <p:cNvPr id="37" name="TextBox 36"/>
          <p:cNvSpPr txBox="1"/>
          <p:nvPr/>
        </p:nvSpPr>
        <p:spPr>
          <a:xfrm>
            <a:off x="7370064" y="4727448"/>
            <a:ext cx="365760" cy="365760"/>
          </a:xfrm>
          <a:prstGeom prst="rect">
            <a:avLst/>
          </a:prstGeom>
          <a:noFill/>
        </p:spPr>
        <p:txBody>
          <a:bodyPr wrap="square" lIns="0" rIns="0" tIns="0" bIns="0">
            <a:spAutoFit/>
          </a:bodyPr>
          <a:lstStyle/>
          <a:p>
            <a:pPr>
              <a:lnSpc>
                <a:spcPct val="112000"/>
              </a:lnSpc>
              <a:spcAft>
                <a:spcPts val="200"/>
              </a:spcAft>
              <a:defRPr sz="2300" b="1">
                <a:solidFill>
                  <a:srgbClr val="20354D"/>
                </a:solidFill>
                <a:latin typeface="Noto Sans CJK KR"/>
              </a:defRPr>
            </a:pPr>
            <a:r>
              <a:t>B</a:t>
            </a:r>
          </a:p>
        </p:txBody>
      </p:sp>
      <p:sp>
        <p:nvSpPr>
          <p:cNvPr id="38" name="Rectangle 37"/>
          <p:cNvSpPr/>
          <p:nvPr/>
        </p:nvSpPr>
        <p:spPr>
          <a:xfrm>
            <a:off x="8001000" y="4636008"/>
            <a:ext cx="4626864" cy="585216"/>
          </a:xfrm>
          <a:prstGeom prst="rect">
            <a:avLst/>
          </a:prstGeom>
          <a:solidFill>
            <a:srgbClr val="E8EE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8001000" y="4636008"/>
            <a:ext cx="694029" cy="585216"/>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8695029" y="4636008"/>
            <a:ext cx="1943282" cy="585216"/>
          </a:xfrm>
          <a:prstGeom prst="rect">
            <a:avLst/>
          </a:prstGeom>
          <a:solidFill>
            <a:srgbClr val="0087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10638312" y="4636008"/>
            <a:ext cx="462686" cy="585216"/>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12801600" y="4727448"/>
            <a:ext cx="1033271" cy="365760"/>
          </a:xfrm>
          <a:prstGeom prst="rect">
            <a:avLst/>
          </a:prstGeom>
          <a:noFill/>
        </p:spPr>
        <p:txBody>
          <a:bodyPr wrap="square" lIns="0" rIns="0" tIns="0" bIns="0">
            <a:spAutoFit/>
          </a:bodyPr>
          <a:lstStyle/>
          <a:p>
            <a:pPr>
              <a:lnSpc>
                <a:spcPct val="112000"/>
              </a:lnSpc>
              <a:spcAft>
                <a:spcPts val="200"/>
              </a:spcAft>
              <a:defRPr sz="2300" b="1">
                <a:solidFill>
                  <a:srgbClr val="20354D"/>
                </a:solidFill>
                <a:latin typeface="Noto Sans CJK KR"/>
              </a:defRPr>
            </a:pPr>
            <a:r>
              <a:t>0.670</a:t>
            </a:r>
          </a:p>
        </p:txBody>
      </p:sp>
      <p:sp>
        <p:nvSpPr>
          <p:cNvPr id="43" name="TextBox 42"/>
          <p:cNvSpPr txBox="1"/>
          <p:nvPr/>
        </p:nvSpPr>
        <p:spPr>
          <a:xfrm>
            <a:off x="7370064" y="5751576"/>
            <a:ext cx="365760" cy="365760"/>
          </a:xfrm>
          <a:prstGeom prst="rect">
            <a:avLst/>
          </a:prstGeom>
          <a:noFill/>
        </p:spPr>
        <p:txBody>
          <a:bodyPr wrap="square" lIns="0" rIns="0" tIns="0" bIns="0">
            <a:spAutoFit/>
          </a:bodyPr>
          <a:lstStyle/>
          <a:p>
            <a:pPr>
              <a:lnSpc>
                <a:spcPct val="112000"/>
              </a:lnSpc>
              <a:spcAft>
                <a:spcPts val="200"/>
              </a:spcAft>
              <a:defRPr sz="2300" b="1">
                <a:solidFill>
                  <a:srgbClr val="00877F"/>
                </a:solidFill>
                <a:latin typeface="Noto Sans CJK KR"/>
              </a:defRPr>
            </a:pPr>
            <a:r>
              <a:t>C</a:t>
            </a:r>
          </a:p>
        </p:txBody>
      </p:sp>
      <p:sp>
        <p:nvSpPr>
          <p:cNvPr id="44" name="Rectangle 43"/>
          <p:cNvSpPr/>
          <p:nvPr/>
        </p:nvSpPr>
        <p:spPr>
          <a:xfrm>
            <a:off x="8001000" y="5660136"/>
            <a:ext cx="4626864" cy="585216"/>
          </a:xfrm>
          <a:prstGeom prst="rect">
            <a:avLst/>
          </a:prstGeom>
          <a:solidFill>
            <a:srgbClr val="E8EE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ectangle 44"/>
          <p:cNvSpPr/>
          <p:nvPr/>
        </p:nvSpPr>
        <p:spPr>
          <a:xfrm>
            <a:off x="8001000" y="5660136"/>
            <a:ext cx="2776118" cy="585216"/>
          </a:xfrm>
          <a:prstGeom prst="rect">
            <a:avLst/>
          </a:prstGeom>
          <a:solidFill>
            <a:srgbClr val="0087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ctangle 45"/>
          <p:cNvSpPr/>
          <p:nvPr/>
        </p:nvSpPr>
        <p:spPr>
          <a:xfrm>
            <a:off x="10777118" y="5660136"/>
            <a:ext cx="578358" cy="585216"/>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12801600" y="5751576"/>
            <a:ext cx="1033271" cy="365760"/>
          </a:xfrm>
          <a:prstGeom prst="rect">
            <a:avLst/>
          </a:prstGeom>
          <a:noFill/>
        </p:spPr>
        <p:txBody>
          <a:bodyPr wrap="square" lIns="0" rIns="0" tIns="0" bIns="0">
            <a:spAutoFit/>
          </a:bodyPr>
          <a:lstStyle/>
          <a:p>
            <a:pPr>
              <a:lnSpc>
                <a:spcPct val="112000"/>
              </a:lnSpc>
              <a:spcAft>
                <a:spcPts val="200"/>
              </a:spcAft>
              <a:defRPr sz="2300" b="1">
                <a:solidFill>
                  <a:srgbClr val="00877F"/>
                </a:solidFill>
                <a:latin typeface="Noto Sans CJK KR"/>
              </a:defRPr>
            </a:pPr>
            <a:r>
              <a:t>0.725</a:t>
            </a:r>
          </a:p>
        </p:txBody>
      </p:sp>
      <p:sp>
        <p:nvSpPr>
          <p:cNvPr id="48" name="TextBox 47"/>
          <p:cNvSpPr txBox="1"/>
          <p:nvPr/>
        </p:nvSpPr>
        <p:spPr>
          <a:xfrm>
            <a:off x="8028431" y="6766560"/>
            <a:ext cx="5852160" cy="356616"/>
          </a:xfrm>
          <a:prstGeom prst="rect">
            <a:avLst/>
          </a:prstGeom>
          <a:noFill/>
        </p:spPr>
        <p:txBody>
          <a:bodyPr wrap="square" lIns="0" rIns="0" tIns="0" bIns="0">
            <a:spAutoFit/>
          </a:bodyPr>
          <a:lstStyle/>
          <a:p>
            <a:pPr>
              <a:lnSpc>
                <a:spcPct val="112000"/>
              </a:lnSpc>
              <a:spcAft>
                <a:spcPts val="200"/>
              </a:spcAft>
              <a:defRPr sz="1600" b="1">
                <a:solidFill>
                  <a:srgbClr val="00877F"/>
                </a:solidFill>
                <a:latin typeface="Noto Sans CJK KR"/>
              </a:defRPr>
            </a:pPr>
            <a:r>
              <a:t>C: 0.2 × 0 + 0.6 × 1 + 0.2 × 0.625 = 0.725</a:t>
            </a:r>
          </a:p>
        </p:txBody>
      </p:sp>
      <p:sp>
        <p:nvSpPr>
          <p:cNvPr id="49" name="Rectangle 48"/>
          <p:cNvSpPr/>
          <p:nvPr/>
        </p:nvSpPr>
        <p:spPr>
          <a:xfrm>
            <a:off x="8074152" y="6400800"/>
            <a:ext cx="146304" cy="146304"/>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8302752" y="6345936"/>
            <a:ext cx="1508760" cy="256032"/>
          </a:xfrm>
          <a:prstGeom prst="rect">
            <a:avLst/>
          </a:prstGeom>
          <a:noFill/>
        </p:spPr>
        <p:txBody>
          <a:bodyPr wrap="square" lIns="0" rIns="0" tIns="0" bIns="0">
            <a:spAutoFit/>
          </a:bodyPr>
          <a:lstStyle/>
          <a:p>
            <a:pPr>
              <a:lnSpc>
                <a:spcPct val="112000"/>
              </a:lnSpc>
              <a:spcAft>
                <a:spcPts val="200"/>
              </a:spcAft>
              <a:defRPr sz="1200" b="0">
                <a:solidFill>
                  <a:srgbClr val="63778C"/>
                </a:solidFill>
                <a:latin typeface="Noto Sans CJK KR"/>
              </a:defRPr>
            </a:pPr>
            <a:r>
              <a:t>비용</a:t>
            </a:r>
          </a:p>
        </p:txBody>
      </p:sp>
      <p:sp>
        <p:nvSpPr>
          <p:cNvPr id="51" name="Rectangle 50"/>
          <p:cNvSpPr/>
          <p:nvPr/>
        </p:nvSpPr>
        <p:spPr>
          <a:xfrm>
            <a:off x="9555480" y="6400800"/>
            <a:ext cx="146304" cy="146304"/>
          </a:xfrm>
          <a:prstGeom prst="rect">
            <a:avLst/>
          </a:prstGeom>
          <a:solidFill>
            <a:srgbClr val="0087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9784080" y="6345936"/>
            <a:ext cx="1508760" cy="256032"/>
          </a:xfrm>
          <a:prstGeom prst="rect">
            <a:avLst/>
          </a:prstGeom>
          <a:noFill/>
        </p:spPr>
        <p:txBody>
          <a:bodyPr wrap="square" lIns="0" rIns="0" tIns="0" bIns="0">
            <a:spAutoFit/>
          </a:bodyPr>
          <a:lstStyle/>
          <a:p>
            <a:pPr>
              <a:lnSpc>
                <a:spcPct val="112000"/>
              </a:lnSpc>
              <a:spcAft>
                <a:spcPts val="200"/>
              </a:spcAft>
              <a:defRPr sz="1200" b="0">
                <a:solidFill>
                  <a:srgbClr val="63778C"/>
                </a:solidFill>
                <a:latin typeface="Noto Sans CJK KR"/>
              </a:defRPr>
            </a:pPr>
            <a:r>
              <a:t>탄소</a:t>
            </a:r>
          </a:p>
        </p:txBody>
      </p:sp>
      <p:sp>
        <p:nvSpPr>
          <p:cNvPr id="53" name="Rectangle 52"/>
          <p:cNvSpPr/>
          <p:nvPr/>
        </p:nvSpPr>
        <p:spPr>
          <a:xfrm>
            <a:off x="11045952" y="6400800"/>
            <a:ext cx="146304" cy="146304"/>
          </a:xfrm>
          <a:prstGeom prst="rect">
            <a:avLst/>
          </a:prstGeom>
          <a:solidFill>
            <a:srgbClr val="DAA6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11274552" y="6345936"/>
            <a:ext cx="1508760" cy="256032"/>
          </a:xfrm>
          <a:prstGeom prst="rect">
            <a:avLst/>
          </a:prstGeom>
          <a:noFill/>
        </p:spPr>
        <p:txBody>
          <a:bodyPr wrap="square" lIns="0" rIns="0" tIns="0" bIns="0">
            <a:spAutoFit/>
          </a:bodyPr>
          <a:lstStyle/>
          <a:p>
            <a:pPr>
              <a:lnSpc>
                <a:spcPct val="112000"/>
              </a:lnSpc>
              <a:spcAft>
                <a:spcPts val="200"/>
              </a:spcAft>
              <a:defRPr sz="1200" b="0">
                <a:solidFill>
                  <a:srgbClr val="63778C"/>
                </a:solidFill>
                <a:latin typeface="Noto Sans CJK KR"/>
              </a:defRPr>
            </a:pPr>
            <a:r>
              <a:t>시간 여유</a:t>
            </a:r>
          </a:p>
        </p:txBody>
      </p:sp>
      <p:sp>
        <p:nvSpPr>
          <p:cNvPr id="55" name="TextBox 54"/>
          <p:cNvSpPr txBox="1"/>
          <p:nvPr/>
        </p:nvSpPr>
        <p:spPr>
          <a:xfrm>
            <a:off x="667512" y="7470648"/>
            <a:ext cx="13304520" cy="219456"/>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점수 범위 0–1: 비용·배출은 후보 간 역방향 min–max, 시간 여유는 (8−도착시간)/8. 상세 산식·전체 점수는 보충자료에 제시.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94360" y="283464"/>
            <a:ext cx="10972800" cy="256032"/>
          </a:xfrm>
          <a:prstGeom prst="rect">
            <a:avLst/>
          </a:prstGeom>
          <a:noFill/>
        </p:spPr>
        <p:txBody>
          <a:bodyPr wrap="square" lIns="0" rIns="0" tIns="0" bIns="0">
            <a:spAutoFit/>
          </a:bodyPr>
          <a:lstStyle/>
          <a:p>
            <a:pPr>
              <a:lnSpc>
                <a:spcPct val="112000"/>
              </a:lnSpc>
              <a:spcAft>
                <a:spcPts val="200"/>
              </a:spcAft>
              <a:defRPr sz="1200" b="1">
                <a:solidFill>
                  <a:srgbClr val="00877F"/>
                </a:solidFill>
                <a:latin typeface="Noto Sans CJK KR"/>
              </a:defRPr>
            </a:pPr>
            <a:r>
              <a:t>CBP  /  CARBON BUDGET POOLING</a:t>
            </a:r>
          </a:p>
        </p:txBody>
      </p:sp>
      <p:sp>
        <p:nvSpPr>
          <p:cNvPr id="3" name="TextBox 2"/>
          <p:cNvSpPr txBox="1"/>
          <p:nvPr/>
        </p:nvSpPr>
        <p:spPr>
          <a:xfrm>
            <a:off x="12298680" y="283464"/>
            <a:ext cx="1737360" cy="256032"/>
          </a:xfrm>
          <a:prstGeom prst="rect">
            <a:avLst/>
          </a:prstGeom>
          <a:noFill/>
        </p:spPr>
        <p:txBody>
          <a:bodyPr wrap="square" lIns="0" rIns="0" tIns="0" bIns="0">
            <a:spAutoFit/>
          </a:bodyPr>
          <a:lstStyle/>
          <a:p>
            <a:pPr algn="r">
              <a:lnSpc>
                <a:spcPct val="112000"/>
              </a:lnSpc>
              <a:spcAft>
                <a:spcPts val="200"/>
              </a:spcAft>
              <a:defRPr sz="1200" b="1">
                <a:solidFill>
                  <a:srgbClr val="63778C"/>
                </a:solidFill>
                <a:latin typeface="Noto Sans CJK KR"/>
              </a:defRPr>
            </a:pPr>
            <a:r>
              <a:t>05</a:t>
            </a:r>
          </a:p>
        </p:txBody>
      </p:sp>
      <p:sp>
        <p:nvSpPr>
          <p:cNvPr id="4" name="TextBox 3"/>
          <p:cNvSpPr txBox="1"/>
          <p:nvPr/>
        </p:nvSpPr>
        <p:spPr>
          <a:xfrm>
            <a:off x="594360" y="850392"/>
            <a:ext cx="13441680" cy="1060704"/>
          </a:xfrm>
          <a:prstGeom prst="rect">
            <a:avLst/>
          </a:prstGeom>
          <a:noFill/>
        </p:spPr>
        <p:txBody>
          <a:bodyPr wrap="square" lIns="0" rIns="0" tIns="0" bIns="0">
            <a:spAutoFit/>
          </a:bodyPr>
          <a:lstStyle/>
          <a:p>
            <a:pPr>
              <a:lnSpc>
                <a:spcPct val="112000"/>
              </a:lnSpc>
              <a:spcAft>
                <a:spcPts val="200"/>
              </a:spcAft>
              <a:defRPr sz="3400" b="1">
                <a:solidFill>
                  <a:srgbClr val="20354D"/>
                </a:solidFill>
                <a:latin typeface="Noto Sans CJK KR"/>
              </a:defRPr>
            </a:pPr>
            <a:r>
              <a:t>같은 후보라도, 예산 상태가 바뀌면 선택이 달라집니다.</a:t>
            </a:r>
          </a:p>
        </p:txBody>
      </p:sp>
      <p:sp>
        <p:nvSpPr>
          <p:cNvPr id="5" name="TextBox 4"/>
          <p:cNvSpPr txBox="1"/>
          <p:nvPr/>
        </p:nvSpPr>
        <p:spPr>
          <a:xfrm>
            <a:off x="621792" y="1920240"/>
            <a:ext cx="13350240" cy="475488"/>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CBP의 역할은 비용과 탄소 사이의 선택 기준을 탄소예산 상태에 맞춰 조정하는 것입니다.</a:t>
            </a:r>
          </a:p>
        </p:txBody>
      </p:sp>
      <p:cxnSp>
        <p:nvCxnSpPr>
          <p:cNvPr id="6" name="Connector 5"/>
          <p:cNvCxnSpPr/>
          <p:nvPr/>
        </p:nvCxnSpPr>
        <p:spPr>
          <a:xfrm>
            <a:off x="594360" y="7772400"/>
            <a:ext cx="13441680" cy="0"/>
          </a:xfrm>
          <a:prstGeom prst="line">
            <a:avLst/>
          </a:prstGeom>
          <a:ln w="12700">
            <a:solidFill>
              <a:srgbClr val="D5DFE9"/>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12648" y="7900416"/>
            <a:ext cx="13350240" cy="192024"/>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두런두런  |  제13회 유닛로드시스템(ULS) 창의성 공모전  |  탄소예산 기반 재배치 의사결정</a:t>
            </a:r>
          </a:p>
        </p:txBody>
      </p:sp>
      <p:sp>
        <p:nvSpPr>
          <p:cNvPr id="8" name="TextBox 7"/>
          <p:cNvSpPr txBox="1"/>
          <p:nvPr/>
        </p:nvSpPr>
        <p:spPr>
          <a:xfrm>
            <a:off x="786384" y="2615184"/>
            <a:ext cx="7040880" cy="301752"/>
          </a:xfrm>
          <a:prstGeom prst="rect">
            <a:avLst/>
          </a:prstGeom>
          <a:noFill/>
        </p:spPr>
        <p:txBody>
          <a:bodyPr wrap="square" lIns="0" rIns="0" tIns="0" bIns="0">
            <a:spAutoFit/>
          </a:bodyPr>
          <a:lstStyle/>
          <a:p>
            <a:pPr>
              <a:lnSpc>
                <a:spcPct val="112000"/>
              </a:lnSpc>
              <a:spcAft>
                <a:spcPts val="200"/>
              </a:spcAft>
              <a:defRPr sz="1900" b="1">
                <a:solidFill>
                  <a:srgbClr val="20354D"/>
                </a:solidFill>
                <a:latin typeface="Noto Sans CJK KR"/>
              </a:defRPr>
            </a:pPr>
            <a:r>
              <a:t>세 운송안의 비용–배출 관계</a:t>
            </a:r>
          </a:p>
        </p:txBody>
      </p:sp>
      <p:cxnSp>
        <p:nvCxnSpPr>
          <p:cNvPr id="9" name="Connector 8"/>
          <p:cNvCxnSpPr/>
          <p:nvPr/>
        </p:nvCxnSpPr>
        <p:spPr>
          <a:xfrm>
            <a:off x="1261872" y="6208776"/>
            <a:ext cx="5952744" cy="0"/>
          </a:xfrm>
          <a:prstGeom prst="line">
            <a:avLst/>
          </a:prstGeom>
          <a:ln w="19050">
            <a:solidFill>
              <a:srgbClr val="63778C"/>
            </a:solidFill>
          </a:ln>
        </p:spPr>
        <p:style>
          <a:lnRef idx="2">
            <a:schemeClr val="accent1"/>
          </a:lnRef>
          <a:fillRef idx="0">
            <a:schemeClr val="accent1"/>
          </a:fillRef>
          <a:effectRef idx="0">
            <a:schemeClr val="accent1"/>
          </a:effectRef>
          <a:fontRef idx="minor">
            <a:schemeClr val="tx1"/>
          </a:fontRef>
        </p:style>
      </p:cxnSp>
      <p:cxnSp>
        <p:nvCxnSpPr>
          <p:cNvPr id="10" name="Connector 9"/>
          <p:cNvCxnSpPr/>
          <p:nvPr/>
        </p:nvCxnSpPr>
        <p:spPr>
          <a:xfrm flipV="1">
            <a:off x="1261872" y="3200400"/>
            <a:ext cx="0" cy="3008376"/>
          </a:xfrm>
          <a:prstGeom prst="line">
            <a:avLst/>
          </a:prstGeom>
          <a:ln w="19050">
            <a:solidFill>
              <a:srgbClr val="63778C"/>
            </a:solidFill>
          </a:ln>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a:off x="1261872" y="5751576"/>
            <a:ext cx="5952744" cy="0"/>
          </a:xfrm>
          <a:prstGeom prst="line">
            <a:avLst/>
          </a:prstGeom>
          <a:ln w="12700">
            <a:solidFill>
              <a:srgbClr val="D5DFE9"/>
            </a:solidFill>
            <a:prstDash val="dash"/>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5623560"/>
            <a:ext cx="502920" cy="274320"/>
          </a:xfrm>
          <a:prstGeom prst="rect">
            <a:avLst/>
          </a:prstGeom>
          <a:noFill/>
        </p:spPr>
        <p:txBody>
          <a:bodyPr wrap="square" lIns="0" rIns="0" tIns="0" bIns="0">
            <a:spAutoFit/>
          </a:bodyPr>
          <a:lstStyle/>
          <a:p>
            <a:pPr algn="r">
              <a:lnSpc>
                <a:spcPct val="112000"/>
              </a:lnSpc>
              <a:spcAft>
                <a:spcPts val="200"/>
              </a:spcAft>
              <a:defRPr sz="1200" b="0">
                <a:solidFill>
                  <a:srgbClr val="63778C"/>
                </a:solidFill>
                <a:latin typeface="Noto Sans CJK KR"/>
              </a:defRPr>
            </a:pPr>
            <a:r>
              <a:t>200</a:t>
            </a:r>
          </a:p>
        </p:txBody>
      </p:sp>
      <p:cxnSp>
        <p:nvCxnSpPr>
          <p:cNvPr id="13" name="Connector 12"/>
          <p:cNvCxnSpPr/>
          <p:nvPr/>
        </p:nvCxnSpPr>
        <p:spPr>
          <a:xfrm>
            <a:off x="1261872" y="4837176"/>
            <a:ext cx="5952744" cy="0"/>
          </a:xfrm>
          <a:prstGeom prst="line">
            <a:avLst/>
          </a:prstGeom>
          <a:ln w="12700">
            <a:solidFill>
              <a:srgbClr val="D5DFE9"/>
            </a:solidFill>
            <a:prstDash val="dash"/>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640080" y="4709160"/>
            <a:ext cx="502920" cy="274320"/>
          </a:xfrm>
          <a:prstGeom prst="rect">
            <a:avLst/>
          </a:prstGeom>
          <a:noFill/>
        </p:spPr>
        <p:txBody>
          <a:bodyPr wrap="square" lIns="0" rIns="0" tIns="0" bIns="0">
            <a:spAutoFit/>
          </a:bodyPr>
          <a:lstStyle/>
          <a:p>
            <a:pPr algn="r">
              <a:lnSpc>
                <a:spcPct val="112000"/>
              </a:lnSpc>
              <a:spcAft>
                <a:spcPts val="200"/>
              </a:spcAft>
              <a:defRPr sz="1200" b="0">
                <a:solidFill>
                  <a:srgbClr val="63778C"/>
                </a:solidFill>
                <a:latin typeface="Noto Sans CJK KR"/>
              </a:defRPr>
            </a:pPr>
            <a:r>
              <a:t>300</a:t>
            </a:r>
          </a:p>
        </p:txBody>
      </p:sp>
      <p:cxnSp>
        <p:nvCxnSpPr>
          <p:cNvPr id="15" name="Connector 14"/>
          <p:cNvCxnSpPr/>
          <p:nvPr/>
        </p:nvCxnSpPr>
        <p:spPr>
          <a:xfrm>
            <a:off x="1261872" y="3922776"/>
            <a:ext cx="5952744" cy="0"/>
          </a:xfrm>
          <a:prstGeom prst="line">
            <a:avLst/>
          </a:prstGeom>
          <a:ln w="12700">
            <a:solidFill>
              <a:srgbClr val="D5DFE9"/>
            </a:solidFill>
            <a:prstDash val="dash"/>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40080" y="3794760"/>
            <a:ext cx="502920" cy="274320"/>
          </a:xfrm>
          <a:prstGeom prst="rect">
            <a:avLst/>
          </a:prstGeom>
          <a:noFill/>
        </p:spPr>
        <p:txBody>
          <a:bodyPr wrap="square" lIns="0" rIns="0" tIns="0" bIns="0">
            <a:spAutoFit/>
          </a:bodyPr>
          <a:lstStyle/>
          <a:p>
            <a:pPr algn="r">
              <a:lnSpc>
                <a:spcPct val="112000"/>
              </a:lnSpc>
              <a:spcAft>
                <a:spcPts val="200"/>
              </a:spcAft>
              <a:defRPr sz="1200" b="0">
                <a:solidFill>
                  <a:srgbClr val="63778C"/>
                </a:solidFill>
                <a:latin typeface="Noto Sans CJK KR"/>
              </a:defRPr>
            </a:pPr>
            <a:r>
              <a:t>400</a:t>
            </a:r>
          </a:p>
        </p:txBody>
      </p:sp>
      <p:sp>
        <p:nvSpPr>
          <p:cNvPr id="17" name="TextBox 16"/>
          <p:cNvSpPr txBox="1"/>
          <p:nvPr/>
        </p:nvSpPr>
        <p:spPr>
          <a:xfrm>
            <a:off x="1601114" y="6373368"/>
            <a:ext cx="512064" cy="246888"/>
          </a:xfrm>
          <a:prstGeom prst="rect">
            <a:avLst/>
          </a:prstGeom>
          <a:noFill/>
        </p:spPr>
        <p:txBody>
          <a:bodyPr wrap="square" lIns="0" rIns="0" tIns="0" bIns="0">
            <a:spAutoFit/>
          </a:bodyPr>
          <a:lstStyle/>
          <a:p>
            <a:pPr algn="ctr">
              <a:lnSpc>
                <a:spcPct val="112000"/>
              </a:lnSpc>
              <a:spcAft>
                <a:spcPts val="200"/>
              </a:spcAft>
              <a:defRPr sz="1200" b="0">
                <a:solidFill>
                  <a:srgbClr val="63778C"/>
                </a:solidFill>
                <a:latin typeface="Noto Sans CJK KR"/>
              </a:defRPr>
            </a:pPr>
            <a:r>
              <a:t>100</a:t>
            </a:r>
          </a:p>
        </p:txBody>
      </p:sp>
      <p:sp>
        <p:nvSpPr>
          <p:cNvPr id="18" name="TextBox 17"/>
          <p:cNvSpPr txBox="1"/>
          <p:nvPr/>
        </p:nvSpPr>
        <p:spPr>
          <a:xfrm>
            <a:off x="2791663" y="6373368"/>
            <a:ext cx="512064" cy="246888"/>
          </a:xfrm>
          <a:prstGeom prst="rect">
            <a:avLst/>
          </a:prstGeom>
          <a:noFill/>
        </p:spPr>
        <p:txBody>
          <a:bodyPr wrap="square" lIns="0" rIns="0" tIns="0" bIns="0">
            <a:spAutoFit/>
          </a:bodyPr>
          <a:lstStyle/>
          <a:p>
            <a:pPr algn="ctr">
              <a:lnSpc>
                <a:spcPct val="112000"/>
              </a:lnSpc>
              <a:spcAft>
                <a:spcPts val="200"/>
              </a:spcAft>
              <a:defRPr sz="1200" b="0">
                <a:solidFill>
                  <a:srgbClr val="63778C"/>
                </a:solidFill>
                <a:latin typeface="Noto Sans CJK KR"/>
              </a:defRPr>
            </a:pPr>
            <a:r>
              <a:t>110</a:t>
            </a:r>
          </a:p>
        </p:txBody>
      </p:sp>
      <p:sp>
        <p:nvSpPr>
          <p:cNvPr id="19" name="TextBox 18"/>
          <p:cNvSpPr txBox="1"/>
          <p:nvPr/>
        </p:nvSpPr>
        <p:spPr>
          <a:xfrm>
            <a:off x="3982211" y="6373368"/>
            <a:ext cx="512064" cy="246888"/>
          </a:xfrm>
          <a:prstGeom prst="rect">
            <a:avLst/>
          </a:prstGeom>
          <a:noFill/>
        </p:spPr>
        <p:txBody>
          <a:bodyPr wrap="square" lIns="0" rIns="0" tIns="0" bIns="0">
            <a:spAutoFit/>
          </a:bodyPr>
          <a:lstStyle/>
          <a:p>
            <a:pPr algn="ctr">
              <a:lnSpc>
                <a:spcPct val="112000"/>
              </a:lnSpc>
              <a:spcAft>
                <a:spcPts val="200"/>
              </a:spcAft>
              <a:defRPr sz="1200" b="0">
                <a:solidFill>
                  <a:srgbClr val="63778C"/>
                </a:solidFill>
                <a:latin typeface="Noto Sans CJK KR"/>
              </a:defRPr>
            </a:pPr>
            <a:r>
              <a:t>120</a:t>
            </a:r>
          </a:p>
        </p:txBody>
      </p:sp>
      <p:sp>
        <p:nvSpPr>
          <p:cNvPr id="20" name="TextBox 19"/>
          <p:cNvSpPr txBox="1"/>
          <p:nvPr/>
        </p:nvSpPr>
        <p:spPr>
          <a:xfrm>
            <a:off x="5172760" y="6373368"/>
            <a:ext cx="512064" cy="246888"/>
          </a:xfrm>
          <a:prstGeom prst="rect">
            <a:avLst/>
          </a:prstGeom>
          <a:noFill/>
        </p:spPr>
        <p:txBody>
          <a:bodyPr wrap="square" lIns="0" rIns="0" tIns="0" bIns="0">
            <a:spAutoFit/>
          </a:bodyPr>
          <a:lstStyle/>
          <a:p>
            <a:pPr algn="ctr">
              <a:lnSpc>
                <a:spcPct val="112000"/>
              </a:lnSpc>
              <a:spcAft>
                <a:spcPts val="200"/>
              </a:spcAft>
              <a:defRPr sz="1200" b="0">
                <a:solidFill>
                  <a:srgbClr val="63778C"/>
                </a:solidFill>
                <a:latin typeface="Noto Sans CJK KR"/>
              </a:defRPr>
            </a:pPr>
            <a:r>
              <a:t>130</a:t>
            </a:r>
          </a:p>
        </p:txBody>
      </p:sp>
      <p:sp>
        <p:nvSpPr>
          <p:cNvPr id="21" name="TextBox 20"/>
          <p:cNvSpPr txBox="1"/>
          <p:nvPr/>
        </p:nvSpPr>
        <p:spPr>
          <a:xfrm>
            <a:off x="6363309" y="6373368"/>
            <a:ext cx="512064" cy="246888"/>
          </a:xfrm>
          <a:prstGeom prst="rect">
            <a:avLst/>
          </a:prstGeom>
          <a:noFill/>
        </p:spPr>
        <p:txBody>
          <a:bodyPr wrap="square" lIns="0" rIns="0" tIns="0" bIns="0">
            <a:spAutoFit/>
          </a:bodyPr>
          <a:lstStyle/>
          <a:p>
            <a:pPr algn="ctr">
              <a:lnSpc>
                <a:spcPct val="112000"/>
              </a:lnSpc>
              <a:spcAft>
                <a:spcPts val="200"/>
              </a:spcAft>
              <a:defRPr sz="1200" b="0">
                <a:solidFill>
                  <a:srgbClr val="63778C"/>
                </a:solidFill>
                <a:latin typeface="Noto Sans CJK KR"/>
              </a:defRPr>
            </a:pPr>
            <a:r>
              <a:t>140</a:t>
            </a:r>
          </a:p>
        </p:txBody>
      </p:sp>
      <p:sp>
        <p:nvSpPr>
          <p:cNvPr id="22" name="TextBox 21"/>
          <p:cNvSpPr txBox="1"/>
          <p:nvPr/>
        </p:nvSpPr>
        <p:spPr>
          <a:xfrm>
            <a:off x="1271016" y="6775704"/>
            <a:ext cx="5952744" cy="283464"/>
          </a:xfrm>
          <a:prstGeom prst="rect">
            <a:avLst/>
          </a:prstGeom>
          <a:noFill/>
        </p:spPr>
        <p:txBody>
          <a:bodyPr wrap="square" lIns="0" rIns="0" tIns="0" bIns="0">
            <a:spAutoFit/>
          </a:bodyPr>
          <a:lstStyle/>
          <a:p>
            <a:pPr algn="r">
              <a:lnSpc>
                <a:spcPct val="112000"/>
              </a:lnSpc>
              <a:spcAft>
                <a:spcPts val="200"/>
              </a:spcAft>
              <a:defRPr sz="1400" b="0">
                <a:solidFill>
                  <a:srgbClr val="63778C"/>
                </a:solidFill>
                <a:latin typeface="Noto Sans CJK KR"/>
              </a:defRPr>
            </a:pPr>
            <a:r>
              <a:t>비용 (만원)  →</a:t>
            </a:r>
          </a:p>
        </p:txBody>
      </p:sp>
      <p:sp>
        <p:nvSpPr>
          <p:cNvPr id="23" name="TextBox 22"/>
          <p:cNvSpPr txBox="1"/>
          <p:nvPr/>
        </p:nvSpPr>
        <p:spPr>
          <a:xfrm>
            <a:off x="822960" y="2999232"/>
            <a:ext cx="3995928" cy="228600"/>
          </a:xfrm>
          <a:prstGeom prst="rect">
            <a:avLst/>
          </a:prstGeom>
          <a:noFill/>
        </p:spPr>
        <p:txBody>
          <a:bodyPr wrap="square" lIns="0" rIns="0" tIns="0" bIns="0">
            <a:spAutoFit/>
          </a:bodyPr>
          <a:lstStyle/>
          <a:p>
            <a:pPr>
              <a:lnSpc>
                <a:spcPct val="112000"/>
              </a:lnSpc>
              <a:spcAft>
                <a:spcPts val="200"/>
              </a:spcAft>
              <a:defRPr sz="1200" b="0">
                <a:solidFill>
                  <a:srgbClr val="63778C"/>
                </a:solidFill>
                <a:latin typeface="Noto Sans CJK KR"/>
              </a:defRPr>
            </a:pPr>
            <a:r>
              <a:t>배출 (kgCO₂e)</a:t>
            </a:r>
          </a:p>
        </p:txBody>
      </p:sp>
      <p:sp>
        <p:nvSpPr>
          <p:cNvPr id="24" name="Oval 23"/>
          <p:cNvSpPr/>
          <p:nvPr/>
        </p:nvSpPr>
        <p:spPr>
          <a:xfrm>
            <a:off x="1770278" y="3835908"/>
            <a:ext cx="173736" cy="173736"/>
          </a:xfrm>
          <a:prstGeom prst="ellipse">
            <a:avLst/>
          </a:prstGeom>
          <a:solidFill>
            <a:srgbClr val="162D4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2003450" y="3712463"/>
            <a:ext cx="502920" cy="338328"/>
          </a:xfrm>
          <a:prstGeom prst="rect">
            <a:avLst/>
          </a:prstGeom>
          <a:noFill/>
        </p:spPr>
        <p:txBody>
          <a:bodyPr wrap="square" lIns="0" rIns="0" tIns="0" bIns="0">
            <a:spAutoFit/>
          </a:bodyPr>
          <a:lstStyle/>
          <a:p>
            <a:pPr>
              <a:lnSpc>
                <a:spcPct val="112000"/>
              </a:lnSpc>
              <a:spcAft>
                <a:spcPts val="200"/>
              </a:spcAft>
              <a:defRPr sz="2200" b="1">
                <a:solidFill>
                  <a:srgbClr val="162D4D"/>
                </a:solidFill>
                <a:latin typeface="Noto Sans CJK KR"/>
              </a:defRPr>
            </a:pPr>
            <a:r>
              <a:t>A</a:t>
            </a:r>
          </a:p>
        </p:txBody>
      </p:sp>
      <p:sp>
        <p:nvSpPr>
          <p:cNvPr id="26" name="Oval 25"/>
          <p:cNvSpPr/>
          <p:nvPr/>
        </p:nvSpPr>
        <p:spPr>
          <a:xfrm>
            <a:off x="2960827" y="5116068"/>
            <a:ext cx="173736" cy="173736"/>
          </a:xfrm>
          <a:prstGeom prst="ellipse">
            <a:avLst/>
          </a:prstGeom>
          <a:solidFill>
            <a:srgbClr val="598C9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3193999" y="4992624"/>
            <a:ext cx="502920" cy="338328"/>
          </a:xfrm>
          <a:prstGeom prst="rect">
            <a:avLst/>
          </a:prstGeom>
          <a:noFill/>
        </p:spPr>
        <p:txBody>
          <a:bodyPr wrap="square" lIns="0" rIns="0" tIns="0" bIns="0">
            <a:spAutoFit/>
          </a:bodyPr>
          <a:lstStyle/>
          <a:p>
            <a:pPr>
              <a:lnSpc>
                <a:spcPct val="112000"/>
              </a:lnSpc>
              <a:spcAft>
                <a:spcPts val="200"/>
              </a:spcAft>
              <a:defRPr sz="2200" b="1">
                <a:solidFill>
                  <a:srgbClr val="598C9F"/>
                </a:solidFill>
                <a:latin typeface="Noto Sans CJK KR"/>
              </a:defRPr>
            </a:pPr>
            <a:r>
              <a:t>B</a:t>
            </a:r>
          </a:p>
        </p:txBody>
      </p:sp>
      <p:sp>
        <p:nvSpPr>
          <p:cNvPr id="28" name="Oval 27"/>
          <p:cNvSpPr/>
          <p:nvPr/>
        </p:nvSpPr>
        <p:spPr>
          <a:xfrm>
            <a:off x="6532473" y="5664708"/>
            <a:ext cx="173736" cy="173736"/>
          </a:xfrm>
          <a:prstGeom prst="ellipse">
            <a:avLst/>
          </a:prstGeom>
          <a:solidFill>
            <a:srgbClr val="00877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65645" y="5541264"/>
            <a:ext cx="502920" cy="338328"/>
          </a:xfrm>
          <a:prstGeom prst="rect">
            <a:avLst/>
          </a:prstGeom>
          <a:noFill/>
        </p:spPr>
        <p:txBody>
          <a:bodyPr wrap="square" lIns="0" rIns="0" tIns="0" bIns="0">
            <a:spAutoFit/>
          </a:bodyPr>
          <a:lstStyle/>
          <a:p>
            <a:pPr>
              <a:lnSpc>
                <a:spcPct val="112000"/>
              </a:lnSpc>
              <a:spcAft>
                <a:spcPts val="200"/>
              </a:spcAft>
              <a:defRPr sz="2200" b="1">
                <a:solidFill>
                  <a:srgbClr val="00877F"/>
                </a:solidFill>
                <a:latin typeface="Noto Sans CJK KR"/>
              </a:defRPr>
            </a:pPr>
            <a:r>
              <a:t>C</a:t>
            </a:r>
          </a:p>
        </p:txBody>
      </p:sp>
      <p:cxnSp>
        <p:nvCxnSpPr>
          <p:cNvPr id="30" name="Connector 29"/>
          <p:cNvCxnSpPr/>
          <p:nvPr/>
        </p:nvCxnSpPr>
        <p:spPr>
          <a:xfrm>
            <a:off x="1966874" y="3995928"/>
            <a:ext cx="971093" cy="1133856"/>
          </a:xfrm>
          <a:prstGeom prst="line">
            <a:avLst/>
          </a:prstGeom>
          <a:ln w="19050">
            <a:solidFill>
              <a:srgbClr val="D5DFE9"/>
            </a:solidFill>
            <a:prstDash val="dash"/>
          </a:ln>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a:off x="3157423" y="5276088"/>
            <a:ext cx="3352190" cy="402336"/>
          </a:xfrm>
          <a:prstGeom prst="line">
            <a:avLst/>
          </a:prstGeom>
          <a:ln w="19050">
            <a:solidFill>
              <a:srgbClr val="D5DFE9"/>
            </a:solidFill>
            <a:prstDash val="dash"/>
          </a:ln>
        </p:spPr>
        <p:style>
          <a:lnRef idx="2">
            <a:schemeClr val="accent1"/>
          </a:lnRef>
          <a:fillRef idx="0">
            <a:schemeClr val="accent1"/>
          </a:fillRef>
          <a:effectRef idx="0">
            <a:schemeClr val="accent1"/>
          </a:effectRef>
          <a:fontRef idx="minor">
            <a:schemeClr val="tx1"/>
          </a:fontRef>
        </p:style>
      </p:cxnSp>
      <p:sp>
        <p:nvSpPr>
          <p:cNvPr id="32" name="TextBox 31"/>
          <p:cNvSpPr txBox="1"/>
          <p:nvPr/>
        </p:nvSpPr>
        <p:spPr>
          <a:xfrm>
            <a:off x="3163824" y="3547872"/>
            <a:ext cx="3840480" cy="566928"/>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배출이 적은 선택에는</a:t>
            </a:r>
          </a:p>
          <a:p>
            <a:pPr>
              <a:lnSpc>
                <a:spcPct val="112000"/>
              </a:lnSpc>
              <a:spcAft>
                <a:spcPts val="200"/>
              </a:spcAft>
              <a:defRPr sz="1700" b="0">
                <a:solidFill>
                  <a:srgbClr val="63778C"/>
                </a:solidFill>
                <a:latin typeface="Noto Sans CJK KR"/>
              </a:defRPr>
            </a:pPr>
            <a:r>
              <a:t>추가 비용이 따를 수 있습니다.</a:t>
            </a:r>
          </a:p>
        </p:txBody>
      </p:sp>
      <p:cxnSp>
        <p:nvCxnSpPr>
          <p:cNvPr id="33" name="Connector 32"/>
          <p:cNvCxnSpPr/>
          <p:nvPr/>
        </p:nvCxnSpPr>
        <p:spPr>
          <a:xfrm>
            <a:off x="7790688" y="2660904"/>
            <a:ext cx="0" cy="4572000"/>
          </a:xfrm>
          <a:prstGeom prst="line">
            <a:avLst/>
          </a:prstGeom>
          <a:ln w="12700">
            <a:solidFill>
              <a:srgbClr val="D5DFE9"/>
            </a:solidFill>
          </a:ln>
        </p:spPr>
        <p:style>
          <a:lnRef idx="2">
            <a:schemeClr val="accent1"/>
          </a:lnRef>
          <a:fillRef idx="0">
            <a:schemeClr val="accent1"/>
          </a:fillRef>
          <a:effectRef idx="0">
            <a:schemeClr val="accent1"/>
          </a:effectRef>
          <a:fontRef idx="minor">
            <a:schemeClr val="tx1"/>
          </a:fontRef>
        </p:style>
      </p:cxnSp>
      <p:sp>
        <p:nvSpPr>
          <p:cNvPr id="34" name="TextBox 33"/>
          <p:cNvSpPr txBox="1"/>
          <p:nvPr/>
        </p:nvSpPr>
        <p:spPr>
          <a:xfrm>
            <a:off x="8266175" y="2633472"/>
            <a:ext cx="5577840" cy="365760"/>
          </a:xfrm>
          <a:prstGeom prst="rect">
            <a:avLst/>
          </a:prstGeom>
          <a:noFill/>
        </p:spPr>
        <p:txBody>
          <a:bodyPr wrap="square" lIns="0" rIns="0" tIns="0" bIns="0">
            <a:spAutoFit/>
          </a:bodyPr>
          <a:lstStyle/>
          <a:p>
            <a:pPr>
              <a:lnSpc>
                <a:spcPct val="112000"/>
              </a:lnSpc>
              <a:spcAft>
                <a:spcPts val="200"/>
              </a:spcAft>
              <a:defRPr sz="2100" b="1">
                <a:solidFill>
                  <a:srgbClr val="20354D"/>
                </a:solidFill>
                <a:latin typeface="Noto Sans CJK KR"/>
              </a:defRPr>
            </a:pPr>
            <a:r>
              <a:t>4개 모드의 선택 결과</a:t>
            </a:r>
          </a:p>
        </p:txBody>
      </p:sp>
      <p:sp>
        <p:nvSpPr>
          <p:cNvPr id="35" name="Rectangle 34"/>
          <p:cNvSpPr/>
          <p:nvPr/>
        </p:nvSpPr>
        <p:spPr>
          <a:xfrm>
            <a:off x="8257031" y="3236976"/>
            <a:ext cx="5669280" cy="47548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8430768" y="3328416"/>
            <a:ext cx="2011680" cy="274320"/>
          </a:xfrm>
          <a:prstGeom prst="rect">
            <a:avLst/>
          </a:prstGeom>
          <a:noFill/>
        </p:spPr>
        <p:txBody>
          <a:bodyPr wrap="square" lIns="0" rIns="0" tIns="0" bIns="0">
            <a:spAutoFit/>
          </a:bodyPr>
          <a:lstStyle/>
          <a:p>
            <a:pPr>
              <a:lnSpc>
                <a:spcPct val="112000"/>
              </a:lnSpc>
              <a:spcAft>
                <a:spcPts val="200"/>
              </a:spcAft>
              <a:defRPr sz="1600" b="1">
                <a:solidFill>
                  <a:srgbClr val="20354D"/>
                </a:solidFill>
                <a:latin typeface="Noto Sans CJK KR"/>
              </a:defRPr>
            </a:pPr>
            <a:r>
              <a:t>비용 모드</a:t>
            </a:r>
          </a:p>
        </p:txBody>
      </p:sp>
      <p:sp>
        <p:nvSpPr>
          <p:cNvPr id="37" name="TextBox 36"/>
          <p:cNvSpPr txBox="1"/>
          <p:nvPr/>
        </p:nvSpPr>
        <p:spPr>
          <a:xfrm>
            <a:off x="10533888" y="3310128"/>
            <a:ext cx="356616" cy="292608"/>
          </a:xfrm>
          <a:prstGeom prst="rect">
            <a:avLst/>
          </a:prstGeom>
          <a:noFill/>
        </p:spPr>
        <p:txBody>
          <a:bodyPr wrap="square" lIns="0" rIns="0" tIns="0" bIns="0">
            <a:spAutoFit/>
          </a:bodyPr>
          <a:lstStyle/>
          <a:p>
            <a:pPr>
              <a:lnSpc>
                <a:spcPct val="112000"/>
              </a:lnSpc>
              <a:spcAft>
                <a:spcPts val="200"/>
              </a:spcAft>
              <a:defRPr sz="1900" b="1">
                <a:solidFill>
                  <a:srgbClr val="00877F"/>
                </a:solidFill>
                <a:latin typeface="Noto Sans CJK KR"/>
              </a:defRPr>
            </a:pPr>
            <a:r>
              <a:t>A</a:t>
            </a:r>
          </a:p>
        </p:txBody>
      </p:sp>
      <p:sp>
        <p:nvSpPr>
          <p:cNvPr id="38" name="TextBox 37"/>
          <p:cNvSpPr txBox="1"/>
          <p:nvPr/>
        </p:nvSpPr>
        <p:spPr>
          <a:xfrm>
            <a:off x="11119104" y="3355848"/>
            <a:ext cx="2624328" cy="246888"/>
          </a:xfrm>
          <a:prstGeom prst="rect">
            <a:avLst/>
          </a:prstGeom>
          <a:noFill/>
        </p:spPr>
        <p:txBody>
          <a:bodyPr wrap="square" lIns="0" rIns="0" tIns="0" bIns="0">
            <a:spAutoFit/>
          </a:bodyPr>
          <a:lstStyle/>
          <a:p>
            <a:pPr>
              <a:lnSpc>
                <a:spcPct val="112000"/>
              </a:lnSpc>
              <a:spcAft>
                <a:spcPts val="200"/>
              </a:spcAft>
              <a:defRPr sz="1300" b="0">
                <a:solidFill>
                  <a:srgbClr val="63778C"/>
                </a:solidFill>
                <a:latin typeface="Noto Sans CJK KR"/>
              </a:defRPr>
            </a:pPr>
            <a:r>
              <a:t>100만원 · 400kg</a:t>
            </a:r>
          </a:p>
        </p:txBody>
      </p:sp>
      <p:sp>
        <p:nvSpPr>
          <p:cNvPr id="39" name="Rectangle 38"/>
          <p:cNvSpPr/>
          <p:nvPr/>
        </p:nvSpPr>
        <p:spPr>
          <a:xfrm>
            <a:off x="8257031" y="3849624"/>
            <a:ext cx="5669280" cy="47548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8430768" y="3941063"/>
            <a:ext cx="2011680" cy="274320"/>
          </a:xfrm>
          <a:prstGeom prst="rect">
            <a:avLst/>
          </a:prstGeom>
          <a:noFill/>
        </p:spPr>
        <p:txBody>
          <a:bodyPr wrap="square" lIns="0" rIns="0" tIns="0" bIns="0">
            <a:spAutoFit/>
          </a:bodyPr>
          <a:lstStyle/>
          <a:p>
            <a:pPr>
              <a:lnSpc>
                <a:spcPct val="112000"/>
              </a:lnSpc>
              <a:spcAft>
                <a:spcPts val="200"/>
              </a:spcAft>
              <a:defRPr sz="1600" b="1">
                <a:solidFill>
                  <a:srgbClr val="20354D"/>
                </a:solidFill>
                <a:latin typeface="Noto Sans CJK KR"/>
              </a:defRPr>
            </a:pPr>
            <a:r>
              <a:t>균형 모드</a:t>
            </a:r>
          </a:p>
        </p:txBody>
      </p:sp>
      <p:sp>
        <p:nvSpPr>
          <p:cNvPr id="41" name="TextBox 40"/>
          <p:cNvSpPr txBox="1"/>
          <p:nvPr/>
        </p:nvSpPr>
        <p:spPr>
          <a:xfrm>
            <a:off x="10533888" y="3922776"/>
            <a:ext cx="356616" cy="292608"/>
          </a:xfrm>
          <a:prstGeom prst="rect">
            <a:avLst/>
          </a:prstGeom>
          <a:noFill/>
        </p:spPr>
        <p:txBody>
          <a:bodyPr wrap="square" lIns="0" rIns="0" tIns="0" bIns="0">
            <a:spAutoFit/>
          </a:bodyPr>
          <a:lstStyle/>
          <a:p>
            <a:pPr>
              <a:lnSpc>
                <a:spcPct val="112000"/>
              </a:lnSpc>
              <a:spcAft>
                <a:spcPts val="200"/>
              </a:spcAft>
              <a:defRPr sz="1900" b="1">
                <a:solidFill>
                  <a:srgbClr val="00877F"/>
                </a:solidFill>
                <a:latin typeface="Noto Sans CJK KR"/>
              </a:defRPr>
            </a:pPr>
            <a:r>
              <a:t>B</a:t>
            </a:r>
          </a:p>
        </p:txBody>
      </p:sp>
      <p:sp>
        <p:nvSpPr>
          <p:cNvPr id="42" name="TextBox 41"/>
          <p:cNvSpPr txBox="1"/>
          <p:nvPr/>
        </p:nvSpPr>
        <p:spPr>
          <a:xfrm>
            <a:off x="11119104" y="3968496"/>
            <a:ext cx="2624328" cy="246888"/>
          </a:xfrm>
          <a:prstGeom prst="rect">
            <a:avLst/>
          </a:prstGeom>
          <a:noFill/>
        </p:spPr>
        <p:txBody>
          <a:bodyPr wrap="square" lIns="0" rIns="0" tIns="0" bIns="0">
            <a:spAutoFit/>
          </a:bodyPr>
          <a:lstStyle/>
          <a:p>
            <a:pPr>
              <a:lnSpc>
                <a:spcPct val="112000"/>
              </a:lnSpc>
              <a:spcAft>
                <a:spcPts val="200"/>
              </a:spcAft>
              <a:defRPr sz="1300" b="0">
                <a:solidFill>
                  <a:srgbClr val="63778C"/>
                </a:solidFill>
                <a:latin typeface="Noto Sans CJK KR"/>
              </a:defRPr>
            </a:pPr>
            <a:r>
              <a:t>110만원 · 260kg</a:t>
            </a:r>
          </a:p>
        </p:txBody>
      </p:sp>
      <p:sp>
        <p:nvSpPr>
          <p:cNvPr id="43" name="Rectangle 42"/>
          <p:cNvSpPr/>
          <p:nvPr/>
        </p:nvSpPr>
        <p:spPr>
          <a:xfrm>
            <a:off x="8257031" y="4462272"/>
            <a:ext cx="5669280" cy="475488"/>
          </a:xfrm>
          <a:prstGeom prst="rect">
            <a:avLst/>
          </a:prstGeom>
          <a:solidFill>
            <a:srgbClr val="E4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8430768" y="4553712"/>
            <a:ext cx="2011680" cy="274320"/>
          </a:xfrm>
          <a:prstGeom prst="rect">
            <a:avLst/>
          </a:prstGeom>
          <a:noFill/>
        </p:spPr>
        <p:txBody>
          <a:bodyPr wrap="square" lIns="0" rIns="0" tIns="0" bIns="0">
            <a:spAutoFit/>
          </a:bodyPr>
          <a:lstStyle/>
          <a:p>
            <a:pPr>
              <a:lnSpc>
                <a:spcPct val="112000"/>
              </a:lnSpc>
              <a:spcAft>
                <a:spcPts val="200"/>
              </a:spcAft>
              <a:defRPr sz="1600" b="1">
                <a:solidFill>
                  <a:srgbClr val="20354D"/>
                </a:solidFill>
                <a:latin typeface="Noto Sans CJK KR"/>
              </a:defRPr>
            </a:pPr>
            <a:r>
              <a:t>탄소 모드</a:t>
            </a:r>
          </a:p>
        </p:txBody>
      </p:sp>
      <p:sp>
        <p:nvSpPr>
          <p:cNvPr id="45" name="TextBox 44"/>
          <p:cNvSpPr txBox="1"/>
          <p:nvPr/>
        </p:nvSpPr>
        <p:spPr>
          <a:xfrm>
            <a:off x="10533888" y="4535424"/>
            <a:ext cx="356616" cy="292608"/>
          </a:xfrm>
          <a:prstGeom prst="rect">
            <a:avLst/>
          </a:prstGeom>
          <a:noFill/>
        </p:spPr>
        <p:txBody>
          <a:bodyPr wrap="square" lIns="0" rIns="0" tIns="0" bIns="0">
            <a:spAutoFit/>
          </a:bodyPr>
          <a:lstStyle/>
          <a:p>
            <a:pPr>
              <a:lnSpc>
                <a:spcPct val="112000"/>
              </a:lnSpc>
              <a:spcAft>
                <a:spcPts val="200"/>
              </a:spcAft>
              <a:defRPr sz="1900" b="1">
                <a:solidFill>
                  <a:srgbClr val="00877F"/>
                </a:solidFill>
                <a:latin typeface="Noto Sans CJK KR"/>
              </a:defRPr>
            </a:pPr>
            <a:r>
              <a:t>C</a:t>
            </a:r>
          </a:p>
        </p:txBody>
      </p:sp>
      <p:sp>
        <p:nvSpPr>
          <p:cNvPr id="46" name="TextBox 45"/>
          <p:cNvSpPr txBox="1"/>
          <p:nvPr/>
        </p:nvSpPr>
        <p:spPr>
          <a:xfrm>
            <a:off x="11119104" y="4581144"/>
            <a:ext cx="2624328" cy="246888"/>
          </a:xfrm>
          <a:prstGeom prst="rect">
            <a:avLst/>
          </a:prstGeom>
          <a:noFill/>
        </p:spPr>
        <p:txBody>
          <a:bodyPr wrap="square" lIns="0" rIns="0" tIns="0" bIns="0">
            <a:spAutoFit/>
          </a:bodyPr>
          <a:lstStyle/>
          <a:p>
            <a:pPr>
              <a:lnSpc>
                <a:spcPct val="112000"/>
              </a:lnSpc>
              <a:spcAft>
                <a:spcPts val="200"/>
              </a:spcAft>
              <a:defRPr sz="1300" b="0">
                <a:solidFill>
                  <a:srgbClr val="63778C"/>
                </a:solidFill>
                <a:latin typeface="Noto Sans CJK KR"/>
              </a:defRPr>
            </a:pPr>
            <a:r>
              <a:t>140만원 · 200kg</a:t>
            </a:r>
          </a:p>
        </p:txBody>
      </p:sp>
      <p:sp>
        <p:nvSpPr>
          <p:cNvPr id="47" name="Rectangle 46"/>
          <p:cNvSpPr/>
          <p:nvPr/>
        </p:nvSpPr>
        <p:spPr>
          <a:xfrm>
            <a:off x="8257031" y="5074920"/>
            <a:ext cx="5669280" cy="475488"/>
          </a:xfrm>
          <a:prstGeom prst="rect">
            <a:avLst/>
          </a:prstGeom>
          <a:solidFill>
            <a:srgbClr val="E4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8430768" y="5166360"/>
            <a:ext cx="2011680" cy="274320"/>
          </a:xfrm>
          <a:prstGeom prst="rect">
            <a:avLst/>
          </a:prstGeom>
          <a:noFill/>
        </p:spPr>
        <p:txBody>
          <a:bodyPr wrap="square" lIns="0" rIns="0" tIns="0" bIns="0">
            <a:spAutoFit/>
          </a:bodyPr>
          <a:lstStyle/>
          <a:p>
            <a:pPr>
              <a:lnSpc>
                <a:spcPct val="112000"/>
              </a:lnSpc>
              <a:spcAft>
                <a:spcPts val="200"/>
              </a:spcAft>
              <a:defRPr sz="1600" b="1">
                <a:solidFill>
                  <a:srgbClr val="20354D"/>
                </a:solidFill>
                <a:latin typeface="Noto Sans CJK KR"/>
              </a:defRPr>
            </a:pPr>
            <a:r>
              <a:t>긴급 모드</a:t>
            </a:r>
          </a:p>
        </p:txBody>
      </p:sp>
      <p:sp>
        <p:nvSpPr>
          <p:cNvPr id="49" name="TextBox 48"/>
          <p:cNvSpPr txBox="1"/>
          <p:nvPr/>
        </p:nvSpPr>
        <p:spPr>
          <a:xfrm>
            <a:off x="10533888" y="5148072"/>
            <a:ext cx="356616" cy="292608"/>
          </a:xfrm>
          <a:prstGeom prst="rect">
            <a:avLst/>
          </a:prstGeom>
          <a:noFill/>
        </p:spPr>
        <p:txBody>
          <a:bodyPr wrap="square" lIns="0" rIns="0" tIns="0" bIns="0">
            <a:spAutoFit/>
          </a:bodyPr>
          <a:lstStyle/>
          <a:p>
            <a:pPr>
              <a:lnSpc>
                <a:spcPct val="112000"/>
              </a:lnSpc>
              <a:spcAft>
                <a:spcPts val="200"/>
              </a:spcAft>
              <a:defRPr sz="1900" b="1">
                <a:solidFill>
                  <a:srgbClr val="00877F"/>
                </a:solidFill>
                <a:latin typeface="Noto Sans CJK KR"/>
              </a:defRPr>
            </a:pPr>
            <a:r>
              <a:t>C</a:t>
            </a:r>
          </a:p>
        </p:txBody>
      </p:sp>
      <p:sp>
        <p:nvSpPr>
          <p:cNvPr id="50" name="TextBox 49"/>
          <p:cNvSpPr txBox="1"/>
          <p:nvPr/>
        </p:nvSpPr>
        <p:spPr>
          <a:xfrm>
            <a:off x="11119104" y="5193792"/>
            <a:ext cx="2624328" cy="246888"/>
          </a:xfrm>
          <a:prstGeom prst="rect">
            <a:avLst/>
          </a:prstGeom>
          <a:noFill/>
        </p:spPr>
        <p:txBody>
          <a:bodyPr wrap="square" lIns="0" rIns="0" tIns="0" bIns="0">
            <a:spAutoFit/>
          </a:bodyPr>
          <a:lstStyle/>
          <a:p>
            <a:pPr>
              <a:lnSpc>
                <a:spcPct val="112000"/>
              </a:lnSpc>
              <a:spcAft>
                <a:spcPts val="200"/>
              </a:spcAft>
              <a:defRPr sz="1300" b="0">
                <a:solidFill>
                  <a:srgbClr val="63778C"/>
                </a:solidFill>
                <a:latin typeface="Noto Sans CJK KR"/>
              </a:defRPr>
            </a:pPr>
            <a:r>
              <a:t>140만원 · 200kg</a:t>
            </a:r>
          </a:p>
        </p:txBody>
      </p:sp>
      <p:sp>
        <p:nvSpPr>
          <p:cNvPr id="51" name="Rectangle 50"/>
          <p:cNvSpPr/>
          <p:nvPr/>
        </p:nvSpPr>
        <p:spPr>
          <a:xfrm>
            <a:off x="8257031" y="6053328"/>
            <a:ext cx="5669280" cy="1179576"/>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8485632" y="6236208"/>
            <a:ext cx="5202936" cy="274320"/>
          </a:xfrm>
          <a:prstGeom prst="rect">
            <a:avLst/>
          </a:prstGeom>
          <a:noFill/>
        </p:spPr>
        <p:txBody>
          <a:bodyPr wrap="square" lIns="0" rIns="0" tIns="0" bIns="0">
            <a:spAutoFit/>
          </a:bodyPr>
          <a:lstStyle/>
          <a:p>
            <a:pPr>
              <a:lnSpc>
                <a:spcPct val="112000"/>
              </a:lnSpc>
              <a:spcAft>
                <a:spcPts val="200"/>
              </a:spcAft>
              <a:defRPr sz="1500" b="0">
                <a:solidFill>
                  <a:srgbClr val="AEC3D6"/>
                </a:solidFill>
                <a:latin typeface="Noto Sans CJK KR"/>
              </a:defRPr>
            </a:pPr>
            <a:r>
              <a:t>이 가상 사례에서 A → C로 바꾸면</a:t>
            </a:r>
          </a:p>
        </p:txBody>
      </p:sp>
      <p:sp>
        <p:nvSpPr>
          <p:cNvPr id="53" name="TextBox 52"/>
          <p:cNvSpPr txBox="1"/>
          <p:nvPr/>
        </p:nvSpPr>
        <p:spPr>
          <a:xfrm>
            <a:off x="8467344" y="6675120"/>
            <a:ext cx="5212080" cy="365760"/>
          </a:xfrm>
          <a:prstGeom prst="rect">
            <a:avLst/>
          </a:prstGeom>
          <a:noFill/>
        </p:spPr>
        <p:txBody>
          <a:bodyPr wrap="square" lIns="0" rIns="0" tIns="0" bIns="0">
            <a:spAutoFit/>
          </a:bodyPr>
          <a:lstStyle/>
          <a:p>
            <a:pPr>
              <a:lnSpc>
                <a:spcPct val="112000"/>
              </a:lnSpc>
              <a:spcAft>
                <a:spcPts val="200"/>
              </a:spcAft>
              <a:defRPr sz="2200" b="1">
                <a:solidFill>
                  <a:srgbClr val="FFFFFF"/>
                </a:solidFill>
                <a:latin typeface="Noto Sans CJK KR"/>
              </a:defRPr>
            </a:pPr>
            <a:r>
              <a:t>비용 +40만원  /  배출 −200kgCO₂e</a:t>
            </a:r>
          </a:p>
        </p:txBody>
      </p:sp>
      <p:sp>
        <p:nvSpPr>
          <p:cNvPr id="54" name="TextBox 53"/>
          <p:cNvSpPr txBox="1"/>
          <p:nvPr/>
        </p:nvSpPr>
        <p:spPr>
          <a:xfrm>
            <a:off x="667512" y="7470648"/>
            <a:ext cx="13304520" cy="219456"/>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각 모드에서 같은 3개 후보가 모두 허용된 경우의 단일 의사결정 비교입니다. 기간 전체 감축률이나 비용 절감 효과를 입증한 결과가 아닙니다.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94360" y="283464"/>
            <a:ext cx="10972800" cy="256032"/>
          </a:xfrm>
          <a:prstGeom prst="rect">
            <a:avLst/>
          </a:prstGeom>
          <a:noFill/>
        </p:spPr>
        <p:txBody>
          <a:bodyPr wrap="square" lIns="0" rIns="0" tIns="0" bIns="0">
            <a:spAutoFit/>
          </a:bodyPr>
          <a:lstStyle/>
          <a:p>
            <a:pPr>
              <a:lnSpc>
                <a:spcPct val="112000"/>
              </a:lnSpc>
              <a:spcAft>
                <a:spcPts val="200"/>
              </a:spcAft>
              <a:defRPr sz="1200" b="1">
                <a:solidFill>
                  <a:srgbClr val="00877F"/>
                </a:solidFill>
                <a:latin typeface="Noto Sans CJK KR"/>
              </a:defRPr>
            </a:pPr>
            <a:r>
              <a:t>CBP  /  CARBON BUDGET POOLING</a:t>
            </a:r>
          </a:p>
        </p:txBody>
      </p:sp>
      <p:sp>
        <p:nvSpPr>
          <p:cNvPr id="3" name="TextBox 2"/>
          <p:cNvSpPr txBox="1"/>
          <p:nvPr/>
        </p:nvSpPr>
        <p:spPr>
          <a:xfrm>
            <a:off x="12298680" y="283464"/>
            <a:ext cx="1737360" cy="256032"/>
          </a:xfrm>
          <a:prstGeom prst="rect">
            <a:avLst/>
          </a:prstGeom>
          <a:noFill/>
        </p:spPr>
        <p:txBody>
          <a:bodyPr wrap="square" lIns="0" rIns="0" tIns="0" bIns="0">
            <a:spAutoFit/>
          </a:bodyPr>
          <a:lstStyle/>
          <a:p>
            <a:pPr algn="r">
              <a:lnSpc>
                <a:spcPct val="112000"/>
              </a:lnSpc>
              <a:spcAft>
                <a:spcPts val="200"/>
              </a:spcAft>
              <a:defRPr sz="1200" b="1">
                <a:solidFill>
                  <a:srgbClr val="63778C"/>
                </a:solidFill>
                <a:latin typeface="Noto Sans CJK KR"/>
              </a:defRPr>
            </a:pPr>
            <a:r>
              <a:t>06</a:t>
            </a:r>
          </a:p>
        </p:txBody>
      </p:sp>
      <p:sp>
        <p:nvSpPr>
          <p:cNvPr id="4" name="TextBox 3"/>
          <p:cNvSpPr txBox="1"/>
          <p:nvPr/>
        </p:nvSpPr>
        <p:spPr>
          <a:xfrm>
            <a:off x="594360" y="850392"/>
            <a:ext cx="13441680" cy="1060704"/>
          </a:xfrm>
          <a:prstGeom prst="rect">
            <a:avLst/>
          </a:prstGeom>
          <a:noFill/>
        </p:spPr>
        <p:txBody>
          <a:bodyPr wrap="square" lIns="0" rIns="0" tIns="0" bIns="0">
            <a:spAutoFit/>
          </a:bodyPr>
          <a:lstStyle/>
          <a:p>
            <a:pPr>
              <a:lnSpc>
                <a:spcPct val="112000"/>
              </a:lnSpc>
              <a:spcAft>
                <a:spcPts val="200"/>
              </a:spcAft>
              <a:defRPr sz="3400" b="1">
                <a:solidFill>
                  <a:srgbClr val="20354D"/>
                </a:solidFill>
                <a:latin typeface="Noto Sans CJK KR"/>
              </a:defRPr>
            </a:pPr>
            <a:r>
              <a:t>탄소를 보고하는 숫자에서,</a:t>
            </a:r>
          </a:p>
          <a:p>
            <a:pPr>
              <a:lnSpc>
                <a:spcPct val="112000"/>
              </a:lnSpc>
              <a:spcAft>
                <a:spcPts val="200"/>
              </a:spcAft>
              <a:defRPr sz="3400" b="1">
                <a:solidFill>
                  <a:srgbClr val="20354D"/>
                </a:solidFill>
                <a:latin typeface="Noto Sans CJK KR"/>
              </a:defRPr>
            </a:pPr>
            <a:r>
              <a:t>다음 파렛트 이동을 바꾸는 신호로.</a:t>
            </a:r>
          </a:p>
        </p:txBody>
      </p:sp>
      <p:sp>
        <p:nvSpPr>
          <p:cNvPr id="5" name="TextBox 4"/>
          <p:cNvSpPr txBox="1"/>
          <p:nvPr/>
        </p:nvSpPr>
        <p:spPr>
          <a:xfrm>
            <a:off x="621792" y="2139696"/>
            <a:ext cx="13350240" cy="475488"/>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제안의 초점: 탄소예산 상태와 파렛트 풀링의 재배치 규칙을 연결합니다.</a:t>
            </a:r>
          </a:p>
        </p:txBody>
      </p:sp>
      <p:cxnSp>
        <p:nvCxnSpPr>
          <p:cNvPr id="6" name="Connector 5"/>
          <p:cNvCxnSpPr/>
          <p:nvPr/>
        </p:nvCxnSpPr>
        <p:spPr>
          <a:xfrm>
            <a:off x="594360" y="7772400"/>
            <a:ext cx="13441680" cy="0"/>
          </a:xfrm>
          <a:prstGeom prst="line">
            <a:avLst/>
          </a:prstGeom>
          <a:ln w="12700">
            <a:solidFill>
              <a:srgbClr val="D5DFE9"/>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12648" y="7900416"/>
            <a:ext cx="13350240" cy="192024"/>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두런두런  |  제13회 유닛로드시스템(ULS) 창의성 공모전  |  탄소예산 기반 재배치 의사결정</a:t>
            </a:r>
          </a:p>
        </p:txBody>
      </p:sp>
      <p:sp>
        <p:nvSpPr>
          <p:cNvPr id="8" name="Rectangle 7"/>
          <p:cNvSpPr/>
          <p:nvPr/>
        </p:nvSpPr>
        <p:spPr>
          <a:xfrm>
            <a:off x="676656" y="2743200"/>
            <a:ext cx="4215384" cy="2176272"/>
          </a:xfrm>
          <a:prstGeom prst="rect">
            <a:avLst/>
          </a:prstGeom>
          <a:solidFill>
            <a:srgbClr val="FFFFFF"/>
          </a:solidFill>
          <a:ln w="12700">
            <a:solidFill>
              <a:srgbClr val="D5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905256" y="2990088"/>
            <a:ext cx="502920" cy="329184"/>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96696" y="3040380"/>
            <a:ext cx="320040" cy="228600"/>
          </a:xfrm>
          <a:prstGeom prst="rect">
            <a:avLst/>
          </a:prstGeom>
          <a:noFill/>
        </p:spPr>
        <p:txBody>
          <a:bodyPr wrap="square" lIns="0" rIns="0" tIns="0" bIns="0">
            <a:spAutoFit/>
          </a:bodyPr>
          <a:lstStyle/>
          <a:p>
            <a:pPr>
              <a:lnSpc>
                <a:spcPct val="112000"/>
              </a:lnSpc>
              <a:spcAft>
                <a:spcPts val="200"/>
              </a:spcAft>
              <a:defRPr sz="1200" b="1">
                <a:solidFill>
                  <a:srgbClr val="FFFFFF"/>
                </a:solidFill>
                <a:latin typeface="Noto Sans CJK KR"/>
              </a:defRPr>
            </a:pPr>
            <a:r>
              <a:t>01</a:t>
            </a:r>
          </a:p>
        </p:txBody>
      </p:sp>
      <p:sp>
        <p:nvSpPr>
          <p:cNvPr id="11" name="TextBox 10"/>
          <p:cNvSpPr txBox="1"/>
          <p:nvPr/>
        </p:nvSpPr>
        <p:spPr>
          <a:xfrm>
            <a:off x="914400" y="3575304"/>
            <a:ext cx="3739896" cy="384048"/>
          </a:xfrm>
          <a:prstGeom prst="rect">
            <a:avLst/>
          </a:prstGeom>
          <a:noFill/>
        </p:spPr>
        <p:txBody>
          <a:bodyPr wrap="square" lIns="0" rIns="0" tIns="0" bIns="0">
            <a:spAutoFit/>
          </a:bodyPr>
          <a:lstStyle/>
          <a:p>
            <a:pPr>
              <a:lnSpc>
                <a:spcPct val="112000"/>
              </a:lnSpc>
              <a:spcAft>
                <a:spcPts val="200"/>
              </a:spcAft>
              <a:defRPr sz="2500" b="1">
                <a:solidFill>
                  <a:srgbClr val="20354D"/>
                </a:solidFill>
                <a:latin typeface="Noto Sans CJK KR"/>
              </a:defRPr>
            </a:pPr>
            <a:r>
              <a:t>작게 적용</a:t>
            </a:r>
          </a:p>
        </p:txBody>
      </p:sp>
      <p:sp>
        <p:nvSpPr>
          <p:cNvPr id="12" name="TextBox 11"/>
          <p:cNvSpPr txBox="1"/>
          <p:nvPr/>
        </p:nvSpPr>
        <p:spPr>
          <a:xfrm>
            <a:off x="914400" y="4178808"/>
            <a:ext cx="3739896" cy="621792"/>
          </a:xfrm>
          <a:prstGeom prst="rect">
            <a:avLst/>
          </a:prstGeom>
          <a:noFill/>
        </p:spPr>
        <p:txBody>
          <a:bodyPr wrap="square" lIns="0" rIns="0" tIns="0" bIns="0">
            <a:spAutoFit/>
          </a:bodyPr>
          <a:lstStyle/>
          <a:p>
            <a:pPr>
              <a:lnSpc>
                <a:spcPct val="112000"/>
              </a:lnSpc>
              <a:spcAft>
                <a:spcPts val="200"/>
              </a:spcAft>
              <a:defRPr sz="1600" b="0">
                <a:solidFill>
                  <a:srgbClr val="63778C"/>
                </a:solidFill>
                <a:latin typeface="Noto Sans CJK KR"/>
              </a:defRPr>
            </a:pPr>
            <a:r>
              <a:t>동일 풀링사 · 호환 파렛트</a:t>
            </a:r>
          </a:p>
          <a:p>
            <a:pPr>
              <a:lnSpc>
                <a:spcPct val="112000"/>
              </a:lnSpc>
              <a:spcAft>
                <a:spcPts val="200"/>
              </a:spcAft>
              <a:defRPr sz="1600" b="0">
                <a:solidFill>
                  <a:srgbClr val="63778C"/>
                </a:solidFill>
                <a:latin typeface="Noto Sans CJK KR"/>
              </a:defRPr>
            </a:pPr>
            <a:r>
              <a:t>재고·운행·비용 자료 연결</a:t>
            </a:r>
          </a:p>
        </p:txBody>
      </p:sp>
      <p:sp>
        <p:nvSpPr>
          <p:cNvPr id="13" name="Rectangle 12"/>
          <p:cNvSpPr/>
          <p:nvPr/>
        </p:nvSpPr>
        <p:spPr>
          <a:xfrm>
            <a:off x="5202936" y="2743200"/>
            <a:ext cx="4215384" cy="2176272"/>
          </a:xfrm>
          <a:prstGeom prst="rect">
            <a:avLst/>
          </a:prstGeom>
          <a:solidFill>
            <a:srgbClr val="FFFFFF"/>
          </a:solidFill>
          <a:ln w="12700">
            <a:solidFill>
              <a:srgbClr val="D5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431536" y="2990088"/>
            <a:ext cx="502920" cy="329184"/>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522976" y="3040380"/>
            <a:ext cx="320040" cy="228600"/>
          </a:xfrm>
          <a:prstGeom prst="rect">
            <a:avLst/>
          </a:prstGeom>
          <a:noFill/>
        </p:spPr>
        <p:txBody>
          <a:bodyPr wrap="square" lIns="0" rIns="0" tIns="0" bIns="0">
            <a:spAutoFit/>
          </a:bodyPr>
          <a:lstStyle/>
          <a:p>
            <a:pPr>
              <a:lnSpc>
                <a:spcPct val="112000"/>
              </a:lnSpc>
              <a:spcAft>
                <a:spcPts val="200"/>
              </a:spcAft>
              <a:defRPr sz="1200" b="1">
                <a:solidFill>
                  <a:srgbClr val="FFFFFF"/>
                </a:solidFill>
                <a:latin typeface="Noto Sans CJK KR"/>
              </a:defRPr>
            </a:pPr>
            <a:r>
              <a:t>02</a:t>
            </a:r>
          </a:p>
        </p:txBody>
      </p:sp>
      <p:sp>
        <p:nvSpPr>
          <p:cNvPr id="16" name="TextBox 15"/>
          <p:cNvSpPr txBox="1"/>
          <p:nvPr/>
        </p:nvSpPr>
        <p:spPr>
          <a:xfrm>
            <a:off x="5440680" y="3575304"/>
            <a:ext cx="3739896" cy="384048"/>
          </a:xfrm>
          <a:prstGeom prst="rect">
            <a:avLst/>
          </a:prstGeom>
          <a:noFill/>
        </p:spPr>
        <p:txBody>
          <a:bodyPr wrap="square" lIns="0" rIns="0" tIns="0" bIns="0">
            <a:spAutoFit/>
          </a:bodyPr>
          <a:lstStyle/>
          <a:p>
            <a:pPr>
              <a:lnSpc>
                <a:spcPct val="112000"/>
              </a:lnSpc>
              <a:spcAft>
                <a:spcPts val="200"/>
              </a:spcAft>
              <a:defRPr sz="2500" b="1">
                <a:solidFill>
                  <a:srgbClr val="20354D"/>
                </a:solidFill>
                <a:latin typeface="Noto Sans CJK KR"/>
              </a:defRPr>
            </a:pPr>
            <a:r>
              <a:t>추천부터 검증</a:t>
            </a:r>
          </a:p>
        </p:txBody>
      </p:sp>
      <p:sp>
        <p:nvSpPr>
          <p:cNvPr id="17" name="TextBox 16"/>
          <p:cNvSpPr txBox="1"/>
          <p:nvPr/>
        </p:nvSpPr>
        <p:spPr>
          <a:xfrm>
            <a:off x="5440680" y="4178808"/>
            <a:ext cx="3739896" cy="621792"/>
          </a:xfrm>
          <a:prstGeom prst="rect">
            <a:avLst/>
          </a:prstGeom>
          <a:noFill/>
        </p:spPr>
        <p:txBody>
          <a:bodyPr wrap="square" lIns="0" rIns="0" tIns="0" bIns="0">
            <a:spAutoFit/>
          </a:bodyPr>
          <a:lstStyle/>
          <a:p>
            <a:pPr>
              <a:lnSpc>
                <a:spcPct val="112000"/>
              </a:lnSpc>
              <a:spcAft>
                <a:spcPts val="200"/>
              </a:spcAft>
              <a:defRPr sz="1600" b="0">
                <a:solidFill>
                  <a:srgbClr val="63778C"/>
                </a:solidFill>
                <a:latin typeface="Noto Sans CJK KR"/>
              </a:defRPr>
            </a:pPr>
            <a:r>
              <a:t>실제 배차에 앞서 모의 추천</a:t>
            </a:r>
          </a:p>
          <a:p>
            <a:pPr>
              <a:lnSpc>
                <a:spcPct val="112000"/>
              </a:lnSpc>
              <a:spcAft>
                <a:spcPts val="200"/>
              </a:spcAft>
              <a:defRPr sz="1600" b="0">
                <a:solidFill>
                  <a:srgbClr val="63778C"/>
                </a:solidFill>
                <a:latin typeface="Noto Sans CJK KR"/>
              </a:defRPr>
            </a:pPr>
            <a:r>
              <a:t>담당자가 실행 가능성 확인</a:t>
            </a:r>
          </a:p>
        </p:txBody>
      </p:sp>
      <p:sp>
        <p:nvSpPr>
          <p:cNvPr id="18" name="Rectangle 17"/>
          <p:cNvSpPr/>
          <p:nvPr/>
        </p:nvSpPr>
        <p:spPr>
          <a:xfrm>
            <a:off x="9729216" y="2743200"/>
            <a:ext cx="4215384" cy="2176272"/>
          </a:xfrm>
          <a:prstGeom prst="rect">
            <a:avLst/>
          </a:prstGeom>
          <a:solidFill>
            <a:srgbClr val="FFFFFF"/>
          </a:solidFill>
          <a:ln w="12700">
            <a:solidFill>
              <a:srgbClr val="D5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9957816" y="2990088"/>
            <a:ext cx="502920" cy="329184"/>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049256" y="3040380"/>
            <a:ext cx="320040" cy="228600"/>
          </a:xfrm>
          <a:prstGeom prst="rect">
            <a:avLst/>
          </a:prstGeom>
          <a:noFill/>
        </p:spPr>
        <p:txBody>
          <a:bodyPr wrap="square" lIns="0" rIns="0" tIns="0" bIns="0">
            <a:spAutoFit/>
          </a:bodyPr>
          <a:lstStyle/>
          <a:p>
            <a:pPr>
              <a:lnSpc>
                <a:spcPct val="112000"/>
              </a:lnSpc>
              <a:spcAft>
                <a:spcPts val="200"/>
              </a:spcAft>
              <a:defRPr sz="1200" b="1">
                <a:solidFill>
                  <a:srgbClr val="FFFFFF"/>
                </a:solidFill>
                <a:latin typeface="Noto Sans CJK KR"/>
              </a:defRPr>
            </a:pPr>
            <a:r>
              <a:t>03</a:t>
            </a:r>
          </a:p>
        </p:txBody>
      </p:sp>
      <p:sp>
        <p:nvSpPr>
          <p:cNvPr id="21" name="TextBox 20"/>
          <p:cNvSpPr txBox="1"/>
          <p:nvPr/>
        </p:nvSpPr>
        <p:spPr>
          <a:xfrm>
            <a:off x="9966960" y="3575304"/>
            <a:ext cx="3739896" cy="384048"/>
          </a:xfrm>
          <a:prstGeom prst="rect">
            <a:avLst/>
          </a:prstGeom>
          <a:noFill/>
        </p:spPr>
        <p:txBody>
          <a:bodyPr wrap="square" lIns="0" rIns="0" tIns="0" bIns="0">
            <a:spAutoFit/>
          </a:bodyPr>
          <a:lstStyle/>
          <a:p>
            <a:pPr>
              <a:lnSpc>
                <a:spcPct val="112000"/>
              </a:lnSpc>
              <a:spcAft>
                <a:spcPts val="200"/>
              </a:spcAft>
              <a:defRPr sz="2500" b="1">
                <a:solidFill>
                  <a:srgbClr val="20354D"/>
                </a:solidFill>
                <a:latin typeface="Noto Sans CJK KR"/>
              </a:defRPr>
            </a:pPr>
            <a:r>
              <a:t>같은 조건으로 비교</a:t>
            </a:r>
          </a:p>
        </p:txBody>
      </p:sp>
      <p:sp>
        <p:nvSpPr>
          <p:cNvPr id="22" name="TextBox 21"/>
          <p:cNvSpPr txBox="1"/>
          <p:nvPr/>
        </p:nvSpPr>
        <p:spPr>
          <a:xfrm>
            <a:off x="9966960" y="4178808"/>
            <a:ext cx="3739896" cy="621792"/>
          </a:xfrm>
          <a:prstGeom prst="rect">
            <a:avLst/>
          </a:prstGeom>
          <a:noFill/>
        </p:spPr>
        <p:txBody>
          <a:bodyPr wrap="square" lIns="0" rIns="0" tIns="0" bIns="0">
            <a:spAutoFit/>
          </a:bodyPr>
          <a:lstStyle/>
          <a:p>
            <a:pPr>
              <a:lnSpc>
                <a:spcPct val="112000"/>
              </a:lnSpc>
              <a:spcAft>
                <a:spcPts val="200"/>
              </a:spcAft>
              <a:defRPr sz="1600" b="0">
                <a:solidFill>
                  <a:srgbClr val="63778C"/>
                </a:solidFill>
                <a:latin typeface="Noto Sans CJK KR"/>
              </a:defRPr>
            </a:pPr>
            <a:r>
              <a:t>비용 우선 / 고정 가중치 / CBP</a:t>
            </a:r>
          </a:p>
          <a:p>
            <a:pPr>
              <a:lnSpc>
                <a:spcPct val="112000"/>
              </a:lnSpc>
              <a:spcAft>
                <a:spcPts val="200"/>
              </a:spcAft>
              <a:defRPr sz="1600" b="0">
                <a:solidFill>
                  <a:srgbClr val="63778C"/>
                </a:solidFill>
                <a:latin typeface="Noto Sans CJK KR"/>
              </a:defRPr>
            </a:pPr>
            <a:r>
              <a:t>요청·후보·정보·제약 통일</a:t>
            </a:r>
          </a:p>
        </p:txBody>
      </p:sp>
      <p:sp>
        <p:nvSpPr>
          <p:cNvPr id="23" name="Rectangle 22"/>
          <p:cNvSpPr/>
          <p:nvPr/>
        </p:nvSpPr>
        <p:spPr>
          <a:xfrm>
            <a:off x="676656" y="5303520"/>
            <a:ext cx="3154680" cy="1216152"/>
          </a:xfrm>
          <a:prstGeom prst="rect">
            <a:avLst/>
          </a:prstGeom>
          <a:solidFill>
            <a:srgbClr val="E4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59536" y="5504688"/>
            <a:ext cx="2779776" cy="320040"/>
          </a:xfrm>
          <a:prstGeom prst="rect">
            <a:avLst/>
          </a:prstGeom>
          <a:noFill/>
        </p:spPr>
        <p:txBody>
          <a:bodyPr wrap="square" lIns="0" rIns="0" tIns="0" bIns="0">
            <a:spAutoFit/>
          </a:bodyPr>
          <a:lstStyle/>
          <a:p>
            <a:pPr>
              <a:lnSpc>
                <a:spcPct val="112000"/>
              </a:lnSpc>
              <a:spcAft>
                <a:spcPts val="200"/>
              </a:spcAft>
              <a:defRPr sz="2100" b="1">
                <a:solidFill>
                  <a:srgbClr val="00877F"/>
                </a:solidFill>
                <a:latin typeface="Noto Sans CJK KR"/>
              </a:defRPr>
            </a:pPr>
            <a:r>
              <a:t>총비용</a:t>
            </a:r>
          </a:p>
        </p:txBody>
      </p:sp>
      <p:sp>
        <p:nvSpPr>
          <p:cNvPr id="25" name="TextBox 24"/>
          <p:cNvSpPr txBox="1"/>
          <p:nvPr/>
        </p:nvSpPr>
        <p:spPr>
          <a:xfrm>
            <a:off x="859536" y="5989320"/>
            <a:ext cx="2779776" cy="274320"/>
          </a:xfrm>
          <a:prstGeom prst="rect">
            <a:avLst/>
          </a:prstGeom>
          <a:noFill/>
        </p:spPr>
        <p:txBody>
          <a:bodyPr wrap="square" lIns="0" rIns="0" tIns="0" bIns="0">
            <a:spAutoFit/>
          </a:bodyPr>
          <a:lstStyle/>
          <a:p>
            <a:pPr>
              <a:lnSpc>
                <a:spcPct val="112000"/>
              </a:lnSpc>
              <a:spcAft>
                <a:spcPts val="200"/>
              </a:spcAft>
              <a:defRPr sz="1500" b="0">
                <a:solidFill>
                  <a:srgbClr val="20354D"/>
                </a:solidFill>
                <a:latin typeface="Noto Sans CJK KR"/>
              </a:defRPr>
            </a:pPr>
            <a:r>
              <a:t>허용 가능한가?</a:t>
            </a:r>
          </a:p>
        </p:txBody>
      </p:sp>
      <p:sp>
        <p:nvSpPr>
          <p:cNvPr id="26" name="Rectangle 25"/>
          <p:cNvSpPr/>
          <p:nvPr/>
        </p:nvSpPr>
        <p:spPr>
          <a:xfrm>
            <a:off x="4050791" y="5303520"/>
            <a:ext cx="3154680" cy="1216152"/>
          </a:xfrm>
          <a:prstGeom prst="rect">
            <a:avLst/>
          </a:prstGeom>
          <a:solidFill>
            <a:srgbClr val="E4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4233672" y="5504688"/>
            <a:ext cx="2779776" cy="320040"/>
          </a:xfrm>
          <a:prstGeom prst="rect">
            <a:avLst/>
          </a:prstGeom>
          <a:noFill/>
        </p:spPr>
        <p:txBody>
          <a:bodyPr wrap="square" lIns="0" rIns="0" tIns="0" bIns="0">
            <a:spAutoFit/>
          </a:bodyPr>
          <a:lstStyle/>
          <a:p>
            <a:pPr>
              <a:lnSpc>
                <a:spcPct val="112000"/>
              </a:lnSpc>
              <a:spcAft>
                <a:spcPts val="200"/>
              </a:spcAft>
              <a:defRPr sz="2100" b="1">
                <a:solidFill>
                  <a:srgbClr val="00877F"/>
                </a:solidFill>
                <a:latin typeface="Noto Sans CJK KR"/>
              </a:defRPr>
            </a:pPr>
            <a:r>
              <a:t>실제 배출</a:t>
            </a:r>
          </a:p>
        </p:txBody>
      </p:sp>
      <p:sp>
        <p:nvSpPr>
          <p:cNvPr id="28" name="TextBox 27"/>
          <p:cNvSpPr txBox="1"/>
          <p:nvPr/>
        </p:nvSpPr>
        <p:spPr>
          <a:xfrm>
            <a:off x="4233672" y="5989320"/>
            <a:ext cx="2779776" cy="274320"/>
          </a:xfrm>
          <a:prstGeom prst="rect">
            <a:avLst/>
          </a:prstGeom>
          <a:noFill/>
        </p:spPr>
        <p:txBody>
          <a:bodyPr wrap="square" lIns="0" rIns="0" tIns="0" bIns="0">
            <a:spAutoFit/>
          </a:bodyPr>
          <a:lstStyle/>
          <a:p>
            <a:pPr>
              <a:lnSpc>
                <a:spcPct val="112000"/>
              </a:lnSpc>
              <a:spcAft>
                <a:spcPts val="200"/>
              </a:spcAft>
              <a:defRPr sz="1500" b="0">
                <a:solidFill>
                  <a:srgbClr val="20354D"/>
                </a:solidFill>
                <a:latin typeface="Noto Sans CJK KR"/>
              </a:defRPr>
            </a:pPr>
            <a:r>
              <a:t>얼마나 달라지는가?</a:t>
            </a:r>
          </a:p>
        </p:txBody>
      </p:sp>
      <p:sp>
        <p:nvSpPr>
          <p:cNvPr id="29" name="Rectangle 28"/>
          <p:cNvSpPr/>
          <p:nvPr/>
        </p:nvSpPr>
        <p:spPr>
          <a:xfrm>
            <a:off x="7424927" y="5303520"/>
            <a:ext cx="3154680" cy="1216152"/>
          </a:xfrm>
          <a:prstGeom prst="rect">
            <a:avLst/>
          </a:prstGeom>
          <a:solidFill>
            <a:srgbClr val="E4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607807" y="5504688"/>
            <a:ext cx="2779776" cy="320040"/>
          </a:xfrm>
          <a:prstGeom prst="rect">
            <a:avLst/>
          </a:prstGeom>
          <a:noFill/>
        </p:spPr>
        <p:txBody>
          <a:bodyPr wrap="square" lIns="0" rIns="0" tIns="0" bIns="0">
            <a:spAutoFit/>
          </a:bodyPr>
          <a:lstStyle/>
          <a:p>
            <a:pPr>
              <a:lnSpc>
                <a:spcPct val="112000"/>
              </a:lnSpc>
              <a:spcAft>
                <a:spcPts val="200"/>
              </a:spcAft>
              <a:defRPr sz="2100" b="1">
                <a:solidFill>
                  <a:srgbClr val="00877F"/>
                </a:solidFill>
                <a:latin typeface="Noto Sans CJK KR"/>
              </a:defRPr>
            </a:pPr>
            <a:r>
              <a:t>정시 공급</a:t>
            </a:r>
          </a:p>
        </p:txBody>
      </p:sp>
      <p:sp>
        <p:nvSpPr>
          <p:cNvPr id="31" name="TextBox 30"/>
          <p:cNvSpPr txBox="1"/>
          <p:nvPr/>
        </p:nvSpPr>
        <p:spPr>
          <a:xfrm>
            <a:off x="7607807" y="5989320"/>
            <a:ext cx="2779776" cy="274320"/>
          </a:xfrm>
          <a:prstGeom prst="rect">
            <a:avLst/>
          </a:prstGeom>
          <a:noFill/>
        </p:spPr>
        <p:txBody>
          <a:bodyPr wrap="square" lIns="0" rIns="0" tIns="0" bIns="0">
            <a:spAutoFit/>
          </a:bodyPr>
          <a:lstStyle/>
          <a:p>
            <a:pPr>
              <a:lnSpc>
                <a:spcPct val="112000"/>
              </a:lnSpc>
              <a:spcAft>
                <a:spcPts val="200"/>
              </a:spcAft>
              <a:defRPr sz="1500" b="0">
                <a:solidFill>
                  <a:srgbClr val="20354D"/>
                </a:solidFill>
                <a:latin typeface="Noto Sans CJK KR"/>
              </a:defRPr>
            </a:pPr>
            <a:r>
              <a:t>필요량을 지켰는가?</a:t>
            </a:r>
          </a:p>
        </p:txBody>
      </p:sp>
      <p:sp>
        <p:nvSpPr>
          <p:cNvPr id="32" name="Rectangle 31"/>
          <p:cNvSpPr/>
          <p:nvPr/>
        </p:nvSpPr>
        <p:spPr>
          <a:xfrm>
            <a:off x="10799064" y="5303520"/>
            <a:ext cx="3154680" cy="1216152"/>
          </a:xfrm>
          <a:prstGeom prst="rect">
            <a:avLst/>
          </a:prstGeom>
          <a:solidFill>
            <a:srgbClr val="E4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0981944" y="5504688"/>
            <a:ext cx="2779776" cy="320040"/>
          </a:xfrm>
          <a:prstGeom prst="rect">
            <a:avLst/>
          </a:prstGeom>
          <a:noFill/>
        </p:spPr>
        <p:txBody>
          <a:bodyPr wrap="square" lIns="0" rIns="0" tIns="0" bIns="0">
            <a:spAutoFit/>
          </a:bodyPr>
          <a:lstStyle/>
          <a:p>
            <a:pPr>
              <a:lnSpc>
                <a:spcPct val="112000"/>
              </a:lnSpc>
              <a:spcAft>
                <a:spcPts val="200"/>
              </a:spcAft>
              <a:defRPr sz="2100" b="1">
                <a:solidFill>
                  <a:srgbClr val="00877F"/>
                </a:solidFill>
                <a:latin typeface="Noto Sans CJK KR"/>
              </a:defRPr>
            </a:pPr>
            <a:r>
              <a:t>기간말 예산</a:t>
            </a:r>
          </a:p>
        </p:txBody>
      </p:sp>
      <p:sp>
        <p:nvSpPr>
          <p:cNvPr id="34" name="TextBox 33"/>
          <p:cNvSpPr txBox="1"/>
          <p:nvPr/>
        </p:nvSpPr>
        <p:spPr>
          <a:xfrm>
            <a:off x="10981944" y="5989320"/>
            <a:ext cx="2779776" cy="274320"/>
          </a:xfrm>
          <a:prstGeom prst="rect">
            <a:avLst/>
          </a:prstGeom>
          <a:noFill/>
        </p:spPr>
        <p:txBody>
          <a:bodyPr wrap="square" lIns="0" rIns="0" tIns="0" bIns="0">
            <a:spAutoFit/>
          </a:bodyPr>
          <a:lstStyle/>
          <a:p>
            <a:pPr>
              <a:lnSpc>
                <a:spcPct val="112000"/>
              </a:lnSpc>
              <a:spcAft>
                <a:spcPts val="200"/>
              </a:spcAft>
              <a:defRPr sz="1500" b="0">
                <a:solidFill>
                  <a:srgbClr val="20354D"/>
                </a:solidFill>
                <a:latin typeface="Noto Sans CJK KR"/>
              </a:defRPr>
            </a:pPr>
            <a:r>
              <a:t>초과를 줄였는가?</a:t>
            </a:r>
          </a:p>
        </p:txBody>
      </p:sp>
      <p:sp>
        <p:nvSpPr>
          <p:cNvPr id="35" name="TextBox 34"/>
          <p:cNvSpPr txBox="1"/>
          <p:nvPr/>
        </p:nvSpPr>
        <p:spPr>
          <a:xfrm>
            <a:off x="731520" y="6931152"/>
            <a:ext cx="13167360" cy="356616"/>
          </a:xfrm>
          <a:prstGeom prst="rect">
            <a:avLst/>
          </a:prstGeom>
          <a:noFill/>
        </p:spPr>
        <p:txBody>
          <a:bodyPr wrap="square" lIns="0" rIns="0" tIns="0" bIns="0">
            <a:spAutoFit/>
          </a:bodyPr>
          <a:lstStyle/>
          <a:p>
            <a:pPr>
              <a:lnSpc>
                <a:spcPct val="112000"/>
              </a:lnSpc>
              <a:spcAft>
                <a:spcPts val="200"/>
              </a:spcAft>
              <a:defRPr sz="1900" b="1">
                <a:solidFill>
                  <a:srgbClr val="20354D"/>
                </a:solidFill>
                <a:latin typeface="Noto Sans CJK KR"/>
              </a:defRPr>
            </a:pPr>
            <a:r>
              <a:t>다음 검증  |  가중치·경계값 조정, 남은 기간·예정 수요 반영, 실제 배출 오차 점검</a:t>
            </a:r>
          </a:p>
        </p:txBody>
      </p:sp>
      <p:sp>
        <p:nvSpPr>
          <p:cNvPr id="36" name="TextBox 35"/>
          <p:cNvSpPr txBox="1"/>
          <p:nvPr/>
        </p:nvSpPr>
        <p:spPr>
          <a:xfrm>
            <a:off x="667512" y="7470648"/>
            <a:ext cx="13304520" cy="219456"/>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현재 성숙도: 개념 모형과 재현 가능한 가상 계산. 실제 현장 효과·최적성·선행 기술 대비 독창성은 추가 검증이 필요합니다.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CBP | 탄소예산 기반 유닛로드시스템 운영 최적화 프레임워크</dc:title>
  <dc:subject>탄소예산 상태에 적응하는 파렛트 재배치 의사결정 모형</dc:subject>
  <dc:creator>두런두런</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
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00:00–00:30 | 16시 출고, 빈 파렛트 160매</a:t>
            </a:r>
          </a:p>
          <a:p/>
          <a:p>
            <a:r>
              <a:t>오후 네 시, 출고해야 할 물건은 준비됐는데 빈 파렛트 160매가 부족하다면 어떨까요? 다른 거점에는 파렛트가 있고, 돌아오는 배송차도 있습니다. 하지만 너무 늦게 알면 전용 회수차를 불러야 합니다. 저희 CBP는 필요한 시점에 맞춰 파렛트가 돌아올 자리를 미리 예약하는 아이디어입니다.</a:t>
            </a:r>
          </a:p>
          <a:p/>
          <a:p>
            <a:r>
              <a:t>주의: 모든 예시 숫자는 합성 가정. 실제 운송·감축 실적이나 독창성 검증 완료로 표현하지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00:30–01:15 | 파렛트·빈칸·탄소를 함께 예약</a:t>
            </a:r>
          </a:p>
          <a:p/>
          <a:p>
            <a:r>
              <a:t>핵심은 이 회수예약표 한 장입니다. 먼저 다음 출고에 필요한 수량과 도착 시각을 확인합니다. 그다음 회수할 파렛트와, 실제로 실을 수 있는 차량 공간을 함께 예약합니다. 파렛트만 잡아도, 차량만 잡아도 회수는 되지 않기 때문입니다. 여기에 예상 배출을 탄소예산에 예약해 두고, 담당자가 승인합니다. 처음에는 같은 풀링사의 호환 파렛트와 확인된 운행만 대상으로 시작합니다.</a:t>
            </a:r>
          </a:p>
          <a:p/>
          <a:p>
            <a:r>
              <a:t>주의: 모든 예시 숫자는 합성 가정. 실제 운송·감축 실적이나 독창성 검증 완료로 표현하지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01:15–02:00 | 가상 사례: 100매 + 60매</a:t>
            </a:r>
          </a:p>
          <a:p/>
          <a:p>
            <a:r>
              <a:t>이해를 위한 가상 사례입니다. 열한 시에 네 시까지 160매가 필요하다는 사실을 확인합니다. 이미 예정된 복귀편 A에 100매, B에 60매를 예약합니다. 열두 시 반에 100매, 한 시 반에 60매가 실제로 도착하면 회수가 끝납니다. 이 조건에서는 전용 회수차를 추가로 보내지 않아도 됩니다. 다만 이 숫자는 실제 성과가 아니라 작동 순서를 설명하는 예시입니다.</a:t>
            </a:r>
          </a:p>
          <a:p/>
          <a:p>
            <a:r>
              <a:t>주의: 모든 예시 숫자는 합성 가정. 실제 운송·감축 실적이나 독창성 검증 완료로 표현하지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02:00–02:40 | 탄소는 출발 전 선택 조건</a:t>
            </a:r>
          </a:p>
          <a:p/>
          <a:p>
            <a:r>
              <a:t>탄소예산은 회수 방법을 고를 때 씁니다. 이미 쓴 양과 확정된 예약을 빼고 남은 양을 확인합니다. 화면의 가상 조건에서 전용차는 12만원에 90킬로그램, 복귀편 조합은 13만5천원에 65킬로그램입니다. 남은 예산이 70이면 복귀편 조합이 맞습니다. 물론 비용이 더 듭니다. 운영자가 허용한 비용 상한 안에서 비교하고, 만족하는 안이 없으면 승인 요청을 냅니다. 무조건 비용과 탄소가 함께 줄어든다고 주장하지 않습니다.</a:t>
            </a:r>
          </a:p>
          <a:p/>
          <a:p>
            <a:r>
              <a:t>주의: 모든 예시 숫자는 합성 가정. 실제 운송·감축 실적이나 독창성 검증 완료로 표현하지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02:40–03:25 | 예약과 실제 도착을 구분</a:t>
            </a:r>
          </a:p>
          <a:p/>
          <a:p>
            <a:r>
              <a:t>가장 중요한 장치는 이 열네 시입니다. 네 시에 필요하고 대체 회수에 한 시간 반, 여유 시간 삼십 분이 필요하다면 열네 시에는 결정해야 합니다. 이때 예약됐다는 표시가 아니라 실제 들어온 수량을 봅니다. 100매만 들어왔다면 부족한 60매만 대체 회수합니다. 단, 대체 재고와 차량을 사전에 확보할 수 있는 거점에서 적용해야 합니다. 그래야 복귀편을 기다리다가 출고까지 늦어지는 위험을 줄일 수 있습니다.</a:t>
            </a:r>
          </a:p>
          <a:p/>
          <a:p>
            <a:r>
              <a:t>주의: 모든 예시 숫자는 합성 가정. 실제 운송·감축 실적이나 독창성 검증 완료로 표현하지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03:25–04:00 | 작게 시작하고 세 가지로 검증</a:t>
            </a:r>
          </a:p>
          <a:p/>
          <a:p>
            <a:r>
              <a:t>첫 적용은 동일 풀링사의 두세 거점이면 됩니다. 출고 계획과 재고, 복귀편 정보를 연결하고 담당자가 추천을 승인하는 방식으로 시작합니다. 검증할 것은 제시간에 필요한 수량이 왔는지, 모든 추가 비용을 포함해 얼마가 들었는지, 실제 운행 배출이 얼마나 달라졌는지입니다. CBP는 빈 파렛트를 급해진 뒤 찾는 대신, 돌아올 시간부터 예약하자는 제안입니다.</a:t>
            </a:r>
          </a:p>
          <a:p/>
          <a:p>
            <a:r>
              <a:t>주의: 모든 예시 숫자는 합성 가정. 실제 운송·감축 실적이나 독창성 검증 완료로 표현하지 않는다.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825"/>
        </a:solidFill>
        <a:effectLst/>
      </p:bgPr>
    </p:bg>
    <p:spTree>
      <p:nvGrpSpPr>
        <p:cNvPr id="1" name=""/>
        <p:cNvGrpSpPr/>
        <p:nvPr/>
      </p:nvGrpSpPr>
      <p:grpSpPr/>
      <p:sp>
        <p:nvSpPr>
          <p:cNvPr id="2" name="TextBox 1"/>
          <p:cNvSpPr txBox="1"/>
          <p:nvPr/>
        </p:nvSpPr>
        <p:spPr>
          <a:xfrm>
            <a:off x="594360" y="274320"/>
            <a:ext cx="10972800" cy="274320"/>
          </a:xfrm>
          <a:prstGeom prst="rect">
            <a:avLst/>
          </a:prstGeom>
          <a:noFill/>
        </p:spPr>
        <p:txBody>
          <a:bodyPr wrap="square" lIns="0" rIns="0" tIns="0" bIns="0">
            <a:spAutoFit/>
          </a:bodyPr>
          <a:lstStyle/>
          <a:p>
            <a:pPr>
              <a:lnSpc>
                <a:spcPct val="112000"/>
              </a:lnSpc>
              <a:spcBef>
                <a:spcPts val="0"/>
              </a:spcBef>
              <a:spcAft>
                <a:spcPts val="300"/>
              </a:spcAft>
              <a:defRPr sz="1200" b="1">
                <a:solidFill>
                  <a:srgbClr val="DDF485"/>
                </a:solidFill>
                <a:latin typeface="Noto Sans CJK KR"/>
              </a:defRPr>
            </a:pPr>
            <a:r>
              <a:t>CBP  /  탄소예산 기반 파렛트 회수예약</a:t>
            </a:r>
          </a:p>
        </p:txBody>
      </p:sp>
      <p:sp>
        <p:nvSpPr>
          <p:cNvPr id="3" name="TextBox 2"/>
          <p:cNvSpPr txBox="1"/>
          <p:nvPr/>
        </p:nvSpPr>
        <p:spPr>
          <a:xfrm>
            <a:off x="13075920" y="274320"/>
            <a:ext cx="960120" cy="274320"/>
          </a:xfrm>
          <a:prstGeom prst="rect">
            <a:avLst/>
          </a:prstGeom>
          <a:noFill/>
        </p:spPr>
        <p:txBody>
          <a:bodyPr wrap="square" lIns="0" rIns="0" tIns="0" bIns="0">
            <a:spAutoFit/>
          </a:bodyPr>
          <a:lstStyle/>
          <a:p>
            <a:pPr algn="r">
              <a:lnSpc>
                <a:spcPct val="112000"/>
              </a:lnSpc>
              <a:spcBef>
                <a:spcPts val="0"/>
              </a:spcBef>
              <a:spcAft>
                <a:spcPts val="300"/>
              </a:spcAft>
              <a:defRPr sz="1200" b="1">
                <a:solidFill>
                  <a:srgbClr val="B8C7BD"/>
                </a:solidFill>
                <a:latin typeface="Noto Sans CJK KR"/>
              </a:defRPr>
            </a:pPr>
            <a:r>
              <a:t>01 / 06</a:t>
            </a:r>
          </a:p>
        </p:txBody>
      </p:sp>
      <p:sp>
        <p:nvSpPr>
          <p:cNvPr id="4" name="TextBox 3"/>
          <p:cNvSpPr txBox="1"/>
          <p:nvPr/>
        </p:nvSpPr>
        <p:spPr>
          <a:xfrm>
            <a:off x="594360" y="804672"/>
            <a:ext cx="13395960" cy="1088136"/>
          </a:xfrm>
          <a:prstGeom prst="rect">
            <a:avLst/>
          </a:prstGeom>
          <a:noFill/>
        </p:spPr>
        <p:txBody>
          <a:bodyPr wrap="square" lIns="0" rIns="0" tIns="0" bIns="0">
            <a:spAutoFit/>
          </a:bodyPr>
          <a:lstStyle/>
          <a:p>
            <a:pPr>
              <a:lnSpc>
                <a:spcPct val="112000"/>
              </a:lnSpc>
              <a:spcBef>
                <a:spcPts val="0"/>
              </a:spcBef>
              <a:spcAft>
                <a:spcPts val="300"/>
              </a:spcAft>
              <a:defRPr sz="3400" b="1">
                <a:solidFill>
                  <a:srgbClr val="FFFFFF"/>
                </a:solidFill>
                <a:latin typeface="Noto Sans CJK KR"/>
              </a:defRPr>
            </a:pPr>
            <a:r>
              <a:t>16시 출고.</a:t>
            </a:r>
          </a:p>
          <a:p>
            <a:pPr>
              <a:lnSpc>
                <a:spcPct val="112000"/>
              </a:lnSpc>
              <a:spcBef>
                <a:spcPts val="0"/>
              </a:spcBef>
              <a:spcAft>
                <a:spcPts val="300"/>
              </a:spcAft>
              <a:defRPr sz="3400" b="1">
                <a:solidFill>
                  <a:srgbClr val="FFFFFF"/>
                </a:solidFill>
                <a:latin typeface="Noto Sans CJK KR"/>
              </a:defRPr>
            </a:pPr>
            <a:r>
              <a:t>물건은 있는데, 파렛트가 없다면?</a:t>
            </a:r>
          </a:p>
        </p:txBody>
      </p:sp>
      <p:cxnSp>
        <p:nvCxnSpPr>
          <p:cNvPr id="5" name="Connector 4"/>
          <p:cNvCxnSpPr/>
          <p:nvPr/>
        </p:nvCxnSpPr>
        <p:spPr>
          <a:xfrm>
            <a:off x="594360" y="7754112"/>
            <a:ext cx="13441680" cy="0"/>
          </a:xfrm>
          <a:prstGeom prst="line">
            <a:avLst/>
          </a:prstGeom>
          <a:ln w="12700">
            <a:solidFill>
              <a:srgbClr val="395348"/>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3504" y="7891272"/>
            <a:ext cx="12618720" cy="182880"/>
          </a:xfrm>
          <a:prstGeom prst="rect">
            <a:avLst/>
          </a:prstGeom>
          <a:noFill/>
        </p:spPr>
        <p:txBody>
          <a:bodyPr wrap="square" lIns="0" rIns="0" tIns="0" bIns="0">
            <a:spAutoFit/>
          </a:bodyPr>
          <a:lstStyle/>
          <a:p>
            <a:pPr>
              <a:lnSpc>
                <a:spcPct val="112000"/>
              </a:lnSpc>
              <a:spcBef>
                <a:spcPts val="0"/>
              </a:spcBef>
              <a:spcAft>
                <a:spcPts val="300"/>
              </a:spcAft>
              <a:defRPr sz="1000" b="0">
                <a:solidFill>
                  <a:srgbClr val="B8C7BD"/>
                </a:solidFill>
                <a:latin typeface="Noto Sans CJK KR"/>
              </a:defRPr>
            </a:pPr>
            <a:r>
              <a:t>두런두런  ·  제13회 유닛로드시스템(ULS) 창의성 공모전  ·  문제와 제안</a:t>
            </a:r>
          </a:p>
        </p:txBody>
      </p:sp>
      <p:sp>
        <p:nvSpPr>
          <p:cNvPr id="7" name="Rounded Rectangle 6"/>
          <p:cNvSpPr/>
          <p:nvPr/>
        </p:nvSpPr>
        <p:spPr>
          <a:xfrm>
            <a:off x="621792" y="2148840"/>
            <a:ext cx="1892807" cy="329184"/>
          </a:xfrm>
          <a:prstGeom prst="roundRect">
            <a:avLst>
              <a:gd name="adj" fmla="val 12000"/>
            </a:avLst>
          </a:prstGeom>
          <a:solidFill>
            <a:srgbClr val="213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2199132"/>
            <a:ext cx="1709928" cy="228600"/>
          </a:xfrm>
          <a:prstGeom prst="rect">
            <a:avLst/>
          </a:prstGeom>
          <a:noFill/>
        </p:spPr>
        <p:txBody>
          <a:bodyPr wrap="square" lIns="0" rIns="0" tIns="0" bIns="0">
            <a:spAutoFit/>
          </a:bodyPr>
          <a:lstStyle/>
          <a:p>
            <a:pPr>
              <a:lnSpc>
                <a:spcPct val="112000"/>
              </a:lnSpc>
              <a:spcBef>
                <a:spcPts val="0"/>
              </a:spcBef>
              <a:spcAft>
                <a:spcPts val="300"/>
              </a:spcAft>
              <a:defRPr sz="1200" b="1">
                <a:solidFill>
                  <a:srgbClr val="DDF485"/>
                </a:solidFill>
                <a:latin typeface="Noto Sans CJK KR"/>
              </a:defRPr>
            </a:pPr>
            <a:r>
              <a:t>설명용 가상 장면</a:t>
            </a:r>
          </a:p>
        </p:txBody>
      </p:sp>
      <p:sp>
        <p:nvSpPr>
          <p:cNvPr id="9" name="TextBox 8"/>
          <p:cNvSpPr txBox="1"/>
          <p:nvPr/>
        </p:nvSpPr>
        <p:spPr>
          <a:xfrm>
            <a:off x="658368" y="2816352"/>
            <a:ext cx="5212080" cy="384048"/>
          </a:xfrm>
          <a:prstGeom prst="rect">
            <a:avLst/>
          </a:prstGeom>
          <a:noFill/>
        </p:spPr>
        <p:txBody>
          <a:bodyPr wrap="square" lIns="0" rIns="0" tIns="0" bIns="0">
            <a:spAutoFit/>
          </a:bodyPr>
          <a:lstStyle/>
          <a:p>
            <a:pPr>
              <a:lnSpc>
                <a:spcPct val="112000"/>
              </a:lnSpc>
              <a:spcBef>
                <a:spcPts val="0"/>
              </a:spcBef>
              <a:spcAft>
                <a:spcPts val="300"/>
              </a:spcAft>
              <a:defRPr sz="2000" b="0">
                <a:solidFill>
                  <a:srgbClr val="B8C7BD"/>
                </a:solidFill>
                <a:latin typeface="Noto Sans CJK KR"/>
              </a:defRPr>
            </a:pPr>
            <a:r>
              <a:t>다음 출고에 필요한 빈 파렛트</a:t>
            </a:r>
          </a:p>
        </p:txBody>
      </p:sp>
      <p:sp>
        <p:nvSpPr>
          <p:cNvPr id="10" name="TextBox 9"/>
          <p:cNvSpPr txBox="1"/>
          <p:nvPr/>
        </p:nvSpPr>
        <p:spPr>
          <a:xfrm>
            <a:off x="594360" y="3300984"/>
            <a:ext cx="2880360" cy="1234440"/>
          </a:xfrm>
          <a:prstGeom prst="rect">
            <a:avLst/>
          </a:prstGeom>
          <a:noFill/>
        </p:spPr>
        <p:txBody>
          <a:bodyPr wrap="square" lIns="0" rIns="0" tIns="0" bIns="0">
            <a:spAutoFit/>
          </a:bodyPr>
          <a:lstStyle/>
          <a:p>
            <a:pPr>
              <a:lnSpc>
                <a:spcPct val="112000"/>
              </a:lnSpc>
              <a:spcBef>
                <a:spcPts val="0"/>
              </a:spcBef>
              <a:spcAft>
                <a:spcPts val="300"/>
              </a:spcAft>
              <a:defRPr sz="8800" b="1">
                <a:solidFill>
                  <a:srgbClr val="DDF485"/>
                </a:solidFill>
                <a:latin typeface="Noto Sans CJK KR"/>
              </a:defRPr>
            </a:pPr>
            <a:r>
              <a:t>160</a:t>
            </a:r>
          </a:p>
        </p:txBody>
      </p:sp>
      <p:sp>
        <p:nvSpPr>
          <p:cNvPr id="11" name="TextBox 10"/>
          <p:cNvSpPr txBox="1"/>
          <p:nvPr/>
        </p:nvSpPr>
        <p:spPr>
          <a:xfrm>
            <a:off x="3584448" y="3813048"/>
            <a:ext cx="914400" cy="566928"/>
          </a:xfrm>
          <a:prstGeom prst="rect">
            <a:avLst/>
          </a:prstGeom>
          <a:noFill/>
        </p:spPr>
        <p:txBody>
          <a:bodyPr wrap="square" lIns="0" rIns="0" tIns="0" bIns="0">
            <a:spAutoFit/>
          </a:bodyPr>
          <a:lstStyle/>
          <a:p>
            <a:pPr>
              <a:lnSpc>
                <a:spcPct val="112000"/>
              </a:lnSpc>
              <a:spcBef>
                <a:spcPts val="0"/>
              </a:spcBef>
              <a:spcAft>
                <a:spcPts val="300"/>
              </a:spcAft>
              <a:defRPr sz="3400" b="1">
                <a:solidFill>
                  <a:srgbClr val="FFFFFF"/>
                </a:solidFill>
                <a:latin typeface="Noto Sans CJK KR"/>
              </a:defRPr>
            </a:pPr>
            <a:r>
              <a:t>매</a:t>
            </a:r>
          </a:p>
        </p:txBody>
      </p:sp>
      <p:sp>
        <p:nvSpPr>
          <p:cNvPr id="12" name="TextBox 11"/>
          <p:cNvSpPr txBox="1"/>
          <p:nvPr/>
        </p:nvSpPr>
        <p:spPr>
          <a:xfrm>
            <a:off x="658368" y="4855464"/>
            <a:ext cx="4983480" cy="932688"/>
          </a:xfrm>
          <a:prstGeom prst="rect">
            <a:avLst/>
          </a:prstGeom>
          <a:noFill/>
        </p:spPr>
        <p:txBody>
          <a:bodyPr wrap="square" lIns="0" rIns="0" tIns="0" bIns="0">
            <a:spAutoFit/>
          </a:bodyPr>
          <a:lstStyle/>
          <a:p>
            <a:pPr>
              <a:lnSpc>
                <a:spcPct val="112000"/>
              </a:lnSpc>
              <a:spcBef>
                <a:spcPts val="0"/>
              </a:spcBef>
              <a:spcAft>
                <a:spcPts val="300"/>
              </a:spcAft>
              <a:defRPr sz="2600" b="1">
                <a:solidFill>
                  <a:srgbClr val="FFFFFF"/>
                </a:solidFill>
                <a:latin typeface="Noto Sans CJK KR"/>
              </a:defRPr>
            </a:pPr>
            <a:r>
              <a:t>늦게 알수록</a:t>
            </a:r>
          </a:p>
          <a:p>
            <a:pPr>
              <a:lnSpc>
                <a:spcPct val="112000"/>
              </a:lnSpc>
              <a:spcBef>
                <a:spcPts val="0"/>
              </a:spcBef>
              <a:spcAft>
                <a:spcPts val="300"/>
              </a:spcAft>
              <a:defRPr sz="2600" b="1">
                <a:solidFill>
                  <a:srgbClr val="FFFFFF"/>
                </a:solidFill>
                <a:latin typeface="Noto Sans CJK KR"/>
              </a:defRPr>
            </a:pPr>
            <a:r>
              <a:t>회수 방법은 줄어듭니다.</a:t>
            </a:r>
          </a:p>
        </p:txBody>
      </p:sp>
      <p:sp>
        <p:nvSpPr>
          <p:cNvPr id="13" name="Rounded Rectangle 12"/>
          <p:cNvSpPr/>
          <p:nvPr/>
        </p:nvSpPr>
        <p:spPr>
          <a:xfrm>
            <a:off x="6419088" y="2468880"/>
            <a:ext cx="7598664" cy="4078224"/>
          </a:xfrm>
          <a:prstGeom prst="roundRect">
            <a:avLst>
              <a:gd name="adj" fmla="val 4000"/>
            </a:avLst>
          </a:prstGeom>
          <a:solidFill>
            <a:srgbClr val="213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958584" y="3307293"/>
            <a:ext cx="1554022" cy="960668"/>
          </a:xfrm>
          <a:prstGeom prst="roundRect">
            <a:avLst>
              <a:gd name="adj" fmla="val 3000"/>
            </a:avLst>
          </a:prstGeom>
          <a:solidFill>
            <a:srgbClr val="7599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a:off x="6883237" y="2855214"/>
            <a:ext cx="1704715" cy="612190"/>
          </a:xfrm>
          <a:prstGeom prst="triangle">
            <a:avLst/>
          </a:prstGeom>
          <a:solidFill>
            <a:srgbClr val="7599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6480" y="3712281"/>
            <a:ext cx="800557" cy="555680"/>
          </a:xfrm>
          <a:prstGeom prst="rect">
            <a:avLst/>
          </a:prstGeom>
          <a:solidFill>
            <a:srgbClr val="C4D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7335316" y="3815882"/>
            <a:ext cx="762884" cy="0"/>
          </a:xfrm>
          <a:prstGeom prst="line">
            <a:avLst/>
          </a:prstGeom>
          <a:ln w="12700">
            <a:solidFill>
              <a:srgbClr val="75998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335316" y="3938320"/>
            <a:ext cx="762884" cy="0"/>
          </a:xfrm>
          <a:prstGeom prst="line">
            <a:avLst/>
          </a:prstGeom>
          <a:ln w="12700">
            <a:solidFill>
              <a:srgbClr val="75998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7335316" y="4060758"/>
            <a:ext cx="762884" cy="0"/>
          </a:xfrm>
          <a:prstGeom prst="line">
            <a:avLst/>
          </a:prstGeom>
          <a:ln w="12700">
            <a:solidFill>
              <a:srgbClr val="759988"/>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7150608" y="4745736"/>
            <a:ext cx="877824" cy="65836"/>
          </a:xfrm>
          <a:prstGeom prst="rect">
            <a:avLst/>
          </a:prstGeom>
          <a:solidFill>
            <a:srgbClr val="B587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87184" y="4811572"/>
            <a:ext cx="95097" cy="51206"/>
          </a:xfrm>
          <a:prstGeom prst="rect">
            <a:avLst/>
          </a:prstGeom>
          <a:solidFill>
            <a:srgbClr val="8E6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523683" y="4811572"/>
            <a:ext cx="95097" cy="51206"/>
          </a:xfrm>
          <a:prstGeom prst="rect">
            <a:avLst/>
          </a:prstGeom>
          <a:solidFill>
            <a:srgbClr val="8E6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82128" y="4811572"/>
            <a:ext cx="95097" cy="51206"/>
          </a:xfrm>
          <a:prstGeom prst="rect">
            <a:avLst/>
          </a:prstGeom>
          <a:solidFill>
            <a:srgbClr val="8E6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150608" y="4628692"/>
            <a:ext cx="877824" cy="65836"/>
          </a:xfrm>
          <a:prstGeom prst="rect">
            <a:avLst/>
          </a:prstGeom>
          <a:solidFill>
            <a:srgbClr val="B587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187184" y="4694529"/>
            <a:ext cx="95097" cy="51206"/>
          </a:xfrm>
          <a:prstGeom prst="rect">
            <a:avLst/>
          </a:prstGeom>
          <a:solidFill>
            <a:srgbClr val="8E6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523683" y="4694529"/>
            <a:ext cx="95097" cy="51206"/>
          </a:xfrm>
          <a:prstGeom prst="rect">
            <a:avLst/>
          </a:prstGeom>
          <a:solidFill>
            <a:srgbClr val="8E6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882128" y="4694529"/>
            <a:ext cx="95097" cy="51206"/>
          </a:xfrm>
          <a:prstGeom prst="rect">
            <a:avLst/>
          </a:prstGeom>
          <a:solidFill>
            <a:srgbClr val="8E6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50608" y="4511649"/>
            <a:ext cx="877824" cy="65836"/>
          </a:xfrm>
          <a:prstGeom prst="rect">
            <a:avLst/>
          </a:prstGeom>
          <a:solidFill>
            <a:srgbClr val="B587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187184" y="4577486"/>
            <a:ext cx="95097" cy="51206"/>
          </a:xfrm>
          <a:prstGeom prst="rect">
            <a:avLst/>
          </a:prstGeom>
          <a:solidFill>
            <a:srgbClr val="8E6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523683" y="4577486"/>
            <a:ext cx="95097" cy="51206"/>
          </a:xfrm>
          <a:prstGeom prst="rect">
            <a:avLst/>
          </a:prstGeom>
          <a:solidFill>
            <a:srgbClr val="8E6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882128" y="4577486"/>
            <a:ext cx="95097" cy="51206"/>
          </a:xfrm>
          <a:prstGeom prst="rect">
            <a:avLst/>
          </a:prstGeom>
          <a:solidFill>
            <a:srgbClr val="8E6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150608" y="4394606"/>
            <a:ext cx="877824" cy="65836"/>
          </a:xfrm>
          <a:prstGeom prst="rect">
            <a:avLst/>
          </a:prstGeom>
          <a:solidFill>
            <a:srgbClr val="B587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187184" y="4460443"/>
            <a:ext cx="95097" cy="51206"/>
          </a:xfrm>
          <a:prstGeom prst="rect">
            <a:avLst/>
          </a:prstGeom>
          <a:solidFill>
            <a:srgbClr val="8E6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523683" y="4460443"/>
            <a:ext cx="95097" cy="51206"/>
          </a:xfrm>
          <a:prstGeom prst="rect">
            <a:avLst/>
          </a:prstGeom>
          <a:solidFill>
            <a:srgbClr val="8E6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882128" y="4460443"/>
            <a:ext cx="95097" cy="51206"/>
          </a:xfrm>
          <a:prstGeom prst="rect">
            <a:avLst/>
          </a:prstGeom>
          <a:solidFill>
            <a:srgbClr val="8E6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75704" y="5285232"/>
            <a:ext cx="2194560" cy="320040"/>
          </a:xfrm>
          <a:prstGeom prst="rect">
            <a:avLst/>
          </a:prstGeom>
          <a:noFill/>
        </p:spPr>
        <p:txBody>
          <a:bodyPr wrap="square" lIns="0" rIns="0" tIns="0" bIns="0">
            <a:spAutoFit/>
          </a:bodyPr>
          <a:lstStyle/>
          <a:p>
            <a:pPr algn="ctr">
              <a:lnSpc>
                <a:spcPct val="112000"/>
              </a:lnSpc>
              <a:spcBef>
                <a:spcPts val="0"/>
              </a:spcBef>
              <a:spcAft>
                <a:spcPts val="300"/>
              </a:spcAft>
              <a:defRPr sz="1700" b="1">
                <a:solidFill>
                  <a:srgbClr val="FFFFFF"/>
                </a:solidFill>
                <a:latin typeface="Noto Sans CJK KR"/>
              </a:defRPr>
            </a:pPr>
            <a:r>
              <a:t>다른 거점의 파렛트</a:t>
            </a:r>
          </a:p>
        </p:txBody>
      </p:sp>
      <p:sp>
        <p:nvSpPr>
          <p:cNvPr id="37" name="Rounded Rectangle 36"/>
          <p:cNvSpPr/>
          <p:nvPr/>
        </p:nvSpPr>
        <p:spPr>
          <a:xfrm>
            <a:off x="9436608" y="3438144"/>
            <a:ext cx="1360169" cy="663762"/>
          </a:xfrm>
          <a:prstGeom prst="roundRect">
            <a:avLst>
              <a:gd name="adj" fmla="val 6000"/>
            </a:avLst>
          </a:prstGeom>
          <a:solidFill>
            <a:srgbClr val="DDF4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10807659" y="3655771"/>
            <a:ext cx="500542" cy="446135"/>
          </a:xfrm>
          <a:prstGeom prst="roundRect">
            <a:avLst>
              <a:gd name="adj" fmla="val 6000"/>
            </a:avLst>
          </a:prstGeom>
          <a:solidFill>
            <a:srgbClr val="DDF4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0883828" y="3699296"/>
            <a:ext cx="228508" cy="152339"/>
          </a:xfrm>
          <a:prstGeom prst="rect">
            <a:avLst/>
          </a:prstGeom>
          <a:solidFill>
            <a:srgbClr val="D7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9708642" y="3993093"/>
            <a:ext cx="272034" cy="272034"/>
          </a:xfrm>
          <a:prstGeom prst="ellipse">
            <a:avLst/>
          </a:prstGeom>
          <a:solidFill>
            <a:srgbClr val="172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0851184" y="3993093"/>
            <a:ext cx="272034" cy="272034"/>
          </a:xfrm>
          <a:prstGeom prst="ellipse">
            <a:avLst/>
          </a:prstGeom>
          <a:solidFill>
            <a:srgbClr val="172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226296" y="4517136"/>
            <a:ext cx="2926080" cy="704088"/>
          </a:xfrm>
          <a:prstGeom prst="rect">
            <a:avLst/>
          </a:prstGeom>
          <a:noFill/>
        </p:spPr>
        <p:txBody>
          <a:bodyPr wrap="square" lIns="0" rIns="0" tIns="0" bIns="0">
            <a:spAutoFit/>
          </a:bodyPr>
          <a:lstStyle/>
          <a:p>
            <a:pPr algn="ctr">
              <a:lnSpc>
                <a:spcPct val="112000"/>
              </a:lnSpc>
              <a:spcBef>
                <a:spcPts val="0"/>
              </a:spcBef>
              <a:spcAft>
                <a:spcPts val="300"/>
              </a:spcAft>
              <a:defRPr sz="1800" b="1">
                <a:solidFill>
                  <a:srgbClr val="FFFFFF"/>
                </a:solidFill>
                <a:latin typeface="Noto Sans CJK KR"/>
              </a:defRPr>
            </a:pPr>
            <a:r>
              <a:t>배송을 마치고</a:t>
            </a:r>
          </a:p>
          <a:p>
            <a:pPr algn="ctr">
              <a:lnSpc>
                <a:spcPct val="112000"/>
              </a:lnSpc>
              <a:spcBef>
                <a:spcPts val="0"/>
              </a:spcBef>
              <a:spcAft>
                <a:spcPts val="300"/>
              </a:spcAft>
              <a:defRPr sz="1800" b="1">
                <a:solidFill>
                  <a:srgbClr val="FFFFFF"/>
                </a:solidFill>
                <a:latin typeface="Noto Sans CJK KR"/>
              </a:defRPr>
            </a:pPr>
            <a:r>
              <a:t>돌아오는 차량</a:t>
            </a:r>
          </a:p>
        </p:txBody>
      </p:sp>
      <p:sp>
        <p:nvSpPr>
          <p:cNvPr id="43" name="Right Arrow 42"/>
          <p:cNvSpPr/>
          <p:nvPr/>
        </p:nvSpPr>
        <p:spPr>
          <a:xfrm>
            <a:off x="8613648" y="3840480"/>
            <a:ext cx="612648" cy="228600"/>
          </a:xfrm>
          <a:prstGeom prst="rightArrow">
            <a:avLst/>
          </a:prstGeom>
          <a:solidFill>
            <a:srgbClr val="DDF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ight Arrow 43"/>
          <p:cNvSpPr/>
          <p:nvPr/>
        </p:nvSpPr>
        <p:spPr>
          <a:xfrm>
            <a:off x="11713464" y="3840480"/>
            <a:ext cx="640080" cy="228600"/>
          </a:xfrm>
          <a:prstGeom prst="rightArrow">
            <a:avLst/>
          </a:prstGeom>
          <a:solidFill>
            <a:srgbClr val="DDF4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12582144" y="3081528"/>
            <a:ext cx="905256" cy="1508760"/>
          </a:xfrm>
          <a:prstGeom prst="roundRect">
            <a:avLst>
              <a:gd name="adj" fmla="val 7000"/>
            </a:avLst>
          </a:prstGeom>
          <a:solidFill>
            <a:srgbClr val="567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2591288" y="3547872"/>
            <a:ext cx="886968" cy="548640"/>
          </a:xfrm>
          <a:prstGeom prst="rect">
            <a:avLst/>
          </a:prstGeom>
          <a:noFill/>
        </p:spPr>
        <p:txBody>
          <a:bodyPr wrap="square" lIns="0" rIns="0" tIns="0" bIns="0">
            <a:spAutoFit/>
          </a:bodyPr>
          <a:lstStyle/>
          <a:p>
            <a:pPr algn="ctr">
              <a:lnSpc>
                <a:spcPct val="112000"/>
              </a:lnSpc>
              <a:spcBef>
                <a:spcPts val="0"/>
              </a:spcBef>
              <a:spcAft>
                <a:spcPts val="300"/>
              </a:spcAft>
              <a:defRPr sz="1700" b="1">
                <a:solidFill>
                  <a:srgbClr val="FFFFFF"/>
                </a:solidFill>
                <a:latin typeface="Noto Sans CJK KR"/>
              </a:defRPr>
            </a:pPr>
            <a:r>
              <a:t>출고</a:t>
            </a:r>
          </a:p>
          <a:p>
            <a:pPr algn="ctr">
              <a:lnSpc>
                <a:spcPct val="112000"/>
              </a:lnSpc>
              <a:spcBef>
                <a:spcPts val="0"/>
              </a:spcBef>
              <a:spcAft>
                <a:spcPts val="300"/>
              </a:spcAft>
              <a:defRPr sz="1700" b="1">
                <a:solidFill>
                  <a:srgbClr val="FFFFFF"/>
                </a:solidFill>
                <a:latin typeface="Noto Sans CJK KR"/>
              </a:defRPr>
            </a:pPr>
            <a:r>
              <a:t>거점</a:t>
            </a:r>
          </a:p>
        </p:txBody>
      </p:sp>
      <p:sp>
        <p:nvSpPr>
          <p:cNvPr id="47" name="TextBox 46"/>
          <p:cNvSpPr txBox="1"/>
          <p:nvPr/>
        </p:nvSpPr>
        <p:spPr>
          <a:xfrm>
            <a:off x="6830568" y="5961888"/>
            <a:ext cx="6839712" cy="320040"/>
          </a:xfrm>
          <a:prstGeom prst="rect">
            <a:avLst/>
          </a:prstGeom>
          <a:noFill/>
        </p:spPr>
        <p:txBody>
          <a:bodyPr wrap="square" lIns="0" rIns="0" tIns="0" bIns="0">
            <a:spAutoFit/>
          </a:bodyPr>
          <a:lstStyle/>
          <a:p>
            <a:pPr>
              <a:lnSpc>
                <a:spcPct val="112000"/>
              </a:lnSpc>
              <a:spcBef>
                <a:spcPts val="0"/>
              </a:spcBef>
              <a:spcAft>
                <a:spcPts val="300"/>
              </a:spcAft>
              <a:defRPr sz="2000" b="1">
                <a:solidFill>
                  <a:srgbClr val="DDF485"/>
                </a:solidFill>
                <a:latin typeface="Noto Sans CJK KR"/>
              </a:defRPr>
            </a:pPr>
            <a:r>
              <a:t>둘을 미리 연결하면, 회수의 선택지가 생깁니다.</a:t>
            </a:r>
          </a:p>
        </p:txBody>
      </p:sp>
      <p:cxnSp>
        <p:nvCxnSpPr>
          <p:cNvPr id="48" name="Connector 47"/>
          <p:cNvCxnSpPr/>
          <p:nvPr/>
        </p:nvCxnSpPr>
        <p:spPr>
          <a:xfrm>
            <a:off x="658368" y="6931152"/>
            <a:ext cx="13258800" cy="0"/>
          </a:xfrm>
          <a:prstGeom prst="line">
            <a:avLst/>
          </a:prstGeom>
          <a:ln w="12700">
            <a:solidFill>
              <a:srgbClr val="395348"/>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658368" y="7104888"/>
            <a:ext cx="13258800" cy="384048"/>
          </a:xfrm>
          <a:prstGeom prst="rect">
            <a:avLst/>
          </a:prstGeom>
          <a:noFill/>
        </p:spPr>
        <p:txBody>
          <a:bodyPr wrap="square" lIns="0" rIns="0" tIns="0" bIns="0">
            <a:spAutoFit/>
          </a:bodyPr>
          <a:lstStyle/>
          <a:p>
            <a:pPr>
              <a:lnSpc>
                <a:spcPct val="112000"/>
              </a:lnSpc>
              <a:spcBef>
                <a:spcPts val="0"/>
              </a:spcBef>
              <a:spcAft>
                <a:spcPts val="300"/>
              </a:spcAft>
              <a:defRPr sz="2400" b="1">
                <a:solidFill>
                  <a:srgbClr val="DDF485"/>
                </a:solidFill>
                <a:latin typeface="Noto Sans CJK KR"/>
              </a:defRPr>
            </a:pPr>
            <a:r>
              <a:t>CBP  |  빈 파렛트가 돌아올 시간과 자리를 예약합니다.</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3EB"/>
        </a:solidFill>
        <a:effectLst/>
      </p:bgPr>
    </p:bg>
    <p:spTree>
      <p:nvGrpSpPr>
        <p:cNvPr id="1" name=""/>
        <p:cNvGrpSpPr/>
        <p:nvPr/>
      </p:nvGrpSpPr>
      <p:grpSpPr/>
      <p:sp>
        <p:nvSpPr>
          <p:cNvPr id="2" name="TextBox 1"/>
          <p:cNvSpPr txBox="1"/>
          <p:nvPr/>
        </p:nvSpPr>
        <p:spPr>
          <a:xfrm>
            <a:off x="594360" y="274320"/>
            <a:ext cx="10972800" cy="274320"/>
          </a:xfrm>
          <a:prstGeom prst="rect">
            <a:avLst/>
          </a:prstGeom>
          <a:noFill/>
        </p:spPr>
        <p:txBody>
          <a:bodyPr wrap="square" lIns="0" rIns="0" tIns="0" bIns="0">
            <a:spAutoFit/>
          </a:bodyPr>
          <a:lstStyle/>
          <a:p>
            <a:pPr>
              <a:lnSpc>
                <a:spcPct val="112000"/>
              </a:lnSpc>
              <a:spcBef>
                <a:spcPts val="0"/>
              </a:spcBef>
              <a:spcAft>
                <a:spcPts val="300"/>
              </a:spcAft>
              <a:defRPr sz="1200" b="1">
                <a:solidFill>
                  <a:srgbClr val="16745C"/>
                </a:solidFill>
                <a:latin typeface="Noto Sans CJK KR"/>
              </a:defRPr>
            </a:pPr>
            <a:r>
              <a:t>CBP  /  탄소예산 기반 파렛트 회수예약</a:t>
            </a:r>
          </a:p>
        </p:txBody>
      </p:sp>
      <p:sp>
        <p:nvSpPr>
          <p:cNvPr id="3" name="TextBox 2"/>
          <p:cNvSpPr txBox="1"/>
          <p:nvPr/>
        </p:nvSpPr>
        <p:spPr>
          <a:xfrm>
            <a:off x="13075920" y="274320"/>
            <a:ext cx="960120" cy="274320"/>
          </a:xfrm>
          <a:prstGeom prst="rect">
            <a:avLst/>
          </a:prstGeom>
          <a:noFill/>
        </p:spPr>
        <p:txBody>
          <a:bodyPr wrap="square" lIns="0" rIns="0" tIns="0" bIns="0">
            <a:spAutoFit/>
          </a:bodyPr>
          <a:lstStyle/>
          <a:p>
            <a:pPr algn="r">
              <a:lnSpc>
                <a:spcPct val="112000"/>
              </a:lnSpc>
              <a:spcBef>
                <a:spcPts val="0"/>
              </a:spcBef>
              <a:spcAft>
                <a:spcPts val="300"/>
              </a:spcAft>
              <a:defRPr sz="1200" b="1">
                <a:solidFill>
                  <a:srgbClr val="69756E"/>
                </a:solidFill>
                <a:latin typeface="Noto Sans CJK KR"/>
              </a:defRPr>
            </a:pPr>
            <a:r>
              <a:t>02 / 06</a:t>
            </a:r>
          </a:p>
        </p:txBody>
      </p:sp>
      <p:sp>
        <p:nvSpPr>
          <p:cNvPr id="4" name="TextBox 3"/>
          <p:cNvSpPr txBox="1"/>
          <p:nvPr/>
        </p:nvSpPr>
        <p:spPr>
          <a:xfrm>
            <a:off x="594360" y="804672"/>
            <a:ext cx="13395960" cy="1088136"/>
          </a:xfrm>
          <a:prstGeom prst="rect">
            <a:avLst/>
          </a:prstGeom>
          <a:noFill/>
        </p:spPr>
        <p:txBody>
          <a:bodyPr wrap="square" lIns="0" rIns="0" tIns="0" bIns="0">
            <a:spAutoFit/>
          </a:bodyPr>
          <a:lstStyle/>
          <a:p>
            <a:pPr>
              <a:lnSpc>
                <a:spcPct val="112000"/>
              </a:lnSpc>
              <a:spcBef>
                <a:spcPts val="0"/>
              </a:spcBef>
              <a:spcAft>
                <a:spcPts val="300"/>
              </a:spcAft>
              <a:defRPr sz="3400" b="1">
                <a:solidFill>
                  <a:srgbClr val="172825"/>
                </a:solidFill>
                <a:latin typeface="Noto Sans CJK KR"/>
              </a:defRPr>
            </a:pPr>
            <a:r>
              <a:t>파렛트·빈칸·탄소를</a:t>
            </a:r>
          </a:p>
          <a:p>
            <a:pPr>
              <a:lnSpc>
                <a:spcPct val="112000"/>
              </a:lnSpc>
              <a:spcBef>
                <a:spcPts val="0"/>
              </a:spcBef>
              <a:spcAft>
                <a:spcPts val="300"/>
              </a:spcAft>
              <a:defRPr sz="3400" b="1">
                <a:solidFill>
                  <a:srgbClr val="172825"/>
                </a:solidFill>
                <a:latin typeface="Noto Sans CJK KR"/>
              </a:defRPr>
            </a:pPr>
            <a:r>
              <a:t>회수예약표 한 장으로 묶습니다.</a:t>
            </a:r>
          </a:p>
        </p:txBody>
      </p:sp>
      <p:sp>
        <p:nvSpPr>
          <p:cNvPr id="5" name="TextBox 4"/>
          <p:cNvSpPr txBox="1"/>
          <p:nvPr/>
        </p:nvSpPr>
        <p:spPr>
          <a:xfrm>
            <a:off x="621792" y="1938528"/>
            <a:ext cx="13304520" cy="438912"/>
          </a:xfrm>
          <a:prstGeom prst="rect">
            <a:avLst/>
          </a:prstGeom>
          <a:noFill/>
        </p:spPr>
        <p:txBody>
          <a:bodyPr wrap="square" lIns="0" rIns="0" tIns="0" bIns="0">
            <a:spAutoFit/>
          </a:bodyPr>
          <a:lstStyle/>
          <a:p>
            <a:pPr>
              <a:lnSpc>
                <a:spcPct val="112000"/>
              </a:lnSpc>
              <a:spcBef>
                <a:spcPts val="0"/>
              </a:spcBef>
              <a:spcAft>
                <a:spcPts val="300"/>
              </a:spcAft>
              <a:defRPr sz="1700" b="0">
                <a:solidFill>
                  <a:srgbClr val="69756E"/>
                </a:solidFill>
                <a:latin typeface="Noto Sans CJK KR"/>
              </a:defRPr>
            </a:pPr>
            <a:r>
              <a:t>재고와 차량을 동시에 확보하고, 예약 시점부터 예상 배출을 반영합니다.</a:t>
            </a:r>
          </a:p>
        </p:txBody>
      </p:sp>
      <p:cxnSp>
        <p:nvCxnSpPr>
          <p:cNvPr id="6" name="Connector 5"/>
          <p:cNvCxnSpPr/>
          <p:nvPr/>
        </p:nvCxnSpPr>
        <p:spPr>
          <a:xfrm>
            <a:off x="594360" y="7754112"/>
            <a:ext cx="13441680" cy="0"/>
          </a:xfrm>
          <a:prstGeom prst="line">
            <a:avLst/>
          </a:prstGeom>
          <a:ln w="12700">
            <a:solidFill>
              <a:srgbClr val="D9DED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3504" y="7891272"/>
            <a:ext cx="12618720" cy="182880"/>
          </a:xfrm>
          <a:prstGeom prst="rect">
            <a:avLst/>
          </a:prstGeom>
          <a:noFill/>
        </p:spPr>
        <p:txBody>
          <a:bodyPr wrap="square" lIns="0" rIns="0" tIns="0" bIns="0">
            <a:spAutoFit/>
          </a:bodyPr>
          <a:lstStyle/>
          <a:p>
            <a:pPr>
              <a:lnSpc>
                <a:spcPct val="112000"/>
              </a:lnSpc>
              <a:spcBef>
                <a:spcPts val="0"/>
              </a:spcBef>
              <a:spcAft>
                <a:spcPts val="300"/>
              </a:spcAft>
              <a:defRPr sz="1000" b="0">
                <a:solidFill>
                  <a:srgbClr val="69756E"/>
                </a:solidFill>
                <a:latin typeface="Noto Sans CJK KR"/>
              </a:defRPr>
            </a:pPr>
            <a:r>
              <a:t>두런두런  ·  제13회 유닛로드시스템(ULS) 창의성 공모전  ·  핵심 아이디어</a:t>
            </a:r>
          </a:p>
        </p:txBody>
      </p:sp>
      <p:sp>
        <p:nvSpPr>
          <p:cNvPr id="8" name="Oval 7"/>
          <p:cNvSpPr/>
          <p:nvPr/>
        </p:nvSpPr>
        <p:spPr>
          <a:xfrm>
            <a:off x="658368" y="2788920"/>
            <a:ext cx="521207" cy="521207"/>
          </a:xfrm>
          <a:prstGeom prst="ellipse">
            <a:avLst/>
          </a:prstGeom>
          <a:solidFill>
            <a:srgbClr val="1674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2880360"/>
            <a:ext cx="521207" cy="237744"/>
          </a:xfrm>
          <a:prstGeom prst="rect">
            <a:avLst/>
          </a:prstGeom>
          <a:noFill/>
        </p:spPr>
        <p:txBody>
          <a:bodyPr wrap="square" lIns="0" rIns="0" tIns="0" bIns="0">
            <a:spAutoFit/>
          </a:bodyPr>
          <a:lstStyle/>
          <a:p>
            <a:pPr algn="ctr">
              <a:lnSpc>
                <a:spcPct val="112000"/>
              </a:lnSpc>
              <a:spcBef>
                <a:spcPts val="0"/>
              </a:spcBef>
              <a:spcAft>
                <a:spcPts val="300"/>
              </a:spcAft>
              <a:defRPr sz="1400" b="1">
                <a:solidFill>
                  <a:srgbClr val="FFFFFF"/>
                </a:solidFill>
                <a:latin typeface="Noto Sans CJK KR"/>
              </a:defRPr>
            </a:pPr>
            <a:r>
              <a:t>01</a:t>
            </a:r>
          </a:p>
        </p:txBody>
      </p:sp>
      <p:sp>
        <p:nvSpPr>
          <p:cNvPr id="10" name="TextBox 9"/>
          <p:cNvSpPr txBox="1"/>
          <p:nvPr/>
        </p:nvSpPr>
        <p:spPr>
          <a:xfrm>
            <a:off x="1408176" y="2688336"/>
            <a:ext cx="4407408" cy="402336"/>
          </a:xfrm>
          <a:prstGeom prst="rect">
            <a:avLst/>
          </a:prstGeom>
          <a:noFill/>
        </p:spPr>
        <p:txBody>
          <a:bodyPr wrap="square" lIns="0" rIns="0" tIns="0" bIns="0">
            <a:spAutoFit/>
          </a:bodyPr>
          <a:lstStyle/>
          <a:p>
            <a:pPr>
              <a:lnSpc>
                <a:spcPct val="112000"/>
              </a:lnSpc>
              <a:spcBef>
                <a:spcPts val="0"/>
              </a:spcBef>
              <a:spcAft>
                <a:spcPts val="300"/>
              </a:spcAft>
              <a:defRPr sz="2500" b="1">
                <a:solidFill>
                  <a:srgbClr val="172825"/>
                </a:solidFill>
                <a:latin typeface="Noto Sans CJK KR"/>
              </a:defRPr>
            </a:pPr>
            <a:r>
              <a:t>파렛트 예약</a:t>
            </a:r>
          </a:p>
        </p:txBody>
      </p:sp>
      <p:sp>
        <p:nvSpPr>
          <p:cNvPr id="11" name="TextBox 10"/>
          <p:cNvSpPr txBox="1"/>
          <p:nvPr/>
        </p:nvSpPr>
        <p:spPr>
          <a:xfrm>
            <a:off x="1426464" y="3227832"/>
            <a:ext cx="4416552" cy="320040"/>
          </a:xfrm>
          <a:prstGeom prst="rect">
            <a:avLst/>
          </a:prstGeom>
          <a:noFill/>
        </p:spPr>
        <p:txBody>
          <a:bodyPr wrap="square" lIns="0" rIns="0" tIns="0" bIns="0">
            <a:spAutoFit/>
          </a:bodyPr>
          <a:lstStyle/>
          <a:p>
            <a:pPr>
              <a:lnSpc>
                <a:spcPct val="112000"/>
              </a:lnSpc>
              <a:spcBef>
                <a:spcPts val="0"/>
              </a:spcBef>
              <a:spcAft>
                <a:spcPts val="300"/>
              </a:spcAft>
              <a:defRPr sz="1700" b="0">
                <a:solidFill>
                  <a:srgbClr val="69756E"/>
                </a:solidFill>
                <a:latin typeface="Noto Sans CJK KR"/>
              </a:defRPr>
            </a:pPr>
            <a:r>
              <a:t>수량 · 규격 · 인계 가능 시각</a:t>
            </a:r>
          </a:p>
        </p:txBody>
      </p:sp>
      <p:cxnSp>
        <p:nvCxnSpPr>
          <p:cNvPr id="12" name="Connector 11"/>
          <p:cNvCxnSpPr/>
          <p:nvPr/>
        </p:nvCxnSpPr>
        <p:spPr>
          <a:xfrm>
            <a:off x="914400" y="3374136"/>
            <a:ext cx="0" cy="539496"/>
          </a:xfrm>
          <a:prstGeom prst="line">
            <a:avLst/>
          </a:prstGeom>
          <a:ln w="25400">
            <a:solidFill>
              <a:srgbClr val="D9DED3"/>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658368" y="4014216"/>
            <a:ext cx="521207" cy="521207"/>
          </a:xfrm>
          <a:prstGeom prst="ellipse">
            <a:avLst/>
          </a:prstGeom>
          <a:solidFill>
            <a:srgbClr val="1674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4105656"/>
            <a:ext cx="521207" cy="237744"/>
          </a:xfrm>
          <a:prstGeom prst="rect">
            <a:avLst/>
          </a:prstGeom>
          <a:noFill/>
        </p:spPr>
        <p:txBody>
          <a:bodyPr wrap="square" lIns="0" rIns="0" tIns="0" bIns="0">
            <a:spAutoFit/>
          </a:bodyPr>
          <a:lstStyle/>
          <a:p>
            <a:pPr algn="ctr">
              <a:lnSpc>
                <a:spcPct val="112000"/>
              </a:lnSpc>
              <a:spcBef>
                <a:spcPts val="0"/>
              </a:spcBef>
              <a:spcAft>
                <a:spcPts val="300"/>
              </a:spcAft>
              <a:defRPr sz="1400" b="1">
                <a:solidFill>
                  <a:srgbClr val="FFFFFF"/>
                </a:solidFill>
                <a:latin typeface="Noto Sans CJK KR"/>
              </a:defRPr>
            </a:pPr>
            <a:r>
              <a:t>02</a:t>
            </a:r>
          </a:p>
        </p:txBody>
      </p:sp>
      <p:sp>
        <p:nvSpPr>
          <p:cNvPr id="15" name="TextBox 14"/>
          <p:cNvSpPr txBox="1"/>
          <p:nvPr/>
        </p:nvSpPr>
        <p:spPr>
          <a:xfrm>
            <a:off x="1408176" y="3913632"/>
            <a:ext cx="4407408" cy="402336"/>
          </a:xfrm>
          <a:prstGeom prst="rect">
            <a:avLst/>
          </a:prstGeom>
          <a:noFill/>
        </p:spPr>
        <p:txBody>
          <a:bodyPr wrap="square" lIns="0" rIns="0" tIns="0" bIns="0">
            <a:spAutoFit/>
          </a:bodyPr>
          <a:lstStyle/>
          <a:p>
            <a:pPr>
              <a:lnSpc>
                <a:spcPct val="112000"/>
              </a:lnSpc>
              <a:spcBef>
                <a:spcPts val="0"/>
              </a:spcBef>
              <a:spcAft>
                <a:spcPts val="300"/>
              </a:spcAft>
              <a:defRPr sz="2500" b="1">
                <a:solidFill>
                  <a:srgbClr val="172825"/>
                </a:solidFill>
                <a:latin typeface="Noto Sans CJK KR"/>
              </a:defRPr>
            </a:pPr>
            <a:r>
              <a:t>빈칸 예약</a:t>
            </a:r>
          </a:p>
        </p:txBody>
      </p:sp>
      <p:sp>
        <p:nvSpPr>
          <p:cNvPr id="16" name="TextBox 15"/>
          <p:cNvSpPr txBox="1"/>
          <p:nvPr/>
        </p:nvSpPr>
        <p:spPr>
          <a:xfrm>
            <a:off x="1426464" y="4453128"/>
            <a:ext cx="4416552" cy="320040"/>
          </a:xfrm>
          <a:prstGeom prst="rect">
            <a:avLst/>
          </a:prstGeom>
          <a:noFill/>
        </p:spPr>
        <p:txBody>
          <a:bodyPr wrap="square" lIns="0" rIns="0" tIns="0" bIns="0">
            <a:spAutoFit/>
          </a:bodyPr>
          <a:lstStyle/>
          <a:p>
            <a:pPr>
              <a:lnSpc>
                <a:spcPct val="112000"/>
              </a:lnSpc>
              <a:spcBef>
                <a:spcPts val="0"/>
              </a:spcBef>
              <a:spcAft>
                <a:spcPts val="300"/>
              </a:spcAft>
              <a:defRPr sz="1700" b="0">
                <a:solidFill>
                  <a:srgbClr val="69756E"/>
                </a:solidFill>
                <a:latin typeface="Noto Sans CJK KR"/>
              </a:defRPr>
            </a:pPr>
            <a:r>
              <a:t>실을 수 있는 수량 · 도착 시각</a:t>
            </a:r>
          </a:p>
        </p:txBody>
      </p:sp>
      <p:cxnSp>
        <p:nvCxnSpPr>
          <p:cNvPr id="17" name="Connector 16"/>
          <p:cNvCxnSpPr/>
          <p:nvPr/>
        </p:nvCxnSpPr>
        <p:spPr>
          <a:xfrm>
            <a:off x="914400" y="4599432"/>
            <a:ext cx="0" cy="539496"/>
          </a:xfrm>
          <a:prstGeom prst="line">
            <a:avLst/>
          </a:prstGeom>
          <a:ln w="25400">
            <a:solidFill>
              <a:srgbClr val="D9DED3"/>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658368" y="5239512"/>
            <a:ext cx="521207" cy="521207"/>
          </a:xfrm>
          <a:prstGeom prst="ellipse">
            <a:avLst/>
          </a:prstGeom>
          <a:solidFill>
            <a:srgbClr val="1674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5330952"/>
            <a:ext cx="521207" cy="237744"/>
          </a:xfrm>
          <a:prstGeom prst="rect">
            <a:avLst/>
          </a:prstGeom>
          <a:noFill/>
        </p:spPr>
        <p:txBody>
          <a:bodyPr wrap="square" lIns="0" rIns="0" tIns="0" bIns="0">
            <a:spAutoFit/>
          </a:bodyPr>
          <a:lstStyle/>
          <a:p>
            <a:pPr algn="ctr">
              <a:lnSpc>
                <a:spcPct val="112000"/>
              </a:lnSpc>
              <a:spcBef>
                <a:spcPts val="0"/>
              </a:spcBef>
              <a:spcAft>
                <a:spcPts val="300"/>
              </a:spcAft>
              <a:defRPr sz="1400" b="1">
                <a:solidFill>
                  <a:srgbClr val="FFFFFF"/>
                </a:solidFill>
                <a:latin typeface="Noto Sans CJK KR"/>
              </a:defRPr>
            </a:pPr>
            <a:r>
              <a:t>03</a:t>
            </a:r>
          </a:p>
        </p:txBody>
      </p:sp>
      <p:sp>
        <p:nvSpPr>
          <p:cNvPr id="20" name="TextBox 19"/>
          <p:cNvSpPr txBox="1"/>
          <p:nvPr/>
        </p:nvSpPr>
        <p:spPr>
          <a:xfrm>
            <a:off x="1408176" y="5138928"/>
            <a:ext cx="4407408" cy="402336"/>
          </a:xfrm>
          <a:prstGeom prst="rect">
            <a:avLst/>
          </a:prstGeom>
          <a:noFill/>
        </p:spPr>
        <p:txBody>
          <a:bodyPr wrap="square" lIns="0" rIns="0" tIns="0" bIns="0">
            <a:spAutoFit/>
          </a:bodyPr>
          <a:lstStyle/>
          <a:p>
            <a:pPr>
              <a:lnSpc>
                <a:spcPct val="112000"/>
              </a:lnSpc>
              <a:spcBef>
                <a:spcPts val="0"/>
              </a:spcBef>
              <a:spcAft>
                <a:spcPts val="300"/>
              </a:spcAft>
              <a:defRPr sz="2500" b="1">
                <a:solidFill>
                  <a:srgbClr val="172825"/>
                </a:solidFill>
                <a:latin typeface="Noto Sans CJK KR"/>
              </a:defRPr>
            </a:pPr>
            <a:r>
              <a:t>탄소 예약</a:t>
            </a:r>
          </a:p>
        </p:txBody>
      </p:sp>
      <p:sp>
        <p:nvSpPr>
          <p:cNvPr id="21" name="TextBox 20"/>
          <p:cNvSpPr txBox="1"/>
          <p:nvPr/>
        </p:nvSpPr>
        <p:spPr>
          <a:xfrm>
            <a:off x="1426464" y="5678424"/>
            <a:ext cx="4416552" cy="320040"/>
          </a:xfrm>
          <a:prstGeom prst="rect">
            <a:avLst/>
          </a:prstGeom>
          <a:noFill/>
        </p:spPr>
        <p:txBody>
          <a:bodyPr wrap="square" lIns="0" rIns="0" tIns="0" bIns="0">
            <a:spAutoFit/>
          </a:bodyPr>
          <a:lstStyle/>
          <a:p>
            <a:pPr>
              <a:lnSpc>
                <a:spcPct val="112000"/>
              </a:lnSpc>
              <a:spcBef>
                <a:spcPts val="0"/>
              </a:spcBef>
              <a:spcAft>
                <a:spcPts val="300"/>
              </a:spcAft>
              <a:defRPr sz="1700" b="0">
                <a:solidFill>
                  <a:srgbClr val="69756E"/>
                </a:solidFill>
                <a:latin typeface="Noto Sans CJK KR"/>
              </a:defRPr>
            </a:pPr>
            <a:r>
              <a:t>예상 추가 배출 · 남은 예산</a:t>
            </a:r>
          </a:p>
        </p:txBody>
      </p:sp>
      <p:sp>
        <p:nvSpPr>
          <p:cNvPr id="22" name="Right Arrow 21"/>
          <p:cNvSpPr/>
          <p:nvPr/>
        </p:nvSpPr>
        <p:spPr>
          <a:xfrm>
            <a:off x="6053328" y="4078224"/>
            <a:ext cx="758952" cy="228600"/>
          </a:xfrm>
          <a:prstGeom prst="rightArrow">
            <a:avLst/>
          </a:prstGeom>
          <a:solidFill>
            <a:srgbClr val="1674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178040" y="2596896"/>
            <a:ext cx="6839712" cy="4325112"/>
          </a:xfrm>
          <a:prstGeom prst="roundRect">
            <a:avLst>
              <a:gd name="adj" fmla="val 3500"/>
            </a:avLst>
          </a:prstGeom>
          <a:solidFill>
            <a:srgbClr val="FFFFFF"/>
          </a:solidFill>
          <a:ln w="12700">
            <a:solidFill>
              <a:srgbClr val="D9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178040" y="2596896"/>
            <a:ext cx="6839712" cy="630936"/>
          </a:xfrm>
          <a:prstGeom prst="roundRect">
            <a:avLst>
              <a:gd name="adj" fmla="val 3500"/>
            </a:avLst>
          </a:prstGeom>
          <a:solidFill>
            <a:srgbClr val="172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24927" y="2761488"/>
            <a:ext cx="5166360" cy="292608"/>
          </a:xfrm>
          <a:prstGeom prst="rect">
            <a:avLst/>
          </a:prstGeom>
          <a:noFill/>
        </p:spPr>
        <p:txBody>
          <a:bodyPr wrap="square" lIns="0" rIns="0" tIns="0" bIns="0">
            <a:spAutoFit/>
          </a:bodyPr>
          <a:lstStyle/>
          <a:p>
            <a:pPr>
              <a:lnSpc>
                <a:spcPct val="112000"/>
              </a:lnSpc>
              <a:spcBef>
                <a:spcPts val="0"/>
              </a:spcBef>
              <a:spcAft>
                <a:spcPts val="300"/>
              </a:spcAft>
              <a:defRPr sz="2000" b="1">
                <a:solidFill>
                  <a:srgbClr val="DDF485"/>
                </a:solidFill>
                <a:latin typeface="Noto Sans CJK KR"/>
              </a:defRPr>
            </a:pPr>
            <a:r>
              <a:t>CBP  /  회수예약표</a:t>
            </a:r>
          </a:p>
        </p:txBody>
      </p:sp>
      <p:sp>
        <p:nvSpPr>
          <p:cNvPr id="26" name="Rounded Rectangle 25"/>
          <p:cNvSpPr/>
          <p:nvPr/>
        </p:nvSpPr>
        <p:spPr>
          <a:xfrm>
            <a:off x="11905488" y="2752344"/>
            <a:ext cx="1810512" cy="329184"/>
          </a:xfrm>
          <a:prstGeom prst="roundRect">
            <a:avLst>
              <a:gd name="adj" fmla="val 12000"/>
            </a:avLst>
          </a:prstGeom>
          <a:solidFill>
            <a:srgbClr val="DDF4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996928" y="2802636"/>
            <a:ext cx="1627632" cy="228600"/>
          </a:xfrm>
          <a:prstGeom prst="rect">
            <a:avLst/>
          </a:prstGeom>
          <a:noFill/>
        </p:spPr>
        <p:txBody>
          <a:bodyPr wrap="square" lIns="0" rIns="0" tIns="0" bIns="0">
            <a:spAutoFit/>
          </a:bodyPr>
          <a:lstStyle/>
          <a:p>
            <a:pPr>
              <a:lnSpc>
                <a:spcPct val="112000"/>
              </a:lnSpc>
              <a:spcBef>
                <a:spcPts val="0"/>
              </a:spcBef>
              <a:spcAft>
                <a:spcPts val="300"/>
              </a:spcAft>
              <a:defRPr sz="1100" b="1">
                <a:solidFill>
                  <a:srgbClr val="172825"/>
                </a:solidFill>
                <a:latin typeface="Noto Sans CJK KR"/>
              </a:defRPr>
            </a:pPr>
            <a:r>
              <a:t>풀링사 담당자 승인</a:t>
            </a:r>
          </a:p>
        </p:txBody>
      </p:sp>
      <p:sp>
        <p:nvSpPr>
          <p:cNvPr id="28" name="TextBox 27"/>
          <p:cNvSpPr txBox="1"/>
          <p:nvPr/>
        </p:nvSpPr>
        <p:spPr>
          <a:xfrm>
            <a:off x="7461504" y="3502152"/>
            <a:ext cx="1719072" cy="310896"/>
          </a:xfrm>
          <a:prstGeom prst="rect">
            <a:avLst/>
          </a:prstGeom>
          <a:noFill/>
        </p:spPr>
        <p:txBody>
          <a:bodyPr wrap="square" lIns="0" rIns="0" tIns="0" bIns="0">
            <a:spAutoFit/>
          </a:bodyPr>
          <a:lstStyle/>
          <a:p>
            <a:pPr>
              <a:lnSpc>
                <a:spcPct val="112000"/>
              </a:lnSpc>
              <a:spcBef>
                <a:spcPts val="0"/>
              </a:spcBef>
              <a:spcAft>
                <a:spcPts val="300"/>
              </a:spcAft>
              <a:defRPr sz="1600" b="0">
                <a:solidFill>
                  <a:srgbClr val="69756E"/>
                </a:solidFill>
                <a:latin typeface="Noto Sans CJK KR"/>
              </a:defRPr>
            </a:pPr>
            <a:r>
              <a:t>필요 물량</a:t>
            </a:r>
          </a:p>
        </p:txBody>
      </p:sp>
      <p:sp>
        <p:nvSpPr>
          <p:cNvPr id="29" name="TextBox 28"/>
          <p:cNvSpPr txBox="1"/>
          <p:nvPr/>
        </p:nvSpPr>
        <p:spPr>
          <a:xfrm>
            <a:off x="9372600" y="3502152"/>
            <a:ext cx="4261104" cy="338328"/>
          </a:xfrm>
          <a:prstGeom prst="rect">
            <a:avLst/>
          </a:prstGeom>
          <a:noFill/>
        </p:spPr>
        <p:txBody>
          <a:bodyPr wrap="square" lIns="0" rIns="0" tIns="0" bIns="0">
            <a:spAutoFit/>
          </a:bodyPr>
          <a:lstStyle/>
          <a:p>
            <a:pPr>
              <a:lnSpc>
                <a:spcPct val="112000"/>
              </a:lnSpc>
              <a:spcBef>
                <a:spcPts val="0"/>
              </a:spcBef>
              <a:spcAft>
                <a:spcPts val="300"/>
              </a:spcAft>
              <a:defRPr sz="1800" b="1">
                <a:solidFill>
                  <a:srgbClr val="172825"/>
                </a:solidFill>
                <a:latin typeface="Noto Sans CJK KR"/>
              </a:defRPr>
            </a:pPr>
            <a:r>
              <a:t>160매 · 16:00까지</a:t>
            </a:r>
          </a:p>
        </p:txBody>
      </p:sp>
      <p:cxnSp>
        <p:nvCxnSpPr>
          <p:cNvPr id="30" name="Connector 29"/>
          <p:cNvCxnSpPr/>
          <p:nvPr/>
        </p:nvCxnSpPr>
        <p:spPr>
          <a:xfrm>
            <a:off x="7461504" y="3904488"/>
            <a:ext cx="6236208" cy="0"/>
          </a:xfrm>
          <a:prstGeom prst="line">
            <a:avLst/>
          </a:prstGeom>
          <a:ln w="12700">
            <a:solidFill>
              <a:srgbClr val="D9DED3"/>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7461504" y="4059936"/>
            <a:ext cx="1719072" cy="310896"/>
          </a:xfrm>
          <a:prstGeom prst="rect">
            <a:avLst/>
          </a:prstGeom>
          <a:noFill/>
        </p:spPr>
        <p:txBody>
          <a:bodyPr wrap="square" lIns="0" rIns="0" tIns="0" bIns="0">
            <a:spAutoFit/>
          </a:bodyPr>
          <a:lstStyle/>
          <a:p>
            <a:pPr>
              <a:lnSpc>
                <a:spcPct val="112000"/>
              </a:lnSpc>
              <a:spcBef>
                <a:spcPts val="0"/>
              </a:spcBef>
              <a:spcAft>
                <a:spcPts val="300"/>
              </a:spcAft>
              <a:defRPr sz="1600" b="0">
                <a:solidFill>
                  <a:srgbClr val="69756E"/>
                </a:solidFill>
                <a:latin typeface="Noto Sans CJK KR"/>
              </a:defRPr>
            </a:pPr>
            <a:r>
              <a:t>확보할 운행</a:t>
            </a:r>
          </a:p>
        </p:txBody>
      </p:sp>
      <p:sp>
        <p:nvSpPr>
          <p:cNvPr id="32" name="TextBox 31"/>
          <p:cNvSpPr txBox="1"/>
          <p:nvPr/>
        </p:nvSpPr>
        <p:spPr>
          <a:xfrm>
            <a:off x="9372600" y="4059936"/>
            <a:ext cx="4261104" cy="338328"/>
          </a:xfrm>
          <a:prstGeom prst="rect">
            <a:avLst/>
          </a:prstGeom>
          <a:noFill/>
        </p:spPr>
        <p:txBody>
          <a:bodyPr wrap="square" lIns="0" rIns="0" tIns="0" bIns="0">
            <a:spAutoFit/>
          </a:bodyPr>
          <a:lstStyle/>
          <a:p>
            <a:pPr>
              <a:lnSpc>
                <a:spcPct val="112000"/>
              </a:lnSpc>
              <a:spcBef>
                <a:spcPts val="0"/>
              </a:spcBef>
              <a:spcAft>
                <a:spcPts val="300"/>
              </a:spcAft>
              <a:defRPr sz="1800" b="1">
                <a:solidFill>
                  <a:srgbClr val="172825"/>
                </a:solidFill>
                <a:latin typeface="Noto Sans CJK KR"/>
              </a:defRPr>
            </a:pPr>
            <a:r>
              <a:t>A 100매 / B 60매</a:t>
            </a:r>
          </a:p>
        </p:txBody>
      </p:sp>
      <p:cxnSp>
        <p:nvCxnSpPr>
          <p:cNvPr id="33" name="Connector 32"/>
          <p:cNvCxnSpPr/>
          <p:nvPr/>
        </p:nvCxnSpPr>
        <p:spPr>
          <a:xfrm>
            <a:off x="7461504" y="4462272"/>
            <a:ext cx="6236208" cy="0"/>
          </a:xfrm>
          <a:prstGeom prst="line">
            <a:avLst/>
          </a:prstGeom>
          <a:ln w="12700">
            <a:solidFill>
              <a:srgbClr val="D9DED3"/>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7461504" y="4617720"/>
            <a:ext cx="1719072" cy="310896"/>
          </a:xfrm>
          <a:prstGeom prst="rect">
            <a:avLst/>
          </a:prstGeom>
          <a:noFill/>
        </p:spPr>
        <p:txBody>
          <a:bodyPr wrap="square" lIns="0" rIns="0" tIns="0" bIns="0">
            <a:spAutoFit/>
          </a:bodyPr>
          <a:lstStyle/>
          <a:p>
            <a:pPr>
              <a:lnSpc>
                <a:spcPct val="112000"/>
              </a:lnSpc>
              <a:spcBef>
                <a:spcPts val="0"/>
              </a:spcBef>
              <a:spcAft>
                <a:spcPts val="300"/>
              </a:spcAft>
              <a:defRPr sz="1600" b="0">
                <a:solidFill>
                  <a:srgbClr val="69756E"/>
                </a:solidFill>
                <a:latin typeface="Noto Sans CJK KR"/>
              </a:defRPr>
            </a:pPr>
            <a:r>
              <a:t>실제 도착 목표</a:t>
            </a:r>
          </a:p>
        </p:txBody>
      </p:sp>
      <p:sp>
        <p:nvSpPr>
          <p:cNvPr id="35" name="TextBox 34"/>
          <p:cNvSpPr txBox="1"/>
          <p:nvPr/>
        </p:nvSpPr>
        <p:spPr>
          <a:xfrm>
            <a:off x="9372600" y="4617720"/>
            <a:ext cx="4261104" cy="338328"/>
          </a:xfrm>
          <a:prstGeom prst="rect">
            <a:avLst/>
          </a:prstGeom>
          <a:noFill/>
        </p:spPr>
        <p:txBody>
          <a:bodyPr wrap="square" lIns="0" rIns="0" tIns="0" bIns="0">
            <a:spAutoFit/>
          </a:bodyPr>
          <a:lstStyle/>
          <a:p>
            <a:pPr>
              <a:lnSpc>
                <a:spcPct val="112000"/>
              </a:lnSpc>
              <a:spcBef>
                <a:spcPts val="0"/>
              </a:spcBef>
              <a:spcAft>
                <a:spcPts val="300"/>
              </a:spcAft>
              <a:defRPr sz="1800" b="1">
                <a:solidFill>
                  <a:srgbClr val="172825"/>
                </a:solidFill>
                <a:latin typeface="Noto Sans CJK KR"/>
              </a:defRPr>
            </a:pPr>
            <a:r>
              <a:t>12:30 / 13:30</a:t>
            </a:r>
          </a:p>
        </p:txBody>
      </p:sp>
      <p:cxnSp>
        <p:nvCxnSpPr>
          <p:cNvPr id="36" name="Connector 35"/>
          <p:cNvCxnSpPr/>
          <p:nvPr/>
        </p:nvCxnSpPr>
        <p:spPr>
          <a:xfrm>
            <a:off x="7461504" y="5020056"/>
            <a:ext cx="6236208" cy="0"/>
          </a:xfrm>
          <a:prstGeom prst="line">
            <a:avLst/>
          </a:prstGeom>
          <a:ln w="12700">
            <a:solidFill>
              <a:srgbClr val="D9DED3"/>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7461504" y="5175504"/>
            <a:ext cx="1719072" cy="310896"/>
          </a:xfrm>
          <a:prstGeom prst="rect">
            <a:avLst/>
          </a:prstGeom>
          <a:noFill/>
        </p:spPr>
        <p:txBody>
          <a:bodyPr wrap="square" lIns="0" rIns="0" tIns="0" bIns="0">
            <a:spAutoFit/>
          </a:bodyPr>
          <a:lstStyle/>
          <a:p>
            <a:pPr>
              <a:lnSpc>
                <a:spcPct val="112000"/>
              </a:lnSpc>
              <a:spcBef>
                <a:spcPts val="0"/>
              </a:spcBef>
              <a:spcAft>
                <a:spcPts val="300"/>
              </a:spcAft>
              <a:defRPr sz="1600" b="0">
                <a:solidFill>
                  <a:srgbClr val="69756E"/>
                </a:solidFill>
                <a:latin typeface="Noto Sans CJK KR"/>
              </a:defRPr>
            </a:pPr>
            <a:r>
              <a:t>대체회수 결정</a:t>
            </a:r>
          </a:p>
        </p:txBody>
      </p:sp>
      <p:sp>
        <p:nvSpPr>
          <p:cNvPr id="38" name="TextBox 37"/>
          <p:cNvSpPr txBox="1"/>
          <p:nvPr/>
        </p:nvSpPr>
        <p:spPr>
          <a:xfrm>
            <a:off x="9372600" y="5175504"/>
            <a:ext cx="4261104" cy="338328"/>
          </a:xfrm>
          <a:prstGeom prst="rect">
            <a:avLst/>
          </a:prstGeom>
          <a:noFill/>
        </p:spPr>
        <p:txBody>
          <a:bodyPr wrap="square" lIns="0" rIns="0" tIns="0" bIns="0">
            <a:spAutoFit/>
          </a:bodyPr>
          <a:lstStyle/>
          <a:p>
            <a:pPr>
              <a:lnSpc>
                <a:spcPct val="112000"/>
              </a:lnSpc>
              <a:spcBef>
                <a:spcPts val="0"/>
              </a:spcBef>
              <a:spcAft>
                <a:spcPts val="300"/>
              </a:spcAft>
              <a:defRPr sz="1800" b="1">
                <a:solidFill>
                  <a:srgbClr val="172825"/>
                </a:solidFill>
                <a:latin typeface="Noto Sans CJK KR"/>
              </a:defRPr>
            </a:pPr>
            <a:r>
              <a:t>14:00 · 실입고 확인</a:t>
            </a:r>
          </a:p>
        </p:txBody>
      </p:sp>
      <p:cxnSp>
        <p:nvCxnSpPr>
          <p:cNvPr id="39" name="Connector 38"/>
          <p:cNvCxnSpPr/>
          <p:nvPr/>
        </p:nvCxnSpPr>
        <p:spPr>
          <a:xfrm>
            <a:off x="7461504" y="5577840"/>
            <a:ext cx="6236208" cy="0"/>
          </a:xfrm>
          <a:prstGeom prst="line">
            <a:avLst/>
          </a:prstGeom>
          <a:ln w="12700">
            <a:solidFill>
              <a:srgbClr val="D9DED3"/>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7461504" y="5733288"/>
            <a:ext cx="1719072" cy="310896"/>
          </a:xfrm>
          <a:prstGeom prst="rect">
            <a:avLst/>
          </a:prstGeom>
          <a:noFill/>
        </p:spPr>
        <p:txBody>
          <a:bodyPr wrap="square" lIns="0" rIns="0" tIns="0" bIns="0">
            <a:spAutoFit/>
          </a:bodyPr>
          <a:lstStyle/>
          <a:p>
            <a:pPr>
              <a:lnSpc>
                <a:spcPct val="112000"/>
              </a:lnSpc>
              <a:spcBef>
                <a:spcPts val="0"/>
              </a:spcBef>
              <a:spcAft>
                <a:spcPts val="300"/>
              </a:spcAft>
              <a:defRPr sz="1600" b="0">
                <a:solidFill>
                  <a:srgbClr val="69756E"/>
                </a:solidFill>
                <a:latin typeface="Noto Sans CJK KR"/>
              </a:defRPr>
            </a:pPr>
            <a:r>
              <a:t>탄소 처리</a:t>
            </a:r>
          </a:p>
        </p:txBody>
      </p:sp>
      <p:sp>
        <p:nvSpPr>
          <p:cNvPr id="41" name="TextBox 40"/>
          <p:cNvSpPr txBox="1"/>
          <p:nvPr/>
        </p:nvSpPr>
        <p:spPr>
          <a:xfrm>
            <a:off x="9372600" y="5733288"/>
            <a:ext cx="4261104" cy="338328"/>
          </a:xfrm>
          <a:prstGeom prst="rect">
            <a:avLst/>
          </a:prstGeom>
          <a:noFill/>
        </p:spPr>
        <p:txBody>
          <a:bodyPr wrap="square" lIns="0" rIns="0" tIns="0" bIns="0">
            <a:spAutoFit/>
          </a:bodyPr>
          <a:lstStyle/>
          <a:p>
            <a:pPr>
              <a:lnSpc>
                <a:spcPct val="112000"/>
              </a:lnSpc>
              <a:spcBef>
                <a:spcPts val="0"/>
              </a:spcBef>
              <a:spcAft>
                <a:spcPts val="300"/>
              </a:spcAft>
              <a:defRPr sz="1800" b="1">
                <a:solidFill>
                  <a:srgbClr val="172825"/>
                </a:solidFill>
                <a:latin typeface="Noto Sans CJK KR"/>
              </a:defRPr>
            </a:pPr>
            <a:r>
              <a:t>확정 예약분을 예산에서 차감</a:t>
            </a:r>
          </a:p>
        </p:txBody>
      </p:sp>
      <p:sp>
        <p:nvSpPr>
          <p:cNvPr id="42" name="Rounded Rectangle 41"/>
          <p:cNvSpPr/>
          <p:nvPr/>
        </p:nvSpPr>
        <p:spPr>
          <a:xfrm>
            <a:off x="667512" y="7095744"/>
            <a:ext cx="13277088" cy="329184"/>
          </a:xfrm>
          <a:prstGeom prst="roundRect">
            <a:avLst>
              <a:gd name="adj" fmla="val 12000"/>
            </a:avLst>
          </a:prstGeom>
          <a:solidFill>
            <a:srgbClr val="E7E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58952" y="7146036"/>
            <a:ext cx="13094208" cy="228600"/>
          </a:xfrm>
          <a:prstGeom prst="rect">
            <a:avLst/>
          </a:prstGeom>
          <a:noFill/>
        </p:spPr>
        <p:txBody>
          <a:bodyPr wrap="square" lIns="0" rIns="0" tIns="0" bIns="0">
            <a:spAutoFit/>
          </a:bodyPr>
          <a:lstStyle/>
          <a:p>
            <a:pPr>
              <a:lnSpc>
                <a:spcPct val="112000"/>
              </a:lnSpc>
              <a:spcBef>
                <a:spcPts val="0"/>
              </a:spcBef>
              <a:spcAft>
                <a:spcPts val="300"/>
              </a:spcAft>
              <a:defRPr sz="1600" b="1">
                <a:solidFill>
                  <a:srgbClr val="16745C"/>
                </a:solidFill>
                <a:latin typeface="Noto Sans CJK KR"/>
              </a:defRPr>
            </a:pPr>
            <a:r>
              <a:t>첫 적용 범위  ·  동일 풀링사 / 호환 규격 / 적재 안전 확인 / 대체회수 가능 거점</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3EB"/>
        </a:solidFill>
        <a:effectLst/>
      </p:bgPr>
    </p:bg>
    <p:spTree>
      <p:nvGrpSpPr>
        <p:cNvPr id="1" name=""/>
        <p:cNvGrpSpPr/>
        <p:nvPr/>
      </p:nvGrpSpPr>
      <p:grpSpPr/>
      <p:sp>
        <p:nvSpPr>
          <p:cNvPr id="2" name="TextBox 1"/>
          <p:cNvSpPr txBox="1"/>
          <p:nvPr/>
        </p:nvSpPr>
        <p:spPr>
          <a:xfrm>
            <a:off x="594360" y="274320"/>
            <a:ext cx="10972800" cy="274320"/>
          </a:xfrm>
          <a:prstGeom prst="rect">
            <a:avLst/>
          </a:prstGeom>
          <a:noFill/>
        </p:spPr>
        <p:txBody>
          <a:bodyPr wrap="square" lIns="0" rIns="0" tIns="0" bIns="0">
            <a:spAutoFit/>
          </a:bodyPr>
          <a:lstStyle/>
          <a:p>
            <a:pPr>
              <a:lnSpc>
                <a:spcPct val="112000"/>
              </a:lnSpc>
              <a:spcBef>
                <a:spcPts val="0"/>
              </a:spcBef>
              <a:spcAft>
                <a:spcPts val="300"/>
              </a:spcAft>
              <a:defRPr sz="1200" b="1">
                <a:solidFill>
                  <a:srgbClr val="16745C"/>
                </a:solidFill>
                <a:latin typeface="Noto Sans CJK KR"/>
              </a:defRPr>
            </a:pPr>
            <a:r>
              <a:t>CBP  /  탄소예산 기반 파렛트 회수예약</a:t>
            </a:r>
          </a:p>
        </p:txBody>
      </p:sp>
      <p:sp>
        <p:nvSpPr>
          <p:cNvPr id="3" name="TextBox 2"/>
          <p:cNvSpPr txBox="1"/>
          <p:nvPr/>
        </p:nvSpPr>
        <p:spPr>
          <a:xfrm>
            <a:off x="13075920" y="274320"/>
            <a:ext cx="960120" cy="274320"/>
          </a:xfrm>
          <a:prstGeom prst="rect">
            <a:avLst/>
          </a:prstGeom>
          <a:noFill/>
        </p:spPr>
        <p:txBody>
          <a:bodyPr wrap="square" lIns="0" rIns="0" tIns="0" bIns="0">
            <a:spAutoFit/>
          </a:bodyPr>
          <a:lstStyle/>
          <a:p>
            <a:pPr algn="r">
              <a:lnSpc>
                <a:spcPct val="112000"/>
              </a:lnSpc>
              <a:spcBef>
                <a:spcPts val="0"/>
              </a:spcBef>
              <a:spcAft>
                <a:spcPts val="300"/>
              </a:spcAft>
              <a:defRPr sz="1200" b="1">
                <a:solidFill>
                  <a:srgbClr val="69756E"/>
                </a:solidFill>
                <a:latin typeface="Noto Sans CJK KR"/>
              </a:defRPr>
            </a:pPr>
            <a:r>
              <a:t>03 / 06</a:t>
            </a:r>
          </a:p>
        </p:txBody>
      </p:sp>
      <p:sp>
        <p:nvSpPr>
          <p:cNvPr id="4" name="TextBox 3"/>
          <p:cNvSpPr txBox="1"/>
          <p:nvPr/>
        </p:nvSpPr>
        <p:spPr>
          <a:xfrm>
            <a:off x="594360" y="804672"/>
            <a:ext cx="13395960" cy="1088136"/>
          </a:xfrm>
          <a:prstGeom prst="rect">
            <a:avLst/>
          </a:prstGeom>
          <a:noFill/>
        </p:spPr>
        <p:txBody>
          <a:bodyPr wrap="square" lIns="0" rIns="0" tIns="0" bIns="0">
            <a:spAutoFit/>
          </a:bodyPr>
          <a:lstStyle/>
          <a:p>
            <a:pPr>
              <a:lnSpc>
                <a:spcPct val="112000"/>
              </a:lnSpc>
              <a:spcBef>
                <a:spcPts val="0"/>
              </a:spcBef>
              <a:spcAft>
                <a:spcPts val="300"/>
              </a:spcAft>
              <a:defRPr sz="3400" b="1">
                <a:solidFill>
                  <a:srgbClr val="172825"/>
                </a:solidFill>
                <a:latin typeface="Noto Sans CJK KR"/>
              </a:defRPr>
            </a:pPr>
            <a:r>
              <a:t>11시에 예약하면,</a:t>
            </a:r>
          </a:p>
          <a:p>
            <a:pPr>
              <a:lnSpc>
                <a:spcPct val="112000"/>
              </a:lnSpc>
              <a:spcBef>
                <a:spcPts val="0"/>
              </a:spcBef>
              <a:spcAft>
                <a:spcPts val="300"/>
              </a:spcAft>
              <a:defRPr sz="3400" b="1">
                <a:solidFill>
                  <a:srgbClr val="172825"/>
                </a:solidFill>
                <a:latin typeface="Noto Sans CJK KR"/>
              </a:defRPr>
            </a:pPr>
            <a:r>
              <a:t>16시 출고를 이렇게 준비합니다.</a:t>
            </a:r>
          </a:p>
        </p:txBody>
      </p:sp>
      <p:sp>
        <p:nvSpPr>
          <p:cNvPr id="5" name="TextBox 4"/>
          <p:cNvSpPr txBox="1"/>
          <p:nvPr/>
        </p:nvSpPr>
        <p:spPr>
          <a:xfrm>
            <a:off x="621792" y="1938528"/>
            <a:ext cx="13304520" cy="438912"/>
          </a:xfrm>
          <a:prstGeom prst="rect">
            <a:avLst/>
          </a:prstGeom>
          <a:noFill/>
        </p:spPr>
        <p:txBody>
          <a:bodyPr wrap="square" lIns="0" rIns="0" tIns="0" bIns="0">
            <a:spAutoFit/>
          </a:bodyPr>
          <a:lstStyle/>
          <a:p>
            <a:pPr>
              <a:lnSpc>
                <a:spcPct val="112000"/>
              </a:lnSpc>
              <a:spcBef>
                <a:spcPts val="0"/>
              </a:spcBef>
              <a:spcAft>
                <a:spcPts val="300"/>
              </a:spcAft>
              <a:defRPr sz="1700" b="0">
                <a:solidFill>
                  <a:srgbClr val="69756E"/>
                </a:solidFill>
                <a:latin typeface="Noto Sans CJK KR"/>
              </a:defRPr>
            </a:pPr>
            <a:r>
              <a:t>복귀편은 대체회수 결정 시각인 14시보다 먼저 도착하도록 예약합니다. (설명용 가상 사례)</a:t>
            </a:r>
          </a:p>
        </p:txBody>
      </p:sp>
      <p:cxnSp>
        <p:nvCxnSpPr>
          <p:cNvPr id="6" name="Connector 5"/>
          <p:cNvCxnSpPr/>
          <p:nvPr/>
        </p:nvCxnSpPr>
        <p:spPr>
          <a:xfrm>
            <a:off x="594360" y="7754112"/>
            <a:ext cx="13441680" cy="0"/>
          </a:xfrm>
          <a:prstGeom prst="line">
            <a:avLst/>
          </a:prstGeom>
          <a:ln w="12700">
            <a:solidFill>
              <a:srgbClr val="D9DED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3504" y="7891272"/>
            <a:ext cx="12618720" cy="182880"/>
          </a:xfrm>
          <a:prstGeom prst="rect">
            <a:avLst/>
          </a:prstGeom>
          <a:noFill/>
        </p:spPr>
        <p:txBody>
          <a:bodyPr wrap="square" lIns="0" rIns="0" tIns="0" bIns="0">
            <a:spAutoFit/>
          </a:bodyPr>
          <a:lstStyle/>
          <a:p>
            <a:pPr>
              <a:lnSpc>
                <a:spcPct val="112000"/>
              </a:lnSpc>
              <a:spcBef>
                <a:spcPts val="0"/>
              </a:spcBef>
              <a:spcAft>
                <a:spcPts val="300"/>
              </a:spcAft>
              <a:defRPr sz="1000" b="0">
                <a:solidFill>
                  <a:srgbClr val="69756E"/>
                </a:solidFill>
                <a:latin typeface="Noto Sans CJK KR"/>
              </a:defRPr>
            </a:pPr>
            <a:r>
              <a:t>두런두런  ·  제13회 유닛로드시스템(ULS) 창의성 공모전  ·  회수 시나리오</a:t>
            </a:r>
          </a:p>
        </p:txBody>
      </p:sp>
      <p:cxnSp>
        <p:nvCxnSpPr>
          <p:cNvPr id="8" name="Connector 7"/>
          <p:cNvCxnSpPr/>
          <p:nvPr/>
        </p:nvCxnSpPr>
        <p:spPr>
          <a:xfrm>
            <a:off x="1325880" y="3767328"/>
            <a:ext cx="11640312" cy="0"/>
          </a:xfrm>
          <a:prstGeom prst="line">
            <a:avLst/>
          </a:prstGeom>
          <a:ln w="88900">
            <a:solidFill>
              <a:srgbClr val="D9DED3"/>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22959" y="2670048"/>
            <a:ext cx="2423160" cy="594360"/>
          </a:xfrm>
          <a:prstGeom prst="rect">
            <a:avLst/>
          </a:prstGeom>
          <a:noFill/>
        </p:spPr>
        <p:txBody>
          <a:bodyPr wrap="square" lIns="0" rIns="0" tIns="0" bIns="0">
            <a:spAutoFit/>
          </a:bodyPr>
          <a:lstStyle/>
          <a:p>
            <a:pPr algn="ctr">
              <a:lnSpc>
                <a:spcPct val="112000"/>
              </a:lnSpc>
              <a:spcBef>
                <a:spcPts val="0"/>
              </a:spcBef>
              <a:spcAft>
                <a:spcPts val="300"/>
              </a:spcAft>
              <a:defRPr sz="3500" b="1">
                <a:solidFill>
                  <a:srgbClr val="172825"/>
                </a:solidFill>
                <a:latin typeface="Noto Sans CJK KR"/>
              </a:defRPr>
            </a:pPr>
            <a:r>
              <a:t>11:00</a:t>
            </a:r>
          </a:p>
        </p:txBody>
      </p:sp>
      <p:sp>
        <p:nvSpPr>
          <p:cNvPr id="10" name="Oval 9"/>
          <p:cNvSpPr/>
          <p:nvPr/>
        </p:nvSpPr>
        <p:spPr>
          <a:xfrm>
            <a:off x="1709928" y="3621024"/>
            <a:ext cx="292608" cy="292608"/>
          </a:xfrm>
          <a:prstGeom prst="ellipse">
            <a:avLst/>
          </a:prstGeom>
          <a:solidFill>
            <a:srgbClr val="172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3815" y="4151376"/>
            <a:ext cx="2496312" cy="338328"/>
          </a:xfrm>
          <a:prstGeom prst="rect">
            <a:avLst/>
          </a:prstGeom>
          <a:noFill/>
        </p:spPr>
        <p:txBody>
          <a:bodyPr wrap="square" lIns="0" rIns="0" tIns="0" bIns="0">
            <a:spAutoFit/>
          </a:bodyPr>
          <a:lstStyle/>
          <a:p>
            <a:pPr algn="ctr">
              <a:lnSpc>
                <a:spcPct val="112000"/>
              </a:lnSpc>
              <a:spcBef>
                <a:spcPts val="0"/>
              </a:spcBef>
              <a:spcAft>
                <a:spcPts val="300"/>
              </a:spcAft>
              <a:defRPr sz="2000" b="1">
                <a:solidFill>
                  <a:srgbClr val="172825"/>
                </a:solidFill>
                <a:latin typeface="Noto Sans CJK KR"/>
              </a:defRPr>
            </a:pPr>
            <a:r>
              <a:t>필요량 확인</a:t>
            </a:r>
          </a:p>
        </p:txBody>
      </p:sp>
      <p:sp>
        <p:nvSpPr>
          <p:cNvPr id="12" name="TextBox 11"/>
          <p:cNvSpPr txBox="1"/>
          <p:nvPr/>
        </p:nvSpPr>
        <p:spPr>
          <a:xfrm>
            <a:off x="813815" y="4608576"/>
            <a:ext cx="2496312" cy="393192"/>
          </a:xfrm>
          <a:prstGeom prst="rect">
            <a:avLst/>
          </a:prstGeom>
          <a:noFill/>
        </p:spPr>
        <p:txBody>
          <a:bodyPr wrap="square" lIns="0" rIns="0" tIns="0" bIns="0">
            <a:spAutoFit/>
          </a:bodyPr>
          <a:lstStyle/>
          <a:p>
            <a:pPr algn="ctr">
              <a:lnSpc>
                <a:spcPct val="112000"/>
              </a:lnSpc>
              <a:spcBef>
                <a:spcPts val="0"/>
              </a:spcBef>
              <a:spcAft>
                <a:spcPts val="300"/>
              </a:spcAft>
              <a:defRPr sz="2200" b="1">
                <a:solidFill>
                  <a:srgbClr val="172825"/>
                </a:solidFill>
                <a:latin typeface="Noto Sans CJK KR"/>
              </a:defRPr>
            </a:pPr>
            <a:r>
              <a:t>160매 예약</a:t>
            </a:r>
          </a:p>
        </p:txBody>
      </p:sp>
      <p:sp>
        <p:nvSpPr>
          <p:cNvPr id="13" name="Rectangle 12"/>
          <p:cNvSpPr/>
          <p:nvPr/>
        </p:nvSpPr>
        <p:spPr>
          <a:xfrm>
            <a:off x="1389888" y="5843016"/>
            <a:ext cx="822959" cy="61722"/>
          </a:xfrm>
          <a:prstGeom prst="rect">
            <a:avLst/>
          </a:prstGeom>
          <a:solidFill>
            <a:srgbClr val="B587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424178" y="5904738"/>
            <a:ext cx="89154" cy="48006"/>
          </a:xfrm>
          <a:prstGeom prst="rect">
            <a:avLst/>
          </a:prstGeom>
          <a:solidFill>
            <a:srgbClr val="8E6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739646" y="5904738"/>
            <a:ext cx="89154" cy="48006"/>
          </a:xfrm>
          <a:prstGeom prst="rect">
            <a:avLst/>
          </a:prstGeom>
          <a:solidFill>
            <a:srgbClr val="8E6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075688" y="5904738"/>
            <a:ext cx="89154" cy="48006"/>
          </a:xfrm>
          <a:prstGeom prst="rect">
            <a:avLst/>
          </a:prstGeom>
          <a:solidFill>
            <a:srgbClr val="8E6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389888" y="5733288"/>
            <a:ext cx="822959" cy="61722"/>
          </a:xfrm>
          <a:prstGeom prst="rect">
            <a:avLst/>
          </a:prstGeom>
          <a:solidFill>
            <a:srgbClr val="B587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424178" y="5795009"/>
            <a:ext cx="89154" cy="48006"/>
          </a:xfrm>
          <a:prstGeom prst="rect">
            <a:avLst/>
          </a:prstGeom>
          <a:solidFill>
            <a:srgbClr val="8E6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739646" y="5795009"/>
            <a:ext cx="89154" cy="48006"/>
          </a:xfrm>
          <a:prstGeom prst="rect">
            <a:avLst/>
          </a:prstGeom>
          <a:solidFill>
            <a:srgbClr val="8E6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075688" y="5795009"/>
            <a:ext cx="89154" cy="48006"/>
          </a:xfrm>
          <a:prstGeom prst="rect">
            <a:avLst/>
          </a:prstGeom>
          <a:solidFill>
            <a:srgbClr val="8E6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389888" y="5623559"/>
            <a:ext cx="822959" cy="61722"/>
          </a:xfrm>
          <a:prstGeom prst="rect">
            <a:avLst/>
          </a:prstGeom>
          <a:solidFill>
            <a:srgbClr val="B587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424178" y="5685281"/>
            <a:ext cx="89154" cy="48006"/>
          </a:xfrm>
          <a:prstGeom prst="rect">
            <a:avLst/>
          </a:prstGeom>
          <a:solidFill>
            <a:srgbClr val="8E6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739646" y="5685281"/>
            <a:ext cx="89154" cy="48006"/>
          </a:xfrm>
          <a:prstGeom prst="rect">
            <a:avLst/>
          </a:prstGeom>
          <a:solidFill>
            <a:srgbClr val="8E6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075688" y="5685281"/>
            <a:ext cx="89154" cy="48006"/>
          </a:xfrm>
          <a:prstGeom prst="rect">
            <a:avLst/>
          </a:prstGeom>
          <a:solidFill>
            <a:srgbClr val="8E6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98848" y="2670048"/>
            <a:ext cx="2423160" cy="594360"/>
          </a:xfrm>
          <a:prstGeom prst="rect">
            <a:avLst/>
          </a:prstGeom>
          <a:noFill/>
        </p:spPr>
        <p:txBody>
          <a:bodyPr wrap="square" lIns="0" rIns="0" tIns="0" bIns="0">
            <a:spAutoFit/>
          </a:bodyPr>
          <a:lstStyle/>
          <a:p>
            <a:pPr algn="ctr">
              <a:lnSpc>
                <a:spcPct val="112000"/>
              </a:lnSpc>
              <a:spcBef>
                <a:spcPts val="0"/>
              </a:spcBef>
              <a:spcAft>
                <a:spcPts val="300"/>
              </a:spcAft>
              <a:defRPr sz="3500" b="1">
                <a:solidFill>
                  <a:srgbClr val="16745C"/>
                </a:solidFill>
                <a:latin typeface="Noto Sans CJK KR"/>
              </a:defRPr>
            </a:pPr>
            <a:r>
              <a:t>12:30</a:t>
            </a:r>
          </a:p>
        </p:txBody>
      </p:sp>
      <p:sp>
        <p:nvSpPr>
          <p:cNvPr id="26" name="Oval 25"/>
          <p:cNvSpPr/>
          <p:nvPr/>
        </p:nvSpPr>
        <p:spPr>
          <a:xfrm>
            <a:off x="5385816" y="3621024"/>
            <a:ext cx="292608" cy="292608"/>
          </a:xfrm>
          <a:prstGeom prst="ellipse">
            <a:avLst/>
          </a:prstGeom>
          <a:solidFill>
            <a:srgbClr val="1674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89704" y="4151376"/>
            <a:ext cx="2496312" cy="338328"/>
          </a:xfrm>
          <a:prstGeom prst="rect">
            <a:avLst/>
          </a:prstGeom>
          <a:noFill/>
        </p:spPr>
        <p:txBody>
          <a:bodyPr wrap="square" lIns="0" rIns="0" tIns="0" bIns="0">
            <a:spAutoFit/>
          </a:bodyPr>
          <a:lstStyle/>
          <a:p>
            <a:pPr algn="ctr">
              <a:lnSpc>
                <a:spcPct val="112000"/>
              </a:lnSpc>
              <a:spcBef>
                <a:spcPts val="0"/>
              </a:spcBef>
              <a:spcAft>
                <a:spcPts val="300"/>
              </a:spcAft>
              <a:defRPr sz="2000" b="1">
                <a:solidFill>
                  <a:srgbClr val="172825"/>
                </a:solidFill>
                <a:latin typeface="Noto Sans CJK KR"/>
              </a:defRPr>
            </a:pPr>
            <a:r>
              <a:t>복귀편 A 도착</a:t>
            </a:r>
          </a:p>
        </p:txBody>
      </p:sp>
      <p:sp>
        <p:nvSpPr>
          <p:cNvPr id="28" name="TextBox 27"/>
          <p:cNvSpPr txBox="1"/>
          <p:nvPr/>
        </p:nvSpPr>
        <p:spPr>
          <a:xfrm>
            <a:off x="4489704" y="4608576"/>
            <a:ext cx="2496312" cy="393192"/>
          </a:xfrm>
          <a:prstGeom prst="rect">
            <a:avLst/>
          </a:prstGeom>
          <a:noFill/>
        </p:spPr>
        <p:txBody>
          <a:bodyPr wrap="square" lIns="0" rIns="0" tIns="0" bIns="0">
            <a:spAutoFit/>
          </a:bodyPr>
          <a:lstStyle/>
          <a:p>
            <a:pPr algn="ctr">
              <a:lnSpc>
                <a:spcPct val="112000"/>
              </a:lnSpc>
              <a:spcBef>
                <a:spcPts val="0"/>
              </a:spcBef>
              <a:spcAft>
                <a:spcPts val="300"/>
              </a:spcAft>
              <a:defRPr sz="2200" b="1">
                <a:solidFill>
                  <a:srgbClr val="16745C"/>
                </a:solidFill>
                <a:latin typeface="Noto Sans CJK KR"/>
              </a:defRPr>
            </a:pPr>
            <a:r>
              <a:t>100매 확보</a:t>
            </a:r>
          </a:p>
        </p:txBody>
      </p:sp>
      <p:sp>
        <p:nvSpPr>
          <p:cNvPr id="29" name="Rounded Rectangle 28"/>
          <p:cNvSpPr/>
          <p:nvPr/>
        </p:nvSpPr>
        <p:spPr>
          <a:xfrm>
            <a:off x="4864608" y="5330952"/>
            <a:ext cx="857250" cy="418338"/>
          </a:xfrm>
          <a:prstGeom prst="roundRect">
            <a:avLst>
              <a:gd name="adj" fmla="val 6000"/>
            </a:avLst>
          </a:prstGeom>
          <a:solidFill>
            <a:srgbClr val="167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728716" y="5468112"/>
            <a:ext cx="315468" cy="281178"/>
          </a:xfrm>
          <a:prstGeom prst="roundRect">
            <a:avLst>
              <a:gd name="adj" fmla="val 6000"/>
            </a:avLst>
          </a:prstGeom>
          <a:solidFill>
            <a:srgbClr val="167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776722" y="5495544"/>
            <a:ext cx="144018" cy="96012"/>
          </a:xfrm>
          <a:prstGeom prst="rect">
            <a:avLst/>
          </a:prstGeom>
          <a:solidFill>
            <a:srgbClr val="D7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5036058" y="5680710"/>
            <a:ext cx="171450" cy="171450"/>
          </a:xfrm>
          <a:prstGeom prst="ellipse">
            <a:avLst/>
          </a:prstGeom>
          <a:solidFill>
            <a:srgbClr val="172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756148" y="5680710"/>
            <a:ext cx="171450" cy="171450"/>
          </a:xfrm>
          <a:prstGeom prst="ellipse">
            <a:avLst/>
          </a:prstGeom>
          <a:solidFill>
            <a:srgbClr val="172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4946904" y="5426964"/>
            <a:ext cx="171450" cy="192024"/>
          </a:xfrm>
          <a:prstGeom prst="roundRect">
            <a:avLst>
              <a:gd name="adj" fmla="val 3000"/>
            </a:avLst>
          </a:prstGeom>
          <a:solidFill>
            <a:srgbClr val="C4D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5173218" y="5426964"/>
            <a:ext cx="171450" cy="192024"/>
          </a:xfrm>
          <a:prstGeom prst="roundRect">
            <a:avLst>
              <a:gd name="adj" fmla="val 3000"/>
            </a:avLst>
          </a:prstGeom>
          <a:solidFill>
            <a:srgbClr val="C4D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5399532" y="5426964"/>
            <a:ext cx="171450" cy="192024"/>
          </a:xfrm>
          <a:prstGeom prst="roundRect">
            <a:avLst>
              <a:gd name="adj" fmla="val 3000"/>
            </a:avLst>
          </a:prstGeom>
          <a:solidFill>
            <a:srgbClr val="C4D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165592" y="2670048"/>
            <a:ext cx="2423160" cy="594360"/>
          </a:xfrm>
          <a:prstGeom prst="rect">
            <a:avLst/>
          </a:prstGeom>
          <a:noFill/>
        </p:spPr>
        <p:txBody>
          <a:bodyPr wrap="square" lIns="0" rIns="0" tIns="0" bIns="0">
            <a:spAutoFit/>
          </a:bodyPr>
          <a:lstStyle/>
          <a:p>
            <a:pPr algn="ctr">
              <a:lnSpc>
                <a:spcPct val="112000"/>
              </a:lnSpc>
              <a:spcBef>
                <a:spcPts val="0"/>
              </a:spcBef>
              <a:spcAft>
                <a:spcPts val="300"/>
              </a:spcAft>
              <a:defRPr sz="3500" b="1">
                <a:solidFill>
                  <a:srgbClr val="16745C"/>
                </a:solidFill>
                <a:latin typeface="Noto Sans CJK KR"/>
              </a:defRPr>
            </a:pPr>
            <a:r>
              <a:t>13:30</a:t>
            </a:r>
          </a:p>
        </p:txBody>
      </p:sp>
      <p:sp>
        <p:nvSpPr>
          <p:cNvPr id="38" name="Oval 37"/>
          <p:cNvSpPr/>
          <p:nvPr/>
        </p:nvSpPr>
        <p:spPr>
          <a:xfrm>
            <a:off x="9052560" y="3621024"/>
            <a:ext cx="292608" cy="292608"/>
          </a:xfrm>
          <a:prstGeom prst="ellipse">
            <a:avLst/>
          </a:prstGeom>
          <a:solidFill>
            <a:srgbClr val="1674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156448" y="4151376"/>
            <a:ext cx="2496312" cy="338328"/>
          </a:xfrm>
          <a:prstGeom prst="rect">
            <a:avLst/>
          </a:prstGeom>
          <a:noFill/>
        </p:spPr>
        <p:txBody>
          <a:bodyPr wrap="square" lIns="0" rIns="0" tIns="0" bIns="0">
            <a:spAutoFit/>
          </a:bodyPr>
          <a:lstStyle/>
          <a:p>
            <a:pPr algn="ctr">
              <a:lnSpc>
                <a:spcPct val="112000"/>
              </a:lnSpc>
              <a:spcBef>
                <a:spcPts val="0"/>
              </a:spcBef>
              <a:spcAft>
                <a:spcPts val="300"/>
              </a:spcAft>
              <a:defRPr sz="2000" b="1">
                <a:solidFill>
                  <a:srgbClr val="172825"/>
                </a:solidFill>
                <a:latin typeface="Noto Sans CJK KR"/>
              </a:defRPr>
            </a:pPr>
            <a:r>
              <a:t>복귀편 B 도착</a:t>
            </a:r>
          </a:p>
        </p:txBody>
      </p:sp>
      <p:sp>
        <p:nvSpPr>
          <p:cNvPr id="40" name="TextBox 39"/>
          <p:cNvSpPr txBox="1"/>
          <p:nvPr/>
        </p:nvSpPr>
        <p:spPr>
          <a:xfrm>
            <a:off x="8156448" y="4608576"/>
            <a:ext cx="2496312" cy="393192"/>
          </a:xfrm>
          <a:prstGeom prst="rect">
            <a:avLst/>
          </a:prstGeom>
          <a:noFill/>
        </p:spPr>
        <p:txBody>
          <a:bodyPr wrap="square" lIns="0" rIns="0" tIns="0" bIns="0">
            <a:spAutoFit/>
          </a:bodyPr>
          <a:lstStyle/>
          <a:p>
            <a:pPr algn="ctr">
              <a:lnSpc>
                <a:spcPct val="112000"/>
              </a:lnSpc>
              <a:spcBef>
                <a:spcPts val="0"/>
              </a:spcBef>
              <a:spcAft>
                <a:spcPts val="300"/>
              </a:spcAft>
              <a:defRPr sz="2200" b="1">
                <a:solidFill>
                  <a:srgbClr val="16745C"/>
                </a:solidFill>
                <a:latin typeface="Noto Sans CJK KR"/>
              </a:defRPr>
            </a:pPr>
            <a:r>
              <a:t>160매 확보</a:t>
            </a:r>
          </a:p>
        </p:txBody>
      </p:sp>
      <p:sp>
        <p:nvSpPr>
          <p:cNvPr id="41" name="Rounded Rectangle 40"/>
          <p:cNvSpPr/>
          <p:nvPr/>
        </p:nvSpPr>
        <p:spPr>
          <a:xfrm>
            <a:off x="8531352" y="5330952"/>
            <a:ext cx="857250" cy="418338"/>
          </a:xfrm>
          <a:prstGeom prst="roundRect">
            <a:avLst>
              <a:gd name="adj" fmla="val 6000"/>
            </a:avLst>
          </a:prstGeom>
          <a:solidFill>
            <a:srgbClr val="167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9395460" y="5468112"/>
            <a:ext cx="315468" cy="281178"/>
          </a:xfrm>
          <a:prstGeom prst="roundRect">
            <a:avLst>
              <a:gd name="adj" fmla="val 6000"/>
            </a:avLst>
          </a:prstGeom>
          <a:solidFill>
            <a:srgbClr val="167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443466" y="5495544"/>
            <a:ext cx="144018" cy="96012"/>
          </a:xfrm>
          <a:prstGeom prst="rect">
            <a:avLst/>
          </a:prstGeom>
          <a:solidFill>
            <a:srgbClr val="D7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702802" y="5680710"/>
            <a:ext cx="171450" cy="171450"/>
          </a:xfrm>
          <a:prstGeom prst="ellipse">
            <a:avLst/>
          </a:prstGeom>
          <a:solidFill>
            <a:srgbClr val="172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9422892" y="5680710"/>
            <a:ext cx="171450" cy="171450"/>
          </a:xfrm>
          <a:prstGeom prst="ellipse">
            <a:avLst/>
          </a:prstGeom>
          <a:solidFill>
            <a:srgbClr val="172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8613648" y="5426964"/>
            <a:ext cx="171450" cy="192024"/>
          </a:xfrm>
          <a:prstGeom prst="roundRect">
            <a:avLst>
              <a:gd name="adj" fmla="val 3000"/>
            </a:avLst>
          </a:prstGeom>
          <a:solidFill>
            <a:srgbClr val="C4D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8839962" y="5426964"/>
            <a:ext cx="171450" cy="192024"/>
          </a:xfrm>
          <a:prstGeom prst="roundRect">
            <a:avLst>
              <a:gd name="adj" fmla="val 3000"/>
            </a:avLst>
          </a:prstGeom>
          <a:solidFill>
            <a:srgbClr val="C4D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9066276" y="5426964"/>
            <a:ext cx="171450" cy="192024"/>
          </a:xfrm>
          <a:prstGeom prst="roundRect">
            <a:avLst>
              <a:gd name="adj" fmla="val 3000"/>
            </a:avLst>
          </a:prstGeom>
          <a:solidFill>
            <a:srgbClr val="C4D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1850624" y="2670048"/>
            <a:ext cx="2423160" cy="594360"/>
          </a:xfrm>
          <a:prstGeom prst="rect">
            <a:avLst/>
          </a:prstGeom>
          <a:noFill/>
        </p:spPr>
        <p:txBody>
          <a:bodyPr wrap="square" lIns="0" rIns="0" tIns="0" bIns="0">
            <a:spAutoFit/>
          </a:bodyPr>
          <a:lstStyle/>
          <a:p>
            <a:pPr algn="ctr">
              <a:lnSpc>
                <a:spcPct val="112000"/>
              </a:lnSpc>
              <a:spcBef>
                <a:spcPts val="0"/>
              </a:spcBef>
              <a:spcAft>
                <a:spcPts val="300"/>
              </a:spcAft>
              <a:defRPr sz="3500" b="1">
                <a:solidFill>
                  <a:srgbClr val="172825"/>
                </a:solidFill>
                <a:latin typeface="Noto Sans CJK KR"/>
              </a:defRPr>
            </a:pPr>
            <a:r>
              <a:t>16:00</a:t>
            </a:r>
          </a:p>
        </p:txBody>
      </p:sp>
      <p:sp>
        <p:nvSpPr>
          <p:cNvPr id="50" name="Oval 49"/>
          <p:cNvSpPr/>
          <p:nvPr/>
        </p:nvSpPr>
        <p:spPr>
          <a:xfrm>
            <a:off x="12737592" y="3621024"/>
            <a:ext cx="292608" cy="292608"/>
          </a:xfrm>
          <a:prstGeom prst="ellipse">
            <a:avLst/>
          </a:prstGeom>
          <a:solidFill>
            <a:srgbClr val="172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1841480" y="4151376"/>
            <a:ext cx="2496312" cy="338328"/>
          </a:xfrm>
          <a:prstGeom prst="rect">
            <a:avLst/>
          </a:prstGeom>
          <a:noFill/>
        </p:spPr>
        <p:txBody>
          <a:bodyPr wrap="square" lIns="0" rIns="0" tIns="0" bIns="0">
            <a:spAutoFit/>
          </a:bodyPr>
          <a:lstStyle/>
          <a:p>
            <a:pPr algn="ctr">
              <a:lnSpc>
                <a:spcPct val="112000"/>
              </a:lnSpc>
              <a:spcBef>
                <a:spcPts val="0"/>
              </a:spcBef>
              <a:spcAft>
                <a:spcPts val="300"/>
              </a:spcAft>
              <a:defRPr sz="2000" b="1">
                <a:solidFill>
                  <a:srgbClr val="172825"/>
                </a:solidFill>
                <a:latin typeface="Noto Sans CJK KR"/>
              </a:defRPr>
            </a:pPr>
            <a:r>
              <a:t>다음 출고</a:t>
            </a:r>
          </a:p>
        </p:txBody>
      </p:sp>
      <p:sp>
        <p:nvSpPr>
          <p:cNvPr id="52" name="TextBox 51"/>
          <p:cNvSpPr txBox="1"/>
          <p:nvPr/>
        </p:nvSpPr>
        <p:spPr>
          <a:xfrm>
            <a:off x="11841480" y="4608576"/>
            <a:ext cx="2496312" cy="393192"/>
          </a:xfrm>
          <a:prstGeom prst="rect">
            <a:avLst/>
          </a:prstGeom>
          <a:noFill/>
        </p:spPr>
        <p:txBody>
          <a:bodyPr wrap="square" lIns="0" rIns="0" tIns="0" bIns="0">
            <a:spAutoFit/>
          </a:bodyPr>
          <a:lstStyle/>
          <a:p>
            <a:pPr algn="ctr">
              <a:lnSpc>
                <a:spcPct val="112000"/>
              </a:lnSpc>
              <a:spcBef>
                <a:spcPts val="0"/>
              </a:spcBef>
              <a:spcAft>
                <a:spcPts val="300"/>
              </a:spcAft>
              <a:defRPr sz="2200" b="1">
                <a:solidFill>
                  <a:srgbClr val="172825"/>
                </a:solidFill>
                <a:latin typeface="Noto Sans CJK KR"/>
              </a:defRPr>
            </a:pPr>
            <a:r>
              <a:t>필요량 충족</a:t>
            </a:r>
          </a:p>
        </p:txBody>
      </p:sp>
      <p:sp>
        <p:nvSpPr>
          <p:cNvPr id="53" name="Rounded Rectangle 52"/>
          <p:cNvSpPr/>
          <p:nvPr/>
        </p:nvSpPr>
        <p:spPr>
          <a:xfrm>
            <a:off x="12243816" y="5469757"/>
            <a:ext cx="995781" cy="615574"/>
          </a:xfrm>
          <a:prstGeom prst="roundRect">
            <a:avLst>
              <a:gd name="adj" fmla="val 3000"/>
            </a:avLst>
          </a:prstGeom>
          <a:solidFill>
            <a:srgbClr val="172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Isosceles Triangle 53"/>
          <p:cNvSpPr/>
          <p:nvPr/>
        </p:nvSpPr>
        <p:spPr>
          <a:xfrm>
            <a:off x="12195535" y="5180076"/>
            <a:ext cx="1092342" cy="392277"/>
          </a:xfrm>
          <a:prstGeom prst="triangle">
            <a:avLst/>
          </a:prstGeom>
          <a:solidFill>
            <a:srgbClr val="172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12473147" y="5729264"/>
            <a:ext cx="512978" cy="356067"/>
          </a:xfrm>
          <a:prstGeom prst="rect">
            <a:avLst/>
          </a:prstGeom>
          <a:solidFill>
            <a:srgbClr val="C4D9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6" name="Connector 55"/>
          <p:cNvCxnSpPr/>
          <p:nvPr/>
        </p:nvCxnSpPr>
        <p:spPr>
          <a:xfrm>
            <a:off x="12485217" y="5795650"/>
            <a:ext cx="488838" cy="0"/>
          </a:xfrm>
          <a:prstGeom prst="line">
            <a:avLst/>
          </a:prstGeom>
          <a:ln w="12700">
            <a:solidFill>
              <a:srgbClr val="172825"/>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12485217" y="5874105"/>
            <a:ext cx="488838" cy="0"/>
          </a:xfrm>
          <a:prstGeom prst="line">
            <a:avLst/>
          </a:prstGeom>
          <a:ln w="12700">
            <a:solidFill>
              <a:srgbClr val="172825"/>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12485217" y="5952561"/>
            <a:ext cx="488838" cy="0"/>
          </a:xfrm>
          <a:prstGeom prst="line">
            <a:avLst/>
          </a:prstGeom>
          <a:ln w="12700">
            <a:solidFill>
              <a:srgbClr val="172825"/>
            </a:solidFill>
          </a:ln>
        </p:spPr>
        <p:style>
          <a:lnRef idx="2">
            <a:schemeClr val="accent1"/>
          </a:lnRef>
          <a:fillRef idx="0">
            <a:schemeClr val="accent1"/>
          </a:fillRef>
          <a:effectRef idx="1">
            <a:schemeClr val="accent1"/>
          </a:effectRef>
          <a:fontRef idx="minor">
            <a:schemeClr val="tx1"/>
          </a:fontRef>
        </p:style>
      </p:cxnSp>
      <p:sp>
        <p:nvSpPr>
          <p:cNvPr id="59" name="Rounded Rectangle 58"/>
          <p:cNvSpPr/>
          <p:nvPr/>
        </p:nvSpPr>
        <p:spPr>
          <a:xfrm>
            <a:off x="4407408" y="3337560"/>
            <a:ext cx="1984248" cy="329184"/>
          </a:xfrm>
          <a:prstGeom prst="roundRect">
            <a:avLst>
              <a:gd name="adj" fmla="val 12000"/>
            </a:avLst>
          </a:prstGeom>
          <a:solidFill>
            <a:srgbClr val="E7E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498848" y="3387852"/>
            <a:ext cx="1801368" cy="228600"/>
          </a:xfrm>
          <a:prstGeom prst="rect">
            <a:avLst/>
          </a:prstGeom>
          <a:noFill/>
        </p:spPr>
        <p:txBody>
          <a:bodyPr wrap="square" lIns="0" rIns="0" tIns="0" bIns="0">
            <a:spAutoFit/>
          </a:bodyPr>
          <a:lstStyle/>
          <a:p>
            <a:pPr>
              <a:lnSpc>
                <a:spcPct val="112000"/>
              </a:lnSpc>
              <a:spcBef>
                <a:spcPts val="0"/>
              </a:spcBef>
              <a:spcAft>
                <a:spcPts val="300"/>
              </a:spcAft>
              <a:defRPr sz="1500" b="1">
                <a:solidFill>
                  <a:srgbClr val="16745C"/>
                </a:solidFill>
                <a:latin typeface="Noto Sans CJK KR"/>
              </a:defRPr>
            </a:pPr>
            <a:r>
              <a:t>+ 100매</a:t>
            </a:r>
          </a:p>
        </p:txBody>
      </p:sp>
      <p:sp>
        <p:nvSpPr>
          <p:cNvPr id="61" name="Rounded Rectangle 60"/>
          <p:cNvSpPr/>
          <p:nvPr/>
        </p:nvSpPr>
        <p:spPr>
          <a:xfrm>
            <a:off x="8193024" y="3337560"/>
            <a:ext cx="1984248" cy="329184"/>
          </a:xfrm>
          <a:prstGeom prst="roundRect">
            <a:avLst>
              <a:gd name="adj" fmla="val 12000"/>
            </a:avLst>
          </a:prstGeom>
          <a:solidFill>
            <a:srgbClr val="E7E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284464" y="3387852"/>
            <a:ext cx="1801368" cy="228600"/>
          </a:xfrm>
          <a:prstGeom prst="rect">
            <a:avLst/>
          </a:prstGeom>
          <a:noFill/>
        </p:spPr>
        <p:txBody>
          <a:bodyPr wrap="square" lIns="0" rIns="0" tIns="0" bIns="0">
            <a:spAutoFit/>
          </a:bodyPr>
          <a:lstStyle/>
          <a:p>
            <a:pPr>
              <a:lnSpc>
                <a:spcPct val="112000"/>
              </a:lnSpc>
              <a:spcBef>
                <a:spcPts val="0"/>
              </a:spcBef>
              <a:spcAft>
                <a:spcPts val="300"/>
              </a:spcAft>
              <a:defRPr sz="1500" b="1">
                <a:solidFill>
                  <a:srgbClr val="16745C"/>
                </a:solidFill>
                <a:latin typeface="Noto Sans CJK KR"/>
              </a:defRPr>
            </a:pPr>
            <a:r>
              <a:t>+ 60매</a:t>
            </a:r>
          </a:p>
        </p:txBody>
      </p:sp>
      <p:cxnSp>
        <p:nvCxnSpPr>
          <p:cNvPr id="63" name="Connector 62"/>
          <p:cNvCxnSpPr/>
          <p:nvPr/>
        </p:nvCxnSpPr>
        <p:spPr>
          <a:xfrm>
            <a:off x="10890504" y="3566160"/>
            <a:ext cx="0" cy="2569464"/>
          </a:xfrm>
          <a:prstGeom prst="line">
            <a:avLst/>
          </a:prstGeom>
          <a:ln w="16510">
            <a:solidFill>
              <a:srgbClr val="F36A42"/>
            </a:solidFill>
            <a:prstDash val="dash"/>
          </a:ln>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10085832" y="6126480"/>
            <a:ext cx="1920240" cy="228600"/>
          </a:xfrm>
          <a:prstGeom prst="rect">
            <a:avLst/>
          </a:prstGeom>
          <a:noFill/>
        </p:spPr>
        <p:txBody>
          <a:bodyPr wrap="square" lIns="0" rIns="0" tIns="0" bIns="0">
            <a:spAutoFit/>
          </a:bodyPr>
          <a:lstStyle/>
          <a:p>
            <a:pPr algn="ctr">
              <a:lnSpc>
                <a:spcPct val="112000"/>
              </a:lnSpc>
              <a:spcBef>
                <a:spcPts val="0"/>
              </a:spcBef>
              <a:spcAft>
                <a:spcPts val="300"/>
              </a:spcAft>
              <a:defRPr sz="1200" b="1">
                <a:solidFill>
                  <a:srgbClr val="9B3A1C"/>
                </a:solidFill>
                <a:latin typeface="Noto Sans CJK KR"/>
              </a:defRPr>
            </a:pPr>
            <a:r>
              <a:t>14:00 부족분 판단</a:t>
            </a:r>
          </a:p>
        </p:txBody>
      </p:sp>
      <p:sp>
        <p:nvSpPr>
          <p:cNvPr id="65" name="Rounded Rectangle 64"/>
          <p:cNvSpPr/>
          <p:nvPr/>
        </p:nvSpPr>
        <p:spPr>
          <a:xfrm>
            <a:off x="667512" y="6501384"/>
            <a:ext cx="13304520" cy="850392"/>
          </a:xfrm>
          <a:prstGeom prst="roundRect">
            <a:avLst>
              <a:gd name="adj" fmla="val 5000"/>
            </a:avLst>
          </a:prstGeom>
          <a:solidFill>
            <a:srgbClr val="172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14400" y="6693408"/>
            <a:ext cx="10515600" cy="365760"/>
          </a:xfrm>
          <a:prstGeom prst="rect">
            <a:avLst/>
          </a:prstGeom>
          <a:noFill/>
        </p:spPr>
        <p:txBody>
          <a:bodyPr wrap="square" lIns="0" rIns="0" tIns="0" bIns="0">
            <a:spAutoFit/>
          </a:bodyPr>
          <a:lstStyle/>
          <a:p>
            <a:pPr>
              <a:lnSpc>
                <a:spcPct val="112000"/>
              </a:lnSpc>
              <a:spcBef>
                <a:spcPts val="0"/>
              </a:spcBef>
              <a:spcAft>
                <a:spcPts val="300"/>
              </a:spcAft>
              <a:defRPr sz="2300" b="1">
                <a:solidFill>
                  <a:srgbClr val="DDF485"/>
                </a:solidFill>
                <a:latin typeface="Noto Sans CJK KR"/>
              </a:defRPr>
            </a:pPr>
            <a:r>
              <a:t>이 조건에서는 전용 회수차를 추가 배차하지 않아도 됩니다.</a:t>
            </a:r>
          </a:p>
        </p:txBody>
      </p:sp>
      <p:sp>
        <p:nvSpPr>
          <p:cNvPr id="67" name="TextBox 66"/>
          <p:cNvSpPr txBox="1"/>
          <p:nvPr/>
        </p:nvSpPr>
        <p:spPr>
          <a:xfrm>
            <a:off x="12042648" y="6601968"/>
            <a:ext cx="1508760" cy="493776"/>
          </a:xfrm>
          <a:prstGeom prst="rect">
            <a:avLst/>
          </a:prstGeom>
          <a:noFill/>
        </p:spPr>
        <p:txBody>
          <a:bodyPr wrap="square" lIns="0" rIns="0" tIns="0" bIns="0">
            <a:spAutoFit/>
          </a:bodyPr>
          <a:lstStyle/>
          <a:p>
            <a:pPr algn="r">
              <a:lnSpc>
                <a:spcPct val="112000"/>
              </a:lnSpc>
              <a:spcBef>
                <a:spcPts val="0"/>
              </a:spcBef>
              <a:spcAft>
                <a:spcPts val="300"/>
              </a:spcAft>
              <a:defRPr sz="3200" b="1">
                <a:solidFill>
                  <a:srgbClr val="DDF485"/>
                </a:solidFill>
                <a:latin typeface="Noto Sans CJK KR"/>
              </a:defRPr>
            </a:pPr>
            <a:r>
              <a:t>0회</a:t>
            </a:r>
          </a:p>
        </p:txBody>
      </p:sp>
      <p:sp>
        <p:nvSpPr>
          <p:cNvPr id="68" name="TextBox 67"/>
          <p:cNvSpPr txBox="1"/>
          <p:nvPr/>
        </p:nvSpPr>
        <p:spPr>
          <a:xfrm>
            <a:off x="685800" y="7443216"/>
            <a:ext cx="13213080" cy="182880"/>
          </a:xfrm>
          <a:prstGeom prst="rect">
            <a:avLst/>
          </a:prstGeom>
          <a:noFill/>
        </p:spPr>
        <p:txBody>
          <a:bodyPr wrap="square" lIns="0" rIns="0" tIns="0" bIns="0">
            <a:spAutoFit/>
          </a:bodyPr>
          <a:lstStyle/>
          <a:p>
            <a:pPr>
              <a:lnSpc>
                <a:spcPct val="112000"/>
              </a:lnSpc>
              <a:spcBef>
                <a:spcPts val="0"/>
              </a:spcBef>
              <a:spcAft>
                <a:spcPts val="300"/>
              </a:spcAft>
              <a:defRPr sz="1000" b="0">
                <a:solidFill>
                  <a:srgbClr val="69756E"/>
                </a:solidFill>
                <a:latin typeface="Noto Sans CJK KR"/>
              </a:defRPr>
            </a:pPr>
            <a:r>
              <a:t>0회는 이 가상 시나리오의 전용 추가 배차 횟수입니다. 복귀편의 우회·추가 적재·대기 비용과 배출은 별도로 산정합니다.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3EB"/>
        </a:solidFill>
        <a:effectLst/>
      </p:bgPr>
    </p:bg>
    <p:spTree>
      <p:nvGrpSpPr>
        <p:cNvPr id="1" name=""/>
        <p:cNvGrpSpPr/>
        <p:nvPr/>
      </p:nvGrpSpPr>
      <p:grpSpPr/>
      <p:sp>
        <p:nvSpPr>
          <p:cNvPr id="2" name="TextBox 1"/>
          <p:cNvSpPr txBox="1"/>
          <p:nvPr/>
        </p:nvSpPr>
        <p:spPr>
          <a:xfrm>
            <a:off x="594360" y="274320"/>
            <a:ext cx="10972800" cy="274320"/>
          </a:xfrm>
          <a:prstGeom prst="rect">
            <a:avLst/>
          </a:prstGeom>
          <a:noFill/>
        </p:spPr>
        <p:txBody>
          <a:bodyPr wrap="square" lIns="0" rIns="0" tIns="0" bIns="0">
            <a:spAutoFit/>
          </a:bodyPr>
          <a:lstStyle/>
          <a:p>
            <a:pPr>
              <a:lnSpc>
                <a:spcPct val="112000"/>
              </a:lnSpc>
              <a:spcBef>
                <a:spcPts val="0"/>
              </a:spcBef>
              <a:spcAft>
                <a:spcPts val="300"/>
              </a:spcAft>
              <a:defRPr sz="1200" b="1">
                <a:solidFill>
                  <a:srgbClr val="16745C"/>
                </a:solidFill>
                <a:latin typeface="Noto Sans CJK KR"/>
              </a:defRPr>
            </a:pPr>
            <a:r>
              <a:t>CBP  /  탄소예산 기반 파렛트 회수예약</a:t>
            </a:r>
          </a:p>
        </p:txBody>
      </p:sp>
      <p:sp>
        <p:nvSpPr>
          <p:cNvPr id="3" name="TextBox 2"/>
          <p:cNvSpPr txBox="1"/>
          <p:nvPr/>
        </p:nvSpPr>
        <p:spPr>
          <a:xfrm>
            <a:off x="13075920" y="274320"/>
            <a:ext cx="960120" cy="274320"/>
          </a:xfrm>
          <a:prstGeom prst="rect">
            <a:avLst/>
          </a:prstGeom>
          <a:noFill/>
        </p:spPr>
        <p:txBody>
          <a:bodyPr wrap="square" lIns="0" rIns="0" tIns="0" bIns="0">
            <a:spAutoFit/>
          </a:bodyPr>
          <a:lstStyle/>
          <a:p>
            <a:pPr algn="r">
              <a:lnSpc>
                <a:spcPct val="112000"/>
              </a:lnSpc>
              <a:spcBef>
                <a:spcPts val="0"/>
              </a:spcBef>
              <a:spcAft>
                <a:spcPts val="300"/>
              </a:spcAft>
              <a:defRPr sz="1200" b="1">
                <a:solidFill>
                  <a:srgbClr val="69756E"/>
                </a:solidFill>
                <a:latin typeface="Noto Sans CJK KR"/>
              </a:defRPr>
            </a:pPr>
            <a:r>
              <a:t>04 / 06</a:t>
            </a:r>
          </a:p>
        </p:txBody>
      </p:sp>
      <p:sp>
        <p:nvSpPr>
          <p:cNvPr id="4" name="TextBox 3"/>
          <p:cNvSpPr txBox="1"/>
          <p:nvPr/>
        </p:nvSpPr>
        <p:spPr>
          <a:xfrm>
            <a:off x="594360" y="804672"/>
            <a:ext cx="13395960" cy="1088136"/>
          </a:xfrm>
          <a:prstGeom prst="rect">
            <a:avLst/>
          </a:prstGeom>
          <a:noFill/>
        </p:spPr>
        <p:txBody>
          <a:bodyPr wrap="square" lIns="0" rIns="0" tIns="0" bIns="0">
            <a:spAutoFit/>
          </a:bodyPr>
          <a:lstStyle/>
          <a:p>
            <a:pPr>
              <a:lnSpc>
                <a:spcPct val="112000"/>
              </a:lnSpc>
              <a:spcBef>
                <a:spcPts val="0"/>
              </a:spcBef>
              <a:spcAft>
                <a:spcPts val="300"/>
              </a:spcAft>
              <a:defRPr sz="3400" b="1">
                <a:solidFill>
                  <a:srgbClr val="172825"/>
                </a:solidFill>
                <a:latin typeface="Noto Sans CJK KR"/>
              </a:defRPr>
            </a:pPr>
            <a:r>
              <a:t>출발하기 전에,</a:t>
            </a:r>
          </a:p>
          <a:p>
            <a:pPr>
              <a:lnSpc>
                <a:spcPct val="112000"/>
              </a:lnSpc>
              <a:spcBef>
                <a:spcPts val="0"/>
              </a:spcBef>
              <a:spcAft>
                <a:spcPts val="300"/>
              </a:spcAft>
              <a:defRPr sz="3400" b="1">
                <a:solidFill>
                  <a:srgbClr val="172825"/>
                </a:solidFill>
                <a:latin typeface="Noto Sans CJK KR"/>
              </a:defRPr>
            </a:pPr>
            <a:r>
              <a:t>남은 탄소예산으로 회수 방법을 고릅니다.</a:t>
            </a:r>
          </a:p>
        </p:txBody>
      </p:sp>
      <p:sp>
        <p:nvSpPr>
          <p:cNvPr id="5" name="TextBox 4"/>
          <p:cNvSpPr txBox="1"/>
          <p:nvPr/>
        </p:nvSpPr>
        <p:spPr>
          <a:xfrm>
            <a:off x="621792" y="1938528"/>
            <a:ext cx="13304520" cy="438912"/>
          </a:xfrm>
          <a:prstGeom prst="rect">
            <a:avLst/>
          </a:prstGeom>
          <a:noFill/>
        </p:spPr>
        <p:txBody>
          <a:bodyPr wrap="square" lIns="0" rIns="0" tIns="0" bIns="0">
            <a:spAutoFit/>
          </a:bodyPr>
          <a:lstStyle/>
          <a:p>
            <a:pPr>
              <a:lnSpc>
                <a:spcPct val="112000"/>
              </a:lnSpc>
              <a:spcBef>
                <a:spcPts val="0"/>
              </a:spcBef>
              <a:spcAft>
                <a:spcPts val="300"/>
              </a:spcAft>
              <a:defRPr sz="1700" b="0">
                <a:solidFill>
                  <a:srgbClr val="69756E"/>
                </a:solidFill>
                <a:latin typeface="Noto Sans CJK KR"/>
              </a:defRPr>
            </a:pPr>
            <a:r>
              <a:t>수량·기한·비용 상한을 충족하는 후보 중, 탄소예산 안에서 회수비가 낮은 조합을 선택합니다.</a:t>
            </a:r>
          </a:p>
        </p:txBody>
      </p:sp>
      <p:cxnSp>
        <p:nvCxnSpPr>
          <p:cNvPr id="6" name="Connector 5"/>
          <p:cNvCxnSpPr/>
          <p:nvPr/>
        </p:nvCxnSpPr>
        <p:spPr>
          <a:xfrm>
            <a:off x="594360" y="7754112"/>
            <a:ext cx="13441680" cy="0"/>
          </a:xfrm>
          <a:prstGeom prst="line">
            <a:avLst/>
          </a:prstGeom>
          <a:ln w="12700">
            <a:solidFill>
              <a:srgbClr val="D9DED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3504" y="7891272"/>
            <a:ext cx="12618720" cy="182880"/>
          </a:xfrm>
          <a:prstGeom prst="rect">
            <a:avLst/>
          </a:prstGeom>
          <a:noFill/>
        </p:spPr>
        <p:txBody>
          <a:bodyPr wrap="square" lIns="0" rIns="0" tIns="0" bIns="0">
            <a:spAutoFit/>
          </a:bodyPr>
          <a:lstStyle/>
          <a:p>
            <a:pPr>
              <a:lnSpc>
                <a:spcPct val="112000"/>
              </a:lnSpc>
              <a:spcBef>
                <a:spcPts val="0"/>
              </a:spcBef>
              <a:spcAft>
                <a:spcPts val="300"/>
              </a:spcAft>
              <a:defRPr sz="1000" b="0">
                <a:solidFill>
                  <a:srgbClr val="69756E"/>
                </a:solidFill>
                <a:latin typeface="Noto Sans CJK KR"/>
              </a:defRPr>
            </a:pPr>
            <a:r>
              <a:t>두런두런  ·  제13회 유닛로드시스템(ULS) 창의성 공모전  ·  탄소예산의 역할</a:t>
            </a:r>
          </a:p>
        </p:txBody>
      </p:sp>
      <p:sp>
        <p:nvSpPr>
          <p:cNvPr id="8" name="Rounded Rectangle 7"/>
          <p:cNvSpPr/>
          <p:nvPr/>
        </p:nvSpPr>
        <p:spPr>
          <a:xfrm>
            <a:off x="667512" y="2560320"/>
            <a:ext cx="4279392" cy="329184"/>
          </a:xfrm>
          <a:prstGeom prst="roundRect">
            <a:avLst>
              <a:gd name="adj" fmla="val 12000"/>
            </a:avLst>
          </a:prstGeom>
          <a:solidFill>
            <a:srgbClr val="FBE9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2610612"/>
            <a:ext cx="4096511" cy="228600"/>
          </a:xfrm>
          <a:prstGeom prst="rect">
            <a:avLst/>
          </a:prstGeom>
          <a:noFill/>
        </p:spPr>
        <p:txBody>
          <a:bodyPr wrap="square" lIns="0" rIns="0" tIns="0" bIns="0">
            <a:spAutoFit/>
          </a:bodyPr>
          <a:lstStyle/>
          <a:p>
            <a:pPr>
              <a:lnSpc>
                <a:spcPct val="112000"/>
              </a:lnSpc>
              <a:spcBef>
                <a:spcPts val="0"/>
              </a:spcBef>
              <a:spcAft>
                <a:spcPts val="300"/>
              </a:spcAft>
              <a:defRPr sz="1400" b="1">
                <a:solidFill>
                  <a:srgbClr val="9B3A1C"/>
                </a:solidFill>
                <a:latin typeface="Noto Sans CJK KR"/>
              </a:defRPr>
            </a:pPr>
            <a:r>
              <a:t>운임·배출량은 모두 설명용 가정</a:t>
            </a:r>
          </a:p>
        </p:txBody>
      </p:sp>
      <p:sp>
        <p:nvSpPr>
          <p:cNvPr id="10" name="Rounded Rectangle 9"/>
          <p:cNvSpPr/>
          <p:nvPr/>
        </p:nvSpPr>
        <p:spPr>
          <a:xfrm>
            <a:off x="667512" y="3136392"/>
            <a:ext cx="3803904" cy="3621024"/>
          </a:xfrm>
          <a:prstGeom prst="roundRect">
            <a:avLst>
              <a:gd name="adj" fmla="val 4500"/>
            </a:avLst>
          </a:prstGeom>
          <a:solidFill>
            <a:srgbClr val="172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0976" y="3401568"/>
            <a:ext cx="3246120" cy="329184"/>
          </a:xfrm>
          <a:prstGeom prst="rect">
            <a:avLst/>
          </a:prstGeom>
          <a:noFill/>
        </p:spPr>
        <p:txBody>
          <a:bodyPr wrap="square" lIns="0" rIns="0" tIns="0" bIns="0">
            <a:spAutoFit/>
          </a:bodyPr>
          <a:lstStyle/>
          <a:p>
            <a:pPr>
              <a:lnSpc>
                <a:spcPct val="112000"/>
              </a:lnSpc>
              <a:spcBef>
                <a:spcPts val="0"/>
              </a:spcBef>
              <a:spcAft>
                <a:spcPts val="300"/>
              </a:spcAft>
              <a:defRPr sz="2000" b="1">
                <a:solidFill>
                  <a:srgbClr val="B8C7BD"/>
                </a:solidFill>
                <a:latin typeface="Noto Sans CJK KR"/>
              </a:defRPr>
            </a:pPr>
            <a:r>
              <a:t>이번에 쓸 수 있는 양</a:t>
            </a:r>
          </a:p>
        </p:txBody>
      </p:sp>
      <p:sp>
        <p:nvSpPr>
          <p:cNvPr id="12" name="TextBox 11"/>
          <p:cNvSpPr txBox="1"/>
          <p:nvPr/>
        </p:nvSpPr>
        <p:spPr>
          <a:xfrm>
            <a:off x="932688" y="3904487"/>
            <a:ext cx="2368296" cy="1014984"/>
          </a:xfrm>
          <a:prstGeom prst="rect">
            <a:avLst/>
          </a:prstGeom>
          <a:noFill/>
        </p:spPr>
        <p:txBody>
          <a:bodyPr wrap="square" lIns="0" rIns="0" tIns="0" bIns="0">
            <a:spAutoFit/>
          </a:bodyPr>
          <a:lstStyle/>
          <a:p>
            <a:pPr>
              <a:lnSpc>
                <a:spcPct val="112000"/>
              </a:lnSpc>
              <a:spcBef>
                <a:spcPts val="0"/>
              </a:spcBef>
              <a:spcAft>
                <a:spcPts val="300"/>
              </a:spcAft>
              <a:defRPr sz="7200" b="1">
                <a:solidFill>
                  <a:srgbClr val="DDF485"/>
                </a:solidFill>
                <a:latin typeface="Noto Sans CJK KR"/>
              </a:defRPr>
            </a:pPr>
            <a:r>
              <a:t>70</a:t>
            </a:r>
          </a:p>
        </p:txBody>
      </p:sp>
      <p:sp>
        <p:nvSpPr>
          <p:cNvPr id="13" name="TextBox 12"/>
          <p:cNvSpPr txBox="1"/>
          <p:nvPr/>
        </p:nvSpPr>
        <p:spPr>
          <a:xfrm>
            <a:off x="2926080" y="4434840"/>
            <a:ext cx="1225296" cy="374904"/>
          </a:xfrm>
          <a:prstGeom prst="rect">
            <a:avLst/>
          </a:prstGeom>
          <a:noFill/>
        </p:spPr>
        <p:txBody>
          <a:bodyPr wrap="square" lIns="0" rIns="0" tIns="0" bIns="0">
            <a:spAutoFit/>
          </a:bodyPr>
          <a:lstStyle/>
          <a:p>
            <a:pPr>
              <a:lnSpc>
                <a:spcPct val="112000"/>
              </a:lnSpc>
              <a:spcBef>
                <a:spcPts val="0"/>
              </a:spcBef>
              <a:spcAft>
                <a:spcPts val="300"/>
              </a:spcAft>
              <a:defRPr sz="1700" b="1">
                <a:solidFill>
                  <a:srgbClr val="DDF485"/>
                </a:solidFill>
                <a:latin typeface="Noto Sans CJK KR"/>
              </a:defRPr>
            </a:pPr>
            <a:r>
              <a:t>kgCO₂e</a:t>
            </a:r>
          </a:p>
        </p:txBody>
      </p:sp>
      <p:sp>
        <p:nvSpPr>
          <p:cNvPr id="14" name="TextBox 13"/>
          <p:cNvSpPr txBox="1"/>
          <p:nvPr/>
        </p:nvSpPr>
        <p:spPr>
          <a:xfrm>
            <a:off x="960120" y="5312664"/>
            <a:ext cx="3246120" cy="795528"/>
          </a:xfrm>
          <a:prstGeom prst="rect">
            <a:avLst/>
          </a:prstGeom>
          <a:noFill/>
        </p:spPr>
        <p:txBody>
          <a:bodyPr wrap="square" lIns="0" rIns="0" tIns="0" bIns="0">
            <a:spAutoFit/>
          </a:bodyPr>
          <a:lstStyle/>
          <a:p>
            <a:pPr>
              <a:lnSpc>
                <a:spcPct val="112000"/>
              </a:lnSpc>
              <a:spcBef>
                <a:spcPts val="0"/>
              </a:spcBef>
              <a:spcAft>
                <a:spcPts val="300"/>
              </a:spcAft>
              <a:defRPr sz="1800" b="0">
                <a:solidFill>
                  <a:srgbClr val="FFFFFF"/>
                </a:solidFill>
                <a:latin typeface="Noto Sans CJK KR"/>
              </a:defRPr>
            </a:pPr>
            <a:r>
              <a:t>총예산 300 − 기배출 150</a:t>
            </a:r>
          </a:p>
          <a:p>
            <a:pPr>
              <a:lnSpc>
                <a:spcPct val="112000"/>
              </a:lnSpc>
              <a:spcBef>
                <a:spcPts val="0"/>
              </a:spcBef>
              <a:spcAft>
                <a:spcPts val="300"/>
              </a:spcAft>
              <a:defRPr sz="1800" b="0">
                <a:solidFill>
                  <a:srgbClr val="FFFFFF"/>
                </a:solidFill>
                <a:latin typeface="Noto Sans CJK KR"/>
              </a:defRPr>
            </a:pPr>
            <a:r>
              <a:t>− 확정 예약 80</a:t>
            </a:r>
          </a:p>
        </p:txBody>
      </p:sp>
      <p:sp>
        <p:nvSpPr>
          <p:cNvPr id="15" name="TextBox 14"/>
          <p:cNvSpPr txBox="1"/>
          <p:nvPr/>
        </p:nvSpPr>
        <p:spPr>
          <a:xfrm>
            <a:off x="960120" y="6291072"/>
            <a:ext cx="3246120" cy="237744"/>
          </a:xfrm>
          <a:prstGeom prst="rect">
            <a:avLst/>
          </a:prstGeom>
          <a:noFill/>
        </p:spPr>
        <p:txBody>
          <a:bodyPr wrap="square" lIns="0" rIns="0" tIns="0" bIns="0">
            <a:spAutoFit/>
          </a:bodyPr>
          <a:lstStyle/>
          <a:p>
            <a:pPr>
              <a:lnSpc>
                <a:spcPct val="112000"/>
              </a:lnSpc>
              <a:spcBef>
                <a:spcPts val="0"/>
              </a:spcBef>
              <a:spcAft>
                <a:spcPts val="300"/>
              </a:spcAft>
              <a:defRPr sz="1200" b="0">
                <a:solidFill>
                  <a:srgbClr val="B8C7BD"/>
                </a:solidFill>
                <a:latin typeface="Noto Sans CJK KR"/>
              </a:defRPr>
            </a:pPr>
            <a:r>
              <a:t>계산은 기간·단위를 동일하게</a:t>
            </a:r>
          </a:p>
        </p:txBody>
      </p:sp>
      <p:sp>
        <p:nvSpPr>
          <p:cNvPr id="16" name="Rounded Rectangle 15"/>
          <p:cNvSpPr/>
          <p:nvPr/>
        </p:nvSpPr>
        <p:spPr>
          <a:xfrm>
            <a:off x="4855464" y="3136392"/>
            <a:ext cx="4498848" cy="3621024"/>
          </a:xfrm>
          <a:prstGeom prst="roundRect">
            <a:avLst>
              <a:gd name="adj" fmla="val 4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93207" y="3401568"/>
            <a:ext cx="4023360" cy="265176"/>
          </a:xfrm>
          <a:prstGeom prst="rect">
            <a:avLst/>
          </a:prstGeom>
          <a:noFill/>
        </p:spPr>
        <p:txBody>
          <a:bodyPr wrap="square" lIns="0" rIns="0" tIns="0" bIns="0">
            <a:spAutoFit/>
          </a:bodyPr>
          <a:lstStyle/>
          <a:p>
            <a:pPr>
              <a:lnSpc>
                <a:spcPct val="112000"/>
              </a:lnSpc>
              <a:spcBef>
                <a:spcPts val="0"/>
              </a:spcBef>
              <a:spcAft>
                <a:spcPts val="300"/>
              </a:spcAft>
              <a:defRPr sz="1400" b="1">
                <a:solidFill>
                  <a:srgbClr val="F36A42"/>
                </a:solidFill>
                <a:latin typeface="Noto Sans CJK KR"/>
              </a:defRPr>
            </a:pPr>
            <a:r>
              <a:t>비용만 보면</a:t>
            </a:r>
          </a:p>
        </p:txBody>
      </p:sp>
      <p:sp>
        <p:nvSpPr>
          <p:cNvPr id="18" name="TextBox 17"/>
          <p:cNvSpPr txBox="1"/>
          <p:nvPr/>
        </p:nvSpPr>
        <p:spPr>
          <a:xfrm>
            <a:off x="5093207" y="3813048"/>
            <a:ext cx="4023360" cy="393192"/>
          </a:xfrm>
          <a:prstGeom prst="rect">
            <a:avLst/>
          </a:prstGeom>
          <a:noFill/>
        </p:spPr>
        <p:txBody>
          <a:bodyPr wrap="square" lIns="0" rIns="0" tIns="0" bIns="0">
            <a:spAutoFit/>
          </a:bodyPr>
          <a:lstStyle/>
          <a:p>
            <a:pPr>
              <a:lnSpc>
                <a:spcPct val="112000"/>
              </a:lnSpc>
              <a:spcBef>
                <a:spcPts val="0"/>
              </a:spcBef>
              <a:spcAft>
                <a:spcPts val="300"/>
              </a:spcAft>
              <a:defRPr sz="2500" b="1">
                <a:solidFill>
                  <a:srgbClr val="172825"/>
                </a:solidFill>
                <a:latin typeface="Noto Sans CJK KR"/>
              </a:defRPr>
            </a:pPr>
            <a:r>
              <a:t>전용 회수차</a:t>
            </a:r>
          </a:p>
        </p:txBody>
      </p:sp>
      <p:sp>
        <p:nvSpPr>
          <p:cNvPr id="19" name="TextBox 18"/>
          <p:cNvSpPr txBox="1"/>
          <p:nvPr/>
        </p:nvSpPr>
        <p:spPr>
          <a:xfrm>
            <a:off x="5102352" y="4471416"/>
            <a:ext cx="4023360" cy="530352"/>
          </a:xfrm>
          <a:prstGeom prst="rect">
            <a:avLst/>
          </a:prstGeom>
          <a:noFill/>
        </p:spPr>
        <p:txBody>
          <a:bodyPr wrap="square" lIns="0" rIns="0" tIns="0" bIns="0">
            <a:spAutoFit/>
          </a:bodyPr>
          <a:lstStyle/>
          <a:p>
            <a:pPr>
              <a:lnSpc>
                <a:spcPct val="112000"/>
              </a:lnSpc>
              <a:spcBef>
                <a:spcPts val="0"/>
              </a:spcBef>
              <a:spcAft>
                <a:spcPts val="300"/>
              </a:spcAft>
              <a:defRPr sz="3300" b="1">
                <a:solidFill>
                  <a:srgbClr val="172825"/>
                </a:solidFill>
                <a:latin typeface="Noto Sans CJK KR"/>
              </a:defRPr>
            </a:pPr>
            <a:r>
              <a:t>12만원</a:t>
            </a:r>
          </a:p>
        </p:txBody>
      </p:sp>
      <p:sp>
        <p:nvSpPr>
          <p:cNvPr id="20" name="TextBox 19"/>
          <p:cNvSpPr txBox="1"/>
          <p:nvPr/>
        </p:nvSpPr>
        <p:spPr>
          <a:xfrm>
            <a:off x="5102352" y="5111496"/>
            <a:ext cx="2130552" cy="704088"/>
          </a:xfrm>
          <a:prstGeom prst="rect">
            <a:avLst/>
          </a:prstGeom>
          <a:noFill/>
        </p:spPr>
        <p:txBody>
          <a:bodyPr wrap="square" lIns="0" rIns="0" tIns="0" bIns="0">
            <a:spAutoFit/>
          </a:bodyPr>
          <a:lstStyle/>
          <a:p>
            <a:pPr>
              <a:lnSpc>
                <a:spcPct val="112000"/>
              </a:lnSpc>
              <a:spcBef>
                <a:spcPts val="0"/>
              </a:spcBef>
              <a:spcAft>
                <a:spcPts val="300"/>
              </a:spcAft>
              <a:defRPr sz="4800" b="1">
                <a:solidFill>
                  <a:srgbClr val="F36A42"/>
                </a:solidFill>
                <a:latin typeface="Noto Sans CJK KR"/>
              </a:defRPr>
            </a:pPr>
            <a:r>
              <a:t>90</a:t>
            </a:r>
          </a:p>
        </p:txBody>
      </p:sp>
      <p:sp>
        <p:nvSpPr>
          <p:cNvPr id="21" name="TextBox 20"/>
          <p:cNvSpPr txBox="1"/>
          <p:nvPr/>
        </p:nvSpPr>
        <p:spPr>
          <a:xfrm>
            <a:off x="6940296" y="5486400"/>
            <a:ext cx="2121408" cy="310896"/>
          </a:xfrm>
          <a:prstGeom prst="rect">
            <a:avLst/>
          </a:prstGeom>
          <a:noFill/>
        </p:spPr>
        <p:txBody>
          <a:bodyPr wrap="square" lIns="0" rIns="0" tIns="0" bIns="0">
            <a:spAutoFit/>
          </a:bodyPr>
          <a:lstStyle/>
          <a:p>
            <a:pPr>
              <a:lnSpc>
                <a:spcPct val="112000"/>
              </a:lnSpc>
              <a:spcBef>
                <a:spcPts val="0"/>
              </a:spcBef>
              <a:spcAft>
                <a:spcPts val="300"/>
              </a:spcAft>
              <a:defRPr sz="1800" b="1">
                <a:solidFill>
                  <a:srgbClr val="F36A42"/>
                </a:solidFill>
                <a:latin typeface="Noto Sans CJK KR"/>
              </a:defRPr>
            </a:pPr>
            <a:r>
              <a:t>kgCO₂e</a:t>
            </a:r>
          </a:p>
        </p:txBody>
      </p:sp>
      <p:sp>
        <p:nvSpPr>
          <p:cNvPr id="22" name="TextBox 21"/>
          <p:cNvSpPr txBox="1"/>
          <p:nvPr/>
        </p:nvSpPr>
        <p:spPr>
          <a:xfrm>
            <a:off x="5102352" y="6190488"/>
            <a:ext cx="4005072" cy="310896"/>
          </a:xfrm>
          <a:prstGeom prst="rect">
            <a:avLst/>
          </a:prstGeom>
          <a:noFill/>
        </p:spPr>
        <p:txBody>
          <a:bodyPr wrap="square" lIns="0" rIns="0" tIns="0" bIns="0">
            <a:spAutoFit/>
          </a:bodyPr>
          <a:lstStyle/>
          <a:p>
            <a:pPr>
              <a:lnSpc>
                <a:spcPct val="112000"/>
              </a:lnSpc>
              <a:spcBef>
                <a:spcPts val="0"/>
              </a:spcBef>
              <a:spcAft>
                <a:spcPts val="300"/>
              </a:spcAft>
              <a:defRPr sz="1800" b="1">
                <a:solidFill>
                  <a:srgbClr val="F36A42"/>
                </a:solidFill>
                <a:latin typeface="Noto Sans CJK KR"/>
              </a:defRPr>
            </a:pPr>
            <a:r>
              <a:t>예산 20kg 초과</a:t>
            </a:r>
          </a:p>
        </p:txBody>
      </p:sp>
      <p:sp>
        <p:nvSpPr>
          <p:cNvPr id="23" name="Rounded Rectangle 22"/>
          <p:cNvSpPr/>
          <p:nvPr/>
        </p:nvSpPr>
        <p:spPr>
          <a:xfrm>
            <a:off x="9454896" y="3136392"/>
            <a:ext cx="4498848" cy="3621024"/>
          </a:xfrm>
          <a:prstGeom prst="roundRect">
            <a:avLst>
              <a:gd name="adj" fmla="val 4500"/>
            </a:avLst>
          </a:prstGeom>
          <a:solidFill>
            <a:srgbClr val="E7E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0" y="3401568"/>
            <a:ext cx="4023360" cy="265176"/>
          </a:xfrm>
          <a:prstGeom prst="rect">
            <a:avLst/>
          </a:prstGeom>
          <a:noFill/>
        </p:spPr>
        <p:txBody>
          <a:bodyPr wrap="square" lIns="0" rIns="0" tIns="0" bIns="0">
            <a:spAutoFit/>
          </a:bodyPr>
          <a:lstStyle/>
          <a:p>
            <a:pPr>
              <a:lnSpc>
                <a:spcPct val="112000"/>
              </a:lnSpc>
              <a:spcBef>
                <a:spcPts val="0"/>
              </a:spcBef>
              <a:spcAft>
                <a:spcPts val="300"/>
              </a:spcAft>
              <a:defRPr sz="1400" b="1">
                <a:solidFill>
                  <a:srgbClr val="16745C"/>
                </a:solidFill>
                <a:latin typeface="Noto Sans CJK KR"/>
              </a:defRPr>
            </a:pPr>
            <a:r>
              <a:t>예산을 지키려면</a:t>
            </a:r>
          </a:p>
        </p:txBody>
      </p:sp>
      <p:sp>
        <p:nvSpPr>
          <p:cNvPr id="25" name="TextBox 24"/>
          <p:cNvSpPr txBox="1"/>
          <p:nvPr/>
        </p:nvSpPr>
        <p:spPr>
          <a:xfrm>
            <a:off x="9692640" y="3813048"/>
            <a:ext cx="4023360" cy="393192"/>
          </a:xfrm>
          <a:prstGeom prst="rect">
            <a:avLst/>
          </a:prstGeom>
          <a:noFill/>
        </p:spPr>
        <p:txBody>
          <a:bodyPr wrap="square" lIns="0" rIns="0" tIns="0" bIns="0">
            <a:spAutoFit/>
          </a:bodyPr>
          <a:lstStyle/>
          <a:p>
            <a:pPr>
              <a:lnSpc>
                <a:spcPct val="112000"/>
              </a:lnSpc>
              <a:spcBef>
                <a:spcPts val="0"/>
              </a:spcBef>
              <a:spcAft>
                <a:spcPts val="300"/>
              </a:spcAft>
              <a:defRPr sz="2500" b="1">
                <a:solidFill>
                  <a:srgbClr val="172825"/>
                </a:solidFill>
                <a:latin typeface="Noto Sans CJK KR"/>
              </a:defRPr>
            </a:pPr>
            <a:r>
              <a:t>복귀편 A + B</a:t>
            </a:r>
          </a:p>
        </p:txBody>
      </p:sp>
      <p:sp>
        <p:nvSpPr>
          <p:cNvPr id="26" name="TextBox 25"/>
          <p:cNvSpPr txBox="1"/>
          <p:nvPr/>
        </p:nvSpPr>
        <p:spPr>
          <a:xfrm>
            <a:off x="9701784" y="4471416"/>
            <a:ext cx="4023360" cy="530352"/>
          </a:xfrm>
          <a:prstGeom prst="rect">
            <a:avLst/>
          </a:prstGeom>
          <a:noFill/>
        </p:spPr>
        <p:txBody>
          <a:bodyPr wrap="square" lIns="0" rIns="0" tIns="0" bIns="0">
            <a:spAutoFit/>
          </a:bodyPr>
          <a:lstStyle/>
          <a:p>
            <a:pPr>
              <a:lnSpc>
                <a:spcPct val="112000"/>
              </a:lnSpc>
              <a:spcBef>
                <a:spcPts val="0"/>
              </a:spcBef>
              <a:spcAft>
                <a:spcPts val="300"/>
              </a:spcAft>
              <a:defRPr sz="3300" b="1">
                <a:solidFill>
                  <a:srgbClr val="172825"/>
                </a:solidFill>
                <a:latin typeface="Noto Sans CJK KR"/>
              </a:defRPr>
            </a:pPr>
            <a:r>
              <a:t>13.5만원</a:t>
            </a:r>
          </a:p>
        </p:txBody>
      </p:sp>
      <p:sp>
        <p:nvSpPr>
          <p:cNvPr id="27" name="TextBox 26"/>
          <p:cNvSpPr txBox="1"/>
          <p:nvPr/>
        </p:nvSpPr>
        <p:spPr>
          <a:xfrm>
            <a:off x="9701784" y="5111496"/>
            <a:ext cx="2130552" cy="704088"/>
          </a:xfrm>
          <a:prstGeom prst="rect">
            <a:avLst/>
          </a:prstGeom>
          <a:noFill/>
        </p:spPr>
        <p:txBody>
          <a:bodyPr wrap="square" lIns="0" rIns="0" tIns="0" bIns="0">
            <a:spAutoFit/>
          </a:bodyPr>
          <a:lstStyle/>
          <a:p>
            <a:pPr>
              <a:lnSpc>
                <a:spcPct val="112000"/>
              </a:lnSpc>
              <a:spcBef>
                <a:spcPts val="0"/>
              </a:spcBef>
              <a:spcAft>
                <a:spcPts val="300"/>
              </a:spcAft>
              <a:defRPr sz="4800" b="1">
                <a:solidFill>
                  <a:srgbClr val="16745C"/>
                </a:solidFill>
                <a:latin typeface="Noto Sans CJK KR"/>
              </a:defRPr>
            </a:pPr>
            <a:r>
              <a:t>65</a:t>
            </a:r>
          </a:p>
        </p:txBody>
      </p:sp>
      <p:sp>
        <p:nvSpPr>
          <p:cNvPr id="28" name="TextBox 27"/>
          <p:cNvSpPr txBox="1"/>
          <p:nvPr/>
        </p:nvSpPr>
        <p:spPr>
          <a:xfrm>
            <a:off x="11539728" y="5486400"/>
            <a:ext cx="2121408" cy="310896"/>
          </a:xfrm>
          <a:prstGeom prst="rect">
            <a:avLst/>
          </a:prstGeom>
          <a:noFill/>
        </p:spPr>
        <p:txBody>
          <a:bodyPr wrap="square" lIns="0" rIns="0" tIns="0" bIns="0">
            <a:spAutoFit/>
          </a:bodyPr>
          <a:lstStyle/>
          <a:p>
            <a:pPr>
              <a:lnSpc>
                <a:spcPct val="112000"/>
              </a:lnSpc>
              <a:spcBef>
                <a:spcPts val="0"/>
              </a:spcBef>
              <a:spcAft>
                <a:spcPts val="300"/>
              </a:spcAft>
              <a:defRPr sz="1800" b="1">
                <a:solidFill>
                  <a:srgbClr val="16745C"/>
                </a:solidFill>
                <a:latin typeface="Noto Sans CJK KR"/>
              </a:defRPr>
            </a:pPr>
            <a:r>
              <a:t>kgCO₂e</a:t>
            </a:r>
          </a:p>
        </p:txBody>
      </p:sp>
      <p:sp>
        <p:nvSpPr>
          <p:cNvPr id="29" name="TextBox 28"/>
          <p:cNvSpPr txBox="1"/>
          <p:nvPr/>
        </p:nvSpPr>
        <p:spPr>
          <a:xfrm>
            <a:off x="9701784" y="6190488"/>
            <a:ext cx="4005072" cy="310896"/>
          </a:xfrm>
          <a:prstGeom prst="rect">
            <a:avLst/>
          </a:prstGeom>
          <a:noFill/>
        </p:spPr>
        <p:txBody>
          <a:bodyPr wrap="square" lIns="0" rIns="0" tIns="0" bIns="0">
            <a:spAutoFit/>
          </a:bodyPr>
          <a:lstStyle/>
          <a:p>
            <a:pPr>
              <a:lnSpc>
                <a:spcPct val="112000"/>
              </a:lnSpc>
              <a:spcBef>
                <a:spcPts val="0"/>
              </a:spcBef>
              <a:spcAft>
                <a:spcPts val="300"/>
              </a:spcAft>
              <a:defRPr sz="1800" b="1">
                <a:solidFill>
                  <a:srgbClr val="16745C"/>
                </a:solidFill>
                <a:latin typeface="Noto Sans CJK KR"/>
              </a:defRPr>
            </a:pPr>
            <a:r>
              <a:t>예산 5kg 남음</a:t>
            </a:r>
          </a:p>
        </p:txBody>
      </p:sp>
      <p:sp>
        <p:nvSpPr>
          <p:cNvPr id="30" name="TextBox 29"/>
          <p:cNvSpPr txBox="1"/>
          <p:nvPr/>
        </p:nvSpPr>
        <p:spPr>
          <a:xfrm>
            <a:off x="713232" y="7068312"/>
            <a:ext cx="13258800" cy="356616"/>
          </a:xfrm>
          <a:prstGeom prst="rect">
            <a:avLst/>
          </a:prstGeom>
          <a:noFill/>
        </p:spPr>
        <p:txBody>
          <a:bodyPr wrap="square" lIns="0" rIns="0" tIns="0" bIns="0">
            <a:spAutoFit/>
          </a:bodyPr>
          <a:lstStyle/>
          <a:p>
            <a:pPr>
              <a:lnSpc>
                <a:spcPct val="112000"/>
              </a:lnSpc>
              <a:spcBef>
                <a:spcPts val="0"/>
              </a:spcBef>
              <a:spcAft>
                <a:spcPts val="300"/>
              </a:spcAft>
              <a:defRPr sz="2200" b="1">
                <a:solidFill>
                  <a:srgbClr val="16745C"/>
                </a:solidFill>
                <a:latin typeface="Noto Sans CJK KR"/>
              </a:defRPr>
            </a:pPr>
            <a:r>
              <a:t>이 가상 입력의 차이  ·  추가 비용 +1.5만원 / 배출 −25kgCO₂e</a:t>
            </a:r>
          </a:p>
        </p:txBody>
      </p:sp>
      <p:sp>
        <p:nvSpPr>
          <p:cNvPr id="31" name="TextBox 30"/>
          <p:cNvSpPr txBox="1"/>
          <p:nvPr/>
        </p:nvSpPr>
        <p:spPr>
          <a:xfrm>
            <a:off x="713232" y="7479792"/>
            <a:ext cx="13258800" cy="164592"/>
          </a:xfrm>
          <a:prstGeom prst="rect">
            <a:avLst/>
          </a:prstGeom>
          <a:noFill/>
        </p:spPr>
        <p:txBody>
          <a:bodyPr wrap="square" lIns="0" rIns="0" tIns="0" bIns="0">
            <a:spAutoFit/>
          </a:bodyPr>
          <a:lstStyle/>
          <a:p>
            <a:pPr>
              <a:lnSpc>
                <a:spcPct val="112000"/>
              </a:lnSpc>
              <a:spcBef>
                <a:spcPts val="0"/>
              </a:spcBef>
              <a:spcAft>
                <a:spcPts val="300"/>
              </a:spcAft>
              <a:defRPr sz="1000" b="0">
                <a:solidFill>
                  <a:srgbClr val="69756E"/>
                </a:solidFill>
                <a:latin typeface="Noto Sans CJK KR"/>
              </a:defRPr>
            </a:pPr>
            <a:r>
              <a:t>기존 배송 본선은 양안에서 동일하게 운행한다고 가정. 비용 상한이 13.5만원 미만이면 예산 준수안은 없으며 담당자 판단이 필요합니다.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3EB"/>
        </a:solidFill>
        <a:effectLst/>
      </p:bgPr>
    </p:bg>
    <p:spTree>
      <p:nvGrpSpPr>
        <p:cNvPr id="1" name=""/>
        <p:cNvGrpSpPr/>
        <p:nvPr/>
      </p:nvGrpSpPr>
      <p:grpSpPr/>
      <p:sp>
        <p:nvSpPr>
          <p:cNvPr id="2" name="TextBox 1"/>
          <p:cNvSpPr txBox="1"/>
          <p:nvPr/>
        </p:nvSpPr>
        <p:spPr>
          <a:xfrm>
            <a:off x="594360" y="274320"/>
            <a:ext cx="10972800" cy="274320"/>
          </a:xfrm>
          <a:prstGeom prst="rect">
            <a:avLst/>
          </a:prstGeom>
          <a:noFill/>
        </p:spPr>
        <p:txBody>
          <a:bodyPr wrap="square" lIns="0" rIns="0" tIns="0" bIns="0">
            <a:spAutoFit/>
          </a:bodyPr>
          <a:lstStyle/>
          <a:p>
            <a:pPr>
              <a:lnSpc>
                <a:spcPct val="112000"/>
              </a:lnSpc>
              <a:spcBef>
                <a:spcPts val="0"/>
              </a:spcBef>
              <a:spcAft>
                <a:spcPts val="300"/>
              </a:spcAft>
              <a:defRPr sz="1200" b="1">
                <a:solidFill>
                  <a:srgbClr val="16745C"/>
                </a:solidFill>
                <a:latin typeface="Noto Sans CJK KR"/>
              </a:defRPr>
            </a:pPr>
            <a:r>
              <a:t>CBP  /  탄소예산 기반 파렛트 회수예약</a:t>
            </a:r>
          </a:p>
        </p:txBody>
      </p:sp>
      <p:sp>
        <p:nvSpPr>
          <p:cNvPr id="3" name="TextBox 2"/>
          <p:cNvSpPr txBox="1"/>
          <p:nvPr/>
        </p:nvSpPr>
        <p:spPr>
          <a:xfrm>
            <a:off x="13075920" y="274320"/>
            <a:ext cx="960120" cy="274320"/>
          </a:xfrm>
          <a:prstGeom prst="rect">
            <a:avLst/>
          </a:prstGeom>
          <a:noFill/>
        </p:spPr>
        <p:txBody>
          <a:bodyPr wrap="square" lIns="0" rIns="0" tIns="0" bIns="0">
            <a:spAutoFit/>
          </a:bodyPr>
          <a:lstStyle/>
          <a:p>
            <a:pPr algn="r">
              <a:lnSpc>
                <a:spcPct val="112000"/>
              </a:lnSpc>
              <a:spcBef>
                <a:spcPts val="0"/>
              </a:spcBef>
              <a:spcAft>
                <a:spcPts val="300"/>
              </a:spcAft>
              <a:defRPr sz="1200" b="1">
                <a:solidFill>
                  <a:srgbClr val="69756E"/>
                </a:solidFill>
                <a:latin typeface="Noto Sans CJK KR"/>
              </a:defRPr>
            </a:pPr>
            <a:r>
              <a:t>05 / 06</a:t>
            </a:r>
          </a:p>
        </p:txBody>
      </p:sp>
      <p:sp>
        <p:nvSpPr>
          <p:cNvPr id="4" name="TextBox 3"/>
          <p:cNvSpPr txBox="1"/>
          <p:nvPr/>
        </p:nvSpPr>
        <p:spPr>
          <a:xfrm>
            <a:off x="594360" y="804672"/>
            <a:ext cx="13395960" cy="1088136"/>
          </a:xfrm>
          <a:prstGeom prst="rect">
            <a:avLst/>
          </a:prstGeom>
          <a:noFill/>
        </p:spPr>
        <p:txBody>
          <a:bodyPr wrap="square" lIns="0" rIns="0" tIns="0" bIns="0">
            <a:spAutoFit/>
          </a:bodyPr>
          <a:lstStyle/>
          <a:p>
            <a:pPr>
              <a:lnSpc>
                <a:spcPct val="112000"/>
              </a:lnSpc>
              <a:spcBef>
                <a:spcPts val="0"/>
              </a:spcBef>
              <a:spcAft>
                <a:spcPts val="300"/>
              </a:spcAft>
              <a:defRPr sz="3400" b="1">
                <a:solidFill>
                  <a:srgbClr val="172825"/>
                </a:solidFill>
                <a:latin typeface="Noto Sans CJK KR"/>
              </a:defRPr>
            </a:pPr>
            <a:r>
              <a:t>예약된 160매와</a:t>
            </a:r>
          </a:p>
          <a:p>
            <a:pPr>
              <a:lnSpc>
                <a:spcPct val="112000"/>
              </a:lnSpc>
              <a:spcBef>
                <a:spcPts val="0"/>
              </a:spcBef>
              <a:spcAft>
                <a:spcPts val="300"/>
              </a:spcAft>
              <a:defRPr sz="3400" b="1">
                <a:solidFill>
                  <a:srgbClr val="172825"/>
                </a:solidFill>
                <a:latin typeface="Noto Sans CJK KR"/>
              </a:defRPr>
            </a:pPr>
            <a:r>
              <a:t>실제로 도착한 160매는 다릅니다.</a:t>
            </a:r>
          </a:p>
        </p:txBody>
      </p:sp>
      <p:sp>
        <p:nvSpPr>
          <p:cNvPr id="5" name="TextBox 4"/>
          <p:cNvSpPr txBox="1"/>
          <p:nvPr/>
        </p:nvSpPr>
        <p:spPr>
          <a:xfrm>
            <a:off x="621792" y="1938528"/>
            <a:ext cx="13304520" cy="438912"/>
          </a:xfrm>
          <a:prstGeom prst="rect">
            <a:avLst/>
          </a:prstGeom>
          <a:noFill/>
        </p:spPr>
        <p:txBody>
          <a:bodyPr wrap="square" lIns="0" rIns="0" tIns="0" bIns="0">
            <a:spAutoFit/>
          </a:bodyPr>
          <a:lstStyle/>
          <a:p>
            <a:pPr>
              <a:lnSpc>
                <a:spcPct val="112000"/>
              </a:lnSpc>
              <a:spcBef>
                <a:spcPts val="0"/>
              </a:spcBef>
              <a:spcAft>
                <a:spcPts val="300"/>
              </a:spcAft>
              <a:defRPr sz="1700" b="0">
                <a:solidFill>
                  <a:srgbClr val="69756E"/>
                </a:solidFill>
                <a:latin typeface="Noto Sans CJK KR"/>
              </a:defRPr>
            </a:pPr>
            <a:r>
              <a:t>기다릴 수 있는 마지막 시각을 정하고, 실입고 기준으로 부족분만 대체 회수합니다.</a:t>
            </a:r>
          </a:p>
        </p:txBody>
      </p:sp>
      <p:cxnSp>
        <p:nvCxnSpPr>
          <p:cNvPr id="6" name="Connector 5"/>
          <p:cNvCxnSpPr/>
          <p:nvPr/>
        </p:nvCxnSpPr>
        <p:spPr>
          <a:xfrm>
            <a:off x="594360" y="7754112"/>
            <a:ext cx="13441680" cy="0"/>
          </a:xfrm>
          <a:prstGeom prst="line">
            <a:avLst/>
          </a:prstGeom>
          <a:ln w="12700">
            <a:solidFill>
              <a:srgbClr val="D9DED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3504" y="7891272"/>
            <a:ext cx="12618720" cy="182880"/>
          </a:xfrm>
          <a:prstGeom prst="rect">
            <a:avLst/>
          </a:prstGeom>
          <a:noFill/>
        </p:spPr>
        <p:txBody>
          <a:bodyPr wrap="square" lIns="0" rIns="0" tIns="0" bIns="0">
            <a:spAutoFit/>
          </a:bodyPr>
          <a:lstStyle/>
          <a:p>
            <a:pPr>
              <a:lnSpc>
                <a:spcPct val="112000"/>
              </a:lnSpc>
              <a:spcBef>
                <a:spcPts val="0"/>
              </a:spcBef>
              <a:spcAft>
                <a:spcPts val="300"/>
              </a:spcAft>
              <a:defRPr sz="1000" b="0">
                <a:solidFill>
                  <a:srgbClr val="69756E"/>
                </a:solidFill>
                <a:latin typeface="Noto Sans CJK KR"/>
              </a:defRPr>
            </a:pPr>
            <a:r>
              <a:t>두런두런  ·  제13회 유닛로드시스템(ULS) 창의성 공모전  ·  실패 대응</a:t>
            </a:r>
          </a:p>
        </p:txBody>
      </p:sp>
      <p:sp>
        <p:nvSpPr>
          <p:cNvPr id="8" name="Rounded Rectangle 7"/>
          <p:cNvSpPr/>
          <p:nvPr/>
        </p:nvSpPr>
        <p:spPr>
          <a:xfrm>
            <a:off x="667512" y="2660904"/>
            <a:ext cx="4626864" cy="4517136"/>
          </a:xfrm>
          <a:prstGeom prst="roundRect">
            <a:avLst>
              <a:gd name="adj" fmla="val 4500"/>
            </a:avLst>
          </a:prstGeom>
          <a:solidFill>
            <a:srgbClr val="172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935224"/>
            <a:ext cx="3977639" cy="374904"/>
          </a:xfrm>
          <a:prstGeom prst="rect">
            <a:avLst/>
          </a:prstGeom>
          <a:noFill/>
        </p:spPr>
        <p:txBody>
          <a:bodyPr wrap="square" lIns="0" rIns="0" tIns="0" bIns="0">
            <a:spAutoFit/>
          </a:bodyPr>
          <a:lstStyle/>
          <a:p>
            <a:pPr>
              <a:lnSpc>
                <a:spcPct val="112000"/>
              </a:lnSpc>
              <a:spcBef>
                <a:spcPts val="0"/>
              </a:spcBef>
              <a:spcAft>
                <a:spcPts val="300"/>
              </a:spcAft>
              <a:defRPr sz="2300" b="1">
                <a:solidFill>
                  <a:srgbClr val="B8C7BD"/>
                </a:solidFill>
                <a:latin typeface="Noto Sans CJK KR"/>
              </a:defRPr>
            </a:pPr>
            <a:r>
              <a:t>대체회수 결정 시각</a:t>
            </a:r>
          </a:p>
        </p:txBody>
      </p:sp>
      <p:sp>
        <p:nvSpPr>
          <p:cNvPr id="10" name="TextBox 9"/>
          <p:cNvSpPr txBox="1"/>
          <p:nvPr/>
        </p:nvSpPr>
        <p:spPr>
          <a:xfrm>
            <a:off x="914400" y="3493008"/>
            <a:ext cx="4041648" cy="1097280"/>
          </a:xfrm>
          <a:prstGeom prst="rect">
            <a:avLst/>
          </a:prstGeom>
          <a:noFill/>
        </p:spPr>
        <p:txBody>
          <a:bodyPr wrap="square" lIns="0" rIns="0" tIns="0" bIns="0">
            <a:spAutoFit/>
          </a:bodyPr>
          <a:lstStyle/>
          <a:p>
            <a:pPr>
              <a:lnSpc>
                <a:spcPct val="112000"/>
              </a:lnSpc>
              <a:spcBef>
                <a:spcPts val="0"/>
              </a:spcBef>
              <a:spcAft>
                <a:spcPts val="300"/>
              </a:spcAft>
              <a:defRPr sz="7000" b="1">
                <a:solidFill>
                  <a:srgbClr val="DDF485"/>
                </a:solidFill>
                <a:latin typeface="Noto Sans CJK KR"/>
              </a:defRPr>
            </a:pPr>
            <a:r>
              <a:t>14:00</a:t>
            </a:r>
          </a:p>
        </p:txBody>
      </p:sp>
      <p:sp>
        <p:nvSpPr>
          <p:cNvPr id="11" name="TextBox 10"/>
          <p:cNvSpPr txBox="1"/>
          <p:nvPr/>
        </p:nvSpPr>
        <p:spPr>
          <a:xfrm>
            <a:off x="987552" y="4965192"/>
            <a:ext cx="3858768" cy="1207008"/>
          </a:xfrm>
          <a:prstGeom prst="rect">
            <a:avLst/>
          </a:prstGeom>
          <a:noFill/>
        </p:spPr>
        <p:txBody>
          <a:bodyPr wrap="square" lIns="0" rIns="0" tIns="0" bIns="0">
            <a:spAutoFit/>
          </a:bodyPr>
          <a:lstStyle/>
          <a:p>
            <a:pPr>
              <a:lnSpc>
                <a:spcPct val="112000"/>
              </a:lnSpc>
              <a:spcBef>
                <a:spcPts val="0"/>
              </a:spcBef>
              <a:spcAft>
                <a:spcPts val="300"/>
              </a:spcAft>
              <a:defRPr sz="2200" b="0">
                <a:solidFill>
                  <a:srgbClr val="FFFFFF"/>
                </a:solidFill>
                <a:latin typeface="Noto Sans CJK KR"/>
              </a:defRPr>
            </a:pPr>
            <a:r>
              <a:t>필요 시각 16:00</a:t>
            </a:r>
          </a:p>
          <a:p>
            <a:pPr>
              <a:lnSpc>
                <a:spcPct val="112000"/>
              </a:lnSpc>
              <a:spcBef>
                <a:spcPts val="0"/>
              </a:spcBef>
              <a:spcAft>
                <a:spcPts val="300"/>
              </a:spcAft>
              <a:defRPr sz="2200" b="0">
                <a:solidFill>
                  <a:srgbClr val="FFFFFF"/>
                </a:solidFill>
                <a:latin typeface="Noto Sans CJK KR"/>
              </a:defRPr>
            </a:pPr>
            <a:r>
              <a:t>− 대체 회수 90분</a:t>
            </a:r>
          </a:p>
          <a:p>
            <a:pPr>
              <a:lnSpc>
                <a:spcPct val="112000"/>
              </a:lnSpc>
              <a:spcBef>
                <a:spcPts val="0"/>
              </a:spcBef>
              <a:spcAft>
                <a:spcPts val="300"/>
              </a:spcAft>
              <a:defRPr sz="2200" b="0">
                <a:solidFill>
                  <a:srgbClr val="FFFFFF"/>
                </a:solidFill>
                <a:latin typeface="Noto Sans CJK KR"/>
              </a:defRPr>
            </a:pPr>
            <a:r>
              <a:t>− 여유 시간 30분</a:t>
            </a:r>
          </a:p>
        </p:txBody>
      </p:sp>
      <p:sp>
        <p:nvSpPr>
          <p:cNvPr id="12" name="TextBox 11"/>
          <p:cNvSpPr txBox="1"/>
          <p:nvPr/>
        </p:nvSpPr>
        <p:spPr>
          <a:xfrm>
            <a:off x="987552" y="6684264"/>
            <a:ext cx="3840480" cy="237744"/>
          </a:xfrm>
          <a:prstGeom prst="rect">
            <a:avLst/>
          </a:prstGeom>
          <a:noFill/>
        </p:spPr>
        <p:txBody>
          <a:bodyPr wrap="square" lIns="0" rIns="0" tIns="0" bIns="0">
            <a:spAutoFit/>
          </a:bodyPr>
          <a:lstStyle/>
          <a:p>
            <a:pPr>
              <a:lnSpc>
                <a:spcPct val="112000"/>
              </a:lnSpc>
              <a:spcBef>
                <a:spcPts val="0"/>
              </a:spcBef>
              <a:spcAft>
                <a:spcPts val="300"/>
              </a:spcAft>
              <a:defRPr sz="1200" b="0">
                <a:solidFill>
                  <a:srgbClr val="B8C7BD"/>
                </a:solidFill>
                <a:latin typeface="Noto Sans CJK KR"/>
              </a:defRPr>
            </a:pPr>
            <a:r>
              <a:t>운송 소요시간은 현장 입력값</a:t>
            </a:r>
          </a:p>
        </p:txBody>
      </p:sp>
      <p:sp>
        <p:nvSpPr>
          <p:cNvPr id="13" name="Rounded Rectangle 12"/>
          <p:cNvSpPr/>
          <p:nvPr/>
        </p:nvSpPr>
        <p:spPr>
          <a:xfrm>
            <a:off x="5669280" y="2660904"/>
            <a:ext cx="8284464" cy="1024128"/>
          </a:xfrm>
          <a:prstGeom prst="roundRect">
            <a:avLst>
              <a:gd name="adj" fmla="val 4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0" y="2871216"/>
            <a:ext cx="2423160" cy="292608"/>
          </a:xfrm>
          <a:prstGeom prst="rect">
            <a:avLst/>
          </a:prstGeom>
          <a:noFill/>
        </p:spPr>
        <p:txBody>
          <a:bodyPr wrap="square" lIns="0" rIns="0" tIns="0" bIns="0">
            <a:spAutoFit/>
          </a:bodyPr>
          <a:lstStyle/>
          <a:p>
            <a:pPr>
              <a:lnSpc>
                <a:spcPct val="112000"/>
              </a:lnSpc>
              <a:spcBef>
                <a:spcPts val="0"/>
              </a:spcBef>
              <a:spcAft>
                <a:spcPts val="300"/>
              </a:spcAft>
              <a:defRPr sz="1800" b="1">
                <a:solidFill>
                  <a:srgbClr val="172825"/>
                </a:solidFill>
                <a:latin typeface="Noto Sans CJK KR"/>
              </a:defRPr>
            </a:pPr>
            <a:r>
              <a:t>14시 실입고 확인</a:t>
            </a:r>
          </a:p>
        </p:txBody>
      </p:sp>
      <p:sp>
        <p:nvSpPr>
          <p:cNvPr id="15" name="TextBox 14"/>
          <p:cNvSpPr txBox="1"/>
          <p:nvPr/>
        </p:nvSpPr>
        <p:spPr>
          <a:xfrm>
            <a:off x="8476488" y="2825496"/>
            <a:ext cx="5029200" cy="438912"/>
          </a:xfrm>
          <a:prstGeom prst="rect">
            <a:avLst/>
          </a:prstGeom>
          <a:noFill/>
        </p:spPr>
        <p:txBody>
          <a:bodyPr wrap="square" lIns="0" rIns="0" tIns="0" bIns="0">
            <a:spAutoFit/>
          </a:bodyPr>
          <a:lstStyle/>
          <a:p>
            <a:pPr>
              <a:lnSpc>
                <a:spcPct val="112000"/>
              </a:lnSpc>
              <a:spcBef>
                <a:spcPts val="0"/>
              </a:spcBef>
              <a:spcAft>
                <a:spcPts val="300"/>
              </a:spcAft>
              <a:defRPr sz="2400" b="1">
                <a:solidFill>
                  <a:srgbClr val="F36A42"/>
                </a:solidFill>
                <a:latin typeface="Noto Sans CJK KR"/>
              </a:defRPr>
            </a:pPr>
            <a:r>
              <a:t>100매 도착 / 60매 미도착</a:t>
            </a:r>
          </a:p>
        </p:txBody>
      </p:sp>
      <p:sp>
        <p:nvSpPr>
          <p:cNvPr id="16" name="Down Arrow 15"/>
          <p:cNvSpPr/>
          <p:nvPr/>
        </p:nvSpPr>
        <p:spPr>
          <a:xfrm>
            <a:off x="9674352" y="3776472"/>
            <a:ext cx="274320" cy="393192"/>
          </a:xfrm>
          <a:prstGeom prst="downArrow">
            <a:avLst/>
          </a:prstGeom>
          <a:solidFill>
            <a:srgbClr val="F36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669280" y="4297680"/>
            <a:ext cx="8284464" cy="1344168"/>
          </a:xfrm>
          <a:prstGeom prst="roundRect">
            <a:avLst>
              <a:gd name="adj" fmla="val 4500"/>
            </a:avLst>
          </a:prstGeom>
          <a:solidFill>
            <a:srgbClr val="FBE9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61888" y="4526280"/>
            <a:ext cx="7269480" cy="438912"/>
          </a:xfrm>
          <a:prstGeom prst="rect">
            <a:avLst/>
          </a:prstGeom>
          <a:noFill/>
        </p:spPr>
        <p:txBody>
          <a:bodyPr wrap="square" lIns="0" rIns="0" tIns="0" bIns="0">
            <a:spAutoFit/>
          </a:bodyPr>
          <a:lstStyle/>
          <a:p>
            <a:pPr>
              <a:lnSpc>
                <a:spcPct val="112000"/>
              </a:lnSpc>
              <a:spcBef>
                <a:spcPts val="0"/>
              </a:spcBef>
              <a:spcAft>
                <a:spcPts val="300"/>
              </a:spcAft>
              <a:defRPr sz="2800" b="1">
                <a:solidFill>
                  <a:srgbClr val="9B3A1C"/>
                </a:solidFill>
                <a:latin typeface="Noto Sans CJK KR"/>
              </a:defRPr>
            </a:pPr>
            <a:r>
              <a:t>부족한 60매만 대체 회수</a:t>
            </a:r>
          </a:p>
        </p:txBody>
      </p:sp>
      <p:sp>
        <p:nvSpPr>
          <p:cNvPr id="19" name="TextBox 18"/>
          <p:cNvSpPr txBox="1"/>
          <p:nvPr/>
        </p:nvSpPr>
        <p:spPr>
          <a:xfrm>
            <a:off x="5971032" y="5084064"/>
            <a:ext cx="7269480" cy="283464"/>
          </a:xfrm>
          <a:prstGeom prst="rect">
            <a:avLst/>
          </a:prstGeom>
          <a:noFill/>
        </p:spPr>
        <p:txBody>
          <a:bodyPr wrap="square" lIns="0" rIns="0" tIns="0" bIns="0">
            <a:spAutoFit/>
          </a:bodyPr>
          <a:lstStyle/>
          <a:p>
            <a:pPr>
              <a:lnSpc>
                <a:spcPct val="112000"/>
              </a:lnSpc>
              <a:spcBef>
                <a:spcPts val="0"/>
              </a:spcBef>
              <a:spcAft>
                <a:spcPts val="300"/>
              </a:spcAft>
              <a:defRPr sz="1600" b="0">
                <a:solidFill>
                  <a:srgbClr val="172825"/>
                </a:solidFill>
                <a:latin typeface="Noto Sans CJK KR"/>
              </a:defRPr>
            </a:pPr>
            <a:r>
              <a:t>예약 상태 확인 → 취소·변경 처리 → 대체 거점·차량 배차</a:t>
            </a:r>
          </a:p>
        </p:txBody>
      </p:sp>
      <p:sp>
        <p:nvSpPr>
          <p:cNvPr id="20" name="TextBox 19"/>
          <p:cNvSpPr txBox="1"/>
          <p:nvPr/>
        </p:nvSpPr>
        <p:spPr>
          <a:xfrm>
            <a:off x="5760720" y="5998464"/>
            <a:ext cx="7982712" cy="749808"/>
          </a:xfrm>
          <a:prstGeom prst="rect">
            <a:avLst/>
          </a:prstGeom>
          <a:noFill/>
        </p:spPr>
        <p:txBody>
          <a:bodyPr wrap="square" lIns="0" rIns="0" tIns="0" bIns="0">
            <a:spAutoFit/>
          </a:bodyPr>
          <a:lstStyle/>
          <a:p>
            <a:pPr>
              <a:lnSpc>
                <a:spcPct val="112000"/>
              </a:lnSpc>
              <a:spcBef>
                <a:spcPts val="0"/>
              </a:spcBef>
              <a:spcAft>
                <a:spcPts val="300"/>
              </a:spcAft>
              <a:defRPr sz="1900" b="0">
                <a:solidFill>
                  <a:srgbClr val="172825"/>
                </a:solidFill>
                <a:latin typeface="Noto Sans CJK KR"/>
              </a:defRPr>
            </a:pPr>
            <a:r>
              <a:t>대체 재고·차량을 사전 확보할 수 있어야 적용합니다.</a:t>
            </a:r>
          </a:p>
          <a:p>
            <a:pPr>
              <a:lnSpc>
                <a:spcPct val="112000"/>
              </a:lnSpc>
              <a:spcBef>
                <a:spcPts val="0"/>
              </a:spcBef>
              <a:spcAft>
                <a:spcPts val="300"/>
              </a:spcAft>
              <a:defRPr sz="1900" b="0">
                <a:solidFill>
                  <a:srgbClr val="172825"/>
                </a:solidFill>
                <a:latin typeface="Noto Sans CJK KR"/>
              </a:defRPr>
            </a:pPr>
            <a:r>
              <a:t>예산 초과가 예상되면 초과량과 함께 승인을 요청합니다.</a:t>
            </a:r>
          </a:p>
        </p:txBody>
      </p:sp>
      <p:sp>
        <p:nvSpPr>
          <p:cNvPr id="21" name="TextBox 20"/>
          <p:cNvSpPr txBox="1"/>
          <p:nvPr/>
        </p:nvSpPr>
        <p:spPr>
          <a:xfrm>
            <a:off x="5760720" y="6995160"/>
            <a:ext cx="7982712" cy="283464"/>
          </a:xfrm>
          <a:prstGeom prst="rect">
            <a:avLst/>
          </a:prstGeom>
          <a:noFill/>
        </p:spPr>
        <p:txBody>
          <a:bodyPr wrap="square" lIns="0" rIns="0" tIns="0" bIns="0">
            <a:spAutoFit/>
          </a:bodyPr>
          <a:lstStyle/>
          <a:p>
            <a:pPr>
              <a:lnSpc>
                <a:spcPct val="112000"/>
              </a:lnSpc>
              <a:spcBef>
                <a:spcPts val="0"/>
              </a:spcBef>
              <a:spcAft>
                <a:spcPts val="300"/>
              </a:spcAft>
              <a:defRPr sz="1500" b="0">
                <a:solidFill>
                  <a:srgbClr val="69756E"/>
                </a:solidFill>
                <a:latin typeface="Noto Sans CJK KR"/>
              </a:defRPr>
            </a:pPr>
            <a:r>
              <a:t>지연된 원래 차량의 물량도 추적해 중복 회수를 정리합니다.</a:t>
            </a:r>
          </a:p>
        </p:txBody>
      </p:sp>
      <p:sp>
        <p:nvSpPr>
          <p:cNvPr id="22" name="TextBox 21"/>
          <p:cNvSpPr txBox="1"/>
          <p:nvPr/>
        </p:nvSpPr>
        <p:spPr>
          <a:xfrm>
            <a:off x="704088" y="7470648"/>
            <a:ext cx="13258800" cy="164592"/>
          </a:xfrm>
          <a:prstGeom prst="rect">
            <a:avLst/>
          </a:prstGeom>
          <a:noFill/>
        </p:spPr>
        <p:txBody>
          <a:bodyPr wrap="square" lIns="0" rIns="0" tIns="0" bIns="0">
            <a:spAutoFit/>
          </a:bodyPr>
          <a:lstStyle/>
          <a:p>
            <a:pPr>
              <a:lnSpc>
                <a:spcPct val="112000"/>
              </a:lnSpc>
              <a:spcBef>
                <a:spcPts val="0"/>
              </a:spcBef>
              <a:spcAft>
                <a:spcPts val="300"/>
              </a:spcAft>
              <a:defRPr sz="1000" b="0">
                <a:solidFill>
                  <a:srgbClr val="69756E"/>
                </a:solidFill>
                <a:latin typeface="Noto Sans CJK KR"/>
              </a:defRPr>
            </a:pPr>
            <a:r>
              <a:t>90분·30분은 가정입니다. 대체 공급이 불가능하거나 소요시간이 늘면 기한 준수를 보장할 수 없으며, 즉시 운영자에게 알립니다.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72825"/>
        </a:solidFill>
        <a:effectLst/>
      </p:bgPr>
    </p:bg>
    <p:spTree>
      <p:nvGrpSpPr>
        <p:cNvPr id="1" name=""/>
        <p:cNvGrpSpPr/>
        <p:nvPr/>
      </p:nvGrpSpPr>
      <p:grpSpPr/>
      <p:sp>
        <p:nvSpPr>
          <p:cNvPr id="2" name="TextBox 1"/>
          <p:cNvSpPr txBox="1"/>
          <p:nvPr/>
        </p:nvSpPr>
        <p:spPr>
          <a:xfrm>
            <a:off x="594360" y="274320"/>
            <a:ext cx="10972800" cy="274320"/>
          </a:xfrm>
          <a:prstGeom prst="rect">
            <a:avLst/>
          </a:prstGeom>
          <a:noFill/>
        </p:spPr>
        <p:txBody>
          <a:bodyPr wrap="square" lIns="0" rIns="0" tIns="0" bIns="0">
            <a:spAutoFit/>
          </a:bodyPr>
          <a:lstStyle/>
          <a:p>
            <a:pPr>
              <a:lnSpc>
                <a:spcPct val="112000"/>
              </a:lnSpc>
              <a:spcBef>
                <a:spcPts val="0"/>
              </a:spcBef>
              <a:spcAft>
                <a:spcPts val="300"/>
              </a:spcAft>
              <a:defRPr sz="1200" b="1">
                <a:solidFill>
                  <a:srgbClr val="DDF485"/>
                </a:solidFill>
                <a:latin typeface="Noto Sans CJK KR"/>
              </a:defRPr>
            </a:pPr>
            <a:r>
              <a:t>CBP  /  탄소예산 기반 파렛트 회수예약</a:t>
            </a:r>
          </a:p>
        </p:txBody>
      </p:sp>
      <p:sp>
        <p:nvSpPr>
          <p:cNvPr id="3" name="TextBox 2"/>
          <p:cNvSpPr txBox="1"/>
          <p:nvPr/>
        </p:nvSpPr>
        <p:spPr>
          <a:xfrm>
            <a:off x="13075920" y="274320"/>
            <a:ext cx="960120" cy="274320"/>
          </a:xfrm>
          <a:prstGeom prst="rect">
            <a:avLst/>
          </a:prstGeom>
          <a:noFill/>
        </p:spPr>
        <p:txBody>
          <a:bodyPr wrap="square" lIns="0" rIns="0" tIns="0" bIns="0">
            <a:spAutoFit/>
          </a:bodyPr>
          <a:lstStyle/>
          <a:p>
            <a:pPr algn="r">
              <a:lnSpc>
                <a:spcPct val="112000"/>
              </a:lnSpc>
              <a:spcBef>
                <a:spcPts val="0"/>
              </a:spcBef>
              <a:spcAft>
                <a:spcPts val="300"/>
              </a:spcAft>
              <a:defRPr sz="1200" b="1">
                <a:solidFill>
                  <a:srgbClr val="B8C7BD"/>
                </a:solidFill>
                <a:latin typeface="Noto Sans CJK KR"/>
              </a:defRPr>
            </a:pPr>
            <a:r>
              <a:t>06 / 06</a:t>
            </a:r>
          </a:p>
        </p:txBody>
      </p:sp>
      <p:sp>
        <p:nvSpPr>
          <p:cNvPr id="4" name="TextBox 3"/>
          <p:cNvSpPr txBox="1"/>
          <p:nvPr/>
        </p:nvSpPr>
        <p:spPr>
          <a:xfrm>
            <a:off x="594360" y="804672"/>
            <a:ext cx="13395960" cy="1088136"/>
          </a:xfrm>
          <a:prstGeom prst="rect">
            <a:avLst/>
          </a:prstGeom>
          <a:noFill/>
        </p:spPr>
        <p:txBody>
          <a:bodyPr wrap="square" lIns="0" rIns="0" tIns="0" bIns="0">
            <a:spAutoFit/>
          </a:bodyPr>
          <a:lstStyle/>
          <a:p>
            <a:pPr>
              <a:lnSpc>
                <a:spcPct val="112000"/>
              </a:lnSpc>
              <a:spcBef>
                <a:spcPts val="0"/>
              </a:spcBef>
              <a:spcAft>
                <a:spcPts val="300"/>
              </a:spcAft>
              <a:defRPr sz="3400" b="1">
                <a:solidFill>
                  <a:srgbClr val="FFFFFF"/>
                </a:solidFill>
                <a:latin typeface="Noto Sans CJK KR"/>
              </a:defRPr>
            </a:pPr>
            <a:r>
              <a:t>빈 파렛트도,</a:t>
            </a:r>
          </a:p>
          <a:p>
            <a:pPr>
              <a:lnSpc>
                <a:spcPct val="112000"/>
              </a:lnSpc>
              <a:spcBef>
                <a:spcPts val="0"/>
              </a:spcBef>
              <a:spcAft>
                <a:spcPts val="300"/>
              </a:spcAft>
              <a:defRPr sz="3400" b="1">
                <a:solidFill>
                  <a:srgbClr val="FFFFFF"/>
                </a:solidFill>
                <a:latin typeface="Noto Sans CJK KR"/>
              </a:defRPr>
            </a:pPr>
            <a:r>
              <a:t>돌아올 시간부터 예약합니다.</a:t>
            </a:r>
          </a:p>
        </p:txBody>
      </p:sp>
      <p:cxnSp>
        <p:nvCxnSpPr>
          <p:cNvPr id="5" name="Connector 4"/>
          <p:cNvCxnSpPr/>
          <p:nvPr/>
        </p:nvCxnSpPr>
        <p:spPr>
          <a:xfrm>
            <a:off x="594360" y="7754112"/>
            <a:ext cx="13441680" cy="0"/>
          </a:xfrm>
          <a:prstGeom prst="line">
            <a:avLst/>
          </a:prstGeom>
          <a:ln w="12700">
            <a:solidFill>
              <a:srgbClr val="395348"/>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3504" y="7891272"/>
            <a:ext cx="12618720" cy="182880"/>
          </a:xfrm>
          <a:prstGeom prst="rect">
            <a:avLst/>
          </a:prstGeom>
          <a:noFill/>
        </p:spPr>
        <p:txBody>
          <a:bodyPr wrap="square" lIns="0" rIns="0" tIns="0" bIns="0">
            <a:spAutoFit/>
          </a:bodyPr>
          <a:lstStyle/>
          <a:p>
            <a:pPr>
              <a:lnSpc>
                <a:spcPct val="112000"/>
              </a:lnSpc>
              <a:spcBef>
                <a:spcPts val="0"/>
              </a:spcBef>
              <a:spcAft>
                <a:spcPts val="300"/>
              </a:spcAft>
              <a:defRPr sz="1000" b="0">
                <a:solidFill>
                  <a:srgbClr val="B8C7BD"/>
                </a:solidFill>
                <a:latin typeface="Noto Sans CJK KR"/>
              </a:defRPr>
            </a:pPr>
            <a:r>
              <a:t>두런두런  ·  제13회 유닛로드시스템(ULS) 창의성 공모전  ·  실행과 검증</a:t>
            </a:r>
          </a:p>
        </p:txBody>
      </p:sp>
      <p:sp>
        <p:nvSpPr>
          <p:cNvPr id="7" name="TextBox 6"/>
          <p:cNvSpPr txBox="1"/>
          <p:nvPr/>
        </p:nvSpPr>
        <p:spPr>
          <a:xfrm>
            <a:off x="658368" y="2157984"/>
            <a:ext cx="13258800" cy="393192"/>
          </a:xfrm>
          <a:prstGeom prst="rect">
            <a:avLst/>
          </a:prstGeom>
          <a:noFill/>
        </p:spPr>
        <p:txBody>
          <a:bodyPr wrap="square" lIns="0" rIns="0" tIns="0" bIns="0">
            <a:spAutoFit/>
          </a:bodyPr>
          <a:lstStyle/>
          <a:p>
            <a:pPr>
              <a:lnSpc>
                <a:spcPct val="112000"/>
              </a:lnSpc>
              <a:spcBef>
                <a:spcPts val="0"/>
              </a:spcBef>
              <a:spcAft>
                <a:spcPts val="300"/>
              </a:spcAft>
              <a:defRPr sz="2000" b="0">
                <a:solidFill>
                  <a:srgbClr val="B8C7BD"/>
                </a:solidFill>
                <a:latin typeface="Noto Sans CJK KR"/>
              </a:defRPr>
            </a:pPr>
            <a:r>
              <a:t>첫 적용은 동일 풀링사의 2~3개 거점. 출고·재고·복귀편 정보와 담당자 승인으로 시작합니다.</a:t>
            </a:r>
          </a:p>
        </p:txBody>
      </p:sp>
      <p:sp>
        <p:nvSpPr>
          <p:cNvPr id="8" name="Rounded Rectangle 7"/>
          <p:cNvSpPr/>
          <p:nvPr/>
        </p:nvSpPr>
        <p:spPr>
          <a:xfrm>
            <a:off x="667512" y="2990088"/>
            <a:ext cx="4270248" cy="2551176"/>
          </a:xfrm>
          <a:prstGeom prst="roundRect">
            <a:avLst>
              <a:gd name="adj" fmla="val 5000"/>
            </a:avLst>
          </a:prstGeom>
          <a:solidFill>
            <a:srgbClr val="213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3236976"/>
            <a:ext cx="3739896" cy="338328"/>
          </a:xfrm>
          <a:prstGeom prst="rect">
            <a:avLst/>
          </a:prstGeom>
          <a:noFill/>
        </p:spPr>
        <p:txBody>
          <a:bodyPr wrap="square" lIns="0" rIns="0" tIns="0" bIns="0">
            <a:spAutoFit/>
          </a:bodyPr>
          <a:lstStyle/>
          <a:p>
            <a:pPr>
              <a:lnSpc>
                <a:spcPct val="112000"/>
              </a:lnSpc>
              <a:spcBef>
                <a:spcPts val="0"/>
              </a:spcBef>
              <a:spcAft>
                <a:spcPts val="300"/>
              </a:spcAft>
              <a:defRPr sz="2000" b="1">
                <a:solidFill>
                  <a:srgbClr val="DDF485"/>
                </a:solidFill>
                <a:latin typeface="Noto Sans CJK KR"/>
              </a:defRPr>
            </a:pPr>
            <a:r>
              <a:t>01</a:t>
            </a:r>
          </a:p>
        </p:txBody>
      </p:sp>
      <p:sp>
        <p:nvSpPr>
          <p:cNvPr id="10" name="TextBox 9"/>
          <p:cNvSpPr txBox="1"/>
          <p:nvPr/>
        </p:nvSpPr>
        <p:spPr>
          <a:xfrm>
            <a:off x="932688" y="3785615"/>
            <a:ext cx="3739896" cy="438912"/>
          </a:xfrm>
          <a:prstGeom prst="rect">
            <a:avLst/>
          </a:prstGeom>
          <a:noFill/>
        </p:spPr>
        <p:txBody>
          <a:bodyPr wrap="square" lIns="0" rIns="0" tIns="0" bIns="0">
            <a:spAutoFit/>
          </a:bodyPr>
          <a:lstStyle/>
          <a:p>
            <a:pPr>
              <a:lnSpc>
                <a:spcPct val="112000"/>
              </a:lnSpc>
              <a:spcBef>
                <a:spcPts val="0"/>
              </a:spcBef>
              <a:spcAft>
                <a:spcPts val="300"/>
              </a:spcAft>
              <a:defRPr sz="2600" b="1">
                <a:solidFill>
                  <a:srgbClr val="FFFFFF"/>
                </a:solidFill>
                <a:latin typeface="Noto Sans CJK KR"/>
              </a:defRPr>
            </a:pPr>
            <a:r>
              <a:t>출고를 지켰나</a:t>
            </a:r>
          </a:p>
        </p:txBody>
      </p:sp>
      <p:sp>
        <p:nvSpPr>
          <p:cNvPr id="11" name="TextBox 10"/>
          <p:cNvSpPr txBox="1"/>
          <p:nvPr/>
        </p:nvSpPr>
        <p:spPr>
          <a:xfrm>
            <a:off x="941832" y="4562856"/>
            <a:ext cx="3712463" cy="713232"/>
          </a:xfrm>
          <a:prstGeom prst="rect">
            <a:avLst/>
          </a:prstGeom>
          <a:noFill/>
        </p:spPr>
        <p:txBody>
          <a:bodyPr wrap="square" lIns="0" rIns="0" tIns="0" bIns="0">
            <a:spAutoFit/>
          </a:bodyPr>
          <a:lstStyle/>
          <a:p>
            <a:pPr>
              <a:lnSpc>
                <a:spcPct val="112000"/>
              </a:lnSpc>
              <a:spcBef>
                <a:spcPts val="0"/>
              </a:spcBef>
              <a:spcAft>
                <a:spcPts val="300"/>
              </a:spcAft>
              <a:defRPr sz="1800" b="0">
                <a:solidFill>
                  <a:srgbClr val="B8C7BD"/>
                </a:solidFill>
                <a:latin typeface="Noto Sans CJK KR"/>
              </a:defRPr>
            </a:pPr>
            <a:r>
              <a:t>기한 내 실제 입고량</a:t>
            </a:r>
          </a:p>
          <a:p>
            <a:pPr>
              <a:lnSpc>
                <a:spcPct val="112000"/>
              </a:lnSpc>
              <a:spcBef>
                <a:spcPts val="0"/>
              </a:spcBef>
              <a:spcAft>
                <a:spcPts val="300"/>
              </a:spcAft>
              <a:defRPr sz="1800" b="0">
                <a:solidFill>
                  <a:srgbClr val="B8C7BD"/>
                </a:solidFill>
                <a:latin typeface="Noto Sans CJK KR"/>
              </a:defRPr>
            </a:pPr>
            <a:r>
              <a:t>납기 미준수 건수</a:t>
            </a:r>
          </a:p>
        </p:txBody>
      </p:sp>
      <p:sp>
        <p:nvSpPr>
          <p:cNvPr id="12" name="Rounded Rectangle 11"/>
          <p:cNvSpPr/>
          <p:nvPr/>
        </p:nvSpPr>
        <p:spPr>
          <a:xfrm>
            <a:off x="5175504" y="2990088"/>
            <a:ext cx="4270248" cy="2551176"/>
          </a:xfrm>
          <a:prstGeom prst="roundRect">
            <a:avLst>
              <a:gd name="adj" fmla="val 5000"/>
            </a:avLst>
          </a:prstGeom>
          <a:solidFill>
            <a:srgbClr val="213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40680" y="3236976"/>
            <a:ext cx="3739896" cy="338328"/>
          </a:xfrm>
          <a:prstGeom prst="rect">
            <a:avLst/>
          </a:prstGeom>
          <a:noFill/>
        </p:spPr>
        <p:txBody>
          <a:bodyPr wrap="square" lIns="0" rIns="0" tIns="0" bIns="0">
            <a:spAutoFit/>
          </a:bodyPr>
          <a:lstStyle/>
          <a:p>
            <a:pPr>
              <a:lnSpc>
                <a:spcPct val="112000"/>
              </a:lnSpc>
              <a:spcBef>
                <a:spcPts val="0"/>
              </a:spcBef>
              <a:spcAft>
                <a:spcPts val="300"/>
              </a:spcAft>
              <a:defRPr sz="2000" b="1">
                <a:solidFill>
                  <a:srgbClr val="DDF485"/>
                </a:solidFill>
                <a:latin typeface="Noto Sans CJK KR"/>
              </a:defRPr>
            </a:pPr>
            <a:r>
              <a:t>02</a:t>
            </a:r>
          </a:p>
        </p:txBody>
      </p:sp>
      <p:sp>
        <p:nvSpPr>
          <p:cNvPr id="14" name="TextBox 13"/>
          <p:cNvSpPr txBox="1"/>
          <p:nvPr/>
        </p:nvSpPr>
        <p:spPr>
          <a:xfrm>
            <a:off x="5440680" y="3785615"/>
            <a:ext cx="3739896" cy="438912"/>
          </a:xfrm>
          <a:prstGeom prst="rect">
            <a:avLst/>
          </a:prstGeom>
          <a:noFill/>
        </p:spPr>
        <p:txBody>
          <a:bodyPr wrap="square" lIns="0" rIns="0" tIns="0" bIns="0">
            <a:spAutoFit/>
          </a:bodyPr>
          <a:lstStyle/>
          <a:p>
            <a:pPr>
              <a:lnSpc>
                <a:spcPct val="112000"/>
              </a:lnSpc>
              <a:spcBef>
                <a:spcPts val="0"/>
              </a:spcBef>
              <a:spcAft>
                <a:spcPts val="300"/>
              </a:spcAft>
              <a:defRPr sz="2600" b="1">
                <a:solidFill>
                  <a:srgbClr val="FFFFFF"/>
                </a:solidFill>
                <a:latin typeface="Noto Sans CJK KR"/>
              </a:defRPr>
            </a:pPr>
            <a:r>
              <a:t>총비용은 얼마인가</a:t>
            </a:r>
          </a:p>
        </p:txBody>
      </p:sp>
      <p:sp>
        <p:nvSpPr>
          <p:cNvPr id="15" name="TextBox 14"/>
          <p:cNvSpPr txBox="1"/>
          <p:nvPr/>
        </p:nvSpPr>
        <p:spPr>
          <a:xfrm>
            <a:off x="5449824" y="4562856"/>
            <a:ext cx="3712463" cy="713232"/>
          </a:xfrm>
          <a:prstGeom prst="rect">
            <a:avLst/>
          </a:prstGeom>
          <a:noFill/>
        </p:spPr>
        <p:txBody>
          <a:bodyPr wrap="square" lIns="0" rIns="0" tIns="0" bIns="0">
            <a:spAutoFit/>
          </a:bodyPr>
          <a:lstStyle/>
          <a:p>
            <a:pPr>
              <a:lnSpc>
                <a:spcPct val="112000"/>
              </a:lnSpc>
              <a:spcBef>
                <a:spcPts val="0"/>
              </a:spcBef>
              <a:spcAft>
                <a:spcPts val="300"/>
              </a:spcAft>
              <a:defRPr sz="1800" b="0">
                <a:solidFill>
                  <a:srgbClr val="B8C7BD"/>
                </a:solidFill>
                <a:latin typeface="Noto Sans CJK KR"/>
              </a:defRPr>
            </a:pPr>
            <a:r>
              <a:t>운송·우회·대기·상하차</a:t>
            </a:r>
          </a:p>
          <a:p>
            <a:pPr>
              <a:lnSpc>
                <a:spcPct val="112000"/>
              </a:lnSpc>
              <a:spcBef>
                <a:spcPts val="0"/>
              </a:spcBef>
              <a:spcAft>
                <a:spcPts val="300"/>
              </a:spcAft>
              <a:defRPr sz="1800" b="0">
                <a:solidFill>
                  <a:srgbClr val="B8C7BD"/>
                </a:solidFill>
                <a:latin typeface="Noto Sans CJK KR"/>
              </a:defRPr>
            </a:pPr>
            <a:r>
              <a:t>대체회수·예약 비용 포함</a:t>
            </a:r>
          </a:p>
        </p:txBody>
      </p:sp>
      <p:sp>
        <p:nvSpPr>
          <p:cNvPr id="16" name="Rounded Rectangle 15"/>
          <p:cNvSpPr/>
          <p:nvPr/>
        </p:nvSpPr>
        <p:spPr>
          <a:xfrm>
            <a:off x="9683496" y="2990088"/>
            <a:ext cx="4270248" cy="2551176"/>
          </a:xfrm>
          <a:prstGeom prst="roundRect">
            <a:avLst>
              <a:gd name="adj" fmla="val 5000"/>
            </a:avLst>
          </a:prstGeom>
          <a:solidFill>
            <a:srgbClr val="213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948672" y="3236976"/>
            <a:ext cx="3739896" cy="338328"/>
          </a:xfrm>
          <a:prstGeom prst="rect">
            <a:avLst/>
          </a:prstGeom>
          <a:noFill/>
        </p:spPr>
        <p:txBody>
          <a:bodyPr wrap="square" lIns="0" rIns="0" tIns="0" bIns="0">
            <a:spAutoFit/>
          </a:bodyPr>
          <a:lstStyle/>
          <a:p>
            <a:pPr>
              <a:lnSpc>
                <a:spcPct val="112000"/>
              </a:lnSpc>
              <a:spcBef>
                <a:spcPts val="0"/>
              </a:spcBef>
              <a:spcAft>
                <a:spcPts val="300"/>
              </a:spcAft>
              <a:defRPr sz="2000" b="1">
                <a:solidFill>
                  <a:srgbClr val="DDF485"/>
                </a:solidFill>
                <a:latin typeface="Noto Sans CJK KR"/>
              </a:defRPr>
            </a:pPr>
            <a:r>
              <a:t>03</a:t>
            </a:r>
          </a:p>
        </p:txBody>
      </p:sp>
      <p:sp>
        <p:nvSpPr>
          <p:cNvPr id="18" name="TextBox 17"/>
          <p:cNvSpPr txBox="1"/>
          <p:nvPr/>
        </p:nvSpPr>
        <p:spPr>
          <a:xfrm>
            <a:off x="9948672" y="3785615"/>
            <a:ext cx="3739896" cy="438912"/>
          </a:xfrm>
          <a:prstGeom prst="rect">
            <a:avLst/>
          </a:prstGeom>
          <a:noFill/>
        </p:spPr>
        <p:txBody>
          <a:bodyPr wrap="square" lIns="0" rIns="0" tIns="0" bIns="0">
            <a:spAutoFit/>
          </a:bodyPr>
          <a:lstStyle/>
          <a:p>
            <a:pPr>
              <a:lnSpc>
                <a:spcPct val="112000"/>
              </a:lnSpc>
              <a:spcBef>
                <a:spcPts val="0"/>
              </a:spcBef>
              <a:spcAft>
                <a:spcPts val="300"/>
              </a:spcAft>
              <a:defRPr sz="2600" b="1">
                <a:solidFill>
                  <a:srgbClr val="FFFFFF"/>
                </a:solidFill>
                <a:latin typeface="Noto Sans CJK KR"/>
              </a:defRPr>
            </a:pPr>
            <a:r>
              <a:t>실제 배출은 줄었나</a:t>
            </a:r>
          </a:p>
        </p:txBody>
      </p:sp>
      <p:sp>
        <p:nvSpPr>
          <p:cNvPr id="19" name="TextBox 18"/>
          <p:cNvSpPr txBox="1"/>
          <p:nvPr/>
        </p:nvSpPr>
        <p:spPr>
          <a:xfrm>
            <a:off x="9957816" y="4562856"/>
            <a:ext cx="3712463" cy="713232"/>
          </a:xfrm>
          <a:prstGeom prst="rect">
            <a:avLst/>
          </a:prstGeom>
          <a:noFill/>
        </p:spPr>
        <p:txBody>
          <a:bodyPr wrap="square" lIns="0" rIns="0" tIns="0" bIns="0">
            <a:spAutoFit/>
          </a:bodyPr>
          <a:lstStyle/>
          <a:p>
            <a:pPr>
              <a:lnSpc>
                <a:spcPct val="112000"/>
              </a:lnSpc>
              <a:spcBef>
                <a:spcPts val="0"/>
              </a:spcBef>
              <a:spcAft>
                <a:spcPts val="300"/>
              </a:spcAft>
              <a:defRPr sz="1800" b="0">
                <a:solidFill>
                  <a:srgbClr val="B8C7BD"/>
                </a:solidFill>
                <a:latin typeface="Noto Sans CJK KR"/>
              </a:defRPr>
            </a:pPr>
            <a:r>
              <a:t>같은 수요·기간·서비스 조건</a:t>
            </a:r>
          </a:p>
          <a:p>
            <a:pPr>
              <a:lnSpc>
                <a:spcPct val="112000"/>
              </a:lnSpc>
              <a:spcBef>
                <a:spcPts val="0"/>
              </a:spcBef>
              <a:spcAft>
                <a:spcPts val="300"/>
              </a:spcAft>
              <a:defRPr sz="1800" b="0">
                <a:solidFill>
                  <a:srgbClr val="B8C7BD"/>
                </a:solidFill>
                <a:latin typeface="Noto Sans CJK KR"/>
              </a:defRPr>
            </a:pPr>
            <a:r>
              <a:t>전체 운행 경계로 비교</a:t>
            </a:r>
          </a:p>
        </p:txBody>
      </p:sp>
      <p:cxnSp>
        <p:nvCxnSpPr>
          <p:cNvPr id="20" name="Connector 19"/>
          <p:cNvCxnSpPr/>
          <p:nvPr/>
        </p:nvCxnSpPr>
        <p:spPr>
          <a:xfrm>
            <a:off x="704088" y="5971032"/>
            <a:ext cx="13176504" cy="0"/>
          </a:xfrm>
          <a:prstGeom prst="line">
            <a:avLst/>
          </a:prstGeom>
          <a:ln w="12700">
            <a:solidFill>
              <a:srgbClr val="395348"/>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04088" y="6291072"/>
            <a:ext cx="13075920" cy="466344"/>
          </a:xfrm>
          <a:prstGeom prst="rect">
            <a:avLst/>
          </a:prstGeom>
          <a:noFill/>
        </p:spPr>
        <p:txBody>
          <a:bodyPr wrap="square" lIns="0" rIns="0" tIns="0" bIns="0">
            <a:spAutoFit/>
          </a:bodyPr>
          <a:lstStyle/>
          <a:p>
            <a:pPr>
              <a:lnSpc>
                <a:spcPct val="112000"/>
              </a:lnSpc>
              <a:spcBef>
                <a:spcPts val="0"/>
              </a:spcBef>
              <a:spcAft>
                <a:spcPts val="300"/>
              </a:spcAft>
              <a:defRPr sz="2700" b="1">
                <a:solidFill>
                  <a:srgbClr val="DDF485"/>
                </a:solidFill>
                <a:latin typeface="Noto Sans CJK KR"/>
              </a:defRPr>
            </a:pPr>
            <a:r>
              <a:t>같이 예약하고 → 실제 도착을 확인하고 → 늦기 전에 부족분만 회수.</a:t>
            </a:r>
          </a:p>
        </p:txBody>
      </p:sp>
      <p:sp>
        <p:nvSpPr>
          <p:cNvPr id="22" name="TextBox 21"/>
          <p:cNvSpPr txBox="1"/>
          <p:nvPr/>
        </p:nvSpPr>
        <p:spPr>
          <a:xfrm>
            <a:off x="704088" y="7086600"/>
            <a:ext cx="13075920" cy="265176"/>
          </a:xfrm>
          <a:prstGeom prst="rect">
            <a:avLst/>
          </a:prstGeom>
          <a:noFill/>
        </p:spPr>
        <p:txBody>
          <a:bodyPr wrap="square" lIns="0" rIns="0" tIns="0" bIns="0">
            <a:spAutoFit/>
          </a:bodyPr>
          <a:lstStyle/>
          <a:p>
            <a:pPr>
              <a:lnSpc>
                <a:spcPct val="112000"/>
              </a:lnSpc>
              <a:spcBef>
                <a:spcPts val="0"/>
              </a:spcBef>
              <a:spcAft>
                <a:spcPts val="300"/>
              </a:spcAft>
              <a:defRPr sz="1500" b="0">
                <a:solidFill>
                  <a:srgbClr val="B8C7BD"/>
                </a:solidFill>
                <a:latin typeface="Noto Sans CJK KR"/>
              </a:defRPr>
            </a:pPr>
            <a:r>
              <a:t>검증 계획: 현장 규칙 / 같은 정보를 쓴 비용 최소안 / CBP를 구분해 비교합니다.</a:t>
            </a:r>
          </a:p>
        </p:txBody>
      </p:sp>
      <p:sp>
        <p:nvSpPr>
          <p:cNvPr id="23" name="TextBox 22"/>
          <p:cNvSpPr txBox="1"/>
          <p:nvPr/>
        </p:nvSpPr>
        <p:spPr>
          <a:xfrm>
            <a:off x="704088" y="7470648"/>
            <a:ext cx="13075920" cy="164592"/>
          </a:xfrm>
          <a:prstGeom prst="rect">
            <a:avLst/>
          </a:prstGeom>
          <a:noFill/>
        </p:spPr>
        <p:txBody>
          <a:bodyPr wrap="square" lIns="0" rIns="0" tIns="0" bIns="0">
            <a:spAutoFit/>
          </a:bodyPr>
          <a:lstStyle/>
          <a:p>
            <a:pPr>
              <a:lnSpc>
                <a:spcPct val="112000"/>
              </a:lnSpc>
              <a:spcBef>
                <a:spcPts val="0"/>
              </a:spcBef>
              <a:spcAft>
                <a:spcPts val="300"/>
              </a:spcAft>
              <a:defRPr sz="1000" b="0">
                <a:solidFill>
                  <a:srgbClr val="B8C7BD"/>
                </a:solidFill>
                <a:latin typeface="Noto Sans CJK KR"/>
              </a:defRPr>
            </a:pPr>
            <a:r>
              <a:t>현재 단계: 가상 시나리오·계산 검증. 현장 실증 및 선행기술 검토는 추가 과제입니다.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CBP 회수예약표 — 본선 발표 V2</dc:title>
  <dc:subject>제13회 ULS 창의성 공모전 본선</dc:subject>
  <dc:creator>두런두런</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
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6745C"/>
                </a:solidFill>
                <a:latin typeface="Noto Sans CJK KR"/>
              </a:defRPr>
            </a:pPr>
            <a:r>
              <a:t>CBP  /  탄소예산 기반 파렛트 회수예약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75920" y="2743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Q&amp;A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3395960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백홀 활용 자체보다,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어떻게 확정하고 언제 포기할지가 핵심입니다.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38528"/>
            <a:ext cx="13304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선행기술과 실제 운영 기능은 추가 확인이 필요합니다. 아래는 제안한 설계의 초점입니다.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7754112"/>
            <a:ext cx="13441680" cy="0"/>
          </a:xfrm>
          <a:prstGeom prst="line">
            <a:avLst/>
          </a:prstGeom>
          <a:ln w="127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7891272"/>
            <a:ext cx="1261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9756E"/>
                </a:solidFill>
                <a:latin typeface="Noto Sans CJK KR"/>
              </a:defRPr>
            </a:pPr>
            <a:r>
              <a:t>두런두런  ·  제13회 유닛로드시스템(ULS) 창의성 공모전  ·  질의응답 참고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13240512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953512"/>
            <a:ext cx="218541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6745C"/>
                </a:solidFill>
                <a:latin typeface="Noto Sans CJK KR"/>
              </a:defRPr>
            </a:pPr>
            <a:r>
              <a:t>동시 예약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2871216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72825"/>
                </a:solidFill>
                <a:latin typeface="Noto Sans CJK KR"/>
              </a:defRPr>
            </a:pPr>
            <a:r>
              <a:t>재고만 또는 빈칸만 잡히는 상황 방지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3337560"/>
            <a:ext cx="100126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파렛트 수량과 차량 용량을 같은 예약번호로 확정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14215"/>
            <a:ext cx="13240512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224528"/>
            <a:ext cx="218541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6745C"/>
                </a:solidFill>
                <a:latin typeface="Noto Sans CJK KR"/>
              </a:defRPr>
            </a:pPr>
            <a:r>
              <a:t>실입고 기준 마감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4142231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72825"/>
                </a:solidFill>
                <a:latin typeface="Noto Sans CJK KR"/>
              </a:defRPr>
            </a:pPr>
            <a:r>
              <a:t>예약 성공과 실제 확보를 구분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4608576"/>
            <a:ext cx="100126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대체회수 소요시간을 거꾸로 계산해 재판단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285231"/>
            <a:ext cx="13240512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495544"/>
            <a:ext cx="218541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6745C"/>
                </a:solidFill>
                <a:latin typeface="Noto Sans CJK KR"/>
              </a:defRPr>
            </a:pPr>
            <a:r>
              <a:t>탄소 예약 장부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5413247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72825"/>
                </a:solidFill>
                <a:latin typeface="Noto Sans CJK KR"/>
              </a:defRPr>
            </a:pPr>
            <a:r>
              <a:t>확정 운행의 예상 배출도 미리 반영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5879592"/>
            <a:ext cx="100126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취소·변경·실행에 따라 예약량과 기배출량 갱신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6940296"/>
            <a:ext cx="13213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6745C"/>
                </a:solidFill>
                <a:latin typeface="Noto Sans CJK KR"/>
              </a:defRPr>
            </a:pPr>
            <a:r>
              <a:t>“세계 최초” 대신, 목표 현장에서 이 세 규칙이 실제로 필요한지 확인하겠습니다.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6745C"/>
                </a:solidFill>
                <a:latin typeface="Noto Sans CJK KR"/>
              </a:defRPr>
            </a:pPr>
            <a:r>
              <a:t>CBP  /  탄소예산 기반 파렛트 회수예약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75920" y="2743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Q&amp;A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3395960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감축량은 같은 조건에서,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비용은 빠짐없이 비교해야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38528"/>
            <a:ext cx="13304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사전 정보의 효과와 탄소예산의 효과를 구분하고, 가상 예시를 성과로 바꾸어 말하지 않습니다.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7754112"/>
            <a:ext cx="13441680" cy="0"/>
          </a:xfrm>
          <a:prstGeom prst="line">
            <a:avLst/>
          </a:prstGeom>
          <a:ln w="127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7891272"/>
            <a:ext cx="1261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9756E"/>
                </a:solidFill>
                <a:latin typeface="Noto Sans CJK KR"/>
              </a:defRPr>
            </a:pPr>
            <a:r>
              <a:t>두런두런  ·  제13회 유닛로드시스템(ULS) 창의성 공모전  ·  질의응답 참고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34640"/>
            <a:ext cx="4261104" cy="1709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304495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6745C"/>
                </a:solidFill>
                <a:latin typeface="Noto Sans CJK KR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75304"/>
            <a:ext cx="376732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72825"/>
                </a:solidFill>
                <a:latin typeface="Noto Sans CJK KR"/>
              </a:defRPr>
            </a:pPr>
            <a:r>
              <a:t>현장 운영 규칙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05656"/>
            <a:ext cx="3767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9756E"/>
                </a:solidFill>
                <a:latin typeface="Noto Sans CJK KR"/>
              </a:defRPr>
            </a:pPr>
            <a:r>
              <a:t>실제 절차를 조사한 뒤 재현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834640"/>
            <a:ext cx="4261104" cy="1709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4104" y="304495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6745C"/>
                </a:solidFill>
                <a:latin typeface="Noto Sans CJK KR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3575304"/>
            <a:ext cx="376732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72825"/>
                </a:solidFill>
                <a:latin typeface="Noto Sans CJK KR"/>
              </a:defRPr>
            </a:pPr>
            <a:r>
              <a:t>동일 정보 · 비용 최소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4105656"/>
            <a:ext cx="3767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9756E"/>
                </a:solidFill>
                <a:latin typeface="Noto Sans CJK KR"/>
              </a:defRPr>
            </a:pPr>
            <a:r>
              <a:t>복귀편 정보까지 같은 조건 제공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2834640"/>
            <a:ext cx="4261104" cy="1709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84664" y="304495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6745C"/>
                </a:solidFill>
                <a:latin typeface="Noto Sans CJK KR"/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4664" y="3575304"/>
            <a:ext cx="376732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72825"/>
                </a:solidFill>
                <a:latin typeface="Noto Sans CJK KR"/>
              </a:defRPr>
            </a:pPr>
            <a:r>
              <a:t>CBP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4664" y="4105656"/>
            <a:ext cx="3767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9756E"/>
                </a:solidFill>
                <a:latin typeface="Noto Sans CJK KR"/>
              </a:defRPr>
            </a:pPr>
            <a:r>
              <a:t>B에 탄소예산과 예약 규칙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4965192"/>
            <a:ext cx="130759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6745C"/>
                </a:solidFill>
                <a:latin typeface="Noto Sans CJK KR"/>
              </a:defRPr>
            </a:pPr>
            <a:r>
              <a:t>A → B : 사전 정보·매칭의 효과       B → C : 탄소예산·예약 정책의 효과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806440"/>
            <a:ext cx="13222224" cy="1353312"/>
          </a:xfrm>
          <a:prstGeom prst="roundRect">
            <a:avLst>
              <a:gd name="adj" fmla="val 5000"/>
            </a:avLst>
          </a:prstGeom>
          <a:solidFill>
            <a:srgbClr val="E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6007608"/>
            <a:ext cx="127467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6745C"/>
                </a:solidFill>
                <a:latin typeface="Noto Sans CJK KR"/>
              </a:defRPr>
            </a:pPr>
            <a:r>
              <a:t>복귀차량도 추가 적재·우회·대기 배출이 생깁니다.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6547104"/>
            <a:ext cx="12710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72825"/>
                </a:solidFill>
                <a:latin typeface="Noto Sans CJK KR"/>
              </a:defRPr>
            </a:pPr>
            <a:r>
              <a:t>기존 본선이 같은 경우만 공통분을 상쇄합니다. 회수·대체차·지연물량 정리까지 비용과 배출에 포함합니다.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6745C"/>
                </a:solidFill>
                <a:latin typeface="Noto Sans CJK KR"/>
              </a:defRPr>
            </a:pPr>
            <a:r>
              <a:t>CBP  /  탄소예산 기반 파렛트 회수예약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75920" y="2743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Q&amp;A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3395960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비용이 늘어도 도입할 이유가 있나요?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38528"/>
            <a:ext cx="13304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모든 운영자에게 유리하다고 단정하지 않습니다. 비용 상한과 실제 탄소 요구가 있는지 확인합니다.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7754112"/>
            <a:ext cx="13441680" cy="0"/>
          </a:xfrm>
          <a:prstGeom prst="line">
            <a:avLst/>
          </a:prstGeom>
          <a:ln w="127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7891272"/>
            <a:ext cx="1261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9756E"/>
                </a:solidFill>
                <a:latin typeface="Noto Sans CJK KR"/>
              </a:defRPr>
            </a:pPr>
            <a:r>
              <a:t>두런두런  ·  제13회 유닛로드시스템(ULS) 창의성 공모전  ·  질의응답 참고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88336"/>
            <a:ext cx="6062472" cy="2962656"/>
          </a:xfrm>
          <a:prstGeom prst="roundRect">
            <a:avLst>
              <a:gd name="adj" fmla="val 5000"/>
            </a:avLst>
          </a:prstGeom>
          <a:solidFill>
            <a:srgbClr val="172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017520"/>
            <a:ext cx="5440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B8C7BD"/>
                </a:solidFill>
                <a:latin typeface="Noto Sans CJK KR"/>
              </a:defRPr>
            </a:pPr>
            <a:r>
              <a:t>가상 예시의 추가 비용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12463"/>
            <a:ext cx="542239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700" b="1">
                <a:solidFill>
                  <a:srgbClr val="DDF485"/>
                </a:solidFill>
                <a:latin typeface="Noto Sans CJK KR"/>
              </a:defRPr>
            </a:pPr>
            <a:r>
              <a:t>1.5만원 ÷ 25kg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4681728"/>
            <a:ext cx="540410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000" b="1">
                <a:solidFill>
                  <a:srgbClr val="FFFFFF"/>
                </a:solidFill>
                <a:latin typeface="Noto Sans CJK KR"/>
              </a:defRPr>
            </a:pPr>
            <a:r>
              <a:t>= 60만원 / tCO₂e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2904" y="2907792"/>
            <a:ext cx="642823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72825"/>
                </a:solidFill>
                <a:latin typeface="Noto Sans CJK KR"/>
              </a:defRPr>
            </a:pPr>
            <a:r>
              <a:t>이 비율은 시장 가격도,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72825"/>
                </a:solidFill>
                <a:latin typeface="Noto Sans CJK KR"/>
              </a:defRPr>
            </a:pPr>
            <a:r>
              <a:t>현장 감축 비용도 아닙니다.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0336" y="4306824"/>
            <a:ext cx="639165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69756E"/>
                </a:solidFill>
                <a:latin typeface="Noto Sans CJK KR"/>
              </a:defRPr>
            </a:pPr>
            <a:r>
              <a:t>실제 운임·거리·차량 조건으로 다시 계산합니다.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69756E"/>
                </a:solidFill>
                <a:latin typeface="Noto Sans CJK KR"/>
              </a:defRPr>
            </a:pPr>
            <a:r>
              <a:t>탄소 요구가 약하고 비용만 늘면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69756E"/>
                </a:solidFill>
                <a:latin typeface="Noto Sans CJK KR"/>
              </a:defRPr>
            </a:pPr>
            <a:r>
              <a:t>도입 타당성이 낮아질 수 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6126480"/>
            <a:ext cx="13240512" cy="1005840"/>
          </a:xfrm>
          <a:prstGeom prst="roundRect">
            <a:avLst>
              <a:gd name="adj" fmla="val 5000"/>
            </a:avLst>
          </a:prstGeom>
          <a:solidFill>
            <a:srgbClr val="E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6345936"/>
            <a:ext cx="12710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6745C"/>
                </a:solidFill>
                <a:latin typeface="Noto Sans CJK KR"/>
              </a:defRPr>
            </a:pPr>
            <a:r>
              <a:t>필요한 첫 증거: 실제 회수 1건의 수요·시각·운임·복귀편·연결 실패 이유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CBP V2 — 질의응답 참고자료</dc:title>
  <dc:subject>제13회 ULS 창의성 공모전 본선</dc:subject>
  <dc:creator>두런두런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
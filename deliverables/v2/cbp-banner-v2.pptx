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00:30–01:15 | 파렛트·빈칸·탄소를 함께 예약</a:t>
            </a:r>
          </a:p>
          <a:p/>
          <a:p>
            <a:r>
              <a:t>핵심은 이 회수예약표 한 장입니다. 먼저 다음 출고에 필요한 수량과 도착 시각을 확인합니다. 그다음 회수할 파렛트와, 실제로 실을 수 있는 차량 공간을 함께 예약합니다. 파렛트만 잡아도, 차량만 잡아도 회수는 되지 않기 때문입니다. 여기에 예상 배출을 탄소예산에 예약해 두고, 담당자가 승인합니다. 처음에는 같은 풀링사의 호환 파렛트와 확인된 운행만 대상으로 시작합니다.</a:t>
            </a:r>
          </a:p>
          <a:p/>
          <a:p>
            <a:r>
              <a:t>주의: 모든 예시 숫자는 합성 가정. 실제 운송·감축 실적이나 독창성 검증 완료로 표현하지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01:15–02:00 | 가상 사례: 100매 + 60매</a:t>
            </a:r>
          </a:p>
          <a:p/>
          <a:p>
            <a:r>
              <a:t>이해를 위한 가상 사례입니다. 열한 시에 네 시까지 160매가 필요하다는 사실을 확인합니다. 이미 예정된 복귀편 A에 100매, B에 60매를 예약합니다. 열두 시 반에 100매, 한 시 반에 60매가 실제로 도착하면 회수가 끝납니다. 이 조건에서는 전용 회수차를 추가로 보내지 않아도 됩니다. 다만 이 숫자는 실제 성과가 아니라 작동 순서를 설명하는 예시입니다.</a:t>
            </a:r>
          </a:p>
          <a:p/>
          <a:p>
            <a:r>
              <a:t>주의: 모든 예시 숫자는 합성 가정. 실제 운송·감축 실적이나 독창성 검증 완료로 표현하지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02:00–02:40 | 탄소는 출발 전 선택 조건</a:t>
            </a:r>
          </a:p>
          <a:p/>
          <a:p>
            <a:r>
              <a:t>탄소예산은 회수 방법을 고를 때 씁니다. 이미 쓴 양과 확정된 예약을 빼고 남은 양을 확인합니다. 화면의 가상 조건에서 전용차는 12만원에 90킬로그램, 복귀편 조합은 13만5천원에 65킬로그램입니다. 남은 예산이 70이면 복귀편 조합이 맞습니다. 물론 비용이 더 듭니다. 운영자가 허용한 비용 상한 안에서 비교하고, 만족하는 안이 없으면 승인 요청을 냅니다. 무조건 비용과 탄소가 함께 줄어든다고 주장하지 않습니다.</a:t>
            </a:r>
          </a:p>
          <a:p/>
          <a:p>
            <a:r>
              <a:t>주의: 모든 예시 숫자는 합성 가정. 실제 운송·감축 실적이나 독창성 검증 완료로 표현하지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02:40–03:25 | 예약과 실제 도착을 구분</a:t>
            </a:r>
          </a:p>
          <a:p/>
          <a:p>
            <a:r>
              <a:t>가장 중요한 장치는 이 열네 시입니다. 네 시에 필요하고 대체 회수에 한 시간 반, 여유 시간 삼십 분이 필요하다면 열네 시에는 결정해야 합니다. 이때 예약됐다는 표시가 아니라 실제 들어온 수량을 봅니다. 100매만 들어왔다면 부족한 60매만 대체 회수합니다. 단, 대체 재고와 차량을 사전에 확보할 수 있는 거점에서 적용해야 합니다. 그래야 복귀편을 기다리다가 출고까지 늦어지는 위험을 줄일 수 있습니다.</a:t>
            </a:r>
          </a:p>
          <a:p/>
          <a:p>
            <a:r>
              <a:t>주의: 모든 예시 숫자는 합성 가정. 실제 운송·감축 실적이나 독창성 검증 완료로 표현하지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6745C"/>
                </a:solidFill>
                <a:latin typeface="Noto Sans CJK KR"/>
              </a:defRPr>
            </a:pPr>
            <a:r>
              <a:t>CBP  /  탄소예산 기반 파렛트 회수예약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75920" y="2743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69756E"/>
                </a:solidFill>
                <a:latin typeface="Noto Sans CJK KR"/>
              </a:defRPr>
            </a:pPr>
            <a:r>
              <a:t>02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3395960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파렛트·빈칸·탄소를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회수예약표 한 장으로 묶습니다.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38528"/>
            <a:ext cx="13304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재고와 차량을 동시에 확보하고, 예약 시점부터 예상 배출을 반영합니다.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7754112"/>
            <a:ext cx="13441680" cy="0"/>
          </a:xfrm>
          <a:prstGeom prst="line">
            <a:avLst/>
          </a:prstGeom>
          <a:ln w="127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7891272"/>
            <a:ext cx="1261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9756E"/>
                </a:solidFill>
                <a:latin typeface="Noto Sans CJK KR"/>
              </a:defRPr>
            </a:pPr>
            <a:r>
              <a:t>두런두런  ·  제13회 유닛로드시스템(ULS) 창의성 공모전  ·  핵심 아이디어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521207" cy="521207"/>
          </a:xfrm>
          <a:prstGeom prst="ellipse">
            <a:avLst/>
          </a:prstGeom>
          <a:solidFill>
            <a:srgbClr val="167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880360"/>
            <a:ext cx="52120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688336"/>
            <a:ext cx="4407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72825"/>
                </a:solidFill>
                <a:latin typeface="Noto Sans CJK KR"/>
              </a:defRPr>
            </a:pPr>
            <a:r>
              <a:t>파렛트 예약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3227832"/>
            <a:ext cx="4416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수량 · 규격 · 인계 가능 시각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374136"/>
            <a:ext cx="0" cy="539496"/>
          </a:xfrm>
          <a:prstGeom prst="line">
            <a:avLst/>
          </a:prstGeom>
          <a:ln w="254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58368" y="4014216"/>
            <a:ext cx="521207" cy="521207"/>
          </a:xfrm>
          <a:prstGeom prst="ellipse">
            <a:avLst/>
          </a:prstGeom>
          <a:solidFill>
            <a:srgbClr val="167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105656"/>
            <a:ext cx="52120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913632"/>
            <a:ext cx="4407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72825"/>
                </a:solidFill>
                <a:latin typeface="Noto Sans CJK KR"/>
              </a:defRPr>
            </a:pPr>
            <a:r>
              <a:t>빈칸 예약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4453128"/>
            <a:ext cx="4416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실을 수 있는 수량 · 도착 시각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4599432"/>
            <a:ext cx="0" cy="539496"/>
          </a:xfrm>
          <a:prstGeom prst="line">
            <a:avLst/>
          </a:prstGeom>
          <a:ln w="254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58368" y="5239512"/>
            <a:ext cx="521207" cy="521207"/>
          </a:xfrm>
          <a:prstGeom prst="ellipse">
            <a:avLst/>
          </a:prstGeom>
          <a:solidFill>
            <a:srgbClr val="167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330952"/>
            <a:ext cx="52120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5138928"/>
            <a:ext cx="4407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72825"/>
                </a:solidFill>
                <a:latin typeface="Noto Sans CJK KR"/>
              </a:defRPr>
            </a:pPr>
            <a:r>
              <a:t>탄소 예약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5678424"/>
            <a:ext cx="4416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예상 추가 배출 · 남은 예산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53328" y="4078224"/>
            <a:ext cx="758952" cy="228600"/>
          </a:xfrm>
          <a:prstGeom prst="rightArrow">
            <a:avLst/>
          </a:prstGeom>
          <a:solidFill>
            <a:srgbClr val="167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78040" y="2596896"/>
            <a:ext cx="6839712" cy="43251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78040" y="2596896"/>
            <a:ext cx="6839712" cy="630936"/>
          </a:xfrm>
          <a:prstGeom prst="roundRect">
            <a:avLst>
              <a:gd name="adj" fmla="val 3500"/>
            </a:avLst>
          </a:prstGeom>
          <a:solidFill>
            <a:srgbClr val="172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2761488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DDF485"/>
                </a:solidFill>
                <a:latin typeface="Noto Sans CJK KR"/>
              </a:defRPr>
            </a:pPr>
            <a:r>
              <a:t>CBP  /  회수예약표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905488" y="2752344"/>
            <a:ext cx="1810512" cy="329184"/>
          </a:xfrm>
          <a:prstGeom prst="roundRect">
            <a:avLst>
              <a:gd name="adj" fmla="val 12000"/>
            </a:avLst>
          </a:prstGeom>
          <a:solidFill>
            <a:srgbClr val="DDF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96928" y="2802636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172825"/>
                </a:solidFill>
                <a:latin typeface="Noto Sans CJK KR"/>
              </a:defRPr>
            </a:pPr>
            <a:r>
              <a:t>풀링사 담당자 승인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3502152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69756E"/>
                </a:solidFill>
                <a:latin typeface="Noto Sans CJK KR"/>
              </a:defRPr>
            </a:pPr>
            <a:r>
              <a:t>필요 물량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502152"/>
            <a:ext cx="4261104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2825"/>
                </a:solidFill>
                <a:latin typeface="Noto Sans CJK KR"/>
              </a:defRPr>
            </a:pPr>
            <a:r>
              <a:t>160매 · 16:00까지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61504" y="3904488"/>
            <a:ext cx="6236208" cy="0"/>
          </a:xfrm>
          <a:prstGeom prst="line">
            <a:avLst/>
          </a:prstGeom>
          <a:ln w="127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61504" y="4059936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69756E"/>
                </a:solidFill>
                <a:latin typeface="Noto Sans CJK KR"/>
              </a:defRPr>
            </a:pPr>
            <a:r>
              <a:t>확보할 운행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059936"/>
            <a:ext cx="4261104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2825"/>
                </a:solidFill>
                <a:latin typeface="Noto Sans CJK KR"/>
              </a:defRPr>
            </a:pPr>
            <a:r>
              <a:t>A 100매 / B 60매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61504" y="4462272"/>
            <a:ext cx="6236208" cy="0"/>
          </a:xfrm>
          <a:prstGeom prst="line">
            <a:avLst/>
          </a:prstGeom>
          <a:ln w="127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61504" y="4617720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69756E"/>
                </a:solidFill>
                <a:latin typeface="Noto Sans CJK KR"/>
              </a:defRPr>
            </a:pPr>
            <a:r>
              <a:t>실제 도착 목표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617720"/>
            <a:ext cx="4261104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2825"/>
                </a:solidFill>
                <a:latin typeface="Noto Sans CJK KR"/>
              </a:defRPr>
            </a:pPr>
            <a:r>
              <a:t>12:30 / 13:30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61504" y="5020056"/>
            <a:ext cx="6236208" cy="0"/>
          </a:xfrm>
          <a:prstGeom prst="line">
            <a:avLst/>
          </a:prstGeom>
          <a:ln w="127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461504" y="5175504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69756E"/>
                </a:solidFill>
                <a:latin typeface="Noto Sans CJK KR"/>
              </a:defRPr>
            </a:pPr>
            <a:r>
              <a:t>대체회수 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5175504"/>
            <a:ext cx="4261104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2825"/>
                </a:solidFill>
                <a:latin typeface="Noto Sans CJK KR"/>
              </a:defRPr>
            </a:pPr>
            <a:r>
              <a:t>14:00 · 실입고 확인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61504" y="5577840"/>
            <a:ext cx="6236208" cy="0"/>
          </a:xfrm>
          <a:prstGeom prst="line">
            <a:avLst/>
          </a:prstGeom>
          <a:ln w="127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61504" y="5733288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69756E"/>
                </a:solidFill>
                <a:latin typeface="Noto Sans CJK KR"/>
              </a:defRPr>
            </a:pPr>
            <a:r>
              <a:t>탄소 처리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5733288"/>
            <a:ext cx="4261104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2825"/>
                </a:solidFill>
                <a:latin typeface="Noto Sans CJK KR"/>
              </a:defRPr>
            </a:pPr>
            <a:r>
              <a:t>확정 예약분을 예산에서 차감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" y="7095744"/>
            <a:ext cx="13277088" cy="329184"/>
          </a:xfrm>
          <a:prstGeom prst="roundRect">
            <a:avLst>
              <a:gd name="adj" fmla="val 12000"/>
            </a:avLst>
          </a:prstGeom>
          <a:solidFill>
            <a:srgbClr val="E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" y="7146036"/>
            <a:ext cx="130942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6745C"/>
                </a:solidFill>
                <a:latin typeface="Noto Sans CJK KR"/>
              </a:defRPr>
            </a:pPr>
            <a:r>
              <a:t>첫 적용 범위  ·  동일 풀링사 / 호환 규격 / 적재 안전 확인 / 대체회수 가능 거점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6745C"/>
                </a:solidFill>
                <a:latin typeface="Noto Sans CJK KR"/>
              </a:defRPr>
            </a:pPr>
            <a:r>
              <a:t>CBP  /  탄소예산 기반 파렛트 회수예약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75920" y="2743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69756E"/>
                </a:solidFill>
                <a:latin typeface="Noto Sans CJK KR"/>
              </a:defRPr>
            </a:pPr>
            <a:r>
              <a:t>03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3395960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11시에 예약하면,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16시 출고를 이렇게 준비합니다.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38528"/>
            <a:ext cx="13304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복귀편은 대체회수 결정 시각인 14시보다 먼저 도착하도록 예약합니다. (설명용 가상 사례)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7754112"/>
            <a:ext cx="13441680" cy="0"/>
          </a:xfrm>
          <a:prstGeom prst="line">
            <a:avLst/>
          </a:prstGeom>
          <a:ln w="127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7891272"/>
            <a:ext cx="1261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9756E"/>
                </a:solidFill>
                <a:latin typeface="Noto Sans CJK KR"/>
              </a:defRPr>
            </a:pPr>
            <a:r>
              <a:t>두런두런  ·  제13회 유닛로드시스템(ULS) 창의성 공모전  ·  회수 시나리오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3767328"/>
            <a:ext cx="11640312" cy="0"/>
          </a:xfrm>
          <a:prstGeom prst="line">
            <a:avLst/>
          </a:prstGeom>
          <a:ln w="889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59" y="2670048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500" b="1">
                <a:solidFill>
                  <a:srgbClr val="172825"/>
                </a:solidFill>
                <a:latin typeface="Noto Sans CJK KR"/>
              </a:defRPr>
            </a:pPr>
            <a:r>
              <a:t>11:00</a:t>
            </a:r>
          </a:p>
        </p:txBody>
      </p:sp>
      <p:sp>
        <p:nvSpPr>
          <p:cNvPr id="10" name="Oval 9"/>
          <p:cNvSpPr/>
          <p:nvPr/>
        </p:nvSpPr>
        <p:spPr>
          <a:xfrm>
            <a:off x="1709928" y="3621024"/>
            <a:ext cx="292608" cy="292608"/>
          </a:xfrm>
          <a:prstGeom prst="ellipse">
            <a:avLst/>
          </a:prstGeom>
          <a:solidFill>
            <a:srgbClr val="17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" y="4151376"/>
            <a:ext cx="2496312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172825"/>
                </a:solidFill>
                <a:latin typeface="Noto Sans CJK KR"/>
              </a:defRPr>
            </a:pPr>
            <a:r>
              <a:t>필요량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" y="4608576"/>
            <a:ext cx="24963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72825"/>
                </a:solidFill>
                <a:latin typeface="Noto Sans CJK KR"/>
              </a:defRPr>
            </a:pPr>
            <a:r>
              <a:t>160매 예약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9888" y="5843016"/>
            <a:ext cx="822959" cy="61722"/>
          </a:xfrm>
          <a:prstGeom prst="rect">
            <a:avLst/>
          </a:prstGeom>
          <a:solidFill>
            <a:srgbClr val="B5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24178" y="5904738"/>
            <a:ext cx="89154" cy="48006"/>
          </a:xfrm>
          <a:prstGeom prst="rect">
            <a:avLst/>
          </a:prstGeom>
          <a:solidFill>
            <a:srgbClr val="8E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9646" y="5904738"/>
            <a:ext cx="89154" cy="48006"/>
          </a:xfrm>
          <a:prstGeom prst="rect">
            <a:avLst/>
          </a:prstGeom>
          <a:solidFill>
            <a:srgbClr val="8E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75688" y="5904738"/>
            <a:ext cx="89154" cy="48006"/>
          </a:xfrm>
          <a:prstGeom prst="rect">
            <a:avLst/>
          </a:prstGeom>
          <a:solidFill>
            <a:srgbClr val="8E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89888" y="5733288"/>
            <a:ext cx="822959" cy="61722"/>
          </a:xfrm>
          <a:prstGeom prst="rect">
            <a:avLst/>
          </a:prstGeom>
          <a:solidFill>
            <a:srgbClr val="B5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24178" y="5795009"/>
            <a:ext cx="89154" cy="48006"/>
          </a:xfrm>
          <a:prstGeom prst="rect">
            <a:avLst/>
          </a:prstGeom>
          <a:solidFill>
            <a:srgbClr val="8E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39646" y="5795009"/>
            <a:ext cx="89154" cy="48006"/>
          </a:xfrm>
          <a:prstGeom prst="rect">
            <a:avLst/>
          </a:prstGeom>
          <a:solidFill>
            <a:srgbClr val="8E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75688" y="5795009"/>
            <a:ext cx="89154" cy="48006"/>
          </a:xfrm>
          <a:prstGeom prst="rect">
            <a:avLst/>
          </a:prstGeom>
          <a:solidFill>
            <a:srgbClr val="8E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89888" y="5623559"/>
            <a:ext cx="822959" cy="61722"/>
          </a:xfrm>
          <a:prstGeom prst="rect">
            <a:avLst/>
          </a:prstGeom>
          <a:solidFill>
            <a:srgbClr val="B5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24178" y="5685281"/>
            <a:ext cx="89154" cy="48006"/>
          </a:xfrm>
          <a:prstGeom prst="rect">
            <a:avLst/>
          </a:prstGeom>
          <a:solidFill>
            <a:srgbClr val="8E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39646" y="5685281"/>
            <a:ext cx="89154" cy="48006"/>
          </a:xfrm>
          <a:prstGeom prst="rect">
            <a:avLst/>
          </a:prstGeom>
          <a:solidFill>
            <a:srgbClr val="8E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75688" y="5685281"/>
            <a:ext cx="89154" cy="48006"/>
          </a:xfrm>
          <a:prstGeom prst="rect">
            <a:avLst/>
          </a:prstGeom>
          <a:solidFill>
            <a:srgbClr val="8E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2670048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500" b="1">
                <a:solidFill>
                  <a:srgbClr val="16745C"/>
                </a:solidFill>
                <a:latin typeface="Noto Sans CJK KR"/>
              </a:defRPr>
            </a:pPr>
            <a:r>
              <a:t>12:30</a:t>
            </a:r>
          </a:p>
        </p:txBody>
      </p:sp>
      <p:sp>
        <p:nvSpPr>
          <p:cNvPr id="26" name="Oval 25"/>
          <p:cNvSpPr/>
          <p:nvPr/>
        </p:nvSpPr>
        <p:spPr>
          <a:xfrm>
            <a:off x="5385816" y="3621024"/>
            <a:ext cx="292608" cy="292608"/>
          </a:xfrm>
          <a:prstGeom prst="ellipse">
            <a:avLst/>
          </a:prstGeom>
          <a:solidFill>
            <a:srgbClr val="167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9704" y="4151376"/>
            <a:ext cx="2496312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172825"/>
                </a:solidFill>
                <a:latin typeface="Noto Sans CJK KR"/>
              </a:defRPr>
            </a:pPr>
            <a:r>
              <a:t>복귀편 A 도착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4608576"/>
            <a:ext cx="24963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6745C"/>
                </a:solidFill>
                <a:latin typeface="Noto Sans CJK KR"/>
              </a:defRPr>
            </a:pPr>
            <a:r>
              <a:t>100매 확보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64608" y="5330952"/>
            <a:ext cx="857250" cy="418338"/>
          </a:xfrm>
          <a:prstGeom prst="roundRect">
            <a:avLst>
              <a:gd name="adj" fmla="val 6000"/>
            </a:avLst>
          </a:prstGeom>
          <a:solidFill>
            <a:srgbClr val="16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28716" y="5468112"/>
            <a:ext cx="315468" cy="281178"/>
          </a:xfrm>
          <a:prstGeom prst="roundRect">
            <a:avLst>
              <a:gd name="adj" fmla="val 6000"/>
            </a:avLst>
          </a:prstGeom>
          <a:solidFill>
            <a:srgbClr val="16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76722" y="5495544"/>
            <a:ext cx="144018" cy="96012"/>
          </a:xfrm>
          <a:prstGeom prst="rect">
            <a:avLst/>
          </a:prstGeom>
          <a:solidFill>
            <a:srgbClr val="D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36058" y="5680710"/>
            <a:ext cx="171450" cy="171450"/>
          </a:xfrm>
          <a:prstGeom prst="ellipse">
            <a:avLst/>
          </a:prstGeom>
          <a:solidFill>
            <a:srgbClr val="17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56148" y="5680710"/>
            <a:ext cx="171450" cy="171450"/>
          </a:xfrm>
          <a:prstGeom prst="ellipse">
            <a:avLst/>
          </a:prstGeom>
          <a:solidFill>
            <a:srgbClr val="17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46904" y="5426964"/>
            <a:ext cx="171450" cy="192024"/>
          </a:xfrm>
          <a:prstGeom prst="roundRect">
            <a:avLst>
              <a:gd name="adj" fmla="val 3000"/>
            </a:avLst>
          </a:prstGeom>
          <a:solidFill>
            <a:srgbClr val="C4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173218" y="5426964"/>
            <a:ext cx="171450" cy="192024"/>
          </a:xfrm>
          <a:prstGeom prst="roundRect">
            <a:avLst>
              <a:gd name="adj" fmla="val 3000"/>
            </a:avLst>
          </a:prstGeom>
          <a:solidFill>
            <a:srgbClr val="C4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99532" y="5426964"/>
            <a:ext cx="171450" cy="192024"/>
          </a:xfrm>
          <a:prstGeom prst="roundRect">
            <a:avLst>
              <a:gd name="adj" fmla="val 3000"/>
            </a:avLst>
          </a:prstGeom>
          <a:solidFill>
            <a:srgbClr val="C4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2670048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500" b="1">
                <a:solidFill>
                  <a:srgbClr val="16745C"/>
                </a:solidFill>
                <a:latin typeface="Noto Sans CJK KR"/>
              </a:defRPr>
            </a:pPr>
            <a:r>
              <a:t>13:30</a:t>
            </a:r>
          </a:p>
        </p:txBody>
      </p:sp>
      <p:sp>
        <p:nvSpPr>
          <p:cNvPr id="38" name="Oval 37"/>
          <p:cNvSpPr/>
          <p:nvPr/>
        </p:nvSpPr>
        <p:spPr>
          <a:xfrm>
            <a:off x="9052560" y="3621024"/>
            <a:ext cx="292608" cy="292608"/>
          </a:xfrm>
          <a:prstGeom prst="ellipse">
            <a:avLst/>
          </a:prstGeom>
          <a:solidFill>
            <a:srgbClr val="167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56448" y="4151376"/>
            <a:ext cx="2496312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172825"/>
                </a:solidFill>
                <a:latin typeface="Noto Sans CJK KR"/>
              </a:defRPr>
            </a:pPr>
            <a:r>
              <a:t>복귀편 B 도착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4608576"/>
            <a:ext cx="24963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6745C"/>
                </a:solidFill>
                <a:latin typeface="Noto Sans CJK KR"/>
              </a:defRPr>
            </a:pPr>
            <a:r>
              <a:t>160매 확보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31352" y="5330952"/>
            <a:ext cx="857250" cy="418338"/>
          </a:xfrm>
          <a:prstGeom prst="roundRect">
            <a:avLst>
              <a:gd name="adj" fmla="val 6000"/>
            </a:avLst>
          </a:prstGeom>
          <a:solidFill>
            <a:srgbClr val="16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95460" y="5468112"/>
            <a:ext cx="315468" cy="281178"/>
          </a:xfrm>
          <a:prstGeom prst="roundRect">
            <a:avLst>
              <a:gd name="adj" fmla="val 6000"/>
            </a:avLst>
          </a:prstGeom>
          <a:solidFill>
            <a:srgbClr val="16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43466" y="5495544"/>
            <a:ext cx="144018" cy="96012"/>
          </a:xfrm>
          <a:prstGeom prst="rect">
            <a:avLst/>
          </a:prstGeom>
          <a:solidFill>
            <a:srgbClr val="D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02802" y="5680710"/>
            <a:ext cx="171450" cy="171450"/>
          </a:xfrm>
          <a:prstGeom prst="ellipse">
            <a:avLst/>
          </a:prstGeom>
          <a:solidFill>
            <a:srgbClr val="17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22892" y="5680710"/>
            <a:ext cx="171450" cy="171450"/>
          </a:xfrm>
          <a:prstGeom prst="ellipse">
            <a:avLst/>
          </a:prstGeom>
          <a:solidFill>
            <a:srgbClr val="17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613648" y="5426964"/>
            <a:ext cx="171450" cy="192024"/>
          </a:xfrm>
          <a:prstGeom prst="roundRect">
            <a:avLst>
              <a:gd name="adj" fmla="val 3000"/>
            </a:avLst>
          </a:prstGeom>
          <a:solidFill>
            <a:srgbClr val="C4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839962" y="5426964"/>
            <a:ext cx="171450" cy="192024"/>
          </a:xfrm>
          <a:prstGeom prst="roundRect">
            <a:avLst>
              <a:gd name="adj" fmla="val 3000"/>
            </a:avLst>
          </a:prstGeom>
          <a:solidFill>
            <a:srgbClr val="C4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066276" y="5426964"/>
            <a:ext cx="171450" cy="192024"/>
          </a:xfrm>
          <a:prstGeom prst="roundRect">
            <a:avLst>
              <a:gd name="adj" fmla="val 3000"/>
            </a:avLst>
          </a:prstGeom>
          <a:solidFill>
            <a:srgbClr val="C4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50624" y="2670048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500" b="1">
                <a:solidFill>
                  <a:srgbClr val="172825"/>
                </a:solidFill>
                <a:latin typeface="Noto Sans CJK KR"/>
              </a:defRPr>
            </a:pPr>
            <a:r>
              <a:t>16:00</a:t>
            </a:r>
          </a:p>
        </p:txBody>
      </p:sp>
      <p:sp>
        <p:nvSpPr>
          <p:cNvPr id="50" name="Oval 49"/>
          <p:cNvSpPr/>
          <p:nvPr/>
        </p:nvSpPr>
        <p:spPr>
          <a:xfrm>
            <a:off x="12737592" y="3621024"/>
            <a:ext cx="292608" cy="292608"/>
          </a:xfrm>
          <a:prstGeom prst="ellipse">
            <a:avLst/>
          </a:prstGeom>
          <a:solidFill>
            <a:srgbClr val="17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41480" y="4151376"/>
            <a:ext cx="2496312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172825"/>
                </a:solidFill>
                <a:latin typeface="Noto Sans CJK KR"/>
              </a:defRPr>
            </a:pPr>
            <a:r>
              <a:t>다음 출고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41480" y="4608576"/>
            <a:ext cx="24963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72825"/>
                </a:solidFill>
                <a:latin typeface="Noto Sans CJK KR"/>
              </a:defRPr>
            </a:pPr>
            <a:r>
              <a:t>필요량 충족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243816" y="5469757"/>
            <a:ext cx="995781" cy="615574"/>
          </a:xfrm>
          <a:prstGeom prst="roundRect">
            <a:avLst>
              <a:gd name="adj" fmla="val 3000"/>
            </a:avLst>
          </a:prstGeom>
          <a:solidFill>
            <a:srgbClr val="172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12195535" y="5180076"/>
            <a:ext cx="1092342" cy="392277"/>
          </a:xfrm>
          <a:prstGeom prst="triangle">
            <a:avLst/>
          </a:prstGeom>
          <a:solidFill>
            <a:srgbClr val="17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473147" y="5729264"/>
            <a:ext cx="512978" cy="356067"/>
          </a:xfrm>
          <a:prstGeom prst="rect">
            <a:avLst/>
          </a:prstGeom>
          <a:solidFill>
            <a:srgbClr val="C4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2485217" y="5795650"/>
            <a:ext cx="488838" cy="0"/>
          </a:xfrm>
          <a:prstGeom prst="line">
            <a:avLst/>
          </a:prstGeom>
          <a:ln w="12700">
            <a:solidFill>
              <a:srgbClr val="172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2485217" y="5874105"/>
            <a:ext cx="488838" cy="0"/>
          </a:xfrm>
          <a:prstGeom prst="line">
            <a:avLst/>
          </a:prstGeom>
          <a:ln w="12700">
            <a:solidFill>
              <a:srgbClr val="172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485217" y="5952561"/>
            <a:ext cx="488838" cy="0"/>
          </a:xfrm>
          <a:prstGeom prst="line">
            <a:avLst/>
          </a:prstGeom>
          <a:ln w="12700">
            <a:solidFill>
              <a:srgbClr val="172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407408" y="3337560"/>
            <a:ext cx="1984248" cy="329184"/>
          </a:xfrm>
          <a:prstGeom prst="roundRect">
            <a:avLst>
              <a:gd name="adj" fmla="val 12000"/>
            </a:avLst>
          </a:prstGeom>
          <a:solidFill>
            <a:srgbClr val="E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98848" y="3387852"/>
            <a:ext cx="1801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6745C"/>
                </a:solidFill>
                <a:latin typeface="Noto Sans CJK KR"/>
              </a:defRPr>
            </a:pPr>
            <a:r>
              <a:t>+ 100매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93024" y="3337560"/>
            <a:ext cx="1984248" cy="329184"/>
          </a:xfrm>
          <a:prstGeom prst="roundRect">
            <a:avLst>
              <a:gd name="adj" fmla="val 12000"/>
            </a:avLst>
          </a:prstGeom>
          <a:solidFill>
            <a:srgbClr val="E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84464" y="3387852"/>
            <a:ext cx="1801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6745C"/>
                </a:solidFill>
                <a:latin typeface="Noto Sans CJK KR"/>
              </a:defRPr>
            </a:pPr>
            <a:r>
              <a:t>+ 60매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890504" y="3566160"/>
            <a:ext cx="0" cy="2569464"/>
          </a:xfrm>
          <a:prstGeom prst="line">
            <a:avLst/>
          </a:prstGeom>
          <a:ln w="16510">
            <a:solidFill>
              <a:srgbClr val="F36A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0085832" y="612648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9B3A1C"/>
                </a:solidFill>
                <a:latin typeface="Noto Sans CJK KR"/>
              </a:defRPr>
            </a:pPr>
            <a:r>
              <a:t>14:00 부족분 판단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7512" y="6501384"/>
            <a:ext cx="13304520" cy="850392"/>
          </a:xfrm>
          <a:prstGeom prst="roundRect">
            <a:avLst>
              <a:gd name="adj" fmla="val 5000"/>
            </a:avLst>
          </a:prstGeom>
          <a:solidFill>
            <a:srgbClr val="172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66934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DDF485"/>
                </a:solidFill>
                <a:latin typeface="Noto Sans CJK KR"/>
              </a:defRPr>
            </a:pPr>
            <a:r>
              <a:t>이 조건에서는 전용 회수차를 추가 배차하지 않아도 됩니다.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042648" y="6601968"/>
            <a:ext cx="15087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DDF485"/>
                </a:solidFill>
                <a:latin typeface="Noto Sans CJK KR"/>
              </a:defRPr>
            </a:pPr>
            <a:r>
              <a:t>0회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7443216"/>
            <a:ext cx="13213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9756E"/>
                </a:solidFill>
                <a:latin typeface="Noto Sans CJK KR"/>
              </a:defRPr>
            </a:pPr>
            <a:r>
              <a:t>0회는 이 가상 시나리오의 전용 추가 배차 횟수입니다. 복귀편의 우회·추가 적재·대기 비용과 배출은 별도로 산정합니다.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6745C"/>
                </a:solidFill>
                <a:latin typeface="Noto Sans CJK KR"/>
              </a:defRPr>
            </a:pPr>
            <a:r>
              <a:t>CBP  /  탄소예산 기반 파렛트 회수예약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75920" y="2743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69756E"/>
                </a:solidFill>
                <a:latin typeface="Noto Sans CJK KR"/>
              </a:defRPr>
            </a:pPr>
            <a:r>
              <a:t>04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3395960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출발하기 전에,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남은 탄소예산으로 회수 방법을 고릅니다.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38528"/>
            <a:ext cx="13304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수량·기한·비용 상한을 충족하는 후보 중, 탄소예산 안에서 회수비가 낮은 조합을 선택합니다.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7754112"/>
            <a:ext cx="13441680" cy="0"/>
          </a:xfrm>
          <a:prstGeom prst="line">
            <a:avLst/>
          </a:prstGeom>
          <a:ln w="127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7891272"/>
            <a:ext cx="1261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9756E"/>
                </a:solidFill>
                <a:latin typeface="Noto Sans CJK KR"/>
              </a:defRPr>
            </a:pPr>
            <a:r>
              <a:t>두런두런  ·  제13회 유닛로드시스템(ULS) 창의성 공모전  ·  탄소예산의 역할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560320"/>
            <a:ext cx="4279392" cy="329184"/>
          </a:xfrm>
          <a:prstGeom prst="roundRect">
            <a:avLst>
              <a:gd name="adj" fmla="val 12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0612"/>
            <a:ext cx="409651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9B3A1C"/>
                </a:solidFill>
                <a:latin typeface="Noto Sans CJK KR"/>
              </a:defRPr>
            </a:pPr>
            <a:r>
              <a:t>운임·배출량은 모두 설명용 가정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36392"/>
            <a:ext cx="3803904" cy="3621024"/>
          </a:xfrm>
          <a:prstGeom prst="roundRect">
            <a:avLst>
              <a:gd name="adj" fmla="val 4500"/>
            </a:avLst>
          </a:prstGeom>
          <a:solidFill>
            <a:srgbClr val="172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401568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B8C7BD"/>
                </a:solidFill>
                <a:latin typeface="Noto Sans CJK KR"/>
              </a:defRPr>
            </a:pPr>
            <a:r>
              <a:t>이번에 쓸 수 있는 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04487"/>
            <a:ext cx="2368296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7200" b="1">
                <a:solidFill>
                  <a:srgbClr val="DDF485"/>
                </a:solidFill>
                <a:latin typeface="Noto Sans CJK KR"/>
              </a:defRPr>
            </a:pPr>
            <a: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434840"/>
            <a:ext cx="1225296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DDF485"/>
                </a:solidFill>
                <a:latin typeface="Noto Sans CJK KR"/>
              </a:defRPr>
            </a:pPr>
            <a:r>
              <a:t>kgCO₂e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312664"/>
            <a:ext cx="324612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FFFFFF"/>
                </a:solidFill>
                <a:latin typeface="Noto Sans CJK KR"/>
              </a:defRPr>
            </a:pPr>
            <a:r>
              <a:t>총예산 300 − 기배출 150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FFFFFF"/>
                </a:solidFill>
                <a:latin typeface="Noto Sans CJK KR"/>
              </a:defRPr>
            </a:pPr>
            <a:r>
              <a:t>− 확정 예약 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6291072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B8C7BD"/>
                </a:solidFill>
                <a:latin typeface="Noto Sans CJK KR"/>
              </a:defRPr>
            </a:pPr>
            <a:r>
              <a:t>계산은 기간·단위를 동일하게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5464" y="3136392"/>
            <a:ext cx="4498848" cy="3621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3207" y="3401568"/>
            <a:ext cx="40233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F36A42"/>
                </a:solidFill>
                <a:latin typeface="Noto Sans CJK KR"/>
              </a:defRPr>
            </a:pPr>
            <a:r>
              <a:t>비용만 보면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3813048"/>
            <a:ext cx="40233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72825"/>
                </a:solidFill>
                <a:latin typeface="Noto Sans CJK KR"/>
              </a:defRPr>
            </a:pPr>
            <a:r>
              <a:t>전용 회수차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4471416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300" b="1">
                <a:solidFill>
                  <a:srgbClr val="172825"/>
                </a:solidFill>
                <a:latin typeface="Noto Sans CJK KR"/>
              </a:defRPr>
            </a:pPr>
            <a:r>
              <a:t>12만원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5111496"/>
            <a:ext cx="2130552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4800" b="1">
                <a:solidFill>
                  <a:srgbClr val="F36A42"/>
                </a:solidFill>
                <a:latin typeface="Noto Sans CJK KR"/>
              </a:defRPr>
            </a:pPr>
            <a:r>
              <a:t>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5486400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F36A42"/>
                </a:solidFill>
                <a:latin typeface="Noto Sans CJK KR"/>
              </a:defRPr>
            </a:pPr>
            <a:r>
              <a:t>kgCO₂e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6190488"/>
            <a:ext cx="40050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F36A42"/>
                </a:solidFill>
                <a:latin typeface="Noto Sans CJK KR"/>
              </a:defRPr>
            </a:pPr>
            <a:r>
              <a:t>예산 20kg 초과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54896" y="3136392"/>
            <a:ext cx="4498848" cy="3621024"/>
          </a:xfrm>
          <a:prstGeom prst="roundRect">
            <a:avLst>
              <a:gd name="adj" fmla="val 4500"/>
            </a:avLst>
          </a:prstGeom>
          <a:solidFill>
            <a:srgbClr val="E7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3401568"/>
            <a:ext cx="40233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16745C"/>
                </a:solidFill>
                <a:latin typeface="Noto Sans CJK KR"/>
              </a:defRPr>
            </a:pPr>
            <a:r>
              <a:t>예산을 지키려면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813048"/>
            <a:ext cx="40233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72825"/>
                </a:solidFill>
                <a:latin typeface="Noto Sans CJK KR"/>
              </a:defRPr>
            </a:pPr>
            <a:r>
              <a:t>복귀편 A +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1784" y="4471416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300" b="1">
                <a:solidFill>
                  <a:srgbClr val="172825"/>
                </a:solidFill>
                <a:latin typeface="Noto Sans CJK KR"/>
              </a:defRPr>
            </a:pPr>
            <a:r>
              <a:t>13.5만원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1784" y="5111496"/>
            <a:ext cx="2130552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4800" b="1">
                <a:solidFill>
                  <a:srgbClr val="16745C"/>
                </a:solidFill>
                <a:latin typeface="Noto Sans CJK KR"/>
              </a:defRPr>
            </a:pPr>
            <a:r>
              <a:t>65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39728" y="5486400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6745C"/>
                </a:solidFill>
                <a:latin typeface="Noto Sans CJK KR"/>
              </a:defRPr>
            </a:pPr>
            <a:r>
              <a:t>kgCO₂e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1784" y="6190488"/>
            <a:ext cx="40050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6745C"/>
                </a:solidFill>
                <a:latin typeface="Noto Sans CJK KR"/>
              </a:defRPr>
            </a:pPr>
            <a:r>
              <a:t>예산 5kg 남음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7068312"/>
            <a:ext cx="1325880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6745C"/>
                </a:solidFill>
                <a:latin typeface="Noto Sans CJK KR"/>
              </a:defRPr>
            </a:pPr>
            <a:r>
              <a:t>이 가상 입력의 차이  ·  추가 비용 +1.5만원 / 배출 −25kgCO₂e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7479792"/>
            <a:ext cx="1325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9756E"/>
                </a:solidFill>
                <a:latin typeface="Noto Sans CJK KR"/>
              </a:defRPr>
            </a:pPr>
            <a:r>
              <a:t>기존 배송 본선은 양안에서 동일하게 운행한다고 가정. 비용 상한이 13.5만원 미만이면 예산 준수안은 없으며 담당자 판단이 필요합니다.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6745C"/>
                </a:solidFill>
                <a:latin typeface="Noto Sans CJK KR"/>
              </a:defRPr>
            </a:pPr>
            <a:r>
              <a:t>CBP  /  탄소예산 기반 파렛트 회수예약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75920" y="2743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69756E"/>
                </a:solidFill>
                <a:latin typeface="Noto Sans CJK KR"/>
              </a:defRPr>
            </a:pPr>
            <a:r>
              <a:t>05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3395960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예약된 160매와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400" b="1">
                <a:solidFill>
                  <a:srgbClr val="172825"/>
                </a:solidFill>
                <a:latin typeface="Noto Sans CJK KR"/>
              </a:defRPr>
            </a:pPr>
            <a:r>
              <a:t>실제로 도착한 160매는 다릅니다.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38528"/>
            <a:ext cx="13304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69756E"/>
                </a:solidFill>
                <a:latin typeface="Noto Sans CJK KR"/>
              </a:defRPr>
            </a:pPr>
            <a:r>
              <a:t>기다릴 수 있는 마지막 시각을 정하고, 실입고 기준으로 부족분만 대체 회수합니다.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7754112"/>
            <a:ext cx="13441680" cy="0"/>
          </a:xfrm>
          <a:prstGeom prst="line">
            <a:avLst/>
          </a:prstGeom>
          <a:ln w="12700">
            <a:solidFill>
              <a:srgbClr val="D9D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7891272"/>
            <a:ext cx="1261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9756E"/>
                </a:solidFill>
                <a:latin typeface="Noto Sans CJK KR"/>
              </a:defRPr>
            </a:pPr>
            <a:r>
              <a:t>두런두런  ·  제13회 유닛로드시스템(ULS) 창의성 공모전  ·  실패 대응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660904"/>
            <a:ext cx="4626864" cy="4517136"/>
          </a:xfrm>
          <a:prstGeom prst="roundRect">
            <a:avLst>
              <a:gd name="adj" fmla="val 4500"/>
            </a:avLst>
          </a:prstGeom>
          <a:solidFill>
            <a:srgbClr val="172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935224"/>
            <a:ext cx="3977639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B8C7BD"/>
                </a:solidFill>
                <a:latin typeface="Noto Sans CJK KR"/>
              </a:defRPr>
            </a:pPr>
            <a:r>
              <a:t>대체회수 결정 시각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93008"/>
            <a:ext cx="404164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7000" b="1">
                <a:solidFill>
                  <a:srgbClr val="DDF485"/>
                </a:solidFill>
                <a:latin typeface="Noto Sans CJK KR"/>
              </a:defRPr>
            </a:pPr>
            <a:r>
              <a:t>14:00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965192"/>
            <a:ext cx="3858768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FFFFF"/>
                </a:solidFill>
                <a:latin typeface="Noto Sans CJK KR"/>
              </a:defRPr>
            </a:pPr>
            <a:r>
              <a:t>필요 시각 16:00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FFFFF"/>
                </a:solidFill>
                <a:latin typeface="Noto Sans CJK KR"/>
              </a:defRPr>
            </a:pPr>
            <a:r>
              <a:t>− 대체 회수 90분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FFFFFF"/>
                </a:solidFill>
                <a:latin typeface="Noto Sans CJK KR"/>
              </a:defRPr>
            </a:pPr>
            <a:r>
              <a:t>− 여유 시간 30분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66842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B8C7BD"/>
                </a:solidFill>
                <a:latin typeface="Noto Sans CJK KR"/>
              </a:defRPr>
            </a:pPr>
            <a:r>
              <a:t>운송 소요시간은 현장 입력값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660904"/>
            <a:ext cx="8284464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87121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2825"/>
                </a:solidFill>
                <a:latin typeface="Noto Sans CJK KR"/>
              </a:defRPr>
            </a:pPr>
            <a:r>
              <a:t>14시 실입고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825496"/>
            <a:ext cx="5029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F36A42"/>
                </a:solidFill>
                <a:latin typeface="Noto Sans CJK KR"/>
              </a:defRPr>
            </a:pPr>
            <a:r>
              <a:t>100매 도착 / 60매 미도착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674352" y="3776472"/>
            <a:ext cx="274320" cy="393192"/>
          </a:xfrm>
          <a:prstGeom prst="downArrow">
            <a:avLst/>
          </a:prstGeom>
          <a:solidFill>
            <a:srgbClr val="F36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0" y="4297680"/>
            <a:ext cx="8284464" cy="1344168"/>
          </a:xfrm>
          <a:prstGeom prst="roundRect">
            <a:avLst>
              <a:gd name="adj" fmla="val 45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4526280"/>
            <a:ext cx="7269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9B3A1C"/>
                </a:solidFill>
                <a:latin typeface="Noto Sans CJK KR"/>
              </a:defRPr>
            </a:pPr>
            <a:r>
              <a:t>부족한 60매만 대체 회수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5084064"/>
            <a:ext cx="72694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72825"/>
                </a:solidFill>
                <a:latin typeface="Noto Sans CJK KR"/>
              </a:defRPr>
            </a:pPr>
            <a:r>
              <a:t>예약 상태 확인 → 취소·변경 처리 → 대체 거점·차량 배차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5998464"/>
            <a:ext cx="7982712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172825"/>
                </a:solidFill>
                <a:latin typeface="Noto Sans CJK KR"/>
              </a:defRPr>
            </a:pPr>
            <a:r>
              <a:t>대체 재고·차량을 사전 확보할 수 있어야 적용합니다.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172825"/>
                </a:solidFill>
                <a:latin typeface="Noto Sans CJK KR"/>
              </a:defRPr>
            </a:pPr>
            <a:r>
              <a:t>예산 초과가 예상되면 초과량과 함께 승인을 요청합니다.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6995160"/>
            <a:ext cx="7982712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9756E"/>
                </a:solidFill>
                <a:latin typeface="Noto Sans CJK KR"/>
              </a:defRPr>
            </a:pPr>
            <a:r>
              <a:t>지연된 원래 차량의 물량도 추적해 중복 회수를 정리합니다.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7470648"/>
            <a:ext cx="1325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9756E"/>
                </a:solidFill>
                <a:latin typeface="Noto Sans CJK KR"/>
              </a:defRPr>
            </a:pPr>
            <a:r>
              <a:t>90분·30분은 가정입니다. 대체 공급이 불가능하거나 소요시간이 늘면 기한 준수를 보장할 수 없으며, 즉시 운영자에게 알립니다.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CBP 메인 발표 2~5장 발췌 — 배너용 4쪽</dc:title>
  <dc:subject>제13회 ULS 창의성 공모전 본선</dc:subject>
  <dc:creator>두런두런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
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12"/>
    <p:sldId id="256" r:id="rId7"/>
    <p:sldId id="257" r:id="rId9"/>
    <p:sldId id="258" r:id="rId10"/>
    <p:sldId id="259" r:id="rId11"/>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메인 2장, 0:10~0:45. 화면의 수량과 시각은 가상 예시. 급해지기 전에 회수 대안을 확보한다는 장면으로 시작한다. 실제 현장의 긴급 회수 빈도는 조사 전이므로 통계를 주장하지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메인 3장, 0:45~1:45. 초기 입력은 담당자가 확인한 필요량과 기한이다. AI 수요예측이나 실시간 TMS 연동을 구현했다고 말하지 않는다. 확정된 향후 운행을 예산에서 예약 차감한다는 점을 설명한다. 지연 시 대체차를 보낼 수 있는 시점 이전에 재판단하는 것은 제안한 운영 규칙이며 현장 검증 전이다.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메인 4장, 1:45~2:40. 가상 예시임을 말로도 밝힌다. 두 안에 같은 정보와 기한을 제공한다. 비용과 탄소의 상충을 인정한다. 예산을 100kg으로 완화하면 두 정책 모두 전용차를 고르므로 별도 감축 효과는 없다. 수치는 현장 입력으로 교체해야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메인 5장, 2:40~3:35. 복귀차 지연, 적재 실패, 예산 불가능을 구분한다. 자동으로 납기를 희생하지 않는다. 백홀 자체가 신규라는 주장을 하지 않고 재고·기한·탄소 예약과 대체 회수 마감의 결합을 차별성 후보로 설명한다. 소규모 현장 검증 계획을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안녕하세요, 두런두런입니다. 저희는 빈 파렛트가 급해지기 전에 회수 방법을 예약하는 CBP를 제안합니다.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3:35~4:00. 저희는 파렛트가 급해진 뒤 차를 부르는 대신, 필요한 시점에 맞춰 회수 방법을 미리 예약하자고 제안합니다. 같은 정보를 받은 비용 중심 배차와 납기, 회수비, 배출을 비교하겠습니다. 두런두런의 CBP입니다.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E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9875520" cy="256032"/>
          </a:xfrm>
          <a:prstGeom prst="rect">
            <a:avLst/>
          </a:prstGeom>
          <a:noFill/>
        </p:spPr>
        <p:txBody>
          <a:bodyPr wrap="square" lIns="18288" rIns="18288" tIns="9144" bIns="9144">
            <a:spAutoFit/>
          </a:bodyPr>
          <a:lstStyle/>
          <a:p>
            <a:pPr>
              <a:spcBef>
                <a:spcPts val="0"/>
              </a:spcBef>
              <a:spcAft>
                <a:spcPts val="300"/>
              </a:spcAft>
              <a:defRPr sz="1200" b="1">
                <a:solidFill>
                  <a:srgbClr val="087C68"/>
                </a:solidFill>
                <a:latin typeface="Noto Sans CJK KR"/>
              </a:defRPr>
            </a:pPr>
            <a:r>
              <a:t>CBP · 탄소예산 기반 빈 파렛트 회수예약   /   두런두런</a:t>
            </a:r>
          </a:p>
        </p:txBody>
      </p:sp>
      <p:sp>
        <p:nvSpPr>
          <p:cNvPr id="4" name="TextBox 3"/>
          <p:cNvSpPr txBox="1"/>
          <p:nvPr/>
        </p:nvSpPr>
        <p:spPr>
          <a:xfrm>
            <a:off x="10424160" y="246888"/>
            <a:ext cx="1207008" cy="256032"/>
          </a:xfrm>
          <a:prstGeom prst="rect">
            <a:avLst/>
          </a:prstGeom>
          <a:noFill/>
        </p:spPr>
        <p:txBody>
          <a:bodyPr wrap="square" lIns="18288" rIns="18288" tIns="9144" bIns="9144">
            <a:spAutoFit/>
          </a:bodyPr>
          <a:lstStyle/>
          <a:p>
            <a:pPr algn="r">
              <a:spcBef>
                <a:spcPts val="0"/>
              </a:spcBef>
              <a:spcAft>
                <a:spcPts val="300"/>
              </a:spcAft>
              <a:defRPr sz="1200" b="1">
                <a:solidFill>
                  <a:srgbClr val="5A6D64"/>
                </a:solidFill>
                <a:latin typeface="Noto Sans CJK KR"/>
              </a:defRPr>
            </a:pPr>
            <a:r>
              <a:t>IDEA 01</a:t>
            </a:r>
          </a:p>
        </p:txBody>
      </p:sp>
      <p:sp>
        <p:nvSpPr>
          <p:cNvPr id="5" name="TextBox 4"/>
          <p:cNvSpPr txBox="1"/>
          <p:nvPr/>
        </p:nvSpPr>
        <p:spPr>
          <a:xfrm>
            <a:off x="502920" y="740664"/>
            <a:ext cx="11155680" cy="1078992"/>
          </a:xfrm>
          <a:prstGeom prst="rect">
            <a:avLst/>
          </a:prstGeom>
          <a:noFill/>
        </p:spPr>
        <p:txBody>
          <a:bodyPr wrap="square" lIns="18288" rIns="18288" tIns="9144" bIns="9144">
            <a:spAutoFit/>
          </a:bodyPr>
          <a:lstStyle/>
          <a:p>
            <a:pPr>
              <a:spcBef>
                <a:spcPts val="0"/>
              </a:spcBef>
              <a:spcAft>
                <a:spcPts val="300"/>
              </a:spcAft>
              <a:defRPr sz="3100" b="1">
                <a:solidFill>
                  <a:srgbClr val="173C34"/>
                </a:solidFill>
                <a:latin typeface="Noto Sans CJK KR"/>
              </a:defRPr>
            </a:pPr>
            <a:r>
              <a:t>빈 파렛트가 급해지기 전에,</a:t>
            </a:r>
          </a:p>
          <a:p>
            <a:pPr>
              <a:spcBef>
                <a:spcPts val="0"/>
              </a:spcBef>
              <a:spcAft>
                <a:spcPts val="300"/>
              </a:spcAft>
              <a:defRPr sz="3100" b="1">
                <a:solidFill>
                  <a:srgbClr val="173C34"/>
                </a:solidFill>
                <a:latin typeface="Noto Sans CJK KR"/>
              </a:defRPr>
            </a:pPr>
            <a:r>
              <a:t>돌아오는 차의 빈칸부터 예약.</a:t>
            </a:r>
          </a:p>
        </p:txBody>
      </p:sp>
      <p:sp>
        <p:nvSpPr>
          <p:cNvPr id="6" name="TextBox 5"/>
          <p:cNvSpPr txBox="1"/>
          <p:nvPr/>
        </p:nvSpPr>
        <p:spPr>
          <a:xfrm>
            <a:off x="530352" y="1837943"/>
            <a:ext cx="11064240" cy="457200"/>
          </a:xfrm>
          <a:prstGeom prst="rect">
            <a:avLst/>
          </a:prstGeom>
          <a:noFill/>
        </p:spPr>
        <p:txBody>
          <a:bodyPr wrap="square" lIns="18288" rIns="18288" tIns="9144" bIns="9144">
            <a:spAutoFit/>
          </a:bodyPr>
          <a:lstStyle/>
          <a:p>
            <a:pPr>
              <a:spcBef>
                <a:spcPts val="0"/>
              </a:spcBef>
              <a:spcAft>
                <a:spcPts val="300"/>
              </a:spcAft>
              <a:defRPr sz="1600" b="0">
                <a:solidFill>
                  <a:srgbClr val="5A6D64"/>
                </a:solidFill>
                <a:latin typeface="Noto Sans CJK KR"/>
              </a:defRPr>
            </a:pPr>
            <a:r>
              <a:t>파렛트가 필요한 시점과 배송차가 돌아오는 시점을 연결합니다.</a:t>
            </a:r>
          </a:p>
        </p:txBody>
      </p:sp>
      <p:sp>
        <p:nvSpPr>
          <p:cNvPr id="7" name="Rectangle 6"/>
          <p:cNvSpPr/>
          <p:nvPr/>
        </p:nvSpPr>
        <p:spPr>
          <a:xfrm>
            <a:off x="502920" y="6437376"/>
            <a:ext cx="11155680" cy="10972"/>
          </a:xfrm>
          <a:prstGeom prst="rect">
            <a:avLst/>
          </a:prstGeom>
          <a:solidFill>
            <a:srgbClr val="CFD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6519672"/>
            <a:ext cx="10789920" cy="201168"/>
          </a:xfrm>
          <a:prstGeom prst="rect">
            <a:avLst/>
          </a:prstGeom>
          <a:noFill/>
        </p:spPr>
        <p:txBody>
          <a:bodyPr wrap="square" lIns="18288" rIns="18288" tIns="9144" bIns="9144">
            <a:spAutoFit/>
          </a:bodyPr>
          <a:lstStyle/>
          <a:p>
            <a:pPr>
              <a:spcBef>
                <a:spcPts val="0"/>
              </a:spcBef>
              <a:spcAft>
                <a:spcPts val="300"/>
              </a:spcAft>
              <a:defRPr sz="1000" b="0">
                <a:solidFill>
                  <a:srgbClr val="5A6D64"/>
                </a:solidFill>
                <a:latin typeface="Noto Sans CJK KR"/>
              </a:defRPr>
            </a:pPr>
            <a:r>
              <a:t>제13회 유닛로드시스템(ULS) 창의성 공모전  |  아이디어 검토안 · 현장 실증 전</a:t>
            </a:r>
          </a:p>
        </p:txBody>
      </p:sp>
      <p:sp>
        <p:nvSpPr>
          <p:cNvPr id="9" name="Rounded Rectangle 8"/>
          <p:cNvSpPr/>
          <p:nvPr/>
        </p:nvSpPr>
        <p:spPr>
          <a:xfrm>
            <a:off x="530352" y="2542032"/>
            <a:ext cx="2907792"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24912"/>
            <a:ext cx="2468880" cy="320040"/>
          </a:xfrm>
          <a:prstGeom prst="rect">
            <a:avLst/>
          </a:prstGeom>
          <a:noFill/>
        </p:spPr>
        <p:txBody>
          <a:bodyPr wrap="square" lIns="18288" rIns="18288" tIns="9144" bIns="9144">
            <a:spAutoFit/>
          </a:bodyPr>
          <a:lstStyle/>
          <a:p>
            <a:pPr>
              <a:spcBef>
                <a:spcPts val="0"/>
              </a:spcBef>
              <a:spcAft>
                <a:spcPts val="300"/>
              </a:spcAft>
              <a:defRPr sz="1800" b="1">
                <a:solidFill>
                  <a:srgbClr val="173C34"/>
                </a:solidFill>
                <a:latin typeface="Noto Sans CJK KR"/>
              </a:defRPr>
            </a:pPr>
            <a:r>
              <a:t>회수할 파렛트가 있는 거점</a:t>
            </a:r>
          </a:p>
        </p:txBody>
      </p:sp>
      <p:sp>
        <p:nvSpPr>
          <p:cNvPr id="11" name="Rectangle 10"/>
          <p:cNvSpPr/>
          <p:nvPr/>
        </p:nvSpPr>
        <p:spPr>
          <a:xfrm>
            <a:off x="1417320" y="4041648"/>
            <a:ext cx="1024128" cy="82296"/>
          </a:xfrm>
          <a:prstGeom prst="rect">
            <a:avLst/>
          </a:prstGeom>
          <a:solidFill>
            <a:srgbClr val="BD8A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0472" y="411937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83664" y="411937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76856" y="411937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17320" y="3904487"/>
            <a:ext cx="1024128" cy="82296"/>
          </a:xfrm>
          <a:prstGeom prst="rect">
            <a:avLst/>
          </a:prstGeom>
          <a:solidFill>
            <a:srgbClr val="BD8A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90472" y="398221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83664" y="398221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76856" y="398221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7320" y="3767328"/>
            <a:ext cx="1024128" cy="82296"/>
          </a:xfrm>
          <a:prstGeom prst="rect">
            <a:avLst/>
          </a:prstGeom>
          <a:solidFill>
            <a:srgbClr val="BD8A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490472" y="384505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83664" y="384505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76856" y="3845052"/>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17320" y="3630168"/>
            <a:ext cx="1024128" cy="82296"/>
          </a:xfrm>
          <a:prstGeom prst="rect">
            <a:avLst/>
          </a:prstGeom>
          <a:solidFill>
            <a:srgbClr val="BD8A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90472" y="370789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83664" y="370789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76856" y="3707891"/>
            <a:ext cx="91440" cy="64008"/>
          </a:xfrm>
          <a:prstGeom prst="rect">
            <a:avLst/>
          </a:prstGeom>
          <a:solidFill>
            <a:srgbClr val="8F6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361688"/>
            <a:ext cx="2423160" cy="256032"/>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같은 풀링사 · 호환 규격</a:t>
            </a:r>
          </a:p>
        </p:txBody>
      </p:sp>
      <p:sp>
        <p:nvSpPr>
          <p:cNvPr id="28" name="Rounded Rectangle 27"/>
          <p:cNvSpPr/>
          <p:nvPr/>
        </p:nvSpPr>
        <p:spPr>
          <a:xfrm>
            <a:off x="8732520" y="2542032"/>
            <a:ext cx="2907792"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79408" y="2724912"/>
            <a:ext cx="2450592" cy="320040"/>
          </a:xfrm>
          <a:prstGeom prst="rect">
            <a:avLst/>
          </a:prstGeom>
          <a:noFill/>
        </p:spPr>
        <p:txBody>
          <a:bodyPr wrap="square" lIns="18288" rIns="18288" tIns="9144" bIns="9144">
            <a:spAutoFit/>
          </a:bodyPr>
          <a:lstStyle/>
          <a:p>
            <a:pPr>
              <a:spcBef>
                <a:spcPts val="0"/>
              </a:spcBef>
              <a:spcAft>
                <a:spcPts val="300"/>
              </a:spcAft>
              <a:defRPr sz="1800" b="1">
                <a:solidFill>
                  <a:srgbClr val="173C34"/>
                </a:solidFill>
                <a:latin typeface="Noto Sans CJK KR"/>
              </a:defRPr>
            </a:pPr>
            <a:r>
              <a:t>다음 출고를 앞둔 거점</a:t>
            </a:r>
          </a:p>
        </p:txBody>
      </p:sp>
      <p:sp>
        <p:nvSpPr>
          <p:cNvPr id="30" name="TextBox 29"/>
          <p:cNvSpPr txBox="1"/>
          <p:nvPr/>
        </p:nvSpPr>
        <p:spPr>
          <a:xfrm>
            <a:off x="8988552" y="3264408"/>
            <a:ext cx="2322576" cy="512064"/>
          </a:xfrm>
          <a:prstGeom prst="rect">
            <a:avLst/>
          </a:prstGeom>
          <a:noFill/>
        </p:spPr>
        <p:txBody>
          <a:bodyPr wrap="square" lIns="18288" rIns="18288" tIns="9144" bIns="9144">
            <a:spAutoFit/>
          </a:bodyPr>
          <a:lstStyle/>
          <a:p>
            <a:pPr>
              <a:spcBef>
                <a:spcPts val="0"/>
              </a:spcBef>
              <a:spcAft>
                <a:spcPts val="300"/>
              </a:spcAft>
              <a:defRPr sz="2800" b="1">
                <a:solidFill>
                  <a:srgbClr val="087C68"/>
                </a:solidFill>
                <a:latin typeface="Noto Sans CJK KR"/>
              </a:defRPr>
            </a:pPr>
            <a:r>
              <a:t>16시까지</a:t>
            </a:r>
          </a:p>
        </p:txBody>
      </p:sp>
      <p:sp>
        <p:nvSpPr>
          <p:cNvPr id="31" name="TextBox 30"/>
          <p:cNvSpPr txBox="1"/>
          <p:nvPr/>
        </p:nvSpPr>
        <p:spPr>
          <a:xfrm>
            <a:off x="8988552" y="3803904"/>
            <a:ext cx="2322576" cy="429768"/>
          </a:xfrm>
          <a:prstGeom prst="rect">
            <a:avLst/>
          </a:prstGeom>
          <a:noFill/>
        </p:spPr>
        <p:txBody>
          <a:bodyPr wrap="square" lIns="18288" rIns="18288" tIns="9144" bIns="9144">
            <a:spAutoFit/>
          </a:bodyPr>
          <a:lstStyle/>
          <a:p>
            <a:pPr>
              <a:spcBef>
                <a:spcPts val="0"/>
              </a:spcBef>
              <a:spcAft>
                <a:spcPts val="300"/>
              </a:spcAft>
              <a:defRPr sz="1700" b="1">
                <a:solidFill>
                  <a:srgbClr val="173C34"/>
                </a:solidFill>
                <a:latin typeface="Noto Sans CJK KR"/>
              </a:defRPr>
            </a:pPr>
            <a:r>
              <a:t>빈 파렛트 160매 필요</a:t>
            </a:r>
          </a:p>
        </p:txBody>
      </p:sp>
      <p:sp>
        <p:nvSpPr>
          <p:cNvPr id="32" name="Right Arrow 31"/>
          <p:cNvSpPr/>
          <p:nvPr/>
        </p:nvSpPr>
        <p:spPr>
          <a:xfrm>
            <a:off x="3611880" y="3502152"/>
            <a:ext cx="960120" cy="201168"/>
          </a:xfrm>
          <a:prstGeom prst="rightArrow">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7543800" y="3502152"/>
            <a:ext cx="960120" cy="201168"/>
          </a:xfrm>
          <a:prstGeom prst="rightArrow">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57800" y="2889504"/>
            <a:ext cx="987552" cy="438912"/>
          </a:xfrm>
          <a:prstGeom prst="rect">
            <a:avLst/>
          </a:prstGeom>
          <a:solidFill>
            <a:srgbClr val="E6F1E9"/>
          </a:solidFill>
          <a:ln>
            <a:solidFill>
              <a:srgbClr val="087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3035808"/>
            <a:ext cx="320040" cy="292608"/>
          </a:xfrm>
          <a:prstGeom prst="rect">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86400" y="3282696"/>
            <a:ext cx="182880" cy="182880"/>
          </a:xfrm>
          <a:prstGeom prst="ellipse">
            <a:avLst/>
          </a:prstGeom>
          <a:solidFill>
            <a:srgbClr val="173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63640" y="3282696"/>
            <a:ext cx="182880" cy="182880"/>
          </a:xfrm>
          <a:prstGeom prst="ellipse">
            <a:avLst/>
          </a:prstGeom>
          <a:solidFill>
            <a:srgbClr val="173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97680" y="3675887"/>
            <a:ext cx="3520440" cy="310896"/>
          </a:xfrm>
          <a:prstGeom prst="rect">
            <a:avLst/>
          </a:prstGeom>
          <a:noFill/>
        </p:spPr>
        <p:txBody>
          <a:bodyPr wrap="square" lIns="18288" rIns="18288" tIns="9144" bIns="9144">
            <a:spAutoFit/>
          </a:bodyPr>
          <a:lstStyle/>
          <a:p>
            <a:pPr algn="ctr">
              <a:spcBef>
                <a:spcPts val="0"/>
              </a:spcBef>
              <a:spcAft>
                <a:spcPts val="300"/>
              </a:spcAft>
              <a:defRPr sz="2000" b="1">
                <a:solidFill>
                  <a:srgbClr val="087C68"/>
                </a:solidFill>
                <a:latin typeface="Noto Sans CJK KR"/>
              </a:defRPr>
            </a:pPr>
            <a:r>
              <a:t>이미 예정된 복귀편에</a:t>
            </a:r>
          </a:p>
        </p:txBody>
      </p:sp>
      <p:sp>
        <p:nvSpPr>
          <p:cNvPr id="39" name="TextBox 38"/>
          <p:cNvSpPr txBox="1"/>
          <p:nvPr/>
        </p:nvSpPr>
        <p:spPr>
          <a:xfrm>
            <a:off x="4297680" y="4041648"/>
            <a:ext cx="3520440" cy="310896"/>
          </a:xfrm>
          <a:prstGeom prst="rect">
            <a:avLst/>
          </a:prstGeom>
          <a:noFill/>
        </p:spPr>
        <p:txBody>
          <a:bodyPr wrap="square" lIns="18288" rIns="18288" tIns="9144" bIns="9144">
            <a:spAutoFit/>
          </a:bodyPr>
          <a:lstStyle/>
          <a:p>
            <a:pPr algn="ctr">
              <a:spcBef>
                <a:spcPts val="0"/>
              </a:spcBef>
              <a:spcAft>
                <a:spcPts val="300"/>
              </a:spcAft>
              <a:defRPr sz="1700" b="0">
                <a:solidFill>
                  <a:srgbClr val="173C34"/>
                </a:solidFill>
                <a:latin typeface="Noto Sans CJK KR"/>
              </a:defRPr>
            </a:pPr>
            <a:r>
              <a:t>실을 수 있는 공간이 있다면?</a:t>
            </a:r>
          </a:p>
        </p:txBody>
      </p:sp>
      <p:sp>
        <p:nvSpPr>
          <p:cNvPr id="40" name="Rounded Rectangle 39"/>
          <p:cNvSpPr/>
          <p:nvPr/>
        </p:nvSpPr>
        <p:spPr>
          <a:xfrm>
            <a:off x="530352" y="5138928"/>
            <a:ext cx="11109960" cy="905256"/>
          </a:xfrm>
          <a:prstGeom prst="roundRect">
            <a:avLst>
              <a:gd name="adj" fmla="val 8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5330952"/>
            <a:ext cx="10561320" cy="566928"/>
          </a:xfrm>
          <a:prstGeom prst="rect">
            <a:avLst/>
          </a:prstGeom>
          <a:noFill/>
        </p:spPr>
        <p:txBody>
          <a:bodyPr wrap="square" lIns="18288" rIns="18288" tIns="9144" bIns="9144">
            <a:spAutoFit/>
          </a:bodyPr>
          <a:lstStyle/>
          <a:p>
            <a:pPr>
              <a:spcBef>
                <a:spcPts val="0"/>
              </a:spcBef>
              <a:spcAft>
                <a:spcPts val="300"/>
              </a:spcAft>
              <a:defRPr sz="2200" b="1">
                <a:solidFill>
                  <a:srgbClr val="087C68"/>
                </a:solidFill>
                <a:latin typeface="Noto Sans CJK KR"/>
              </a:defRPr>
            </a:pPr>
            <a:r>
              <a:t>부족해진 뒤 긴급 배차  →  필요 시점 확인 · 복귀편 사전 예약</a:t>
            </a:r>
          </a:p>
        </p:txBody>
      </p:sp>
      <p:sp>
        <p:nvSpPr>
          <p:cNvPr id="42" name="TextBox 41"/>
          <p:cNvSpPr txBox="1"/>
          <p:nvPr/>
        </p:nvSpPr>
        <p:spPr>
          <a:xfrm>
            <a:off x="566928" y="6135624"/>
            <a:ext cx="11064240" cy="192024"/>
          </a:xfrm>
          <a:prstGeom prst="rect">
            <a:avLst/>
          </a:prstGeom>
          <a:noFill/>
        </p:spPr>
        <p:txBody>
          <a:bodyPr wrap="square" lIns="18288" rIns="18288" tIns="9144" bIns="9144">
            <a:spAutoFit/>
          </a:bodyPr>
          <a:lstStyle/>
          <a:p>
            <a:pPr>
              <a:spcBef>
                <a:spcPts val="0"/>
              </a:spcBef>
              <a:spcAft>
                <a:spcPts val="300"/>
              </a:spcAft>
              <a:defRPr sz="1100" b="0">
                <a:solidFill>
                  <a:srgbClr val="5A6D64"/>
                </a:solidFill>
                <a:latin typeface="Noto Sans CJK KR"/>
              </a:defRPr>
            </a:pPr>
            <a:r>
              <a:t>장면은 검증할 현장 가설입니다. 가용 공간·회수 수요가 맞는 경우에 적용합니다.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E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9875520" cy="256032"/>
          </a:xfrm>
          <a:prstGeom prst="rect">
            <a:avLst/>
          </a:prstGeom>
          <a:noFill/>
        </p:spPr>
        <p:txBody>
          <a:bodyPr wrap="square" lIns="18288" rIns="18288" tIns="9144" bIns="9144">
            <a:spAutoFit/>
          </a:bodyPr>
          <a:lstStyle/>
          <a:p>
            <a:pPr>
              <a:spcBef>
                <a:spcPts val="0"/>
              </a:spcBef>
              <a:spcAft>
                <a:spcPts val="300"/>
              </a:spcAft>
              <a:defRPr sz="1200" b="1">
                <a:solidFill>
                  <a:srgbClr val="087C68"/>
                </a:solidFill>
                <a:latin typeface="Noto Sans CJK KR"/>
              </a:defRPr>
            </a:pPr>
            <a:r>
              <a:t>CBP · 탄소예산 기반 빈 파렛트 회수예약   /   두런두런</a:t>
            </a:r>
          </a:p>
        </p:txBody>
      </p:sp>
      <p:sp>
        <p:nvSpPr>
          <p:cNvPr id="4" name="TextBox 3"/>
          <p:cNvSpPr txBox="1"/>
          <p:nvPr/>
        </p:nvSpPr>
        <p:spPr>
          <a:xfrm>
            <a:off x="10424160" y="246888"/>
            <a:ext cx="1207008" cy="256032"/>
          </a:xfrm>
          <a:prstGeom prst="rect">
            <a:avLst/>
          </a:prstGeom>
          <a:noFill/>
        </p:spPr>
        <p:txBody>
          <a:bodyPr wrap="square" lIns="18288" rIns="18288" tIns="9144" bIns="9144">
            <a:spAutoFit/>
          </a:bodyPr>
          <a:lstStyle/>
          <a:p>
            <a:pPr algn="r">
              <a:spcBef>
                <a:spcPts val="0"/>
              </a:spcBef>
              <a:spcAft>
                <a:spcPts val="300"/>
              </a:spcAft>
              <a:defRPr sz="1200" b="1">
                <a:solidFill>
                  <a:srgbClr val="5A6D64"/>
                </a:solidFill>
                <a:latin typeface="Noto Sans CJK KR"/>
              </a:defRPr>
            </a:pPr>
            <a:r>
              <a:t>IDEA 02</a:t>
            </a:r>
          </a:p>
        </p:txBody>
      </p:sp>
      <p:sp>
        <p:nvSpPr>
          <p:cNvPr id="5" name="TextBox 4"/>
          <p:cNvSpPr txBox="1"/>
          <p:nvPr/>
        </p:nvSpPr>
        <p:spPr>
          <a:xfrm>
            <a:off x="502920" y="740664"/>
            <a:ext cx="11155680" cy="1078992"/>
          </a:xfrm>
          <a:prstGeom prst="rect">
            <a:avLst/>
          </a:prstGeom>
          <a:noFill/>
        </p:spPr>
        <p:txBody>
          <a:bodyPr wrap="square" lIns="18288" rIns="18288" tIns="9144" bIns="9144">
            <a:spAutoFit/>
          </a:bodyPr>
          <a:lstStyle/>
          <a:p>
            <a:pPr>
              <a:spcBef>
                <a:spcPts val="0"/>
              </a:spcBef>
              <a:spcAft>
                <a:spcPts val="300"/>
              </a:spcAft>
              <a:defRPr sz="3100" b="1">
                <a:solidFill>
                  <a:srgbClr val="173C34"/>
                </a:solidFill>
                <a:latin typeface="Noto Sans CJK KR"/>
              </a:defRPr>
            </a:pPr>
            <a:r>
              <a:t>필요 시점부터 거꾸로,</a:t>
            </a:r>
          </a:p>
          <a:p>
            <a:pPr>
              <a:spcBef>
                <a:spcPts val="0"/>
              </a:spcBef>
              <a:spcAft>
                <a:spcPts val="300"/>
              </a:spcAft>
              <a:defRPr sz="3100" b="1">
                <a:solidFill>
                  <a:srgbClr val="173C34"/>
                </a:solidFill>
                <a:latin typeface="Noto Sans CJK KR"/>
              </a:defRPr>
            </a:pPr>
            <a:r>
              <a:t>회수 방법을 결정합니다.</a:t>
            </a:r>
          </a:p>
        </p:txBody>
      </p:sp>
      <p:sp>
        <p:nvSpPr>
          <p:cNvPr id="6" name="TextBox 5"/>
          <p:cNvSpPr txBox="1"/>
          <p:nvPr/>
        </p:nvSpPr>
        <p:spPr>
          <a:xfrm>
            <a:off x="530352" y="1837943"/>
            <a:ext cx="11064240" cy="457200"/>
          </a:xfrm>
          <a:prstGeom prst="rect">
            <a:avLst/>
          </a:prstGeom>
          <a:noFill/>
        </p:spPr>
        <p:txBody>
          <a:bodyPr wrap="square" lIns="18288" rIns="18288" tIns="9144" bIns="9144">
            <a:spAutoFit/>
          </a:bodyPr>
          <a:lstStyle/>
          <a:p>
            <a:pPr>
              <a:spcBef>
                <a:spcPts val="0"/>
              </a:spcBef>
              <a:spcAft>
                <a:spcPts val="300"/>
              </a:spcAft>
              <a:defRPr sz="1600" b="0">
                <a:solidFill>
                  <a:srgbClr val="5A6D64"/>
                </a:solidFill>
                <a:latin typeface="Noto Sans CJK KR"/>
              </a:defRPr>
            </a:pPr>
            <a:r>
              <a:t>핵심은 재고에 맞춘 기한, 운반 가능한 빈칸, 그리고 예약까지 반영한 탄소예산입니다.</a:t>
            </a:r>
          </a:p>
        </p:txBody>
      </p:sp>
      <p:sp>
        <p:nvSpPr>
          <p:cNvPr id="7" name="Rectangle 6"/>
          <p:cNvSpPr/>
          <p:nvPr/>
        </p:nvSpPr>
        <p:spPr>
          <a:xfrm>
            <a:off x="502920" y="6437376"/>
            <a:ext cx="11155680" cy="10972"/>
          </a:xfrm>
          <a:prstGeom prst="rect">
            <a:avLst/>
          </a:prstGeom>
          <a:solidFill>
            <a:srgbClr val="CFD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6519672"/>
            <a:ext cx="10789920" cy="201168"/>
          </a:xfrm>
          <a:prstGeom prst="rect">
            <a:avLst/>
          </a:prstGeom>
          <a:noFill/>
        </p:spPr>
        <p:txBody>
          <a:bodyPr wrap="square" lIns="18288" rIns="18288" tIns="9144" bIns="9144">
            <a:spAutoFit/>
          </a:bodyPr>
          <a:lstStyle/>
          <a:p>
            <a:pPr>
              <a:spcBef>
                <a:spcPts val="0"/>
              </a:spcBef>
              <a:spcAft>
                <a:spcPts val="300"/>
              </a:spcAft>
              <a:defRPr sz="1000" b="0">
                <a:solidFill>
                  <a:srgbClr val="5A6D64"/>
                </a:solidFill>
                <a:latin typeface="Noto Sans CJK KR"/>
              </a:defRPr>
            </a:pPr>
            <a:r>
              <a:t>제13회 유닛로드시스템(ULS) 창의성 공모전  |  아이디어 검토안 · 현장 실증 전</a:t>
            </a:r>
          </a:p>
        </p:txBody>
      </p:sp>
      <p:sp>
        <p:nvSpPr>
          <p:cNvPr id="9" name="Rounded Rectangle 8"/>
          <p:cNvSpPr/>
          <p:nvPr/>
        </p:nvSpPr>
        <p:spPr>
          <a:xfrm>
            <a:off x="530352" y="2587752"/>
            <a:ext cx="3529584" cy="16824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34056"/>
            <a:ext cx="502920" cy="292608"/>
          </a:xfrm>
          <a:prstGeom prst="rect">
            <a:avLst/>
          </a:prstGeom>
          <a:noFill/>
        </p:spPr>
        <p:txBody>
          <a:bodyPr wrap="square" lIns="18288" rIns="18288" tIns="9144" bIns="9144">
            <a:spAutoFit/>
          </a:bodyPr>
          <a:lstStyle/>
          <a:p>
            <a:pPr>
              <a:spcBef>
                <a:spcPts val="0"/>
              </a:spcBef>
              <a:spcAft>
                <a:spcPts val="300"/>
              </a:spcAft>
              <a:defRPr sz="1800" b="1">
                <a:solidFill>
                  <a:srgbClr val="087C68"/>
                </a:solidFill>
                <a:latin typeface="Noto Sans CJK KR"/>
              </a:defRPr>
            </a:pPr>
            <a:r>
              <a:t>01</a:t>
            </a:r>
          </a:p>
        </p:txBody>
      </p:sp>
      <p:sp>
        <p:nvSpPr>
          <p:cNvPr id="11" name="TextBox 10"/>
          <p:cNvSpPr txBox="1"/>
          <p:nvPr/>
        </p:nvSpPr>
        <p:spPr>
          <a:xfrm>
            <a:off x="713232" y="3136392"/>
            <a:ext cx="3154680" cy="338328"/>
          </a:xfrm>
          <a:prstGeom prst="rect">
            <a:avLst/>
          </a:prstGeom>
          <a:noFill/>
        </p:spPr>
        <p:txBody>
          <a:bodyPr wrap="square" lIns="18288" rIns="18288" tIns="9144" bIns="9144">
            <a:spAutoFit/>
          </a:bodyPr>
          <a:lstStyle/>
          <a:p>
            <a:pPr>
              <a:spcBef>
                <a:spcPts val="0"/>
              </a:spcBef>
              <a:spcAft>
                <a:spcPts val="300"/>
              </a:spcAft>
              <a:defRPr sz="2000" b="1">
                <a:solidFill>
                  <a:srgbClr val="173C34"/>
                </a:solidFill>
                <a:latin typeface="Noto Sans CJK KR"/>
              </a:defRPr>
            </a:pPr>
            <a:r>
              <a:t>언제까지 필요한가</a:t>
            </a:r>
          </a:p>
        </p:txBody>
      </p:sp>
      <p:sp>
        <p:nvSpPr>
          <p:cNvPr id="12" name="TextBox 11"/>
          <p:cNvSpPr txBox="1"/>
          <p:nvPr/>
        </p:nvSpPr>
        <p:spPr>
          <a:xfrm>
            <a:off x="713232" y="3639312"/>
            <a:ext cx="3154680" cy="512064"/>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예정 출고 · 재고 · 안전재고</a:t>
            </a:r>
          </a:p>
          <a:p>
            <a:pPr>
              <a:spcBef>
                <a:spcPts val="0"/>
              </a:spcBef>
              <a:spcAft>
                <a:spcPts val="300"/>
              </a:spcAft>
              <a:defRPr sz="1300" b="0">
                <a:solidFill>
                  <a:srgbClr val="5A6D64"/>
                </a:solidFill>
                <a:latin typeface="Noto Sans CJK KR"/>
              </a:defRPr>
            </a:pPr>
            <a:r>
              <a:t>→ 필요 수량과 도착 마감 확인</a:t>
            </a:r>
          </a:p>
        </p:txBody>
      </p:sp>
      <p:sp>
        <p:nvSpPr>
          <p:cNvPr id="13" name="Rounded Rectangle 12"/>
          <p:cNvSpPr/>
          <p:nvPr/>
        </p:nvSpPr>
        <p:spPr>
          <a:xfrm>
            <a:off x="4315968" y="2587752"/>
            <a:ext cx="3529584" cy="16824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734056"/>
            <a:ext cx="502920" cy="292608"/>
          </a:xfrm>
          <a:prstGeom prst="rect">
            <a:avLst/>
          </a:prstGeom>
          <a:noFill/>
        </p:spPr>
        <p:txBody>
          <a:bodyPr wrap="square" lIns="18288" rIns="18288" tIns="9144" bIns="9144">
            <a:spAutoFit/>
          </a:bodyPr>
          <a:lstStyle/>
          <a:p>
            <a:pPr>
              <a:spcBef>
                <a:spcPts val="0"/>
              </a:spcBef>
              <a:spcAft>
                <a:spcPts val="300"/>
              </a:spcAft>
              <a:defRPr sz="1800" b="1">
                <a:solidFill>
                  <a:srgbClr val="087C68"/>
                </a:solidFill>
                <a:latin typeface="Noto Sans CJK KR"/>
              </a:defRPr>
            </a:pPr>
            <a:r>
              <a:t>02</a:t>
            </a:r>
          </a:p>
        </p:txBody>
      </p:sp>
      <p:sp>
        <p:nvSpPr>
          <p:cNvPr id="15" name="TextBox 14"/>
          <p:cNvSpPr txBox="1"/>
          <p:nvPr/>
        </p:nvSpPr>
        <p:spPr>
          <a:xfrm>
            <a:off x="4498848" y="3136392"/>
            <a:ext cx="3154680" cy="338328"/>
          </a:xfrm>
          <a:prstGeom prst="rect">
            <a:avLst/>
          </a:prstGeom>
          <a:noFill/>
        </p:spPr>
        <p:txBody>
          <a:bodyPr wrap="square" lIns="18288" rIns="18288" tIns="9144" bIns="9144">
            <a:spAutoFit/>
          </a:bodyPr>
          <a:lstStyle/>
          <a:p>
            <a:pPr>
              <a:spcBef>
                <a:spcPts val="0"/>
              </a:spcBef>
              <a:spcAft>
                <a:spcPts val="300"/>
              </a:spcAft>
              <a:defRPr sz="2000" b="1">
                <a:solidFill>
                  <a:srgbClr val="173C34"/>
                </a:solidFill>
                <a:latin typeface="Noto Sans CJK KR"/>
              </a:defRPr>
            </a:pPr>
            <a:r>
              <a:t>어느 차에 실을 수 있나</a:t>
            </a:r>
          </a:p>
        </p:txBody>
      </p:sp>
      <p:sp>
        <p:nvSpPr>
          <p:cNvPr id="16" name="TextBox 15"/>
          <p:cNvSpPr txBox="1"/>
          <p:nvPr/>
        </p:nvSpPr>
        <p:spPr>
          <a:xfrm>
            <a:off x="4498848" y="3639312"/>
            <a:ext cx="3154680" cy="512064"/>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동일 풀링사 · 적재 안전 · 도착 시각</a:t>
            </a:r>
          </a:p>
          <a:p>
            <a:pPr>
              <a:spcBef>
                <a:spcPts val="0"/>
              </a:spcBef>
              <a:spcAft>
                <a:spcPts val="300"/>
              </a:spcAft>
              <a:defRPr sz="1300" b="0">
                <a:solidFill>
                  <a:srgbClr val="5A6D64"/>
                </a:solidFill>
                <a:latin typeface="Noto Sans CJK KR"/>
              </a:defRPr>
            </a:pPr>
            <a:r>
              <a:t>→ 실제 운반 가능한 복귀편만 선택</a:t>
            </a:r>
          </a:p>
        </p:txBody>
      </p:sp>
      <p:sp>
        <p:nvSpPr>
          <p:cNvPr id="17" name="Rounded Rectangle 16"/>
          <p:cNvSpPr/>
          <p:nvPr/>
        </p:nvSpPr>
        <p:spPr>
          <a:xfrm>
            <a:off x="8101583" y="2587752"/>
            <a:ext cx="3529584" cy="16824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3" y="2734056"/>
            <a:ext cx="502920" cy="292608"/>
          </a:xfrm>
          <a:prstGeom prst="rect">
            <a:avLst/>
          </a:prstGeom>
          <a:noFill/>
        </p:spPr>
        <p:txBody>
          <a:bodyPr wrap="square" lIns="18288" rIns="18288" tIns="9144" bIns="9144">
            <a:spAutoFit/>
          </a:bodyPr>
          <a:lstStyle/>
          <a:p>
            <a:pPr>
              <a:spcBef>
                <a:spcPts val="0"/>
              </a:spcBef>
              <a:spcAft>
                <a:spcPts val="300"/>
              </a:spcAft>
              <a:defRPr sz="1800" b="1">
                <a:solidFill>
                  <a:srgbClr val="087C68"/>
                </a:solidFill>
                <a:latin typeface="Noto Sans CJK KR"/>
              </a:defRPr>
            </a:pPr>
            <a:r>
              <a:t>03</a:t>
            </a:r>
          </a:p>
        </p:txBody>
      </p:sp>
      <p:sp>
        <p:nvSpPr>
          <p:cNvPr id="19" name="TextBox 18"/>
          <p:cNvSpPr txBox="1"/>
          <p:nvPr/>
        </p:nvSpPr>
        <p:spPr>
          <a:xfrm>
            <a:off x="8284463" y="3136392"/>
            <a:ext cx="3154680" cy="338328"/>
          </a:xfrm>
          <a:prstGeom prst="rect">
            <a:avLst/>
          </a:prstGeom>
          <a:noFill/>
        </p:spPr>
        <p:txBody>
          <a:bodyPr wrap="square" lIns="18288" rIns="18288" tIns="9144" bIns="9144">
            <a:spAutoFit/>
          </a:bodyPr>
          <a:lstStyle/>
          <a:p>
            <a:pPr>
              <a:spcBef>
                <a:spcPts val="0"/>
              </a:spcBef>
              <a:spcAft>
                <a:spcPts val="300"/>
              </a:spcAft>
              <a:defRPr sz="2000" b="1">
                <a:solidFill>
                  <a:srgbClr val="173C34"/>
                </a:solidFill>
                <a:latin typeface="Noto Sans CJK KR"/>
              </a:defRPr>
            </a:pPr>
            <a:r>
              <a:t>어떤 조합을 예약할까</a:t>
            </a:r>
          </a:p>
        </p:txBody>
      </p:sp>
      <p:sp>
        <p:nvSpPr>
          <p:cNvPr id="20" name="TextBox 19"/>
          <p:cNvSpPr txBox="1"/>
          <p:nvPr/>
        </p:nvSpPr>
        <p:spPr>
          <a:xfrm>
            <a:off x="8284463" y="3639312"/>
            <a:ext cx="3154680" cy="512064"/>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기한·수량 충족 + 탄소예산 준수</a:t>
            </a:r>
          </a:p>
          <a:p>
            <a:pPr>
              <a:spcBef>
                <a:spcPts val="0"/>
              </a:spcBef>
              <a:spcAft>
                <a:spcPts val="300"/>
              </a:spcAft>
              <a:defRPr sz="1300" b="0">
                <a:solidFill>
                  <a:srgbClr val="5A6D64"/>
                </a:solidFill>
                <a:latin typeface="Noto Sans CJK KR"/>
              </a:defRPr>
            </a:pPr>
            <a:r>
              <a:t>→ 그중 추가 회수비가 낮은 조합</a:t>
            </a:r>
          </a:p>
        </p:txBody>
      </p:sp>
      <p:sp>
        <p:nvSpPr>
          <p:cNvPr id="21" name="Rounded Rectangle 20"/>
          <p:cNvSpPr/>
          <p:nvPr/>
        </p:nvSpPr>
        <p:spPr>
          <a:xfrm>
            <a:off x="530352" y="4562856"/>
            <a:ext cx="11109960" cy="859536"/>
          </a:xfrm>
          <a:prstGeom prst="roundRect">
            <a:avLst>
              <a:gd name="adj" fmla="val 8000"/>
            </a:avLst>
          </a:prstGeom>
          <a:solidFill>
            <a:srgbClr val="173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4718304"/>
            <a:ext cx="10652760" cy="466344"/>
          </a:xfrm>
          <a:prstGeom prst="rect">
            <a:avLst/>
          </a:prstGeom>
          <a:noFill/>
        </p:spPr>
        <p:txBody>
          <a:bodyPr wrap="square" lIns="18288" rIns="18288" tIns="9144" bIns="9144">
            <a:spAutoFit/>
          </a:bodyPr>
          <a:lstStyle/>
          <a:p>
            <a:pPr>
              <a:spcBef>
                <a:spcPts val="0"/>
              </a:spcBef>
              <a:spcAft>
                <a:spcPts val="300"/>
              </a:spcAft>
              <a:defRPr sz="2100" b="1">
                <a:solidFill>
                  <a:srgbClr val="FFFFFF"/>
                </a:solidFill>
                <a:latin typeface="Noto Sans CJK KR"/>
              </a:defRPr>
            </a:pPr>
            <a:r>
              <a:t>쓸 수 있는 탄소 = 총예산 − 기배출 − 확정된 향후 운행의 예약분</a:t>
            </a:r>
          </a:p>
        </p:txBody>
      </p:sp>
      <p:sp>
        <p:nvSpPr>
          <p:cNvPr id="23" name="TextBox 22"/>
          <p:cNvSpPr txBox="1"/>
          <p:nvPr/>
        </p:nvSpPr>
        <p:spPr>
          <a:xfrm>
            <a:off x="612648" y="5605272"/>
            <a:ext cx="10972800" cy="521207"/>
          </a:xfrm>
          <a:prstGeom prst="rect">
            <a:avLst/>
          </a:prstGeom>
          <a:noFill/>
        </p:spPr>
        <p:txBody>
          <a:bodyPr wrap="square" lIns="18288" rIns="18288" tIns="9144" bIns="9144">
            <a:spAutoFit/>
          </a:bodyPr>
          <a:lstStyle/>
          <a:p>
            <a:pPr>
              <a:spcBef>
                <a:spcPts val="0"/>
              </a:spcBef>
              <a:spcAft>
                <a:spcPts val="300"/>
              </a:spcAft>
              <a:defRPr sz="1700" b="0">
                <a:solidFill>
                  <a:srgbClr val="173C34"/>
                </a:solidFill>
                <a:latin typeface="Noto Sans CJK KR"/>
              </a:defRPr>
            </a:pPr>
            <a:r>
              <a:t>복귀편을 예약해도 끝이 아닙니다.</a:t>
            </a:r>
          </a:p>
          <a:p>
            <a:pPr>
              <a:spcBef>
                <a:spcPts val="0"/>
              </a:spcBef>
              <a:spcAft>
                <a:spcPts val="300"/>
              </a:spcAft>
              <a:defRPr sz="1700" b="0">
                <a:solidFill>
                  <a:srgbClr val="173C34"/>
                </a:solidFill>
                <a:latin typeface="Noto Sans CJK KR"/>
              </a:defRPr>
            </a:pPr>
            <a:r>
              <a:t>대체 회수차를 보낼 수 있는 마감 전에, 지연과 적재 공간을 다시 확인합니다.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E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9875520" cy="256032"/>
          </a:xfrm>
          <a:prstGeom prst="rect">
            <a:avLst/>
          </a:prstGeom>
          <a:noFill/>
        </p:spPr>
        <p:txBody>
          <a:bodyPr wrap="square" lIns="18288" rIns="18288" tIns="9144" bIns="9144">
            <a:spAutoFit/>
          </a:bodyPr>
          <a:lstStyle/>
          <a:p>
            <a:pPr>
              <a:spcBef>
                <a:spcPts val="0"/>
              </a:spcBef>
              <a:spcAft>
                <a:spcPts val="300"/>
              </a:spcAft>
              <a:defRPr sz="1200" b="1">
                <a:solidFill>
                  <a:srgbClr val="087C68"/>
                </a:solidFill>
                <a:latin typeface="Noto Sans CJK KR"/>
              </a:defRPr>
            </a:pPr>
            <a:r>
              <a:t>CBP · 탄소예산 기반 빈 파렛트 회수예약   /   두런두런</a:t>
            </a:r>
          </a:p>
        </p:txBody>
      </p:sp>
      <p:sp>
        <p:nvSpPr>
          <p:cNvPr id="4" name="TextBox 3"/>
          <p:cNvSpPr txBox="1"/>
          <p:nvPr/>
        </p:nvSpPr>
        <p:spPr>
          <a:xfrm>
            <a:off x="10424160" y="246888"/>
            <a:ext cx="1207008" cy="256032"/>
          </a:xfrm>
          <a:prstGeom prst="rect">
            <a:avLst/>
          </a:prstGeom>
          <a:noFill/>
        </p:spPr>
        <p:txBody>
          <a:bodyPr wrap="square" lIns="18288" rIns="18288" tIns="9144" bIns="9144">
            <a:spAutoFit/>
          </a:bodyPr>
          <a:lstStyle/>
          <a:p>
            <a:pPr algn="r">
              <a:spcBef>
                <a:spcPts val="0"/>
              </a:spcBef>
              <a:spcAft>
                <a:spcPts val="300"/>
              </a:spcAft>
              <a:defRPr sz="1200" b="1">
                <a:solidFill>
                  <a:srgbClr val="5A6D64"/>
                </a:solidFill>
                <a:latin typeface="Noto Sans CJK KR"/>
              </a:defRPr>
            </a:pPr>
            <a:r>
              <a:t>IDEA 03</a:t>
            </a:r>
          </a:p>
        </p:txBody>
      </p:sp>
      <p:sp>
        <p:nvSpPr>
          <p:cNvPr id="5" name="TextBox 4"/>
          <p:cNvSpPr txBox="1"/>
          <p:nvPr/>
        </p:nvSpPr>
        <p:spPr>
          <a:xfrm>
            <a:off x="502920" y="740664"/>
            <a:ext cx="11155680" cy="1078992"/>
          </a:xfrm>
          <a:prstGeom prst="rect">
            <a:avLst/>
          </a:prstGeom>
          <a:noFill/>
        </p:spPr>
        <p:txBody>
          <a:bodyPr wrap="square" lIns="18288" rIns="18288" tIns="9144" bIns="9144">
            <a:spAutoFit/>
          </a:bodyPr>
          <a:lstStyle/>
          <a:p>
            <a:pPr>
              <a:spcBef>
                <a:spcPts val="0"/>
              </a:spcBef>
              <a:spcAft>
                <a:spcPts val="300"/>
              </a:spcAft>
              <a:defRPr sz="3100" b="1">
                <a:solidFill>
                  <a:srgbClr val="173C34"/>
                </a:solidFill>
                <a:latin typeface="Noto Sans CJK KR"/>
              </a:defRPr>
            </a:pPr>
            <a:r>
              <a:t>같은 기한·같은 물량에서,</a:t>
            </a:r>
          </a:p>
          <a:p>
            <a:pPr>
              <a:spcBef>
                <a:spcPts val="0"/>
              </a:spcBef>
              <a:spcAft>
                <a:spcPts val="300"/>
              </a:spcAft>
              <a:defRPr sz="3100" b="1">
                <a:solidFill>
                  <a:srgbClr val="173C34"/>
                </a:solidFill>
                <a:latin typeface="Noto Sans CJK KR"/>
              </a:defRPr>
            </a:pPr>
            <a:r>
              <a:t>탄소예산이 선택을 바꿉니다.</a:t>
            </a:r>
          </a:p>
        </p:txBody>
      </p:sp>
      <p:sp>
        <p:nvSpPr>
          <p:cNvPr id="6" name="Rectangle 5"/>
          <p:cNvSpPr/>
          <p:nvPr/>
        </p:nvSpPr>
        <p:spPr>
          <a:xfrm>
            <a:off x="502920" y="6437376"/>
            <a:ext cx="11155680" cy="10972"/>
          </a:xfrm>
          <a:prstGeom prst="rect">
            <a:avLst/>
          </a:prstGeom>
          <a:solidFill>
            <a:srgbClr val="CFD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6519672"/>
            <a:ext cx="10789920" cy="201168"/>
          </a:xfrm>
          <a:prstGeom prst="rect">
            <a:avLst/>
          </a:prstGeom>
          <a:noFill/>
        </p:spPr>
        <p:txBody>
          <a:bodyPr wrap="square" lIns="18288" rIns="18288" tIns="9144" bIns="9144">
            <a:spAutoFit/>
          </a:bodyPr>
          <a:lstStyle/>
          <a:p>
            <a:pPr>
              <a:spcBef>
                <a:spcPts val="0"/>
              </a:spcBef>
              <a:spcAft>
                <a:spcPts val="300"/>
              </a:spcAft>
              <a:defRPr sz="1000" b="0">
                <a:solidFill>
                  <a:srgbClr val="5A6D64"/>
                </a:solidFill>
                <a:latin typeface="Noto Sans CJK KR"/>
              </a:defRPr>
            </a:pPr>
            <a:r>
              <a:t>제13회 유닛로드시스템(ULS) 창의성 공모전  |  아이디어 검토안 · 현장 실증 전</a:t>
            </a:r>
          </a:p>
        </p:txBody>
      </p:sp>
      <p:sp>
        <p:nvSpPr>
          <p:cNvPr id="8" name="Rounded Rectangle 7"/>
          <p:cNvSpPr/>
          <p:nvPr/>
        </p:nvSpPr>
        <p:spPr>
          <a:xfrm>
            <a:off x="530352" y="1947672"/>
            <a:ext cx="11109960" cy="438912"/>
          </a:xfrm>
          <a:prstGeom prst="roundRect">
            <a:avLst>
              <a:gd name="adj" fmla="val 8000"/>
            </a:avLst>
          </a:prstGeom>
          <a:solidFill>
            <a:srgbClr val="FFF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020824"/>
            <a:ext cx="10716768" cy="246888"/>
          </a:xfrm>
          <a:prstGeom prst="rect">
            <a:avLst/>
          </a:prstGeom>
          <a:noFill/>
        </p:spPr>
        <p:txBody>
          <a:bodyPr wrap="square" lIns="18288" rIns="18288" tIns="9144" bIns="9144">
            <a:spAutoFit/>
          </a:bodyPr>
          <a:lstStyle/>
          <a:p>
            <a:pPr>
              <a:spcBef>
                <a:spcPts val="0"/>
              </a:spcBef>
              <a:spcAft>
                <a:spcPts val="300"/>
              </a:spcAft>
              <a:defRPr sz="1400" b="1">
                <a:solidFill>
                  <a:srgbClr val="A7481F"/>
                </a:solidFill>
                <a:latin typeface="Noto Sans CJK KR"/>
              </a:defRPr>
            </a:pPr>
            <a:r>
              <a:t>작동 원리 설명용 가상 예시  |  실제 운임·배출계수 또는 실증 결과가 아닙니다.</a:t>
            </a:r>
          </a:p>
        </p:txBody>
      </p:sp>
      <p:sp>
        <p:nvSpPr>
          <p:cNvPr id="10" name="TextBox 9"/>
          <p:cNvSpPr txBox="1"/>
          <p:nvPr/>
        </p:nvSpPr>
        <p:spPr>
          <a:xfrm>
            <a:off x="566928" y="2596896"/>
            <a:ext cx="10927080" cy="411480"/>
          </a:xfrm>
          <a:prstGeom prst="rect">
            <a:avLst/>
          </a:prstGeom>
          <a:noFill/>
        </p:spPr>
        <p:txBody>
          <a:bodyPr wrap="square" lIns="18288" rIns="18288" tIns="9144" bIns="9144">
            <a:spAutoFit/>
          </a:bodyPr>
          <a:lstStyle/>
          <a:p>
            <a:pPr>
              <a:spcBef>
                <a:spcPts val="0"/>
              </a:spcBef>
              <a:spcAft>
                <a:spcPts val="300"/>
              </a:spcAft>
              <a:defRPr sz="2000" b="1">
                <a:solidFill>
                  <a:srgbClr val="173C34"/>
                </a:solidFill>
                <a:latin typeface="Noto Sans CJK KR"/>
              </a:defRPr>
            </a:pPr>
            <a:r>
              <a:t>공통 조건: 160매 · 16시까지 도착 · 이번 회수 탄소예산 70kgCO₂e</a:t>
            </a:r>
          </a:p>
        </p:txBody>
      </p:sp>
      <p:sp>
        <p:nvSpPr>
          <p:cNvPr id="11" name="Rounded Rectangle 10"/>
          <p:cNvSpPr/>
          <p:nvPr/>
        </p:nvSpPr>
        <p:spPr>
          <a:xfrm>
            <a:off x="530352" y="3200400"/>
            <a:ext cx="5422392" cy="20299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3346704"/>
            <a:ext cx="4956048" cy="246888"/>
          </a:xfrm>
          <a:prstGeom prst="rect">
            <a:avLst/>
          </a:prstGeom>
          <a:noFill/>
        </p:spPr>
        <p:txBody>
          <a:bodyPr wrap="square" lIns="18288" rIns="18288" tIns="9144" bIns="9144">
            <a:spAutoFit/>
          </a:bodyPr>
          <a:lstStyle/>
          <a:p>
            <a:pPr>
              <a:spcBef>
                <a:spcPts val="0"/>
              </a:spcBef>
              <a:spcAft>
                <a:spcPts val="300"/>
              </a:spcAft>
              <a:defRPr sz="1300" b="1">
                <a:solidFill>
                  <a:srgbClr val="A7481F"/>
                </a:solidFill>
                <a:latin typeface="Noto Sans CJK KR"/>
              </a:defRPr>
            </a:pPr>
            <a:r>
              <a:t>동일 정보 · 비용 최소안</a:t>
            </a:r>
          </a:p>
        </p:txBody>
      </p:sp>
      <p:sp>
        <p:nvSpPr>
          <p:cNvPr id="13" name="TextBox 12"/>
          <p:cNvSpPr txBox="1"/>
          <p:nvPr/>
        </p:nvSpPr>
        <p:spPr>
          <a:xfrm>
            <a:off x="731519" y="3685032"/>
            <a:ext cx="4956048" cy="374904"/>
          </a:xfrm>
          <a:prstGeom prst="rect">
            <a:avLst/>
          </a:prstGeom>
          <a:noFill/>
        </p:spPr>
        <p:txBody>
          <a:bodyPr wrap="square" lIns="18288" rIns="18288" tIns="9144" bIns="9144">
            <a:spAutoFit/>
          </a:bodyPr>
          <a:lstStyle/>
          <a:p>
            <a:pPr>
              <a:spcBef>
                <a:spcPts val="0"/>
              </a:spcBef>
              <a:spcAft>
                <a:spcPts val="300"/>
              </a:spcAft>
              <a:defRPr sz="2100" b="1">
                <a:solidFill>
                  <a:srgbClr val="173C34"/>
                </a:solidFill>
                <a:latin typeface="Noto Sans CJK KR"/>
              </a:defRPr>
            </a:pPr>
            <a:r>
              <a:t>전용 회수차</a:t>
            </a:r>
          </a:p>
        </p:txBody>
      </p:sp>
      <p:sp>
        <p:nvSpPr>
          <p:cNvPr id="14" name="TextBox 13"/>
          <p:cNvSpPr txBox="1"/>
          <p:nvPr/>
        </p:nvSpPr>
        <p:spPr>
          <a:xfrm>
            <a:off x="731519" y="4233672"/>
            <a:ext cx="2414016" cy="448056"/>
          </a:xfrm>
          <a:prstGeom prst="rect">
            <a:avLst/>
          </a:prstGeom>
          <a:noFill/>
        </p:spPr>
        <p:txBody>
          <a:bodyPr wrap="square" lIns="18288" rIns="18288" tIns="9144" bIns="9144">
            <a:spAutoFit/>
          </a:bodyPr>
          <a:lstStyle/>
          <a:p>
            <a:pPr>
              <a:spcBef>
                <a:spcPts val="0"/>
              </a:spcBef>
              <a:spcAft>
                <a:spcPts val="300"/>
              </a:spcAft>
              <a:defRPr sz="2600" b="1">
                <a:solidFill>
                  <a:srgbClr val="173C34"/>
                </a:solidFill>
                <a:latin typeface="Noto Sans CJK KR"/>
              </a:defRPr>
            </a:pPr>
            <a:r>
              <a:t>120,000원</a:t>
            </a:r>
          </a:p>
        </p:txBody>
      </p:sp>
      <p:sp>
        <p:nvSpPr>
          <p:cNvPr id="15" name="TextBox 14"/>
          <p:cNvSpPr txBox="1"/>
          <p:nvPr/>
        </p:nvSpPr>
        <p:spPr>
          <a:xfrm>
            <a:off x="3200400" y="4233672"/>
            <a:ext cx="2587752" cy="448056"/>
          </a:xfrm>
          <a:prstGeom prst="rect">
            <a:avLst/>
          </a:prstGeom>
          <a:noFill/>
        </p:spPr>
        <p:txBody>
          <a:bodyPr wrap="square" lIns="18288" rIns="18288" tIns="9144" bIns="9144">
            <a:spAutoFit/>
          </a:bodyPr>
          <a:lstStyle/>
          <a:p>
            <a:pPr>
              <a:spcBef>
                <a:spcPts val="0"/>
              </a:spcBef>
              <a:spcAft>
                <a:spcPts val="300"/>
              </a:spcAft>
              <a:defRPr sz="2500" b="1">
                <a:solidFill>
                  <a:srgbClr val="A7481F"/>
                </a:solidFill>
                <a:latin typeface="Noto Sans CJK KR"/>
              </a:defRPr>
            </a:pPr>
            <a:r>
              <a:t>90kgCO₂e</a:t>
            </a:r>
          </a:p>
        </p:txBody>
      </p:sp>
      <p:sp>
        <p:nvSpPr>
          <p:cNvPr id="16" name="TextBox 15"/>
          <p:cNvSpPr txBox="1"/>
          <p:nvPr/>
        </p:nvSpPr>
        <p:spPr>
          <a:xfrm>
            <a:off x="731519" y="4800600"/>
            <a:ext cx="4956048" cy="219456"/>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13시 도착</a:t>
            </a:r>
          </a:p>
        </p:txBody>
      </p:sp>
      <p:sp>
        <p:nvSpPr>
          <p:cNvPr id="17" name="Rounded Rectangle 16"/>
          <p:cNvSpPr/>
          <p:nvPr/>
        </p:nvSpPr>
        <p:spPr>
          <a:xfrm>
            <a:off x="6217920" y="3200400"/>
            <a:ext cx="5422392" cy="2029968"/>
          </a:xfrm>
          <a:prstGeom prst="roundRect">
            <a:avLst>
              <a:gd name="adj" fmla="val 8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3346704"/>
            <a:ext cx="4956048" cy="246888"/>
          </a:xfrm>
          <a:prstGeom prst="rect">
            <a:avLst/>
          </a:prstGeom>
          <a:noFill/>
        </p:spPr>
        <p:txBody>
          <a:bodyPr wrap="square" lIns="18288" rIns="18288" tIns="9144" bIns="9144">
            <a:spAutoFit/>
          </a:bodyPr>
          <a:lstStyle/>
          <a:p>
            <a:pPr>
              <a:spcBef>
                <a:spcPts val="0"/>
              </a:spcBef>
              <a:spcAft>
                <a:spcPts val="300"/>
              </a:spcAft>
              <a:defRPr sz="1300" b="1">
                <a:solidFill>
                  <a:srgbClr val="087C68"/>
                </a:solidFill>
                <a:latin typeface="Noto Sans CJK KR"/>
              </a:defRPr>
            </a:pPr>
            <a:r>
              <a:t>CBP · 탄소예산 준수안</a:t>
            </a:r>
          </a:p>
        </p:txBody>
      </p:sp>
      <p:sp>
        <p:nvSpPr>
          <p:cNvPr id="19" name="TextBox 18"/>
          <p:cNvSpPr txBox="1"/>
          <p:nvPr/>
        </p:nvSpPr>
        <p:spPr>
          <a:xfrm>
            <a:off x="6419088" y="3685032"/>
            <a:ext cx="4956048" cy="374904"/>
          </a:xfrm>
          <a:prstGeom prst="rect">
            <a:avLst/>
          </a:prstGeom>
          <a:noFill/>
        </p:spPr>
        <p:txBody>
          <a:bodyPr wrap="square" lIns="18288" rIns="18288" tIns="9144" bIns="9144">
            <a:spAutoFit/>
          </a:bodyPr>
          <a:lstStyle/>
          <a:p>
            <a:pPr>
              <a:spcBef>
                <a:spcPts val="0"/>
              </a:spcBef>
              <a:spcAft>
                <a:spcPts val="300"/>
              </a:spcAft>
              <a:defRPr sz="2100" b="1">
                <a:solidFill>
                  <a:srgbClr val="173C34"/>
                </a:solidFill>
                <a:latin typeface="Noto Sans CJK KR"/>
              </a:defRPr>
            </a:pPr>
            <a:r>
              <a:t>복귀편 A 100매 + B 60매</a:t>
            </a:r>
          </a:p>
        </p:txBody>
      </p:sp>
      <p:sp>
        <p:nvSpPr>
          <p:cNvPr id="20" name="TextBox 19"/>
          <p:cNvSpPr txBox="1"/>
          <p:nvPr/>
        </p:nvSpPr>
        <p:spPr>
          <a:xfrm>
            <a:off x="6419088" y="4233672"/>
            <a:ext cx="2414016" cy="448056"/>
          </a:xfrm>
          <a:prstGeom prst="rect">
            <a:avLst/>
          </a:prstGeom>
          <a:noFill/>
        </p:spPr>
        <p:txBody>
          <a:bodyPr wrap="square" lIns="18288" rIns="18288" tIns="9144" bIns="9144">
            <a:spAutoFit/>
          </a:bodyPr>
          <a:lstStyle/>
          <a:p>
            <a:pPr>
              <a:spcBef>
                <a:spcPts val="0"/>
              </a:spcBef>
              <a:spcAft>
                <a:spcPts val="300"/>
              </a:spcAft>
              <a:defRPr sz="2600" b="1">
                <a:solidFill>
                  <a:srgbClr val="173C34"/>
                </a:solidFill>
                <a:latin typeface="Noto Sans CJK KR"/>
              </a:defRPr>
            </a:pPr>
            <a:r>
              <a:t>135,000원</a:t>
            </a:r>
          </a:p>
        </p:txBody>
      </p:sp>
      <p:sp>
        <p:nvSpPr>
          <p:cNvPr id="21" name="TextBox 20"/>
          <p:cNvSpPr txBox="1"/>
          <p:nvPr/>
        </p:nvSpPr>
        <p:spPr>
          <a:xfrm>
            <a:off x="8887967" y="4233672"/>
            <a:ext cx="2587752" cy="448056"/>
          </a:xfrm>
          <a:prstGeom prst="rect">
            <a:avLst/>
          </a:prstGeom>
          <a:noFill/>
        </p:spPr>
        <p:txBody>
          <a:bodyPr wrap="square" lIns="18288" rIns="18288" tIns="9144" bIns="9144">
            <a:spAutoFit/>
          </a:bodyPr>
          <a:lstStyle/>
          <a:p>
            <a:pPr>
              <a:spcBef>
                <a:spcPts val="0"/>
              </a:spcBef>
              <a:spcAft>
                <a:spcPts val="300"/>
              </a:spcAft>
              <a:defRPr sz="2500" b="1">
                <a:solidFill>
                  <a:srgbClr val="087C68"/>
                </a:solidFill>
                <a:latin typeface="Noto Sans CJK KR"/>
              </a:defRPr>
            </a:pPr>
            <a:r>
              <a:t>65kgCO₂e</a:t>
            </a:r>
          </a:p>
        </p:txBody>
      </p:sp>
      <p:sp>
        <p:nvSpPr>
          <p:cNvPr id="22" name="TextBox 21"/>
          <p:cNvSpPr txBox="1"/>
          <p:nvPr/>
        </p:nvSpPr>
        <p:spPr>
          <a:xfrm>
            <a:off x="6419088" y="4800600"/>
            <a:ext cx="4956048" cy="219456"/>
          </a:xfrm>
          <a:prstGeom prst="rect">
            <a:avLst/>
          </a:prstGeom>
          <a:noFill/>
        </p:spPr>
        <p:txBody>
          <a:bodyPr wrap="square" lIns="18288" rIns="18288" tIns="9144" bIns="9144">
            <a:spAutoFit/>
          </a:bodyPr>
          <a:lstStyle/>
          <a:p>
            <a:pPr>
              <a:spcBef>
                <a:spcPts val="0"/>
              </a:spcBef>
              <a:spcAft>
                <a:spcPts val="300"/>
              </a:spcAft>
              <a:defRPr sz="1300" b="0">
                <a:solidFill>
                  <a:srgbClr val="5A6D64"/>
                </a:solidFill>
                <a:latin typeface="Noto Sans CJK KR"/>
              </a:defRPr>
            </a:pPr>
            <a:r>
              <a:t>14시·15시 도착</a:t>
            </a:r>
          </a:p>
        </p:txBody>
      </p:sp>
      <p:sp>
        <p:nvSpPr>
          <p:cNvPr id="23" name="TextBox 22"/>
          <p:cNvSpPr txBox="1"/>
          <p:nvPr/>
        </p:nvSpPr>
        <p:spPr>
          <a:xfrm>
            <a:off x="630936" y="5486400"/>
            <a:ext cx="10927080" cy="402336"/>
          </a:xfrm>
          <a:prstGeom prst="rect">
            <a:avLst/>
          </a:prstGeom>
          <a:noFill/>
        </p:spPr>
        <p:txBody>
          <a:bodyPr wrap="square" lIns="18288" rIns="18288" tIns="9144" bIns="9144">
            <a:spAutoFit/>
          </a:bodyPr>
          <a:lstStyle/>
          <a:p>
            <a:pPr>
              <a:spcBef>
                <a:spcPts val="0"/>
              </a:spcBef>
              <a:spcAft>
                <a:spcPts val="300"/>
              </a:spcAft>
              <a:defRPr sz="2200" b="1">
                <a:solidFill>
                  <a:srgbClr val="087C68"/>
                </a:solidFill>
                <a:latin typeface="Noto Sans CJK KR"/>
              </a:defRPr>
            </a:pPr>
            <a:r>
              <a:t>이 가상 입력에서는  +15,000원으로 25kgCO₂e를 줄이는 선택</a:t>
            </a:r>
          </a:p>
        </p:txBody>
      </p:sp>
      <p:sp>
        <p:nvSpPr>
          <p:cNvPr id="24" name="TextBox 23"/>
          <p:cNvSpPr txBox="1"/>
          <p:nvPr/>
        </p:nvSpPr>
        <p:spPr>
          <a:xfrm>
            <a:off x="612648" y="6016752"/>
            <a:ext cx="10981944" cy="292608"/>
          </a:xfrm>
          <a:prstGeom prst="rect">
            <a:avLst/>
          </a:prstGeom>
          <a:noFill/>
        </p:spPr>
        <p:txBody>
          <a:bodyPr wrap="square" lIns="18288" rIns="18288" tIns="9144" bIns="9144">
            <a:spAutoFit/>
          </a:bodyPr>
          <a:lstStyle/>
          <a:p>
            <a:pPr>
              <a:spcBef>
                <a:spcPts val="0"/>
              </a:spcBef>
              <a:spcAft>
                <a:spcPts val="300"/>
              </a:spcAft>
              <a:defRPr sz="1100" b="0">
                <a:solidFill>
                  <a:srgbClr val="5A6D64"/>
                </a:solidFill>
                <a:latin typeface="Noto Sans CJK KR"/>
              </a:defRPr>
            </a:pPr>
            <a:r>
              <a:t>공통 배송 본선은 동일 운행으로 가정. 회수로 달라지는 비용·배출만 비교하며, 복귀편 추가 배출도 0이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EF"/>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9875520" cy="256032"/>
          </a:xfrm>
          <a:prstGeom prst="rect">
            <a:avLst/>
          </a:prstGeom>
          <a:noFill/>
        </p:spPr>
        <p:txBody>
          <a:bodyPr wrap="square" lIns="18288" rIns="18288" tIns="9144" bIns="9144">
            <a:spAutoFit/>
          </a:bodyPr>
          <a:lstStyle/>
          <a:p>
            <a:pPr>
              <a:spcBef>
                <a:spcPts val="0"/>
              </a:spcBef>
              <a:spcAft>
                <a:spcPts val="300"/>
              </a:spcAft>
              <a:defRPr sz="1200" b="1">
                <a:solidFill>
                  <a:srgbClr val="087C68"/>
                </a:solidFill>
                <a:latin typeface="Noto Sans CJK KR"/>
              </a:defRPr>
            </a:pPr>
            <a:r>
              <a:t>CBP · 탄소예산 기반 빈 파렛트 회수예약   /   두런두런</a:t>
            </a:r>
          </a:p>
        </p:txBody>
      </p:sp>
      <p:sp>
        <p:nvSpPr>
          <p:cNvPr id="4" name="TextBox 3"/>
          <p:cNvSpPr txBox="1"/>
          <p:nvPr/>
        </p:nvSpPr>
        <p:spPr>
          <a:xfrm>
            <a:off x="10424160" y="246888"/>
            <a:ext cx="1207008" cy="256032"/>
          </a:xfrm>
          <a:prstGeom prst="rect">
            <a:avLst/>
          </a:prstGeom>
          <a:noFill/>
        </p:spPr>
        <p:txBody>
          <a:bodyPr wrap="square" lIns="18288" rIns="18288" tIns="9144" bIns="9144">
            <a:spAutoFit/>
          </a:bodyPr>
          <a:lstStyle/>
          <a:p>
            <a:pPr algn="r">
              <a:spcBef>
                <a:spcPts val="0"/>
              </a:spcBef>
              <a:spcAft>
                <a:spcPts val="300"/>
              </a:spcAft>
              <a:defRPr sz="1200" b="1">
                <a:solidFill>
                  <a:srgbClr val="5A6D64"/>
                </a:solidFill>
                <a:latin typeface="Noto Sans CJK KR"/>
              </a:defRPr>
            </a:pPr>
            <a:r>
              <a:t>IDEA 04</a:t>
            </a:r>
          </a:p>
        </p:txBody>
      </p:sp>
      <p:sp>
        <p:nvSpPr>
          <p:cNvPr id="5" name="TextBox 4"/>
          <p:cNvSpPr txBox="1"/>
          <p:nvPr/>
        </p:nvSpPr>
        <p:spPr>
          <a:xfrm>
            <a:off x="502920" y="740664"/>
            <a:ext cx="11155680" cy="1078992"/>
          </a:xfrm>
          <a:prstGeom prst="rect">
            <a:avLst/>
          </a:prstGeom>
          <a:noFill/>
        </p:spPr>
        <p:txBody>
          <a:bodyPr wrap="square" lIns="18288" rIns="18288" tIns="9144" bIns="9144">
            <a:spAutoFit/>
          </a:bodyPr>
          <a:lstStyle/>
          <a:p>
            <a:pPr>
              <a:spcBef>
                <a:spcPts val="0"/>
              </a:spcBef>
              <a:spcAft>
                <a:spcPts val="300"/>
              </a:spcAft>
              <a:defRPr sz="3100" b="1">
                <a:solidFill>
                  <a:srgbClr val="173C34"/>
                </a:solidFill>
                <a:latin typeface="Noto Sans CJK KR"/>
              </a:defRPr>
            </a:pPr>
            <a:r>
              <a:t>예약이 어긋나도,</a:t>
            </a:r>
          </a:p>
          <a:p>
            <a:pPr>
              <a:spcBef>
                <a:spcPts val="0"/>
              </a:spcBef>
              <a:spcAft>
                <a:spcPts val="300"/>
              </a:spcAft>
              <a:defRPr sz="3100" b="1">
                <a:solidFill>
                  <a:srgbClr val="173C34"/>
                </a:solidFill>
                <a:latin typeface="Noto Sans CJK KR"/>
              </a:defRPr>
            </a:pPr>
            <a:r>
              <a:t>다음 출고를 지키는 회수.</a:t>
            </a:r>
          </a:p>
        </p:txBody>
      </p:sp>
      <p:sp>
        <p:nvSpPr>
          <p:cNvPr id="6" name="TextBox 5"/>
          <p:cNvSpPr txBox="1"/>
          <p:nvPr/>
        </p:nvSpPr>
        <p:spPr>
          <a:xfrm>
            <a:off x="530352" y="1837943"/>
            <a:ext cx="11064240" cy="457200"/>
          </a:xfrm>
          <a:prstGeom prst="rect">
            <a:avLst/>
          </a:prstGeom>
          <a:noFill/>
        </p:spPr>
        <p:txBody>
          <a:bodyPr wrap="square" lIns="18288" rIns="18288" tIns="9144" bIns="9144">
            <a:spAutoFit/>
          </a:bodyPr>
          <a:lstStyle/>
          <a:p>
            <a:pPr>
              <a:spcBef>
                <a:spcPts val="0"/>
              </a:spcBef>
              <a:spcAft>
                <a:spcPts val="300"/>
              </a:spcAft>
              <a:defRPr sz="1600" b="0">
                <a:solidFill>
                  <a:srgbClr val="5A6D64"/>
                </a:solidFill>
                <a:latin typeface="Noto Sans CJK KR"/>
              </a:defRPr>
            </a:pPr>
            <a:r>
              <a:t>복귀편 활용만으로 끝내지 않고, 실패했을 때의 운영 규칙까지 설계합니다.</a:t>
            </a:r>
          </a:p>
        </p:txBody>
      </p:sp>
      <p:sp>
        <p:nvSpPr>
          <p:cNvPr id="7" name="Rectangle 6"/>
          <p:cNvSpPr/>
          <p:nvPr/>
        </p:nvSpPr>
        <p:spPr>
          <a:xfrm>
            <a:off x="502920" y="6437376"/>
            <a:ext cx="11155680" cy="10972"/>
          </a:xfrm>
          <a:prstGeom prst="rect">
            <a:avLst/>
          </a:prstGeom>
          <a:solidFill>
            <a:srgbClr val="CFD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6519672"/>
            <a:ext cx="10789920" cy="201168"/>
          </a:xfrm>
          <a:prstGeom prst="rect">
            <a:avLst/>
          </a:prstGeom>
          <a:noFill/>
        </p:spPr>
        <p:txBody>
          <a:bodyPr wrap="square" lIns="18288" rIns="18288" tIns="9144" bIns="9144">
            <a:spAutoFit/>
          </a:bodyPr>
          <a:lstStyle/>
          <a:p>
            <a:pPr>
              <a:spcBef>
                <a:spcPts val="0"/>
              </a:spcBef>
              <a:spcAft>
                <a:spcPts val="300"/>
              </a:spcAft>
              <a:defRPr sz="1000" b="0">
                <a:solidFill>
                  <a:srgbClr val="5A6D64"/>
                </a:solidFill>
                <a:latin typeface="Noto Sans CJK KR"/>
              </a:defRPr>
            </a:pPr>
            <a:r>
              <a:t>제13회 유닛로드시스템(ULS) 창의성 공모전  |  아이디어 검토안 · 현장 실증 전</a:t>
            </a:r>
          </a:p>
        </p:txBody>
      </p:sp>
      <p:sp>
        <p:nvSpPr>
          <p:cNvPr id="9" name="Rounded Rectangle 8"/>
          <p:cNvSpPr/>
          <p:nvPr/>
        </p:nvSpPr>
        <p:spPr>
          <a:xfrm>
            <a:off x="530352" y="2551176"/>
            <a:ext cx="11109960" cy="5760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660904"/>
            <a:ext cx="3694176" cy="310896"/>
          </a:xfrm>
          <a:prstGeom prst="rect">
            <a:avLst/>
          </a:prstGeom>
          <a:noFill/>
        </p:spPr>
        <p:txBody>
          <a:bodyPr wrap="square" lIns="18288" rIns="18288" tIns="9144" bIns="9144">
            <a:spAutoFit/>
          </a:bodyPr>
          <a:lstStyle/>
          <a:p>
            <a:pPr>
              <a:spcBef>
                <a:spcPts val="0"/>
              </a:spcBef>
              <a:spcAft>
                <a:spcPts val="300"/>
              </a:spcAft>
              <a:defRPr sz="1700" b="1">
                <a:solidFill>
                  <a:srgbClr val="087C68"/>
                </a:solidFill>
                <a:latin typeface="Noto Sans CJK KR"/>
              </a:defRPr>
            </a:pPr>
            <a:r>
              <a:t>차량이 늦거나 공간이 사라지면</a:t>
            </a:r>
          </a:p>
        </p:txBody>
      </p:sp>
      <p:sp>
        <p:nvSpPr>
          <p:cNvPr id="11" name="TextBox 10"/>
          <p:cNvSpPr txBox="1"/>
          <p:nvPr/>
        </p:nvSpPr>
        <p:spPr>
          <a:xfrm>
            <a:off x="4507992" y="2660904"/>
            <a:ext cx="6848856" cy="310896"/>
          </a:xfrm>
          <a:prstGeom prst="rect">
            <a:avLst/>
          </a:prstGeom>
          <a:noFill/>
        </p:spPr>
        <p:txBody>
          <a:bodyPr wrap="square" lIns="18288" rIns="18288" tIns="9144" bIns="9144">
            <a:spAutoFit/>
          </a:bodyPr>
          <a:lstStyle/>
          <a:p>
            <a:pPr>
              <a:spcBef>
                <a:spcPts val="0"/>
              </a:spcBef>
              <a:spcAft>
                <a:spcPts val="300"/>
              </a:spcAft>
              <a:defRPr sz="1600" b="0">
                <a:solidFill>
                  <a:srgbClr val="173C34"/>
                </a:solidFill>
                <a:latin typeface="Noto Sans CJK KR"/>
              </a:defRPr>
            </a:pPr>
            <a:r>
              <a:t>대체차 출발 마감 전에 재확인하고 다른 회수안 제시</a:t>
            </a:r>
          </a:p>
        </p:txBody>
      </p:sp>
      <p:sp>
        <p:nvSpPr>
          <p:cNvPr id="12" name="Rounded Rectangle 11"/>
          <p:cNvSpPr/>
          <p:nvPr/>
        </p:nvSpPr>
        <p:spPr>
          <a:xfrm>
            <a:off x="530352" y="3255264"/>
            <a:ext cx="11109960" cy="5760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364992"/>
            <a:ext cx="3694176" cy="310896"/>
          </a:xfrm>
          <a:prstGeom prst="rect">
            <a:avLst/>
          </a:prstGeom>
          <a:noFill/>
        </p:spPr>
        <p:txBody>
          <a:bodyPr wrap="square" lIns="18288" rIns="18288" tIns="9144" bIns="9144">
            <a:spAutoFit/>
          </a:bodyPr>
          <a:lstStyle/>
          <a:p>
            <a:pPr>
              <a:spcBef>
                <a:spcPts val="0"/>
              </a:spcBef>
              <a:spcAft>
                <a:spcPts val="300"/>
              </a:spcAft>
              <a:defRPr sz="1700" b="1">
                <a:solidFill>
                  <a:srgbClr val="087C68"/>
                </a:solidFill>
                <a:latin typeface="Noto Sans CJK KR"/>
              </a:defRPr>
            </a:pPr>
            <a:r>
              <a:t>기한과 탄소예산을 함께 못 지키면</a:t>
            </a:r>
          </a:p>
        </p:txBody>
      </p:sp>
      <p:sp>
        <p:nvSpPr>
          <p:cNvPr id="14" name="TextBox 13"/>
          <p:cNvSpPr txBox="1"/>
          <p:nvPr/>
        </p:nvSpPr>
        <p:spPr>
          <a:xfrm>
            <a:off x="4507992" y="3364992"/>
            <a:ext cx="6848856" cy="310896"/>
          </a:xfrm>
          <a:prstGeom prst="rect">
            <a:avLst/>
          </a:prstGeom>
          <a:noFill/>
        </p:spPr>
        <p:txBody>
          <a:bodyPr wrap="square" lIns="18288" rIns="18288" tIns="9144" bIns="9144">
            <a:spAutoFit/>
          </a:bodyPr>
          <a:lstStyle/>
          <a:p>
            <a:pPr>
              <a:spcBef>
                <a:spcPts val="0"/>
              </a:spcBef>
              <a:spcAft>
                <a:spcPts val="300"/>
              </a:spcAft>
              <a:defRPr sz="1600" b="0">
                <a:solidFill>
                  <a:srgbClr val="173C34"/>
                </a:solidFill>
                <a:latin typeface="Noto Sans CJK KR"/>
              </a:defRPr>
            </a:pPr>
            <a:r>
              <a:t>회수를 자동 중단하지 않고, 초과량을 보여줘 담당자 승인</a:t>
            </a:r>
          </a:p>
        </p:txBody>
      </p:sp>
      <p:sp>
        <p:nvSpPr>
          <p:cNvPr id="15" name="Rounded Rectangle 14"/>
          <p:cNvSpPr/>
          <p:nvPr/>
        </p:nvSpPr>
        <p:spPr>
          <a:xfrm>
            <a:off x="530352" y="3959352"/>
            <a:ext cx="11109960" cy="5760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069080"/>
            <a:ext cx="3694176" cy="310896"/>
          </a:xfrm>
          <a:prstGeom prst="rect">
            <a:avLst/>
          </a:prstGeom>
          <a:noFill/>
        </p:spPr>
        <p:txBody>
          <a:bodyPr wrap="square" lIns="18288" rIns="18288" tIns="9144" bIns="9144">
            <a:spAutoFit/>
          </a:bodyPr>
          <a:lstStyle/>
          <a:p>
            <a:pPr>
              <a:spcBef>
                <a:spcPts val="0"/>
              </a:spcBef>
              <a:spcAft>
                <a:spcPts val="300"/>
              </a:spcAft>
              <a:defRPr sz="1700" b="1">
                <a:solidFill>
                  <a:srgbClr val="087C68"/>
                </a:solidFill>
                <a:latin typeface="Noto Sans CJK KR"/>
              </a:defRPr>
            </a:pPr>
            <a:r>
              <a:t>실제 효과는 어떻게 확인하나</a:t>
            </a:r>
          </a:p>
        </p:txBody>
      </p:sp>
      <p:sp>
        <p:nvSpPr>
          <p:cNvPr id="17" name="TextBox 16"/>
          <p:cNvSpPr txBox="1"/>
          <p:nvPr/>
        </p:nvSpPr>
        <p:spPr>
          <a:xfrm>
            <a:off x="4507992" y="4069080"/>
            <a:ext cx="6848856" cy="310896"/>
          </a:xfrm>
          <a:prstGeom prst="rect">
            <a:avLst/>
          </a:prstGeom>
          <a:noFill/>
        </p:spPr>
        <p:txBody>
          <a:bodyPr wrap="square" lIns="18288" rIns="18288" tIns="9144" bIns="9144">
            <a:spAutoFit/>
          </a:bodyPr>
          <a:lstStyle/>
          <a:p>
            <a:pPr>
              <a:spcBef>
                <a:spcPts val="0"/>
              </a:spcBef>
              <a:spcAft>
                <a:spcPts val="300"/>
              </a:spcAft>
              <a:defRPr sz="1600" b="0">
                <a:solidFill>
                  <a:srgbClr val="173C34"/>
                </a:solidFill>
                <a:latin typeface="Noto Sans CJK KR"/>
              </a:defRPr>
            </a:pPr>
            <a:r>
              <a:t>같은 수요·정보·기한에서 비용 최소안과 공정하게 비교</a:t>
            </a:r>
          </a:p>
        </p:txBody>
      </p:sp>
      <p:sp>
        <p:nvSpPr>
          <p:cNvPr id="18" name="Rounded Rectangle 17"/>
          <p:cNvSpPr/>
          <p:nvPr/>
        </p:nvSpPr>
        <p:spPr>
          <a:xfrm>
            <a:off x="530352" y="4910328"/>
            <a:ext cx="11109960" cy="1097280"/>
          </a:xfrm>
          <a:prstGeom prst="roundRect">
            <a:avLst>
              <a:gd name="adj" fmla="val 8000"/>
            </a:avLst>
          </a:prstGeom>
          <a:solidFill>
            <a:srgbClr val="E6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5065776"/>
            <a:ext cx="10561320" cy="301752"/>
          </a:xfrm>
          <a:prstGeom prst="rect">
            <a:avLst/>
          </a:prstGeom>
          <a:noFill/>
        </p:spPr>
        <p:txBody>
          <a:bodyPr wrap="square" lIns="18288" rIns="18288" tIns="9144" bIns="9144">
            <a:spAutoFit/>
          </a:bodyPr>
          <a:lstStyle/>
          <a:p>
            <a:pPr>
              <a:spcBef>
                <a:spcPts val="0"/>
              </a:spcBef>
              <a:spcAft>
                <a:spcPts val="300"/>
              </a:spcAft>
              <a:defRPr sz="2000" b="1">
                <a:solidFill>
                  <a:srgbClr val="087C68"/>
                </a:solidFill>
                <a:latin typeface="Noto Sans CJK KR"/>
              </a:defRPr>
            </a:pPr>
            <a:r>
              <a:t>첫 적용: 동일 풀링사 2~3개 거점에서 예약 추천부터</a:t>
            </a:r>
          </a:p>
        </p:txBody>
      </p:sp>
      <p:sp>
        <p:nvSpPr>
          <p:cNvPr id="20" name="TextBox 19"/>
          <p:cNvSpPr txBox="1"/>
          <p:nvPr/>
        </p:nvSpPr>
        <p:spPr>
          <a:xfrm>
            <a:off x="758952" y="5513832"/>
            <a:ext cx="10561320" cy="274320"/>
          </a:xfrm>
          <a:prstGeom prst="rect">
            <a:avLst/>
          </a:prstGeom>
          <a:noFill/>
        </p:spPr>
        <p:txBody>
          <a:bodyPr wrap="square" lIns="18288" rIns="18288" tIns="9144" bIns="9144">
            <a:spAutoFit/>
          </a:bodyPr>
          <a:lstStyle/>
          <a:p>
            <a:pPr>
              <a:spcBef>
                <a:spcPts val="0"/>
              </a:spcBef>
              <a:spcAft>
                <a:spcPts val="300"/>
              </a:spcAft>
              <a:defRPr sz="1500" b="0">
                <a:solidFill>
                  <a:srgbClr val="173C34"/>
                </a:solidFill>
                <a:latin typeface="Noto Sans CJK KR"/>
              </a:defRPr>
            </a:pPr>
            <a:r>
              <a:t>검증할 지표  |  납기·수량 준수 / 총 회수비 / 추가 배출 / 긴급 전용차 투입 횟수</a:t>
            </a:r>
          </a:p>
        </p:txBody>
      </p:sp>
      <p:sp>
        <p:nvSpPr>
          <p:cNvPr id="21" name="TextBox 20"/>
          <p:cNvSpPr txBox="1"/>
          <p:nvPr/>
        </p:nvSpPr>
        <p:spPr>
          <a:xfrm>
            <a:off x="603504" y="6163056"/>
            <a:ext cx="10972800" cy="182880"/>
          </a:xfrm>
          <a:prstGeom prst="rect">
            <a:avLst/>
          </a:prstGeom>
          <a:noFill/>
        </p:spPr>
        <p:txBody>
          <a:bodyPr wrap="square" lIns="18288" rIns="18288" tIns="9144" bIns="9144">
            <a:spAutoFit/>
          </a:bodyPr>
          <a:lstStyle/>
          <a:p>
            <a:pPr>
              <a:spcBef>
                <a:spcPts val="0"/>
              </a:spcBef>
              <a:spcAft>
                <a:spcPts val="300"/>
              </a:spcAft>
              <a:defRPr sz="1100" b="0">
                <a:solidFill>
                  <a:srgbClr val="5A6D64"/>
                </a:solidFill>
                <a:latin typeface="Noto Sans CJK KR"/>
              </a:defRPr>
            </a:pPr>
            <a:r>
              <a:t>계산 데모는 합성 입력으로 확인했습니다. 현장 실증·독창성 검토는 추가 과제입니다.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C34"/>
        </a:solidFill>
        <a:effectLst/>
      </p:bgPr>
    </p:bg>
    <p:spTree>
      <p:nvGrpSpPr>
        <p:cNvPr id="1" name=""/>
        <p:cNvGrpSpPr/>
        <p:nvPr/>
      </p:nvGrpSpPr>
      <p:grpSpPr/>
      <p:sp>
        <p:nvSpPr>
          <p:cNvPr id="2" name="TextBox 1"/>
          <p:cNvSpPr txBox="1"/>
          <p:nvPr/>
        </p:nvSpPr>
        <p:spPr>
          <a:xfrm>
            <a:off x="640080" y="475488"/>
            <a:ext cx="10972800" cy="320040"/>
          </a:xfrm>
          <a:prstGeom prst="rect">
            <a:avLst/>
          </a:prstGeom>
          <a:noFill/>
        </p:spPr>
        <p:txBody>
          <a:bodyPr wrap="square" lIns="18288" rIns="18288" tIns="9144" bIns="9144">
            <a:spAutoFit/>
          </a:bodyPr>
          <a:lstStyle/>
          <a:p>
            <a:pPr>
              <a:spcBef>
                <a:spcPts val="0"/>
              </a:spcBef>
              <a:spcAft>
                <a:spcPts val="300"/>
              </a:spcAft>
              <a:defRPr sz="1500" b="1">
                <a:solidFill>
                  <a:srgbClr val="B5D7C8"/>
                </a:solidFill>
                <a:latin typeface="Noto Sans CJK KR"/>
              </a:defRPr>
            </a:pPr>
            <a:r>
              <a:t>제13회 유닛로드시스템(ULS) 창의성 공모전  /  두런두런</a:t>
            </a:r>
          </a:p>
        </p:txBody>
      </p:sp>
      <p:sp>
        <p:nvSpPr>
          <p:cNvPr id="3" name="TextBox 2"/>
          <p:cNvSpPr txBox="1"/>
          <p:nvPr/>
        </p:nvSpPr>
        <p:spPr>
          <a:xfrm>
            <a:off x="640080" y="1417320"/>
            <a:ext cx="10881360" cy="502920"/>
          </a:xfrm>
          <a:prstGeom prst="rect">
            <a:avLst/>
          </a:prstGeom>
          <a:noFill/>
        </p:spPr>
        <p:txBody>
          <a:bodyPr wrap="square" lIns="18288" rIns="18288" tIns="9144" bIns="9144">
            <a:spAutoFit/>
          </a:bodyPr>
          <a:lstStyle/>
          <a:p>
            <a:pPr>
              <a:spcBef>
                <a:spcPts val="0"/>
              </a:spcBef>
              <a:spcAft>
                <a:spcPts val="300"/>
              </a:spcAft>
              <a:defRPr sz="2400" b="1">
                <a:solidFill>
                  <a:srgbClr val="B5D7C8"/>
                </a:solidFill>
                <a:latin typeface="Noto Sans CJK KR"/>
              </a:defRPr>
            </a:pPr>
            <a:r>
              <a:t>CBP  ·  Carbon Budget Pooling</a:t>
            </a:r>
          </a:p>
        </p:txBody>
      </p:sp>
      <p:sp>
        <p:nvSpPr>
          <p:cNvPr id="4" name="TextBox 3"/>
          <p:cNvSpPr txBox="1"/>
          <p:nvPr/>
        </p:nvSpPr>
        <p:spPr>
          <a:xfrm>
            <a:off x="640080" y="2240280"/>
            <a:ext cx="10881360" cy="1783080"/>
          </a:xfrm>
          <a:prstGeom prst="rect">
            <a:avLst/>
          </a:prstGeom>
          <a:noFill/>
        </p:spPr>
        <p:txBody>
          <a:bodyPr wrap="square" lIns="18288" rIns="18288" tIns="9144" bIns="9144">
            <a:spAutoFit/>
          </a:bodyPr>
          <a:lstStyle/>
          <a:p>
            <a:pPr>
              <a:spcBef>
                <a:spcPts val="0"/>
              </a:spcBef>
              <a:spcAft>
                <a:spcPts val="300"/>
              </a:spcAft>
              <a:defRPr sz="5100" b="1">
                <a:solidFill>
                  <a:srgbClr val="FFFFFF"/>
                </a:solidFill>
                <a:latin typeface="Noto Sans CJK KR"/>
              </a:defRPr>
            </a:pPr>
            <a:r>
              <a:t>빈 파렛트</a:t>
            </a:r>
          </a:p>
          <a:p>
            <a:pPr>
              <a:spcBef>
                <a:spcPts val="0"/>
              </a:spcBef>
              <a:spcAft>
                <a:spcPts val="300"/>
              </a:spcAft>
              <a:defRPr sz="5100" b="1">
                <a:solidFill>
                  <a:srgbClr val="FFFFFF"/>
                </a:solidFill>
                <a:latin typeface="Noto Sans CJK KR"/>
              </a:defRPr>
            </a:pPr>
            <a:r>
              <a:t>회수예약</a:t>
            </a:r>
          </a:p>
        </p:txBody>
      </p:sp>
      <p:sp>
        <p:nvSpPr>
          <p:cNvPr id="5" name="Rectangle 4"/>
          <p:cNvSpPr/>
          <p:nvPr/>
        </p:nvSpPr>
        <p:spPr>
          <a:xfrm>
            <a:off x="667512" y="4645152"/>
            <a:ext cx="914400" cy="50292"/>
          </a:xfrm>
          <a:prstGeom prst="rect">
            <a:avLst/>
          </a:prstGeom>
          <a:solidFill>
            <a:srgbClr val="9DC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01768"/>
            <a:ext cx="10789920" cy="731520"/>
          </a:xfrm>
          <a:prstGeom prst="rect">
            <a:avLst/>
          </a:prstGeom>
          <a:noFill/>
        </p:spPr>
        <p:txBody>
          <a:bodyPr wrap="square" lIns="18288" rIns="18288" tIns="9144" bIns="9144">
            <a:spAutoFit/>
          </a:bodyPr>
          <a:lstStyle/>
          <a:p>
            <a:pPr>
              <a:spcBef>
                <a:spcPts val="0"/>
              </a:spcBef>
              <a:spcAft>
                <a:spcPts val="300"/>
              </a:spcAft>
              <a:defRPr sz="2500" b="0">
                <a:solidFill>
                  <a:srgbClr val="FFFFFF"/>
                </a:solidFill>
                <a:latin typeface="Noto Sans CJK KR"/>
              </a:defRPr>
            </a:pPr>
            <a:r>
              <a:t>필요한 시점에 맞춰, 돌아오는 차의 빈칸부터.</a:t>
            </a:r>
          </a:p>
        </p:txBody>
      </p:sp>
      <p:sp>
        <p:nvSpPr>
          <p:cNvPr id="7" name="TextBox 6"/>
          <p:cNvSpPr txBox="1"/>
          <p:nvPr/>
        </p:nvSpPr>
        <p:spPr>
          <a:xfrm>
            <a:off x="667512" y="6172200"/>
            <a:ext cx="10698480" cy="274320"/>
          </a:xfrm>
          <a:prstGeom prst="rect">
            <a:avLst/>
          </a:prstGeom>
          <a:noFill/>
        </p:spPr>
        <p:txBody>
          <a:bodyPr wrap="square" lIns="18288" rIns="18288" tIns="9144" bIns="9144">
            <a:spAutoFit/>
          </a:bodyPr>
          <a:lstStyle/>
          <a:p>
            <a:pPr>
              <a:spcBef>
                <a:spcPts val="0"/>
              </a:spcBef>
              <a:spcAft>
                <a:spcPts val="300"/>
              </a:spcAft>
              <a:defRPr sz="1300" b="0">
                <a:solidFill>
                  <a:srgbClr val="B5D7C8"/>
                </a:solidFill>
                <a:latin typeface="Noto Sans CJK KR"/>
              </a:defRPr>
            </a:pPr>
            <a:r>
              <a:t>탄소예산 기반 유닛로드시스템 운영 최적화  |  본선 발표 검토안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C34"/>
        </a:solidFill>
        <a:effectLst/>
      </p:bgPr>
    </p:bg>
    <p:spTree>
      <p:nvGrpSpPr>
        <p:cNvPr id="1" name=""/>
        <p:cNvGrpSpPr/>
        <p:nvPr/>
      </p:nvGrpSpPr>
      <p:grpSpPr/>
      <p:sp>
        <p:nvSpPr>
          <p:cNvPr id="2" name="TextBox 1"/>
          <p:cNvSpPr txBox="1"/>
          <p:nvPr/>
        </p:nvSpPr>
        <p:spPr>
          <a:xfrm>
            <a:off x="667512" y="493776"/>
            <a:ext cx="10881360" cy="301752"/>
          </a:xfrm>
          <a:prstGeom prst="rect">
            <a:avLst/>
          </a:prstGeom>
          <a:noFill/>
        </p:spPr>
        <p:txBody>
          <a:bodyPr wrap="square" lIns="18288" rIns="18288" tIns="9144" bIns="9144">
            <a:spAutoFit/>
          </a:bodyPr>
          <a:lstStyle/>
          <a:p>
            <a:pPr>
              <a:spcBef>
                <a:spcPts val="0"/>
              </a:spcBef>
              <a:spcAft>
                <a:spcPts val="300"/>
              </a:spcAft>
              <a:defRPr sz="1500" b="1">
                <a:solidFill>
                  <a:srgbClr val="B5D7C8"/>
                </a:solidFill>
                <a:latin typeface="Noto Sans CJK KR"/>
              </a:defRPr>
            </a:pPr>
            <a:r>
              <a:t>CBP · 빈 파렛트 회수예약</a:t>
            </a:r>
          </a:p>
        </p:txBody>
      </p:sp>
      <p:sp>
        <p:nvSpPr>
          <p:cNvPr id="3" name="TextBox 2"/>
          <p:cNvSpPr txBox="1"/>
          <p:nvPr/>
        </p:nvSpPr>
        <p:spPr>
          <a:xfrm>
            <a:off x="667512" y="1581912"/>
            <a:ext cx="10835640" cy="1664208"/>
          </a:xfrm>
          <a:prstGeom prst="rect">
            <a:avLst/>
          </a:prstGeom>
          <a:noFill/>
        </p:spPr>
        <p:txBody>
          <a:bodyPr wrap="square" lIns="18288" rIns="18288" tIns="9144" bIns="9144">
            <a:spAutoFit/>
          </a:bodyPr>
          <a:lstStyle/>
          <a:p>
            <a:pPr>
              <a:spcBef>
                <a:spcPts val="0"/>
              </a:spcBef>
              <a:spcAft>
                <a:spcPts val="300"/>
              </a:spcAft>
              <a:defRPr sz="3700" b="1">
                <a:solidFill>
                  <a:srgbClr val="FFFFFF"/>
                </a:solidFill>
                <a:latin typeface="Noto Sans CJK KR"/>
              </a:defRPr>
            </a:pPr>
            <a:r>
              <a:t>급해진 뒤의 배차를,</a:t>
            </a:r>
          </a:p>
          <a:p>
            <a:pPr>
              <a:spcBef>
                <a:spcPts val="0"/>
              </a:spcBef>
              <a:spcAft>
                <a:spcPts val="300"/>
              </a:spcAft>
              <a:defRPr sz="3700" b="1">
                <a:solidFill>
                  <a:srgbClr val="FFFFFF"/>
                </a:solidFill>
                <a:latin typeface="Noto Sans CJK KR"/>
              </a:defRPr>
            </a:pPr>
            <a:r>
              <a:t>필요 시점에 맞춘 예약으로.</a:t>
            </a:r>
          </a:p>
        </p:txBody>
      </p:sp>
      <p:sp>
        <p:nvSpPr>
          <p:cNvPr id="4" name="TextBox 3"/>
          <p:cNvSpPr txBox="1"/>
          <p:nvPr/>
        </p:nvSpPr>
        <p:spPr>
          <a:xfrm>
            <a:off x="694944" y="3749039"/>
            <a:ext cx="10744200" cy="685800"/>
          </a:xfrm>
          <a:prstGeom prst="rect">
            <a:avLst/>
          </a:prstGeom>
          <a:noFill/>
        </p:spPr>
        <p:txBody>
          <a:bodyPr wrap="square" lIns="18288" rIns="18288" tIns="9144" bIns="9144">
            <a:spAutoFit/>
          </a:bodyPr>
          <a:lstStyle/>
          <a:p>
            <a:pPr>
              <a:spcBef>
                <a:spcPts val="0"/>
              </a:spcBef>
              <a:spcAft>
                <a:spcPts val="300"/>
              </a:spcAft>
              <a:defRPr sz="2400" b="0">
                <a:solidFill>
                  <a:srgbClr val="B5D7C8"/>
                </a:solidFill>
                <a:latin typeface="Noto Sans CJK KR"/>
              </a:defRPr>
            </a:pPr>
            <a:r>
              <a:t>재고와 기한을 먼저 확인하고</a:t>
            </a:r>
          </a:p>
          <a:p>
            <a:pPr>
              <a:spcBef>
                <a:spcPts val="0"/>
              </a:spcBef>
              <a:spcAft>
                <a:spcPts val="300"/>
              </a:spcAft>
              <a:defRPr sz="2400" b="0">
                <a:solidFill>
                  <a:srgbClr val="B5D7C8"/>
                </a:solidFill>
                <a:latin typeface="Noto Sans CJK KR"/>
              </a:defRPr>
            </a:pPr>
            <a:r>
              <a:t>비용과 탄소를 함께 판단합니다.</a:t>
            </a:r>
          </a:p>
        </p:txBody>
      </p:sp>
      <p:sp>
        <p:nvSpPr>
          <p:cNvPr id="5" name="Rounded Rectangle 4"/>
          <p:cNvSpPr/>
          <p:nvPr/>
        </p:nvSpPr>
        <p:spPr>
          <a:xfrm>
            <a:off x="694944" y="5065776"/>
            <a:ext cx="10771632" cy="740664"/>
          </a:xfrm>
          <a:prstGeom prst="roundRect">
            <a:avLst>
              <a:gd name="adj" fmla="val 8000"/>
            </a:avLst>
          </a:prstGeom>
          <a:solidFill>
            <a:srgbClr val="285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57800"/>
            <a:ext cx="10332720" cy="292608"/>
          </a:xfrm>
          <a:prstGeom prst="rect">
            <a:avLst/>
          </a:prstGeom>
          <a:noFill/>
        </p:spPr>
        <p:txBody>
          <a:bodyPr wrap="square" lIns="18288" rIns="18288" tIns="9144" bIns="9144">
            <a:spAutoFit/>
          </a:bodyPr>
          <a:lstStyle/>
          <a:p>
            <a:pPr>
              <a:spcBef>
                <a:spcPts val="0"/>
              </a:spcBef>
              <a:spcAft>
                <a:spcPts val="300"/>
              </a:spcAft>
              <a:defRPr sz="1800" b="1">
                <a:solidFill>
                  <a:srgbClr val="FFFFFF"/>
                </a:solidFill>
                <a:latin typeface="Noto Sans CJK KR"/>
              </a:defRPr>
            </a:pPr>
            <a:r>
              <a:t>첫 적용  |  동일 풀링사 2~3개 거점 · 담당자 승인 · 동일 조건 비교</a:t>
            </a:r>
          </a:p>
        </p:txBody>
      </p:sp>
      <p:sp>
        <p:nvSpPr>
          <p:cNvPr id="7" name="TextBox 6"/>
          <p:cNvSpPr txBox="1"/>
          <p:nvPr/>
        </p:nvSpPr>
        <p:spPr>
          <a:xfrm>
            <a:off x="694944" y="6263640"/>
            <a:ext cx="10698480" cy="228600"/>
          </a:xfrm>
          <a:prstGeom prst="rect">
            <a:avLst/>
          </a:prstGeom>
          <a:noFill/>
        </p:spPr>
        <p:txBody>
          <a:bodyPr wrap="square" lIns="18288" rIns="18288" tIns="9144" bIns="9144">
            <a:spAutoFit/>
          </a:bodyPr>
          <a:lstStyle/>
          <a:p>
            <a:pPr>
              <a:spcBef>
                <a:spcPts val="0"/>
              </a:spcBef>
              <a:spcAft>
                <a:spcPts val="300"/>
              </a:spcAft>
              <a:defRPr sz="1200" b="0">
                <a:solidFill>
                  <a:srgbClr val="B5D7C8"/>
                </a:solidFill>
                <a:latin typeface="Noto Sans CJK KR"/>
              </a:defRPr>
            </a:pPr>
            <a:r>
              <a:t>두런두런  /  제13회 유닛로드시스템(ULS) 창의성 공모전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탄소예산 기반 빈 파렛트 회수예약 — 본선 메인 발표 검토안</dc:title>
  <dc:subject>제13회 ULS 창의성 공모전 본선 아이디어 검토안</dc:subject>
  <dc:creator>두런두런</dc:creator>
  <cp:keywords/>
  <dc:description>합성 수치 사용. 현장 실증 및 선행기술 확인 전. 공식 제출은 사용자가 검토 후 진행.</dc:description>
  <cp:lastModifiedBy>Steve Canny</cp:lastModifiedBy>
  <cp:revision>1</cp:revision>
  <dcterms:created xsi:type="dcterms:W3CDTF">2013-01-27T09:14:16Z</dcterms:created>
  <dcterms:modified xsi:type="dcterms:W3CDTF">2013-01-27T09:15:58Z</dcterms:modified>
  <cp:category/>
</cp:coreProperties>
</file>
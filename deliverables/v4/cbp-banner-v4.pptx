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의사결정 순환</a:t>
            </a:r>
          </a:p>
          <a:p/>
          <a:p>
            <a:r>
              <a:t>먼저 기간 예산 대비 누적 배출로 사용률을 구합니다. 만 킬로그램 중 팔천이백을 썼다면 팔십이 퍼센트입니다. 이 사용률에 따라 운영 모드를 바꾸고, 비용과 탄소에 주는 비중을 조정합니다. 여기서 중요한 순서가 있습니다. 수량과 도착 기한, 호환 규격과 적재, 비용과 탄소 한도를 먼저 검사합니다. 통과한 안끼리 점수를 비교하고, 실행 뒤 실제 배출을 반영합니다. 조건을 만족하는 안이 없으면 담당자 판단을 요청합니다.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하나의 계산 사례</a:t>
            </a:r>
          </a:p>
          <a:p/>
          <a:p>
            <a:r>
              <a:t>가상 사례입니다. 모두 천 매를 여덟 시간 안에 보낼 수 있습니다. A는 백만 원에 배출 사백 킬로그램, B는 백십만 원에 이백육십, C는 백사십만 원에 이백입니다. 사용률 팔십이 퍼센트의 탄소 모드에서는 비용 이십, 탄소 육십, 시간 여유 이십의 비중을 적용합니다. 계산하면 C가 가장 높습니다. 하지만 C는 A보다 사십만 원 비쌉니다. 그래서 비용 한도도 함께 둡니다. 한도가 백이십만 원이라면 C를 제외하고 B를 추천합니다. 이 수치는 성과가 아니라 선택 원리를 설명하는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 기준과 상태 연동</a:t>
            </a:r>
          </a:p>
          <a:p/>
          <a:p>
            <a:r>
              <a:t>같은 세 후보를 유지하고 예산 상태만 바꿔 보겠습니다. 비용 중심 기준은 A를, 고정 가중치는 B를 계속 선택합니다. 반면 CBP는 사용률에 따라 A에서 B, C로 선택을 바꿉니다. 제안의 초점은 비용과 탄소를 함께 계산한다는 사실보다, 기간 예산 상태를 다음 이동의 기준에 연결한다는 데 있습니다. 이 표는 비교 기준을 명시한 개념 실험입니다. 특정 기업의 운영 방식을 단정하거나 기존 기술보다 우수하다고 증명한 결과는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구현과 실증</a:t>
            </a:r>
          </a:p>
          <a:p/>
          <a:p>
            <a:r>
              <a:t>추천 계산기는 만들었습니다. 사용률과 비용 한도를 바꾸면 추천이 달라지고, 지연되거나 조건을 넘는 안은 제외됩니다. 현장 적용은 동일 풀링사의 호환 파렛트부터 시작하겠습니다. 같은 요청과 정보로 비용 중심 방식, 고정 가중치 방식, CBP를 비교하고, 총비용과 실제 배출, 정시 공급, 기간말 예산 초과를 함께 보겠습니다. 가중치와 경계값, 남은 기간과 수요는 실제 자료로 조정해야 합니다. 탄소를 보고하는 숫자에서, 다음 파렛트 이동을 바꾸는 신호로.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02 / HOW IT WORKS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예산 상태를 읽고, 다음 운송의 기준을 바꿉니다.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탄소예산 사용률(CUR) = 누적 실제 배출 ÷ 기간별 내부 탄소예산 × 100</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02</a:t>
            </a:r>
          </a:p>
        </p:txBody>
      </p:sp>
      <p:sp>
        <p:nvSpPr>
          <p:cNvPr id="9" name="Rectangle 8"/>
          <p:cNvSpPr/>
          <p:nvPr/>
        </p:nvSpPr>
        <p:spPr>
          <a:xfrm>
            <a:off x="667512" y="2770632"/>
            <a:ext cx="2907792" cy="4059936"/>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14400" y="3044952"/>
            <a:ext cx="2414016" cy="292608"/>
          </a:xfrm>
          <a:prstGeom prst="rect">
            <a:avLst/>
          </a:prstGeom>
          <a:noFill/>
        </p:spPr>
        <p:txBody>
          <a:bodyPr wrap="square" lIns="0" rIns="0" tIns="0" bIns="0">
            <a:spAutoFit/>
          </a:bodyPr>
          <a:lstStyle/>
          <a:p>
            <a:pPr>
              <a:lnSpc>
                <a:spcPct val="113000"/>
              </a:lnSpc>
              <a:spcAft>
                <a:spcPts val="0"/>
              </a:spcAft>
              <a:defRPr sz="1700" b="1">
                <a:solidFill>
                  <a:srgbClr val="ADBED2"/>
                </a:solidFill>
                <a:latin typeface="Noto Sans CJK KR"/>
              </a:defRPr>
            </a:pPr>
            <a:r>
              <a:t>01  상태 확인</a:t>
            </a:r>
          </a:p>
        </p:txBody>
      </p:sp>
      <p:sp>
        <p:nvSpPr>
          <p:cNvPr id="11" name="TextBox 10"/>
          <p:cNvSpPr txBox="1"/>
          <p:nvPr/>
        </p:nvSpPr>
        <p:spPr>
          <a:xfrm>
            <a:off x="886968" y="3657600"/>
            <a:ext cx="2468880" cy="932688"/>
          </a:xfrm>
          <a:prstGeom prst="rect">
            <a:avLst/>
          </a:prstGeom>
          <a:noFill/>
        </p:spPr>
        <p:txBody>
          <a:bodyPr wrap="square" lIns="0" rIns="0" tIns="0" bIns="0">
            <a:spAutoFit/>
          </a:bodyPr>
          <a:lstStyle/>
          <a:p>
            <a:pPr>
              <a:lnSpc>
                <a:spcPct val="113000"/>
              </a:lnSpc>
              <a:spcAft>
                <a:spcPts val="0"/>
              </a:spcAft>
              <a:defRPr sz="6800" b="1">
                <a:solidFill>
                  <a:srgbClr val="54DFC0"/>
                </a:solidFill>
                <a:latin typeface="Noto Sans CJK KR"/>
              </a:defRPr>
            </a:pPr>
            <a:r>
              <a:t>82%</a:t>
            </a:r>
          </a:p>
        </p:txBody>
      </p:sp>
      <p:sp>
        <p:nvSpPr>
          <p:cNvPr id="12" name="TextBox 11"/>
          <p:cNvSpPr txBox="1"/>
          <p:nvPr/>
        </p:nvSpPr>
        <p:spPr>
          <a:xfrm>
            <a:off x="932688" y="4864608"/>
            <a:ext cx="2404872" cy="685800"/>
          </a:xfrm>
          <a:prstGeom prst="rect">
            <a:avLst/>
          </a:prstGeom>
          <a:noFill/>
        </p:spPr>
        <p:txBody>
          <a:bodyPr wrap="square" lIns="0" rIns="0" tIns="0" bIns="0">
            <a:spAutoFit/>
          </a:bodyPr>
          <a:lstStyle/>
          <a:p>
            <a:pPr>
              <a:lnSpc>
                <a:spcPct val="113000"/>
              </a:lnSpc>
              <a:spcAft>
                <a:spcPts val="0"/>
              </a:spcAft>
              <a:defRPr sz="1900" b="0">
                <a:solidFill>
                  <a:srgbClr val="FFFFFF"/>
                </a:solidFill>
                <a:latin typeface="Noto Sans CJK KR"/>
              </a:defRPr>
            </a:pPr>
            <a:r>
              <a:t>8,200 / 10,000</a:t>
            </a:r>
          </a:p>
          <a:p>
            <a:pPr>
              <a:lnSpc>
                <a:spcPct val="113000"/>
              </a:lnSpc>
              <a:spcAft>
                <a:spcPts val="0"/>
              </a:spcAft>
              <a:defRPr sz="1900" b="0">
                <a:solidFill>
                  <a:srgbClr val="FFFFFF"/>
                </a:solidFill>
                <a:latin typeface="Noto Sans CJK KR"/>
              </a:defRPr>
            </a:pPr>
            <a:r>
              <a:t>kgCO₂e</a:t>
            </a:r>
          </a:p>
        </p:txBody>
      </p:sp>
      <p:sp>
        <p:nvSpPr>
          <p:cNvPr id="13" name="TextBox 12"/>
          <p:cNvSpPr txBox="1"/>
          <p:nvPr/>
        </p:nvSpPr>
        <p:spPr>
          <a:xfrm>
            <a:off x="932688" y="6135624"/>
            <a:ext cx="2414016" cy="292608"/>
          </a:xfrm>
          <a:prstGeom prst="rect">
            <a:avLst/>
          </a:prstGeom>
          <a:noFill/>
        </p:spPr>
        <p:txBody>
          <a:bodyPr wrap="square" lIns="0" rIns="0" tIns="0" bIns="0">
            <a:spAutoFit/>
          </a:bodyPr>
          <a:lstStyle/>
          <a:p>
            <a:pPr>
              <a:lnSpc>
                <a:spcPct val="113000"/>
              </a:lnSpc>
              <a:spcAft>
                <a:spcPts val="0"/>
              </a:spcAft>
              <a:defRPr sz="1600" b="0">
                <a:solidFill>
                  <a:srgbClr val="ADBED2"/>
                </a:solidFill>
                <a:latin typeface="Noto Sans CJK KR"/>
              </a:defRPr>
            </a:pPr>
            <a:r>
              <a:t>다음 선택의 입력</a:t>
            </a:r>
          </a:p>
        </p:txBody>
      </p:sp>
      <p:sp>
        <p:nvSpPr>
          <p:cNvPr id="14" name="Right Arrow 13"/>
          <p:cNvSpPr/>
          <p:nvPr/>
        </p:nvSpPr>
        <p:spPr>
          <a:xfrm>
            <a:off x="3767328" y="4041648"/>
            <a:ext cx="42062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07992" y="3081528"/>
            <a:ext cx="3858768" cy="292608"/>
          </a:xfrm>
          <a:prstGeom prst="rect">
            <a:avLst/>
          </a:prstGeom>
          <a:noFill/>
        </p:spPr>
        <p:txBody>
          <a:bodyPr wrap="square" lIns="0" rIns="0" tIns="0" bIns="0">
            <a:spAutoFit/>
          </a:bodyPr>
          <a:lstStyle/>
          <a:p>
            <a:pPr>
              <a:lnSpc>
                <a:spcPct val="113000"/>
              </a:lnSpc>
              <a:spcAft>
                <a:spcPts val="0"/>
              </a:spcAft>
              <a:defRPr sz="1700" b="1">
                <a:solidFill>
                  <a:srgbClr val="087F70"/>
                </a:solidFill>
                <a:latin typeface="Noto Sans CJK KR"/>
              </a:defRPr>
            </a:pPr>
            <a:r>
              <a:t>02  운영 모드</a:t>
            </a:r>
          </a:p>
        </p:txBody>
      </p:sp>
      <p:sp>
        <p:nvSpPr>
          <p:cNvPr id="16" name="TextBox 15"/>
          <p:cNvSpPr txBox="1"/>
          <p:nvPr/>
        </p:nvSpPr>
        <p:spPr>
          <a:xfrm>
            <a:off x="4480560" y="3657600"/>
            <a:ext cx="3877056" cy="512064"/>
          </a:xfrm>
          <a:prstGeom prst="rect">
            <a:avLst/>
          </a:prstGeom>
          <a:noFill/>
        </p:spPr>
        <p:txBody>
          <a:bodyPr wrap="square" lIns="0" rIns="0" tIns="0" bIns="0">
            <a:spAutoFit/>
          </a:bodyPr>
          <a:lstStyle/>
          <a:p>
            <a:pPr>
              <a:lnSpc>
                <a:spcPct val="113000"/>
              </a:lnSpc>
              <a:spcAft>
                <a:spcPts val="0"/>
              </a:spcAft>
              <a:defRPr sz="2700" b="1">
                <a:solidFill>
                  <a:srgbClr val="14243C"/>
                </a:solidFill>
                <a:latin typeface="Noto Sans CJK KR"/>
              </a:defRPr>
            </a:pPr>
            <a:r>
              <a:t>탄소에 더 큰 비중</a:t>
            </a:r>
          </a:p>
        </p:txBody>
      </p:sp>
      <p:sp>
        <p:nvSpPr>
          <p:cNvPr id="17" name="Rectangle 16"/>
          <p:cNvSpPr/>
          <p:nvPr/>
        </p:nvSpPr>
        <p:spPr>
          <a:xfrm>
            <a:off x="4517136" y="4590288"/>
            <a:ext cx="746150" cy="457200"/>
          </a:xfrm>
          <a:prstGeom prst="rect">
            <a:avLst/>
          </a:prstGeom>
          <a:solidFill>
            <a:srgbClr val="4976D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517136" y="4690872"/>
            <a:ext cx="746150" cy="256032"/>
          </a:xfrm>
          <a:prstGeom prst="rect">
            <a:avLst/>
          </a:prstGeom>
          <a:noFill/>
        </p:spPr>
        <p:txBody>
          <a:bodyPr wrap="square" lIns="0" rIns="0" tIns="0" bIns="0">
            <a:spAutoFit/>
          </a:bodyPr>
          <a:lstStyle/>
          <a:p>
            <a:pPr algn="ctr">
              <a:lnSpc>
                <a:spcPct val="113000"/>
              </a:lnSpc>
              <a:spcAft>
                <a:spcPts val="0"/>
              </a:spcAft>
              <a:defRPr sz="1400" b="1">
                <a:solidFill>
                  <a:srgbClr val="FFFFFF"/>
                </a:solidFill>
                <a:latin typeface="Noto Sans CJK KR"/>
              </a:defRPr>
            </a:pPr>
            <a:r>
              <a:t>20</a:t>
            </a:r>
          </a:p>
        </p:txBody>
      </p:sp>
      <p:sp>
        <p:nvSpPr>
          <p:cNvPr id="19" name="Rectangle 18"/>
          <p:cNvSpPr/>
          <p:nvPr/>
        </p:nvSpPr>
        <p:spPr>
          <a:xfrm>
            <a:off x="5263286" y="4590288"/>
            <a:ext cx="2238451" cy="457200"/>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263286" y="4690872"/>
            <a:ext cx="2238451" cy="256032"/>
          </a:xfrm>
          <a:prstGeom prst="rect">
            <a:avLst/>
          </a:prstGeom>
          <a:noFill/>
        </p:spPr>
        <p:txBody>
          <a:bodyPr wrap="square" lIns="0" rIns="0" tIns="0" bIns="0">
            <a:spAutoFit/>
          </a:bodyPr>
          <a:lstStyle/>
          <a:p>
            <a:pPr algn="ctr">
              <a:lnSpc>
                <a:spcPct val="113000"/>
              </a:lnSpc>
              <a:spcAft>
                <a:spcPts val="0"/>
              </a:spcAft>
              <a:defRPr sz="1400" b="1">
                <a:solidFill>
                  <a:srgbClr val="FFFFFF"/>
                </a:solidFill>
                <a:latin typeface="Noto Sans CJK KR"/>
              </a:defRPr>
            </a:pPr>
            <a:r>
              <a:t>60</a:t>
            </a:r>
          </a:p>
        </p:txBody>
      </p:sp>
      <p:sp>
        <p:nvSpPr>
          <p:cNvPr id="21" name="Rectangle 20"/>
          <p:cNvSpPr/>
          <p:nvPr/>
        </p:nvSpPr>
        <p:spPr>
          <a:xfrm>
            <a:off x="7501737" y="4590288"/>
            <a:ext cx="746150" cy="457200"/>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501737" y="4690872"/>
            <a:ext cx="746150" cy="256032"/>
          </a:xfrm>
          <a:prstGeom prst="rect">
            <a:avLst/>
          </a:prstGeom>
          <a:noFill/>
        </p:spPr>
        <p:txBody>
          <a:bodyPr wrap="square" lIns="0" rIns="0" tIns="0" bIns="0">
            <a:spAutoFit/>
          </a:bodyPr>
          <a:lstStyle/>
          <a:p>
            <a:pPr algn="ctr">
              <a:lnSpc>
                <a:spcPct val="113000"/>
              </a:lnSpc>
              <a:spcAft>
                <a:spcPts val="0"/>
              </a:spcAft>
              <a:defRPr sz="1400" b="1">
                <a:solidFill>
                  <a:srgbClr val="14243C"/>
                </a:solidFill>
                <a:latin typeface="Noto Sans CJK KR"/>
              </a:defRPr>
            </a:pPr>
            <a:r>
              <a:t>20</a:t>
            </a:r>
          </a:p>
        </p:txBody>
      </p:sp>
      <p:sp>
        <p:nvSpPr>
          <p:cNvPr id="23" name="TextBox 22"/>
          <p:cNvSpPr txBox="1"/>
          <p:nvPr/>
        </p:nvSpPr>
        <p:spPr>
          <a:xfrm>
            <a:off x="4517136" y="5266944"/>
            <a:ext cx="3730752" cy="301752"/>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비용 20 · 탄소 60 · 시간 20</a:t>
            </a:r>
          </a:p>
        </p:txBody>
      </p:sp>
      <p:sp>
        <p:nvSpPr>
          <p:cNvPr id="24" name="Right Arrow 23"/>
          <p:cNvSpPr/>
          <p:nvPr/>
        </p:nvSpPr>
        <p:spPr>
          <a:xfrm>
            <a:off x="8650224" y="4041648"/>
            <a:ext cx="42062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400032" y="3081528"/>
            <a:ext cx="4389120" cy="292608"/>
          </a:xfrm>
          <a:prstGeom prst="rect">
            <a:avLst/>
          </a:prstGeom>
          <a:noFill/>
        </p:spPr>
        <p:txBody>
          <a:bodyPr wrap="square" lIns="0" rIns="0" tIns="0" bIns="0">
            <a:spAutoFit/>
          </a:bodyPr>
          <a:lstStyle/>
          <a:p>
            <a:pPr>
              <a:lnSpc>
                <a:spcPct val="113000"/>
              </a:lnSpc>
              <a:spcAft>
                <a:spcPts val="0"/>
              </a:spcAft>
              <a:defRPr sz="1700" b="1">
                <a:solidFill>
                  <a:srgbClr val="087F70"/>
                </a:solidFill>
                <a:latin typeface="Noto Sans CJK KR"/>
              </a:defRPr>
            </a:pPr>
            <a:r>
              <a:t>03  가능 후보 → 점수 비교</a:t>
            </a:r>
          </a:p>
        </p:txBody>
      </p:sp>
      <p:sp>
        <p:nvSpPr>
          <p:cNvPr id="26" name="Oval 25"/>
          <p:cNvSpPr/>
          <p:nvPr/>
        </p:nvSpPr>
        <p:spPr>
          <a:xfrm>
            <a:off x="9418320" y="3749039"/>
            <a:ext cx="164592" cy="16459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747504" y="3703320"/>
            <a:ext cx="4059936" cy="365760"/>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공급 조건  수량·기한·규격·적재</a:t>
            </a:r>
          </a:p>
        </p:txBody>
      </p:sp>
      <p:sp>
        <p:nvSpPr>
          <p:cNvPr id="28" name="Oval 27"/>
          <p:cNvSpPr/>
          <p:nvPr/>
        </p:nvSpPr>
        <p:spPr>
          <a:xfrm>
            <a:off x="9418320" y="4343400"/>
            <a:ext cx="164592" cy="16459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747504" y="4297680"/>
            <a:ext cx="4059936" cy="365760"/>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운영 한도  비용·예상 탄소</a:t>
            </a:r>
          </a:p>
        </p:txBody>
      </p:sp>
      <p:sp>
        <p:nvSpPr>
          <p:cNvPr id="30" name="TextBox 29"/>
          <p:cNvSpPr txBox="1"/>
          <p:nvPr/>
        </p:nvSpPr>
        <p:spPr>
          <a:xfrm>
            <a:off x="9418320" y="5047488"/>
            <a:ext cx="4343400" cy="676656"/>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통과한 안만 종합점수로 비교</a:t>
            </a:r>
          </a:p>
          <a:p>
            <a:pPr>
              <a:lnSpc>
                <a:spcPct val="113000"/>
              </a:lnSpc>
              <a:spcAft>
                <a:spcPts val="0"/>
              </a:spcAft>
              <a:defRPr sz="1900" b="0">
                <a:solidFill>
                  <a:srgbClr val="687D94"/>
                </a:solidFill>
                <a:latin typeface="Noto Sans CJK KR"/>
              </a:defRPr>
            </a:pPr>
            <a:r>
              <a:t>불가능하면 담당자 판단</a:t>
            </a:r>
          </a:p>
        </p:txBody>
      </p:sp>
      <p:sp>
        <p:nvSpPr>
          <p:cNvPr id="31" name="Rectangle 30"/>
          <p:cNvSpPr/>
          <p:nvPr/>
        </p:nvSpPr>
        <p:spPr>
          <a:xfrm>
            <a:off x="4489704" y="6080760"/>
            <a:ext cx="9473184" cy="749808"/>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727448" y="6300216"/>
            <a:ext cx="8988552" cy="32004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04  실행 → 실제 배출 갱신 → 다음 요청에 다시 적용</a:t>
            </a:r>
          </a:p>
        </p:txBody>
      </p:sp>
      <p:cxnSp>
        <p:nvCxnSpPr>
          <p:cNvPr id="33" name="Connector 32"/>
          <p:cNvCxnSpPr/>
          <p:nvPr/>
        </p:nvCxnSpPr>
        <p:spPr>
          <a:xfrm>
            <a:off x="9976104" y="5696712"/>
            <a:ext cx="0" cy="347472"/>
          </a:xfrm>
          <a:prstGeom prst="line">
            <a:avLst/>
          </a:prstGeom>
          <a:ln w="19050">
            <a:solidFill>
              <a:srgbClr val="087F70"/>
            </a:solidFill>
          </a:ln>
        </p:spPr>
        <p:style>
          <a:lnRef idx="2">
            <a:schemeClr val="accent1"/>
          </a:lnRef>
          <a:fillRef idx="0">
            <a:schemeClr val="accent1"/>
          </a:fillRef>
          <a:effectRef idx="0">
            <a:schemeClr val="accent1"/>
          </a:effectRef>
          <a:fontRef idx="minor">
            <a:schemeClr val="tx1"/>
          </a:fontRef>
        </p:style>
      </p:cxnSp>
      <p:sp>
        <p:nvSpPr>
          <p:cNvPr id="34" name="Down Arrow 33"/>
          <p:cNvSpPr/>
          <p:nvPr/>
        </p:nvSpPr>
        <p:spPr>
          <a:xfrm>
            <a:off x="9893808" y="5815584"/>
            <a:ext cx="173736" cy="219456"/>
          </a:xfrm>
          <a:prstGeom prst="down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5" name="Connector 34"/>
          <p:cNvCxnSpPr/>
          <p:nvPr/>
        </p:nvCxnSpPr>
        <p:spPr>
          <a:xfrm flipH="1">
            <a:off x="3922776" y="6473952"/>
            <a:ext cx="566928" cy="0"/>
          </a:xfrm>
          <a:prstGeom prst="line">
            <a:avLst/>
          </a:prstGeom>
          <a:ln w="19050">
            <a:solidFill>
              <a:srgbClr val="087F70"/>
            </a:solidFill>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3922776" y="5724144"/>
            <a:ext cx="0" cy="749808"/>
          </a:xfrm>
          <a:prstGeom prst="line">
            <a:avLst/>
          </a:prstGeom>
          <a:ln w="19050">
            <a:solidFill>
              <a:srgbClr val="087F70"/>
            </a:solidFill>
          </a:ln>
        </p:spPr>
        <p:style>
          <a:lnRef idx="2">
            <a:schemeClr val="accent1"/>
          </a:lnRef>
          <a:fillRef idx="0">
            <a:schemeClr val="accent1"/>
          </a:fillRef>
          <a:effectRef idx="0">
            <a:schemeClr val="accent1"/>
          </a:effectRef>
          <a:fontRef idx="minor">
            <a:schemeClr val="tx1"/>
          </a:fontRef>
        </p:style>
      </p:cxnSp>
      <p:sp>
        <p:nvSpPr>
          <p:cNvPr id="37" name="Left Arrow 36"/>
          <p:cNvSpPr/>
          <p:nvPr/>
        </p:nvSpPr>
        <p:spPr>
          <a:xfrm>
            <a:off x="3575304" y="5632704"/>
            <a:ext cx="347472" cy="173736"/>
          </a:xfrm>
          <a:prstGeom prst="lef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사용률은 실제 누적 배출 기준. 탄소 한도는 총예산−누적 실제 배출−확정·미정산 예상 배출로 계산. 내부 한도이며 법정 배출권과 구분합니다.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03 / WORKED EXAMPLE</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82%를 썼다면, 어떤 운송안을 고를까요?</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동일 요청: 파렛트 1,000매 · 8시간 이내. 비용 한도 140만원. 모든 숫자는 설명용 가정입니다.</a:t>
            </a:r>
          </a:p>
        </p:txBody>
      </p:sp>
      <p:cxnSp>
        <p:nvCxnSpPr>
          <p:cNvPr id="6" name="Connector 5"/>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03</a:t>
            </a:r>
          </a:p>
        </p:txBody>
      </p:sp>
      <p:sp>
        <p:nvSpPr>
          <p:cNvPr id="9" name="TextBox 8"/>
          <p:cNvSpPr txBox="1"/>
          <p:nvPr/>
        </p:nvSpPr>
        <p:spPr>
          <a:xfrm>
            <a:off x="758952" y="2852928"/>
            <a:ext cx="5888736" cy="292608"/>
          </a:xfrm>
          <a:prstGeom prst="rect">
            <a:avLst/>
          </a:prstGeom>
          <a:noFill/>
        </p:spPr>
        <p:txBody>
          <a:bodyPr wrap="square" lIns="0" rIns="0" tIns="0" bIns="0">
            <a:spAutoFit/>
          </a:bodyPr>
          <a:lstStyle/>
          <a:p>
            <a:pPr>
              <a:lnSpc>
                <a:spcPct val="113000"/>
              </a:lnSpc>
              <a:spcAft>
                <a:spcPts val="0"/>
              </a:spcAft>
              <a:defRPr sz="1900" b="1">
                <a:solidFill>
                  <a:srgbClr val="ADBED2"/>
                </a:solidFill>
                <a:latin typeface="Noto Sans CJK KR"/>
              </a:defRPr>
            </a:pPr>
            <a:r>
              <a:t>같은 공급 조건의 세 운송안</a:t>
            </a:r>
          </a:p>
        </p:txBody>
      </p:sp>
      <p:sp>
        <p:nvSpPr>
          <p:cNvPr id="10" name="TextBox 9"/>
          <p:cNvSpPr txBox="1"/>
          <p:nvPr/>
        </p:nvSpPr>
        <p:spPr>
          <a:xfrm>
            <a:off x="859536" y="3410712"/>
            <a:ext cx="960120"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운송안</a:t>
            </a:r>
          </a:p>
        </p:txBody>
      </p:sp>
      <p:sp>
        <p:nvSpPr>
          <p:cNvPr id="11" name="TextBox 10"/>
          <p:cNvSpPr txBox="1"/>
          <p:nvPr/>
        </p:nvSpPr>
        <p:spPr>
          <a:xfrm>
            <a:off x="2057400" y="3410712"/>
            <a:ext cx="1243584"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비용</a:t>
            </a:r>
          </a:p>
          <a:p>
            <a:pPr algn="ctr">
              <a:lnSpc>
                <a:spcPct val="113000"/>
              </a:lnSpc>
              <a:spcAft>
                <a:spcPts val="0"/>
              </a:spcAft>
              <a:defRPr sz="1400" b="1">
                <a:solidFill>
                  <a:srgbClr val="ADBED2"/>
                </a:solidFill>
                <a:latin typeface="Noto Sans CJK KR"/>
              </a:defRPr>
            </a:pPr>
            <a:r>
              <a:t>만원</a:t>
            </a:r>
          </a:p>
        </p:txBody>
      </p:sp>
      <p:sp>
        <p:nvSpPr>
          <p:cNvPr id="12" name="TextBox 11"/>
          <p:cNvSpPr txBox="1"/>
          <p:nvPr/>
        </p:nvSpPr>
        <p:spPr>
          <a:xfrm>
            <a:off x="3694176" y="3410712"/>
            <a:ext cx="1527048"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배출</a:t>
            </a:r>
          </a:p>
          <a:p>
            <a:pPr algn="ctr">
              <a:lnSpc>
                <a:spcPct val="113000"/>
              </a:lnSpc>
              <a:spcAft>
                <a:spcPts val="0"/>
              </a:spcAft>
              <a:defRPr sz="1400" b="1">
                <a:solidFill>
                  <a:srgbClr val="ADBED2"/>
                </a:solidFill>
                <a:latin typeface="Noto Sans CJK KR"/>
              </a:defRPr>
            </a:pPr>
            <a:r>
              <a:t>kgCO₂e</a:t>
            </a:r>
          </a:p>
        </p:txBody>
      </p:sp>
      <p:sp>
        <p:nvSpPr>
          <p:cNvPr id="13" name="TextBox 12"/>
          <p:cNvSpPr txBox="1"/>
          <p:nvPr/>
        </p:nvSpPr>
        <p:spPr>
          <a:xfrm>
            <a:off x="5522976" y="3410712"/>
            <a:ext cx="1042415"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도착</a:t>
            </a:r>
          </a:p>
          <a:p>
            <a:pPr algn="ctr">
              <a:lnSpc>
                <a:spcPct val="113000"/>
              </a:lnSpc>
              <a:spcAft>
                <a:spcPts val="0"/>
              </a:spcAft>
              <a:defRPr sz="1400" b="1">
                <a:solidFill>
                  <a:srgbClr val="ADBED2"/>
                </a:solidFill>
                <a:latin typeface="Noto Sans CJK KR"/>
              </a:defRPr>
            </a:pPr>
            <a:r>
              <a:t>시간</a:t>
            </a:r>
          </a:p>
        </p:txBody>
      </p:sp>
      <p:sp>
        <p:nvSpPr>
          <p:cNvPr id="14" name="TextBox 13"/>
          <p:cNvSpPr txBox="1"/>
          <p:nvPr/>
        </p:nvSpPr>
        <p:spPr>
          <a:xfrm>
            <a:off x="859536" y="4261103"/>
            <a:ext cx="960120"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A</a:t>
            </a:r>
          </a:p>
        </p:txBody>
      </p:sp>
      <p:sp>
        <p:nvSpPr>
          <p:cNvPr id="15" name="TextBox 14"/>
          <p:cNvSpPr txBox="1"/>
          <p:nvPr/>
        </p:nvSpPr>
        <p:spPr>
          <a:xfrm>
            <a:off x="2057400" y="4261103"/>
            <a:ext cx="1243584"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100</a:t>
            </a:r>
          </a:p>
        </p:txBody>
      </p:sp>
      <p:sp>
        <p:nvSpPr>
          <p:cNvPr id="16" name="TextBox 15"/>
          <p:cNvSpPr txBox="1"/>
          <p:nvPr/>
        </p:nvSpPr>
        <p:spPr>
          <a:xfrm>
            <a:off x="3694176" y="4261103"/>
            <a:ext cx="1527048"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400</a:t>
            </a:r>
          </a:p>
        </p:txBody>
      </p:sp>
      <p:sp>
        <p:nvSpPr>
          <p:cNvPr id="17" name="TextBox 16"/>
          <p:cNvSpPr txBox="1"/>
          <p:nvPr/>
        </p:nvSpPr>
        <p:spPr>
          <a:xfrm>
            <a:off x="5522976" y="4261103"/>
            <a:ext cx="1042415"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6</a:t>
            </a:r>
          </a:p>
        </p:txBody>
      </p:sp>
      <p:sp>
        <p:nvSpPr>
          <p:cNvPr id="18" name="TextBox 17"/>
          <p:cNvSpPr txBox="1"/>
          <p:nvPr/>
        </p:nvSpPr>
        <p:spPr>
          <a:xfrm>
            <a:off x="859536" y="5047488"/>
            <a:ext cx="960120"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B</a:t>
            </a:r>
          </a:p>
        </p:txBody>
      </p:sp>
      <p:sp>
        <p:nvSpPr>
          <p:cNvPr id="19" name="TextBox 18"/>
          <p:cNvSpPr txBox="1"/>
          <p:nvPr/>
        </p:nvSpPr>
        <p:spPr>
          <a:xfrm>
            <a:off x="2057400" y="5047488"/>
            <a:ext cx="1243584"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110</a:t>
            </a:r>
          </a:p>
        </p:txBody>
      </p:sp>
      <p:sp>
        <p:nvSpPr>
          <p:cNvPr id="20" name="TextBox 19"/>
          <p:cNvSpPr txBox="1"/>
          <p:nvPr/>
        </p:nvSpPr>
        <p:spPr>
          <a:xfrm>
            <a:off x="3694176" y="5047488"/>
            <a:ext cx="1527048"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260</a:t>
            </a:r>
          </a:p>
        </p:txBody>
      </p:sp>
      <p:sp>
        <p:nvSpPr>
          <p:cNvPr id="21" name="TextBox 20"/>
          <p:cNvSpPr txBox="1"/>
          <p:nvPr/>
        </p:nvSpPr>
        <p:spPr>
          <a:xfrm>
            <a:off x="5522976" y="5047488"/>
            <a:ext cx="1042415"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4</a:t>
            </a:r>
          </a:p>
        </p:txBody>
      </p:sp>
      <p:sp>
        <p:nvSpPr>
          <p:cNvPr id="22" name="Rectangle 21"/>
          <p:cNvSpPr/>
          <p:nvPr/>
        </p:nvSpPr>
        <p:spPr>
          <a:xfrm>
            <a:off x="731520" y="5733288"/>
            <a:ext cx="6016752" cy="658368"/>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59536" y="5833871"/>
            <a:ext cx="960120"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C</a:t>
            </a:r>
          </a:p>
        </p:txBody>
      </p:sp>
      <p:sp>
        <p:nvSpPr>
          <p:cNvPr id="24" name="TextBox 23"/>
          <p:cNvSpPr txBox="1"/>
          <p:nvPr/>
        </p:nvSpPr>
        <p:spPr>
          <a:xfrm>
            <a:off x="2057400" y="5833871"/>
            <a:ext cx="1243584"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140</a:t>
            </a:r>
          </a:p>
        </p:txBody>
      </p:sp>
      <p:sp>
        <p:nvSpPr>
          <p:cNvPr id="25" name="TextBox 24"/>
          <p:cNvSpPr txBox="1"/>
          <p:nvPr/>
        </p:nvSpPr>
        <p:spPr>
          <a:xfrm>
            <a:off x="3694176" y="5833871"/>
            <a:ext cx="1527048"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200</a:t>
            </a:r>
          </a:p>
        </p:txBody>
      </p:sp>
      <p:sp>
        <p:nvSpPr>
          <p:cNvPr id="26" name="TextBox 25"/>
          <p:cNvSpPr txBox="1"/>
          <p:nvPr/>
        </p:nvSpPr>
        <p:spPr>
          <a:xfrm>
            <a:off x="5522976" y="5833871"/>
            <a:ext cx="1042415"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3</a:t>
            </a:r>
          </a:p>
        </p:txBody>
      </p:sp>
      <p:cxnSp>
        <p:nvCxnSpPr>
          <p:cNvPr id="27" name="Connector 26"/>
          <p:cNvCxnSpPr/>
          <p:nvPr/>
        </p:nvCxnSpPr>
        <p:spPr>
          <a:xfrm>
            <a:off x="7095744" y="2889504"/>
            <a:ext cx="0" cy="4078224"/>
          </a:xfrm>
          <a:prstGeom prst="line">
            <a:avLst/>
          </a:prstGeom>
          <a:ln w="12700">
            <a:solidFill>
              <a:srgbClr val="3C516C"/>
            </a:solidFill>
          </a:ln>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7571231" y="2898648"/>
            <a:ext cx="6153912" cy="320040"/>
          </a:xfrm>
          <a:prstGeom prst="rect">
            <a:avLst/>
          </a:prstGeom>
          <a:noFill/>
        </p:spPr>
        <p:txBody>
          <a:bodyPr wrap="square" lIns="0" rIns="0" tIns="0" bIns="0">
            <a:spAutoFit/>
          </a:bodyPr>
          <a:lstStyle/>
          <a:p>
            <a:pPr>
              <a:lnSpc>
                <a:spcPct val="113000"/>
              </a:lnSpc>
              <a:spcAft>
                <a:spcPts val="0"/>
              </a:spcAft>
              <a:defRPr sz="1800" b="1">
                <a:solidFill>
                  <a:srgbClr val="ADBED2"/>
                </a:solidFill>
                <a:latin typeface="Noto Sans CJK KR"/>
              </a:defRPr>
            </a:pPr>
            <a:r>
              <a:t>탄소 모드  /  비용 20 · 탄소 60 · 시간 20</a:t>
            </a:r>
          </a:p>
        </p:txBody>
      </p:sp>
      <p:sp>
        <p:nvSpPr>
          <p:cNvPr id="29" name="TextBox 28"/>
          <p:cNvSpPr txBox="1"/>
          <p:nvPr/>
        </p:nvSpPr>
        <p:spPr>
          <a:xfrm>
            <a:off x="7543800" y="3511296"/>
            <a:ext cx="1645920" cy="1344168"/>
          </a:xfrm>
          <a:prstGeom prst="rect">
            <a:avLst/>
          </a:prstGeom>
          <a:noFill/>
        </p:spPr>
        <p:txBody>
          <a:bodyPr wrap="square" lIns="0" rIns="0" tIns="0" bIns="0">
            <a:spAutoFit/>
          </a:bodyPr>
          <a:lstStyle/>
          <a:p>
            <a:pPr>
              <a:lnSpc>
                <a:spcPct val="113000"/>
              </a:lnSpc>
              <a:spcAft>
                <a:spcPts val="0"/>
              </a:spcAft>
              <a:defRPr sz="9400" b="1">
                <a:solidFill>
                  <a:srgbClr val="54DFC0"/>
                </a:solidFill>
                <a:latin typeface="Noto Sans CJK KR"/>
              </a:defRPr>
            </a:pPr>
            <a:r>
              <a:t>C</a:t>
            </a:r>
          </a:p>
        </p:txBody>
      </p:sp>
      <p:sp>
        <p:nvSpPr>
          <p:cNvPr id="30" name="TextBox 29"/>
          <p:cNvSpPr txBox="1"/>
          <p:nvPr/>
        </p:nvSpPr>
        <p:spPr>
          <a:xfrm>
            <a:off x="9482328" y="3813048"/>
            <a:ext cx="4251960" cy="475488"/>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종합점수 0.725</a:t>
            </a:r>
          </a:p>
        </p:txBody>
      </p:sp>
      <p:sp>
        <p:nvSpPr>
          <p:cNvPr id="31" name="TextBox 30"/>
          <p:cNvSpPr txBox="1"/>
          <p:nvPr/>
        </p:nvSpPr>
        <p:spPr>
          <a:xfrm>
            <a:off x="9500616" y="4489704"/>
            <a:ext cx="4251960" cy="310896"/>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A 0.250  /  B 0.670</a:t>
            </a:r>
          </a:p>
        </p:txBody>
      </p:sp>
      <p:cxnSp>
        <p:nvCxnSpPr>
          <p:cNvPr id="32" name="Connector 31"/>
          <p:cNvCxnSpPr/>
          <p:nvPr/>
        </p:nvCxnSpPr>
        <p:spPr>
          <a:xfrm>
            <a:off x="7580375" y="5285232"/>
            <a:ext cx="6245353" cy="0"/>
          </a:xfrm>
          <a:prstGeom prst="line">
            <a:avLst/>
          </a:prstGeom>
          <a:ln w="12700">
            <a:solidFill>
              <a:srgbClr val="3C516C"/>
            </a:solidFill>
          </a:ln>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589520" y="5522976"/>
            <a:ext cx="6135624" cy="374904"/>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A → C : 비용 +40만원 / 배출 −200kg</a:t>
            </a:r>
          </a:p>
        </p:txBody>
      </p:sp>
      <p:sp>
        <p:nvSpPr>
          <p:cNvPr id="34" name="Rectangle 33"/>
          <p:cNvSpPr/>
          <p:nvPr/>
        </p:nvSpPr>
        <p:spPr>
          <a:xfrm>
            <a:off x="7571231" y="6272784"/>
            <a:ext cx="6281928" cy="640080"/>
          </a:xfrm>
          <a:prstGeom prst="rect">
            <a:avLst/>
          </a:prstGeom>
          <a:solidFill>
            <a:srgbClr val="25493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781544" y="6464808"/>
            <a:ext cx="5861304" cy="301752"/>
          </a:xfrm>
          <a:prstGeom prst="rect">
            <a:avLst/>
          </a:prstGeom>
          <a:noFill/>
        </p:spPr>
        <p:txBody>
          <a:bodyPr wrap="square" lIns="0" rIns="0" tIns="0" bIns="0">
            <a:spAutoFit/>
          </a:bodyPr>
          <a:lstStyle/>
          <a:p>
            <a:pPr>
              <a:lnSpc>
                <a:spcPct val="113000"/>
              </a:lnSpc>
              <a:spcAft>
                <a:spcPts val="0"/>
              </a:spcAft>
              <a:defRPr sz="1800" b="1">
                <a:solidFill>
                  <a:srgbClr val="54DFC0"/>
                </a:solidFill>
                <a:latin typeface="Noto Sans CJK KR"/>
              </a:defRPr>
            </a:pPr>
            <a:r>
              <a:t>비용 한도가 120만원이면  →  C 제외, B 추천</a:t>
            </a:r>
          </a:p>
        </p:txBody>
      </p:sp>
      <p:sp>
        <p:nvSpPr>
          <p:cNvPr id="36" name="TextBox 35"/>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RPS는 허용 후보의 비용·배출·시간 여유를 0–1 점수로 맞춘 가중합입니다. 비용 한도 변경 시 정규화 재계산. 현장 감축 성과가 아닙니다.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04 / WHAT CHANGES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같은 후보. 다른 예산 상태. 달라지는 선택.</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비교 기준을 고정하고, 예산 사용률만 바꾼 단일 의사결정 실험입니다.</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04</a:t>
            </a:r>
          </a:p>
        </p:txBody>
      </p:sp>
      <p:sp>
        <p:nvSpPr>
          <p:cNvPr id="9" name="TextBox 8"/>
          <p:cNvSpPr txBox="1"/>
          <p:nvPr/>
        </p:nvSpPr>
        <p:spPr>
          <a:xfrm>
            <a:off x="786384" y="2898648"/>
            <a:ext cx="4023360" cy="338328"/>
          </a:xfrm>
          <a:prstGeom prst="rect">
            <a:avLst/>
          </a:prstGeom>
          <a:noFill/>
        </p:spPr>
        <p:txBody>
          <a:bodyPr wrap="square" lIns="0" rIns="0" tIns="0" bIns="0">
            <a:spAutoFit/>
          </a:bodyPr>
          <a:lstStyle/>
          <a:p>
            <a:pPr>
              <a:lnSpc>
                <a:spcPct val="113000"/>
              </a:lnSpc>
              <a:spcAft>
                <a:spcPts val="0"/>
              </a:spcAft>
              <a:defRPr sz="1800" b="1">
                <a:solidFill>
                  <a:srgbClr val="687D94"/>
                </a:solidFill>
                <a:latin typeface="Noto Sans CJK KR"/>
              </a:defRPr>
            </a:pPr>
            <a:r>
              <a:t>비교 정책</a:t>
            </a:r>
          </a:p>
        </p:txBody>
      </p:sp>
      <p:sp>
        <p:nvSpPr>
          <p:cNvPr id="10" name="TextBox 9"/>
          <p:cNvSpPr txBox="1"/>
          <p:nvPr/>
        </p:nvSpPr>
        <p:spPr>
          <a:xfrm>
            <a:off x="4809744"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50%</a:t>
            </a:r>
          </a:p>
        </p:txBody>
      </p:sp>
      <p:sp>
        <p:nvSpPr>
          <p:cNvPr id="11" name="TextBox 10"/>
          <p:cNvSpPr txBox="1"/>
          <p:nvPr/>
        </p:nvSpPr>
        <p:spPr>
          <a:xfrm>
            <a:off x="7205472"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68%</a:t>
            </a:r>
          </a:p>
        </p:txBody>
      </p:sp>
      <p:sp>
        <p:nvSpPr>
          <p:cNvPr id="12" name="TextBox 11"/>
          <p:cNvSpPr txBox="1"/>
          <p:nvPr/>
        </p:nvSpPr>
        <p:spPr>
          <a:xfrm>
            <a:off x="9601200"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82%</a:t>
            </a:r>
          </a:p>
        </p:txBody>
      </p:sp>
      <p:sp>
        <p:nvSpPr>
          <p:cNvPr id="13" name="TextBox 12"/>
          <p:cNvSpPr txBox="1"/>
          <p:nvPr/>
        </p:nvSpPr>
        <p:spPr>
          <a:xfrm>
            <a:off x="11996928"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93%</a:t>
            </a:r>
          </a:p>
        </p:txBody>
      </p:sp>
      <p:sp>
        <p:nvSpPr>
          <p:cNvPr id="14" name="TextBox 13"/>
          <p:cNvSpPr txBox="1"/>
          <p:nvPr/>
        </p:nvSpPr>
        <p:spPr>
          <a:xfrm>
            <a:off x="11750040" y="3364992"/>
            <a:ext cx="2212848" cy="246888"/>
          </a:xfrm>
          <a:prstGeom prst="rect">
            <a:avLst/>
          </a:prstGeom>
          <a:noFill/>
        </p:spPr>
        <p:txBody>
          <a:bodyPr wrap="square" lIns="0" rIns="0" tIns="0" bIns="0">
            <a:spAutoFit/>
          </a:bodyPr>
          <a:lstStyle/>
          <a:p>
            <a:pPr algn="r">
              <a:lnSpc>
                <a:spcPct val="113000"/>
              </a:lnSpc>
              <a:spcAft>
                <a:spcPts val="0"/>
              </a:spcAft>
              <a:defRPr sz="1200" b="0">
                <a:solidFill>
                  <a:srgbClr val="687D94"/>
                </a:solidFill>
                <a:latin typeface="Noto Sans CJK KR"/>
              </a:defRPr>
            </a:pPr>
            <a:r>
              <a:t>탄소예산 사용률</a:t>
            </a:r>
          </a:p>
        </p:txBody>
      </p:sp>
      <p:sp>
        <p:nvSpPr>
          <p:cNvPr id="15" name="TextBox 14"/>
          <p:cNvSpPr txBox="1"/>
          <p:nvPr/>
        </p:nvSpPr>
        <p:spPr>
          <a:xfrm>
            <a:off x="932688" y="3904487"/>
            <a:ext cx="3611880" cy="365760"/>
          </a:xfrm>
          <a:prstGeom prst="rect">
            <a:avLst/>
          </a:prstGeom>
          <a:noFill/>
        </p:spPr>
        <p:txBody>
          <a:bodyPr wrap="square" lIns="0" rIns="0" tIns="0" bIns="0">
            <a:spAutoFit/>
          </a:bodyPr>
          <a:lstStyle/>
          <a:p>
            <a:pPr>
              <a:lnSpc>
                <a:spcPct val="113000"/>
              </a:lnSpc>
              <a:spcAft>
                <a:spcPts val="0"/>
              </a:spcAft>
              <a:defRPr sz="2500" b="1">
                <a:solidFill>
                  <a:srgbClr val="14243C"/>
                </a:solidFill>
                <a:latin typeface="Noto Sans CJK KR"/>
              </a:defRPr>
            </a:pPr>
            <a:r>
              <a:t>비용 우선</a:t>
            </a:r>
          </a:p>
        </p:txBody>
      </p:sp>
      <p:sp>
        <p:nvSpPr>
          <p:cNvPr id="16" name="TextBox 15"/>
          <p:cNvSpPr txBox="1"/>
          <p:nvPr/>
        </p:nvSpPr>
        <p:spPr>
          <a:xfrm>
            <a:off x="941832" y="4361688"/>
            <a:ext cx="3822191" cy="256032"/>
          </a:xfrm>
          <a:prstGeom prst="rect">
            <a:avLst/>
          </a:prstGeom>
          <a:noFill/>
        </p:spPr>
        <p:txBody>
          <a:bodyPr wrap="square" lIns="0" rIns="0" tIns="0" bIns="0">
            <a:spAutoFit/>
          </a:bodyPr>
          <a:lstStyle/>
          <a:p>
            <a:pPr>
              <a:lnSpc>
                <a:spcPct val="113000"/>
              </a:lnSpc>
              <a:spcAft>
                <a:spcPts val="0"/>
              </a:spcAft>
              <a:defRPr sz="1300" b="0">
                <a:solidFill>
                  <a:srgbClr val="687D94"/>
                </a:solidFill>
                <a:latin typeface="Noto Sans CJK KR"/>
              </a:defRPr>
            </a:pPr>
            <a:r>
              <a:t>비용만으로 순위 결정</a:t>
            </a:r>
          </a:p>
        </p:txBody>
      </p:sp>
      <p:sp>
        <p:nvSpPr>
          <p:cNvPr id="17" name="Oval 16"/>
          <p:cNvSpPr/>
          <p:nvPr/>
        </p:nvSpPr>
        <p:spPr>
          <a:xfrm>
            <a:off x="5129783"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129783"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sp>
        <p:nvSpPr>
          <p:cNvPr id="19" name="Oval 18"/>
          <p:cNvSpPr/>
          <p:nvPr/>
        </p:nvSpPr>
        <p:spPr>
          <a:xfrm>
            <a:off x="7525512"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25512"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sp>
        <p:nvSpPr>
          <p:cNvPr id="21" name="Oval 20"/>
          <p:cNvSpPr/>
          <p:nvPr/>
        </p:nvSpPr>
        <p:spPr>
          <a:xfrm>
            <a:off x="9921240"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921240"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sp>
        <p:nvSpPr>
          <p:cNvPr id="23" name="Oval 22"/>
          <p:cNvSpPr/>
          <p:nvPr/>
        </p:nvSpPr>
        <p:spPr>
          <a:xfrm>
            <a:off x="12316968"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2316968"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cxnSp>
        <p:nvCxnSpPr>
          <p:cNvPr id="25" name="Connector 24"/>
          <p:cNvCxnSpPr/>
          <p:nvPr/>
        </p:nvCxnSpPr>
        <p:spPr>
          <a:xfrm>
            <a:off x="932688" y="4690872"/>
            <a:ext cx="12801600"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32688" y="4901184"/>
            <a:ext cx="3611880" cy="365760"/>
          </a:xfrm>
          <a:prstGeom prst="rect">
            <a:avLst/>
          </a:prstGeom>
          <a:noFill/>
        </p:spPr>
        <p:txBody>
          <a:bodyPr wrap="square" lIns="0" rIns="0" tIns="0" bIns="0">
            <a:spAutoFit/>
          </a:bodyPr>
          <a:lstStyle/>
          <a:p>
            <a:pPr>
              <a:lnSpc>
                <a:spcPct val="113000"/>
              </a:lnSpc>
              <a:spcAft>
                <a:spcPts val="0"/>
              </a:spcAft>
              <a:defRPr sz="2500" b="1">
                <a:solidFill>
                  <a:srgbClr val="14243C"/>
                </a:solidFill>
                <a:latin typeface="Noto Sans CJK KR"/>
              </a:defRPr>
            </a:pPr>
            <a:r>
              <a:t>고정 가중치</a:t>
            </a:r>
          </a:p>
        </p:txBody>
      </p:sp>
      <p:sp>
        <p:nvSpPr>
          <p:cNvPr id="27" name="TextBox 26"/>
          <p:cNvSpPr txBox="1"/>
          <p:nvPr/>
        </p:nvSpPr>
        <p:spPr>
          <a:xfrm>
            <a:off x="941832" y="5358384"/>
            <a:ext cx="3822191" cy="256032"/>
          </a:xfrm>
          <a:prstGeom prst="rect">
            <a:avLst/>
          </a:prstGeom>
          <a:noFill/>
        </p:spPr>
        <p:txBody>
          <a:bodyPr wrap="square" lIns="0" rIns="0" tIns="0" bIns="0">
            <a:spAutoFit/>
          </a:bodyPr>
          <a:lstStyle/>
          <a:p>
            <a:pPr>
              <a:lnSpc>
                <a:spcPct val="113000"/>
              </a:lnSpc>
              <a:spcAft>
                <a:spcPts val="0"/>
              </a:spcAft>
              <a:defRPr sz="1300" b="0">
                <a:solidFill>
                  <a:srgbClr val="687D94"/>
                </a:solidFill>
                <a:latin typeface="Noto Sans CJK KR"/>
              </a:defRPr>
            </a:pPr>
            <a:r>
              <a:t>비용 50 · 탄소 30 · 시간 20</a:t>
            </a:r>
          </a:p>
        </p:txBody>
      </p:sp>
      <p:sp>
        <p:nvSpPr>
          <p:cNvPr id="28" name="Oval 27"/>
          <p:cNvSpPr/>
          <p:nvPr/>
        </p:nvSpPr>
        <p:spPr>
          <a:xfrm>
            <a:off x="5129783"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129783"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sp>
        <p:nvSpPr>
          <p:cNvPr id="30" name="Oval 29"/>
          <p:cNvSpPr/>
          <p:nvPr/>
        </p:nvSpPr>
        <p:spPr>
          <a:xfrm>
            <a:off x="7525512"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525512"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sp>
        <p:nvSpPr>
          <p:cNvPr id="32" name="Oval 31"/>
          <p:cNvSpPr/>
          <p:nvPr/>
        </p:nvSpPr>
        <p:spPr>
          <a:xfrm>
            <a:off x="9921240"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921240"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sp>
        <p:nvSpPr>
          <p:cNvPr id="34" name="Oval 33"/>
          <p:cNvSpPr/>
          <p:nvPr/>
        </p:nvSpPr>
        <p:spPr>
          <a:xfrm>
            <a:off x="12316968"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12316968"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cxnSp>
        <p:nvCxnSpPr>
          <p:cNvPr id="36" name="Connector 35"/>
          <p:cNvCxnSpPr/>
          <p:nvPr/>
        </p:nvCxnSpPr>
        <p:spPr>
          <a:xfrm>
            <a:off x="932688" y="5687568"/>
            <a:ext cx="12801600"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37" name="Rectangle 36"/>
          <p:cNvSpPr/>
          <p:nvPr/>
        </p:nvSpPr>
        <p:spPr>
          <a:xfrm>
            <a:off x="694944" y="5888736"/>
            <a:ext cx="13258800" cy="923544"/>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32688" y="5998464"/>
            <a:ext cx="3611880" cy="365760"/>
          </a:xfrm>
          <a:prstGeom prst="rect">
            <a:avLst/>
          </a:prstGeom>
          <a:noFill/>
        </p:spPr>
        <p:txBody>
          <a:bodyPr wrap="square" lIns="0" rIns="0" tIns="0" bIns="0">
            <a:spAutoFit/>
          </a:bodyPr>
          <a:lstStyle/>
          <a:p>
            <a:pPr>
              <a:lnSpc>
                <a:spcPct val="113000"/>
              </a:lnSpc>
              <a:spcAft>
                <a:spcPts val="0"/>
              </a:spcAft>
              <a:defRPr sz="2500" b="1">
                <a:solidFill>
                  <a:srgbClr val="087F70"/>
                </a:solidFill>
                <a:latin typeface="Noto Sans CJK KR"/>
              </a:defRPr>
            </a:pPr>
            <a:r>
              <a:t>CBP</a:t>
            </a:r>
          </a:p>
        </p:txBody>
      </p:sp>
      <p:sp>
        <p:nvSpPr>
          <p:cNvPr id="39" name="TextBox 38"/>
          <p:cNvSpPr txBox="1"/>
          <p:nvPr/>
        </p:nvSpPr>
        <p:spPr>
          <a:xfrm>
            <a:off x="941832" y="6455664"/>
            <a:ext cx="3822191" cy="256032"/>
          </a:xfrm>
          <a:prstGeom prst="rect">
            <a:avLst/>
          </a:prstGeom>
          <a:noFill/>
        </p:spPr>
        <p:txBody>
          <a:bodyPr wrap="square" lIns="0" rIns="0" tIns="0" bIns="0">
            <a:spAutoFit/>
          </a:bodyPr>
          <a:lstStyle/>
          <a:p>
            <a:pPr>
              <a:lnSpc>
                <a:spcPct val="113000"/>
              </a:lnSpc>
              <a:spcAft>
                <a:spcPts val="0"/>
              </a:spcAft>
              <a:defRPr sz="1300" b="0">
                <a:solidFill>
                  <a:srgbClr val="687D94"/>
                </a:solidFill>
                <a:latin typeface="Noto Sans CJK KR"/>
              </a:defRPr>
            </a:pPr>
            <a:r>
              <a:t>예산 상태에 따라 가중치 조정</a:t>
            </a:r>
          </a:p>
        </p:txBody>
      </p:sp>
      <p:sp>
        <p:nvSpPr>
          <p:cNvPr id="40" name="Oval 39"/>
          <p:cNvSpPr/>
          <p:nvPr/>
        </p:nvSpPr>
        <p:spPr>
          <a:xfrm>
            <a:off x="5129783"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29783"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A</a:t>
            </a:r>
          </a:p>
        </p:txBody>
      </p:sp>
      <p:sp>
        <p:nvSpPr>
          <p:cNvPr id="42" name="Oval 41"/>
          <p:cNvSpPr/>
          <p:nvPr/>
        </p:nvSpPr>
        <p:spPr>
          <a:xfrm>
            <a:off x="7525512"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7525512"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B</a:t>
            </a:r>
          </a:p>
        </p:txBody>
      </p:sp>
      <p:sp>
        <p:nvSpPr>
          <p:cNvPr id="44" name="Oval 43"/>
          <p:cNvSpPr/>
          <p:nvPr/>
        </p:nvSpPr>
        <p:spPr>
          <a:xfrm>
            <a:off x="9921240"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921240"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C</a:t>
            </a:r>
          </a:p>
        </p:txBody>
      </p:sp>
      <p:sp>
        <p:nvSpPr>
          <p:cNvPr id="46" name="Oval 45"/>
          <p:cNvSpPr/>
          <p:nvPr/>
        </p:nvSpPr>
        <p:spPr>
          <a:xfrm>
            <a:off x="12316968"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12316968"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C</a:t>
            </a:r>
          </a:p>
        </p:txBody>
      </p:sp>
      <p:sp>
        <p:nvSpPr>
          <p:cNvPr id="48" name="Right Arrow 47"/>
          <p:cNvSpPr/>
          <p:nvPr/>
        </p:nvSpPr>
        <p:spPr>
          <a:xfrm>
            <a:off x="5897879" y="6172200"/>
            <a:ext cx="704088"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ight Arrow 48"/>
          <p:cNvSpPr/>
          <p:nvPr/>
        </p:nvSpPr>
        <p:spPr>
          <a:xfrm>
            <a:off x="8293608" y="6172200"/>
            <a:ext cx="704088"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ight Arrow 49"/>
          <p:cNvSpPr/>
          <p:nvPr/>
        </p:nvSpPr>
        <p:spPr>
          <a:xfrm>
            <a:off x="10689336" y="6172200"/>
            <a:ext cx="704088"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세 후보 모두 허용되며 동일한 필수 제약을 적용. 고정 정책은 여기서 정의한 대조군이며 특정 기업·선행 연구의 실제 운영을 대표하지 않습니다.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05 / PROTOTYPE → PILOT</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계산은 구현했습니다.</a:t>
            </a:r>
          </a:p>
          <a:p>
            <a:pPr>
              <a:lnSpc>
                <a:spcPct val="113000"/>
              </a:lnSpc>
              <a:spcAft>
                <a:spcPts val="0"/>
              </a:spcAft>
              <a:defRPr sz="3600" b="1">
                <a:solidFill>
                  <a:srgbClr val="FFFFFF"/>
                </a:solidFill>
                <a:latin typeface="Noto Sans CJK KR"/>
              </a:defRPr>
            </a:pPr>
            <a:r>
              <a:t>다음 검증은 현장 데이터입니다.</a:t>
            </a:r>
          </a:p>
        </p:txBody>
      </p:sp>
      <p:cxnSp>
        <p:nvCxnSpPr>
          <p:cNvPr id="5" name="Connector 4"/>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05</a:t>
            </a:r>
          </a:p>
        </p:txBody>
      </p:sp>
      <p:sp>
        <p:nvSpPr>
          <p:cNvPr id="8" name="TextBox 7"/>
          <p:cNvSpPr txBox="1"/>
          <p:nvPr/>
        </p:nvSpPr>
        <p:spPr>
          <a:xfrm>
            <a:off x="731520" y="2660904"/>
            <a:ext cx="4892040" cy="292608"/>
          </a:xfrm>
          <a:prstGeom prst="rect">
            <a:avLst/>
          </a:prstGeom>
          <a:noFill/>
        </p:spPr>
        <p:txBody>
          <a:bodyPr wrap="square" lIns="0" rIns="0" tIns="0" bIns="0">
            <a:spAutoFit/>
          </a:bodyPr>
          <a:lstStyle/>
          <a:p>
            <a:pPr>
              <a:lnSpc>
                <a:spcPct val="113000"/>
              </a:lnSpc>
              <a:spcAft>
                <a:spcPts val="0"/>
              </a:spcAft>
              <a:defRPr sz="1600" b="1">
                <a:solidFill>
                  <a:srgbClr val="54DFC0"/>
                </a:solidFill>
                <a:latin typeface="Noto Sans CJK KR"/>
              </a:defRPr>
            </a:pPr>
            <a:r>
              <a:t>추천 계산기에서 확인한 동작</a:t>
            </a:r>
          </a:p>
        </p:txBody>
      </p:sp>
      <p:sp>
        <p:nvSpPr>
          <p:cNvPr id="9" name="TextBox 8"/>
          <p:cNvSpPr txBox="1"/>
          <p:nvPr/>
        </p:nvSpPr>
        <p:spPr>
          <a:xfrm>
            <a:off x="740664" y="3337560"/>
            <a:ext cx="4169663" cy="338328"/>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사용률 50% → 82%</a:t>
            </a:r>
          </a:p>
        </p:txBody>
      </p:sp>
      <p:sp>
        <p:nvSpPr>
          <p:cNvPr id="10" name="TextBox 9"/>
          <p:cNvSpPr txBox="1"/>
          <p:nvPr/>
        </p:nvSpPr>
        <p:spPr>
          <a:xfrm>
            <a:off x="4800600" y="3310128"/>
            <a:ext cx="2029968" cy="393192"/>
          </a:xfrm>
          <a:prstGeom prst="rect">
            <a:avLst/>
          </a:prstGeom>
          <a:noFill/>
        </p:spPr>
        <p:txBody>
          <a:bodyPr wrap="square" lIns="0" rIns="0" tIns="0" bIns="0">
            <a:spAutoFit/>
          </a:bodyPr>
          <a:lstStyle/>
          <a:p>
            <a:pPr algn="r">
              <a:lnSpc>
                <a:spcPct val="113000"/>
              </a:lnSpc>
              <a:spcAft>
                <a:spcPts val="0"/>
              </a:spcAft>
              <a:defRPr sz="2300" b="1">
                <a:solidFill>
                  <a:srgbClr val="FFFFFF"/>
                </a:solidFill>
                <a:latin typeface="Noto Sans CJK KR"/>
              </a:defRPr>
            </a:pPr>
            <a:r>
              <a:t>A → C</a:t>
            </a:r>
          </a:p>
        </p:txBody>
      </p:sp>
      <p:cxnSp>
        <p:nvCxnSpPr>
          <p:cNvPr id="11" name="Connector 10"/>
          <p:cNvCxnSpPr/>
          <p:nvPr/>
        </p:nvCxnSpPr>
        <p:spPr>
          <a:xfrm>
            <a:off x="740664" y="3867911"/>
            <a:ext cx="6089904" cy="0"/>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40664" y="4050791"/>
            <a:ext cx="4169663" cy="338328"/>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비용 한도 140 → 120만원</a:t>
            </a:r>
          </a:p>
        </p:txBody>
      </p:sp>
      <p:sp>
        <p:nvSpPr>
          <p:cNvPr id="13" name="TextBox 12"/>
          <p:cNvSpPr txBox="1"/>
          <p:nvPr/>
        </p:nvSpPr>
        <p:spPr>
          <a:xfrm>
            <a:off x="4800600" y="4023359"/>
            <a:ext cx="2029968" cy="393192"/>
          </a:xfrm>
          <a:prstGeom prst="rect">
            <a:avLst/>
          </a:prstGeom>
          <a:noFill/>
        </p:spPr>
        <p:txBody>
          <a:bodyPr wrap="square" lIns="0" rIns="0" tIns="0" bIns="0">
            <a:spAutoFit/>
          </a:bodyPr>
          <a:lstStyle/>
          <a:p>
            <a:pPr algn="r">
              <a:lnSpc>
                <a:spcPct val="113000"/>
              </a:lnSpc>
              <a:spcAft>
                <a:spcPts val="0"/>
              </a:spcAft>
              <a:defRPr sz="2300" b="1">
                <a:solidFill>
                  <a:srgbClr val="FFFFFF"/>
                </a:solidFill>
                <a:latin typeface="Noto Sans CJK KR"/>
              </a:defRPr>
            </a:pPr>
            <a:r>
              <a:t>C → B</a:t>
            </a:r>
          </a:p>
        </p:txBody>
      </p:sp>
      <p:cxnSp>
        <p:nvCxnSpPr>
          <p:cNvPr id="14" name="Connector 13"/>
          <p:cNvCxnSpPr/>
          <p:nvPr/>
        </p:nvCxnSpPr>
        <p:spPr>
          <a:xfrm>
            <a:off x="740664" y="4581144"/>
            <a:ext cx="6089904" cy="0"/>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40664" y="4764024"/>
            <a:ext cx="4169663" cy="338328"/>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가능한 후보가 하나도 없으면</a:t>
            </a:r>
          </a:p>
        </p:txBody>
      </p:sp>
      <p:sp>
        <p:nvSpPr>
          <p:cNvPr id="16" name="TextBox 15"/>
          <p:cNvSpPr txBox="1"/>
          <p:nvPr/>
        </p:nvSpPr>
        <p:spPr>
          <a:xfrm>
            <a:off x="4800600" y="4736592"/>
            <a:ext cx="2029968" cy="393192"/>
          </a:xfrm>
          <a:prstGeom prst="rect">
            <a:avLst/>
          </a:prstGeom>
          <a:noFill/>
        </p:spPr>
        <p:txBody>
          <a:bodyPr wrap="square" lIns="0" rIns="0" tIns="0" bIns="0">
            <a:spAutoFit/>
          </a:bodyPr>
          <a:lstStyle/>
          <a:p>
            <a:pPr algn="r">
              <a:lnSpc>
                <a:spcPct val="113000"/>
              </a:lnSpc>
              <a:spcAft>
                <a:spcPts val="0"/>
              </a:spcAft>
              <a:defRPr sz="2300" b="1">
                <a:solidFill>
                  <a:srgbClr val="FFFFFF"/>
                </a:solidFill>
                <a:latin typeface="Noto Sans CJK KR"/>
              </a:defRPr>
            </a:pPr>
            <a:r>
              <a:t>담당자 판단</a:t>
            </a:r>
          </a:p>
        </p:txBody>
      </p:sp>
      <p:cxnSp>
        <p:nvCxnSpPr>
          <p:cNvPr id="17" name="Connector 16"/>
          <p:cNvCxnSpPr/>
          <p:nvPr/>
        </p:nvCxnSpPr>
        <p:spPr>
          <a:xfrm>
            <a:off x="740664" y="5294376"/>
            <a:ext cx="6089904" cy="0"/>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7333488" y="2734056"/>
            <a:ext cx="0" cy="3163824"/>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845552" y="2660904"/>
            <a:ext cx="5897880" cy="292608"/>
          </a:xfrm>
          <a:prstGeom prst="rect">
            <a:avLst/>
          </a:prstGeom>
          <a:noFill/>
        </p:spPr>
        <p:txBody>
          <a:bodyPr wrap="square" lIns="0" rIns="0" tIns="0" bIns="0">
            <a:spAutoFit/>
          </a:bodyPr>
          <a:lstStyle/>
          <a:p>
            <a:pPr>
              <a:lnSpc>
                <a:spcPct val="113000"/>
              </a:lnSpc>
              <a:spcAft>
                <a:spcPts val="0"/>
              </a:spcAft>
              <a:defRPr sz="1600" b="1">
                <a:solidFill>
                  <a:srgbClr val="54DFC0"/>
                </a:solidFill>
                <a:latin typeface="Noto Sans CJK KR"/>
              </a:defRPr>
            </a:pPr>
            <a:r>
              <a:t>현장 적용은 작은 범위부터</a:t>
            </a:r>
          </a:p>
        </p:txBody>
      </p:sp>
      <p:sp>
        <p:nvSpPr>
          <p:cNvPr id="20" name="TextBox 19"/>
          <p:cNvSpPr txBox="1"/>
          <p:nvPr/>
        </p:nvSpPr>
        <p:spPr>
          <a:xfrm>
            <a:off x="7863840" y="3310128"/>
            <a:ext cx="393192" cy="292608"/>
          </a:xfrm>
          <a:prstGeom prst="rect">
            <a:avLst/>
          </a:prstGeom>
          <a:noFill/>
        </p:spPr>
        <p:txBody>
          <a:bodyPr wrap="square" lIns="0" rIns="0" tIns="0" bIns="0">
            <a:spAutoFit/>
          </a:bodyPr>
          <a:lstStyle/>
          <a:p>
            <a:pPr>
              <a:lnSpc>
                <a:spcPct val="113000"/>
              </a:lnSpc>
              <a:spcAft>
                <a:spcPts val="0"/>
              </a:spcAft>
              <a:defRPr sz="1500" b="1">
                <a:solidFill>
                  <a:srgbClr val="54DFC0"/>
                </a:solidFill>
                <a:latin typeface="Noto Sans CJK KR"/>
              </a:defRPr>
            </a:pPr>
            <a:r>
              <a:t>01</a:t>
            </a:r>
          </a:p>
        </p:txBody>
      </p:sp>
      <p:sp>
        <p:nvSpPr>
          <p:cNvPr id="21" name="TextBox 20"/>
          <p:cNvSpPr txBox="1"/>
          <p:nvPr/>
        </p:nvSpPr>
        <p:spPr>
          <a:xfrm>
            <a:off x="8421624" y="3291840"/>
            <a:ext cx="5422392" cy="36576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동일 풀링사 · 호환 파렛트</a:t>
            </a:r>
          </a:p>
        </p:txBody>
      </p:sp>
      <p:sp>
        <p:nvSpPr>
          <p:cNvPr id="22" name="TextBox 21"/>
          <p:cNvSpPr txBox="1"/>
          <p:nvPr/>
        </p:nvSpPr>
        <p:spPr>
          <a:xfrm>
            <a:off x="8430768" y="3749039"/>
            <a:ext cx="5404104" cy="310896"/>
          </a:xfrm>
          <a:prstGeom prst="rect">
            <a:avLst/>
          </a:prstGeom>
          <a:noFill/>
        </p:spPr>
        <p:txBody>
          <a:bodyPr wrap="square" lIns="0" rIns="0" tIns="0" bIns="0">
            <a:spAutoFit/>
          </a:bodyPr>
          <a:lstStyle/>
          <a:p>
            <a:pPr>
              <a:lnSpc>
                <a:spcPct val="113000"/>
              </a:lnSpc>
              <a:spcAft>
                <a:spcPts val="0"/>
              </a:spcAft>
              <a:defRPr sz="1500" b="0">
                <a:solidFill>
                  <a:srgbClr val="ADBED2"/>
                </a:solidFill>
                <a:latin typeface="Noto Sans CJK KR"/>
              </a:defRPr>
            </a:pPr>
            <a:r>
              <a:t>재고·운행·비용·배출 자료 확보</a:t>
            </a:r>
          </a:p>
        </p:txBody>
      </p:sp>
      <p:sp>
        <p:nvSpPr>
          <p:cNvPr id="23" name="TextBox 22"/>
          <p:cNvSpPr txBox="1"/>
          <p:nvPr/>
        </p:nvSpPr>
        <p:spPr>
          <a:xfrm>
            <a:off x="7863840" y="4251960"/>
            <a:ext cx="393192" cy="292608"/>
          </a:xfrm>
          <a:prstGeom prst="rect">
            <a:avLst/>
          </a:prstGeom>
          <a:noFill/>
        </p:spPr>
        <p:txBody>
          <a:bodyPr wrap="square" lIns="0" rIns="0" tIns="0" bIns="0">
            <a:spAutoFit/>
          </a:bodyPr>
          <a:lstStyle/>
          <a:p>
            <a:pPr>
              <a:lnSpc>
                <a:spcPct val="113000"/>
              </a:lnSpc>
              <a:spcAft>
                <a:spcPts val="0"/>
              </a:spcAft>
              <a:defRPr sz="1500" b="1">
                <a:solidFill>
                  <a:srgbClr val="54DFC0"/>
                </a:solidFill>
                <a:latin typeface="Noto Sans CJK KR"/>
              </a:defRPr>
            </a:pPr>
            <a:r>
              <a:t>02</a:t>
            </a:r>
          </a:p>
        </p:txBody>
      </p:sp>
      <p:sp>
        <p:nvSpPr>
          <p:cNvPr id="24" name="TextBox 23"/>
          <p:cNvSpPr txBox="1"/>
          <p:nvPr/>
        </p:nvSpPr>
        <p:spPr>
          <a:xfrm>
            <a:off x="8421624" y="4233672"/>
            <a:ext cx="5422392" cy="36576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동일 조건으로 세 정책 비교</a:t>
            </a:r>
          </a:p>
        </p:txBody>
      </p:sp>
      <p:sp>
        <p:nvSpPr>
          <p:cNvPr id="25" name="TextBox 24"/>
          <p:cNvSpPr txBox="1"/>
          <p:nvPr/>
        </p:nvSpPr>
        <p:spPr>
          <a:xfrm>
            <a:off x="8430768" y="4690872"/>
            <a:ext cx="5404104" cy="310896"/>
          </a:xfrm>
          <a:prstGeom prst="rect">
            <a:avLst/>
          </a:prstGeom>
          <a:noFill/>
        </p:spPr>
        <p:txBody>
          <a:bodyPr wrap="square" lIns="0" rIns="0" tIns="0" bIns="0">
            <a:spAutoFit/>
          </a:bodyPr>
          <a:lstStyle/>
          <a:p>
            <a:pPr>
              <a:lnSpc>
                <a:spcPct val="113000"/>
              </a:lnSpc>
              <a:spcAft>
                <a:spcPts val="0"/>
              </a:spcAft>
              <a:defRPr sz="1500" b="0">
                <a:solidFill>
                  <a:srgbClr val="ADBED2"/>
                </a:solidFill>
                <a:latin typeface="Noto Sans CJK KR"/>
              </a:defRPr>
            </a:pPr>
            <a:r>
              <a:t>비용 우선 / 고정 가중치 / CBP</a:t>
            </a:r>
          </a:p>
        </p:txBody>
      </p:sp>
      <p:sp>
        <p:nvSpPr>
          <p:cNvPr id="26" name="TextBox 25"/>
          <p:cNvSpPr txBox="1"/>
          <p:nvPr/>
        </p:nvSpPr>
        <p:spPr>
          <a:xfrm>
            <a:off x="7863840" y="5193792"/>
            <a:ext cx="393192" cy="292608"/>
          </a:xfrm>
          <a:prstGeom prst="rect">
            <a:avLst/>
          </a:prstGeom>
          <a:noFill/>
        </p:spPr>
        <p:txBody>
          <a:bodyPr wrap="square" lIns="0" rIns="0" tIns="0" bIns="0">
            <a:spAutoFit/>
          </a:bodyPr>
          <a:lstStyle/>
          <a:p>
            <a:pPr>
              <a:lnSpc>
                <a:spcPct val="113000"/>
              </a:lnSpc>
              <a:spcAft>
                <a:spcPts val="0"/>
              </a:spcAft>
              <a:defRPr sz="1500" b="1">
                <a:solidFill>
                  <a:srgbClr val="54DFC0"/>
                </a:solidFill>
                <a:latin typeface="Noto Sans CJK KR"/>
              </a:defRPr>
            </a:pPr>
            <a:r>
              <a:t>03</a:t>
            </a:r>
          </a:p>
        </p:txBody>
      </p:sp>
      <p:sp>
        <p:nvSpPr>
          <p:cNvPr id="27" name="TextBox 26"/>
          <p:cNvSpPr txBox="1"/>
          <p:nvPr/>
        </p:nvSpPr>
        <p:spPr>
          <a:xfrm>
            <a:off x="8421624" y="5175504"/>
            <a:ext cx="5422392" cy="36576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네 지표를 함께 확인</a:t>
            </a:r>
          </a:p>
        </p:txBody>
      </p:sp>
      <p:sp>
        <p:nvSpPr>
          <p:cNvPr id="28" name="TextBox 27"/>
          <p:cNvSpPr txBox="1"/>
          <p:nvPr/>
        </p:nvSpPr>
        <p:spPr>
          <a:xfrm>
            <a:off x="8430768" y="5632704"/>
            <a:ext cx="5404104" cy="310896"/>
          </a:xfrm>
          <a:prstGeom prst="rect">
            <a:avLst/>
          </a:prstGeom>
          <a:noFill/>
        </p:spPr>
        <p:txBody>
          <a:bodyPr wrap="square" lIns="0" rIns="0" tIns="0" bIns="0">
            <a:spAutoFit/>
          </a:bodyPr>
          <a:lstStyle/>
          <a:p>
            <a:pPr>
              <a:lnSpc>
                <a:spcPct val="113000"/>
              </a:lnSpc>
              <a:spcAft>
                <a:spcPts val="0"/>
              </a:spcAft>
              <a:defRPr sz="1500" b="0">
                <a:solidFill>
                  <a:srgbClr val="ADBED2"/>
                </a:solidFill>
                <a:latin typeface="Noto Sans CJK KR"/>
              </a:defRPr>
            </a:pPr>
            <a:r>
              <a:t>총비용 · 실제 배출 · 정시 공급 · 예산 초과</a:t>
            </a:r>
          </a:p>
        </p:txBody>
      </p:sp>
      <p:sp>
        <p:nvSpPr>
          <p:cNvPr id="29" name="Rectangle 28"/>
          <p:cNvSpPr/>
          <p:nvPr/>
        </p:nvSpPr>
        <p:spPr>
          <a:xfrm>
            <a:off x="731520" y="6419088"/>
            <a:ext cx="73152" cy="621792"/>
          </a:xfrm>
          <a:prstGeom prst="rect">
            <a:avLst/>
          </a:prstGeom>
          <a:solidFill>
            <a:srgbClr val="54DFC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05840" y="6428232"/>
            <a:ext cx="12920472" cy="557784"/>
          </a:xfrm>
          <a:prstGeom prst="rect">
            <a:avLst/>
          </a:prstGeom>
          <a:noFill/>
        </p:spPr>
        <p:txBody>
          <a:bodyPr wrap="square" lIns="0" rIns="0" tIns="0" bIns="0">
            <a:spAutoFit/>
          </a:bodyPr>
          <a:lstStyle/>
          <a:p>
            <a:pPr>
              <a:lnSpc>
                <a:spcPct val="113000"/>
              </a:lnSpc>
              <a:spcAft>
                <a:spcPts val="0"/>
              </a:spcAft>
              <a:defRPr sz="2700" b="1">
                <a:solidFill>
                  <a:srgbClr val="FFFFFF"/>
                </a:solidFill>
                <a:latin typeface="Noto Sans CJK KR"/>
              </a:defRPr>
            </a:pPr>
            <a:r>
              <a:t>탄소를 보고하는 숫자에서, 다음 파렛트 이동을 바꾸는 신호로.</a:t>
            </a:r>
          </a:p>
        </p:txBody>
      </p:sp>
      <p:sp>
        <p:nvSpPr>
          <p:cNvPr id="31" name="TextBox 30"/>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개념시연용 프로토타입이며 실제 배차 연동·현장 효과는 미검증. 경계값·가중치와 남은 기간·수요 반영은 실증에서 조정합니다.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 탄소예산이 바꾸는 파렛트 재배치</dc:title>
  <dc:subject>제13회 ULS 창의성 공모전 본선 · 원안 기반 4분 발표</dc:subject>
  <dc:creator>두런두런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
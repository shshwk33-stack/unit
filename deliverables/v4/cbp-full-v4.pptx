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문제와 제안</a:t>
            </a:r>
          </a:p>
          <a:p/>
          <a:p>
            <a:r>
              <a:t>안녕하십니까. 두런두런의 CBP, 탄소예산이 바꾸는 파렛트 재배치를 제안합니다. 같은 파렛트 천 매를 보내더라도 비용이 낮은 안과 배출이 적은 안은 다를 수 있습니다. 그렇다면 이번 기간의 탄소예산을 얼마나 썼는지도 다음 선택에 반영할 수 있지 않을까요? CBP는 이 상태에 맞춰 재배치 기준을 바꿉니다.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의사결정 순환</a:t>
            </a:r>
          </a:p>
          <a:p/>
          <a:p>
            <a:r>
              <a:t>먼저 기간 예산 대비 누적 배출로 사용률을 구합니다. 만 킬로그램 중 팔천이백을 썼다면 팔십이 퍼센트입니다. 이 사용률에 따라 운영 모드를 바꾸고, 비용과 탄소에 주는 비중을 조정합니다. 여기서 중요한 순서가 있습니다. 수량과 도착 기한, 호환 규격과 적재, 비용과 탄소 한도를 먼저 검사합니다. 통과한 안끼리 점수를 비교하고, 실행 뒤 실제 배출을 반영합니다. 조건을 만족하는 안이 없으면 담당자 판단을 요청합니다.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하나의 계산 사례</a:t>
            </a:r>
          </a:p>
          <a:p/>
          <a:p>
            <a:r>
              <a:t>가상 사례입니다. 모두 천 매를 여덟 시간 안에 보낼 수 있습니다. A는 백만 원에 배출 사백 킬로그램, B는 백십만 원에 이백육십, C는 백사십만 원에 이백입니다. 사용률 팔십이 퍼센트의 탄소 모드에서는 비용 이십, 탄소 육십, 시간 여유 이십의 비중을 적용합니다. 계산하면 C가 가장 높습니다. 하지만 C는 A보다 사십만 원 비쌉니다. 그래서 비용 한도도 함께 둡니다. 한도가 백이십만 원이라면 C를 제외하고 B를 추천합니다. 이 수치는 성과가 아니라 선택 원리를 설명하는 가정입니다.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고정 기준과 상태 연동</a:t>
            </a:r>
          </a:p>
          <a:p/>
          <a:p>
            <a:r>
              <a:t>같은 세 후보를 유지하고 예산 상태만 바꿔 보겠습니다. 비용 중심 기준은 A를, 고정 가중치는 B를 계속 선택합니다. 반면 CBP는 사용률에 따라 A에서 B, C로 선택을 바꿉니다. 제안의 초점은 비용과 탄소를 함께 계산한다는 사실보다, 기간 예산 상태를 다음 이동의 기준에 연결한다는 데 있습니다. 이 표는 비교 기준을 명시한 개념 실험입니다. 특정 기업의 운영 방식을 단정하거나 기존 기술보다 우수하다고 증명한 결과는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구현과 실증</a:t>
            </a:r>
          </a:p>
          <a:p/>
          <a:p>
            <a:r>
              <a:t>추천 계산기는 만들었습니다. 사용률과 비용 한도를 바꾸면 추천이 달라지고, 지연되거나 조건을 넘는 안은 제외됩니다. 현장 적용은 동일 풀링사의 호환 파렛트부터 시작하겠습니다. 같은 요청과 정보로 비용 중심 방식, 고정 가중치 방식, CBP를 비교하고, 총비용과 실제 배출, 정시 공급, 기간말 예산 초과를 함께 보겠습니다. 가중치와 경계값, 남은 기간과 수요는 실제 자료로 조정해야 합니다. 탄소를 보고하는 숫자에서, 다음 파렛트 이동을 바꾸는 신호로. 감사합니다.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cbp_model.py에 공급, 적재량, 호환, 적재안전, 기한, 비용, 잔여예산 조건을 구현했다. 비용·배출·시간의 단위는 각각 만원·kgCO2e·시간. 현재는 주어진 후보의 추천 계산이며 실제 재고 검증이나 배차 실행이 아니다.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C의 Carbon 점수=0.2×0+0.6×1+0.2×0.625=0.725. Cost에서A=.75, Balanced에서B=.685, Emergency에서C=.8625. 모든 숫자는 합성 입력이며 model_results.json과 scenario.csv에서 재현할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비용 한도120으로 C가 제외되면 A와 B끼리 재정규화한다. B=(0,1,.5), Carbon RPS=.7이다. 원래 세 후보에서 B의 점수.67과 구분한다. 실제 배출오차 때문에 탄소예산 준수는 보장하지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한계를 숨기지 않는다. 기말 예상 배출 기반 보조경보 또는 수요 대비 예산 사용 속도 지표를 검토하되, 데이터 없는 정교한 예측을 이미 구현했다고 주장하지 않는다. 임계값·가중치 민감도는 실제 요청 재생에서 평가한다.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고정가중치는0.5,0.3,0.2를 하나의 대조군으로 두되, 다른 고정가중치와도 비교해야 한다. 파라미터 튜닝 자료와 최종 평가 자료를 분리하여 과적합을 줄인다. 가상 후보를 실제 견적·운행·배출자료로 대체하기 전 성과율을 발표하지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외부 연구 접근은 Crossref/OpenAlex/Semantic Scholar/arXiv/KPCA/검색사이트에서 403 차단을 확인했다. 확인하지 않은 연구를 관련연구 표로 만들거나 신규성 입증이라고 말하지 않는다. 연구 접근에 필요한 환경설정 초안은 별도로 저장했다.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D31"/>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54DFC0"/>
                </a:solidFill>
                <a:latin typeface="Noto Sans CJK KR"/>
              </a:defRPr>
            </a:pPr>
            <a:r>
              <a:t>CBP  /  DECISION DESIGN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ADBED2"/>
                </a:solidFill>
                <a:latin typeface="Noto Sans CJK KR"/>
              </a:defRPr>
            </a:pPr>
            <a:r>
              <a:t>01 / PROBLEM &amp; PROPOSAL</a:t>
            </a:r>
          </a:p>
        </p:txBody>
      </p:sp>
      <p:cxnSp>
        <p:nvCxnSpPr>
          <p:cNvPr id="4" name="Connector 3"/>
          <p:cNvCxnSpPr/>
          <p:nvPr/>
        </p:nvCxnSpPr>
        <p:spPr>
          <a:xfrm>
            <a:off x="621792" y="7717536"/>
            <a:ext cx="13386816" cy="0"/>
          </a:xfrm>
          <a:prstGeom prst="line">
            <a:avLst/>
          </a:prstGeom>
          <a:ln w="12700">
            <a:solidFill>
              <a:srgbClr val="32465F"/>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ADBED2"/>
                </a:solidFill>
                <a:latin typeface="Noto Sans CJK KR"/>
              </a:defRPr>
            </a:pPr>
            <a:r>
              <a:t>두런두런  ·  제13회 유닛로드시스템(ULS) 창의성 공모전</a:t>
            </a:r>
          </a:p>
        </p:txBody>
      </p:sp>
      <p:sp>
        <p:nvSpPr>
          <p:cNvPr id="6" name="TextBox 5"/>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54DFC0"/>
                </a:solidFill>
                <a:latin typeface="Noto Sans CJK KR"/>
              </a:defRPr>
            </a:pPr>
            <a:r>
              <a:t>01</a:t>
            </a:r>
          </a:p>
        </p:txBody>
      </p:sp>
      <p:sp>
        <p:nvSpPr>
          <p:cNvPr id="7" name="TextBox 6"/>
          <p:cNvSpPr txBox="1"/>
          <p:nvPr/>
        </p:nvSpPr>
        <p:spPr>
          <a:xfrm>
            <a:off x="658368" y="1124712"/>
            <a:ext cx="7616952" cy="1965960"/>
          </a:xfrm>
          <a:prstGeom prst="rect">
            <a:avLst/>
          </a:prstGeom>
          <a:noFill/>
        </p:spPr>
        <p:txBody>
          <a:bodyPr wrap="square" lIns="0" rIns="0" tIns="0" bIns="0">
            <a:spAutoFit/>
          </a:bodyPr>
          <a:lstStyle/>
          <a:p>
            <a:pPr>
              <a:lnSpc>
                <a:spcPct val="113000"/>
              </a:lnSpc>
              <a:spcAft>
                <a:spcPts val="0"/>
              </a:spcAft>
              <a:defRPr sz="4700" b="1">
                <a:solidFill>
                  <a:srgbClr val="FFFFFF"/>
                </a:solidFill>
                <a:latin typeface="Noto Sans CJK KR"/>
              </a:defRPr>
            </a:pPr>
            <a:r>
              <a:t>탄소예산이 바꾸는</a:t>
            </a:r>
          </a:p>
          <a:p>
            <a:pPr>
              <a:lnSpc>
                <a:spcPct val="113000"/>
              </a:lnSpc>
              <a:spcAft>
                <a:spcPts val="0"/>
              </a:spcAft>
              <a:defRPr sz="4700" b="1">
                <a:solidFill>
                  <a:srgbClr val="FFFFFF"/>
                </a:solidFill>
                <a:latin typeface="Noto Sans CJK KR"/>
              </a:defRPr>
            </a:pPr>
            <a:r>
              <a:t>파렛트 재배치</a:t>
            </a:r>
          </a:p>
        </p:txBody>
      </p:sp>
      <p:sp>
        <p:nvSpPr>
          <p:cNvPr id="8" name="TextBox 7"/>
          <p:cNvSpPr txBox="1"/>
          <p:nvPr/>
        </p:nvSpPr>
        <p:spPr>
          <a:xfrm>
            <a:off x="704088" y="3483864"/>
            <a:ext cx="6199632" cy="475488"/>
          </a:xfrm>
          <a:prstGeom prst="rect">
            <a:avLst/>
          </a:prstGeom>
          <a:noFill/>
        </p:spPr>
        <p:txBody>
          <a:bodyPr wrap="square" lIns="0" rIns="0" tIns="0" bIns="0">
            <a:spAutoFit/>
          </a:bodyPr>
          <a:lstStyle/>
          <a:p>
            <a:pPr>
              <a:lnSpc>
                <a:spcPct val="113000"/>
              </a:lnSpc>
              <a:spcAft>
                <a:spcPts val="0"/>
              </a:spcAft>
              <a:defRPr sz="2400" b="1">
                <a:solidFill>
                  <a:srgbClr val="54DFC0"/>
                </a:solidFill>
                <a:latin typeface="Noto Sans CJK KR"/>
              </a:defRPr>
            </a:pPr>
            <a:r>
              <a:t>Carbon Budget Pooling</a:t>
            </a:r>
          </a:p>
        </p:txBody>
      </p:sp>
      <p:sp>
        <p:nvSpPr>
          <p:cNvPr id="9" name="TextBox 8"/>
          <p:cNvSpPr txBox="1"/>
          <p:nvPr/>
        </p:nvSpPr>
        <p:spPr>
          <a:xfrm>
            <a:off x="713232" y="4242816"/>
            <a:ext cx="6080760" cy="1115568"/>
          </a:xfrm>
          <a:prstGeom prst="rect">
            <a:avLst/>
          </a:prstGeom>
          <a:noFill/>
        </p:spPr>
        <p:txBody>
          <a:bodyPr wrap="square" lIns="0" rIns="0" tIns="0" bIns="0">
            <a:spAutoFit/>
          </a:bodyPr>
          <a:lstStyle/>
          <a:p>
            <a:pPr>
              <a:lnSpc>
                <a:spcPct val="113000"/>
              </a:lnSpc>
              <a:spcAft>
                <a:spcPts val="0"/>
              </a:spcAft>
              <a:defRPr sz="2300" b="0">
                <a:solidFill>
                  <a:srgbClr val="ADBED2"/>
                </a:solidFill>
                <a:latin typeface="Noto Sans CJK KR"/>
              </a:defRPr>
            </a:pPr>
            <a:r>
              <a:t>같은 공급 요청에도,</a:t>
            </a:r>
          </a:p>
          <a:p>
            <a:pPr>
              <a:lnSpc>
                <a:spcPct val="113000"/>
              </a:lnSpc>
              <a:spcAft>
                <a:spcPts val="0"/>
              </a:spcAft>
              <a:defRPr sz="2300" b="0">
                <a:solidFill>
                  <a:srgbClr val="ADBED2"/>
                </a:solidFill>
                <a:latin typeface="Noto Sans CJK KR"/>
              </a:defRPr>
            </a:pPr>
            <a:r>
              <a:t>예산 상태에 맞춰 선택 기준을 바꿉니다.</a:t>
            </a:r>
          </a:p>
        </p:txBody>
      </p:sp>
      <p:cxnSp>
        <p:nvCxnSpPr>
          <p:cNvPr id="10" name="Connector 9"/>
          <p:cNvCxnSpPr/>
          <p:nvPr/>
        </p:nvCxnSpPr>
        <p:spPr>
          <a:xfrm>
            <a:off x="722376" y="5943600"/>
            <a:ext cx="5568696" cy="0"/>
          </a:xfrm>
          <a:prstGeom prst="line">
            <a:avLst/>
          </a:prstGeom>
          <a:ln w="12700">
            <a:solidFill>
              <a:srgbClr val="38506B"/>
            </a:solidFill>
          </a:ln>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731520" y="6254496"/>
            <a:ext cx="5888736" cy="310896"/>
          </a:xfrm>
          <a:prstGeom prst="rect">
            <a:avLst/>
          </a:prstGeom>
          <a:noFill/>
        </p:spPr>
        <p:txBody>
          <a:bodyPr wrap="square" lIns="0" rIns="0" tIns="0" bIns="0">
            <a:spAutoFit/>
          </a:bodyPr>
          <a:lstStyle/>
          <a:p>
            <a:pPr>
              <a:lnSpc>
                <a:spcPct val="113000"/>
              </a:lnSpc>
              <a:spcAft>
                <a:spcPts val="0"/>
              </a:spcAft>
              <a:defRPr sz="1300" b="1">
                <a:solidFill>
                  <a:srgbClr val="54DFC0"/>
                </a:solidFill>
                <a:latin typeface="Noto Sans CJK KR"/>
              </a:defRPr>
            </a:pPr>
            <a:r>
              <a:t>하나의 운영 질문</a:t>
            </a:r>
          </a:p>
        </p:txBody>
      </p:sp>
      <p:sp>
        <p:nvSpPr>
          <p:cNvPr id="12" name="TextBox 11"/>
          <p:cNvSpPr txBox="1"/>
          <p:nvPr/>
        </p:nvSpPr>
        <p:spPr>
          <a:xfrm>
            <a:off x="731520" y="6675120"/>
            <a:ext cx="6053328" cy="484632"/>
          </a:xfrm>
          <a:prstGeom prst="rect">
            <a:avLst/>
          </a:prstGeom>
          <a:noFill/>
        </p:spPr>
        <p:txBody>
          <a:bodyPr wrap="square" lIns="0" rIns="0" tIns="0" bIns="0">
            <a:spAutoFit/>
          </a:bodyPr>
          <a:lstStyle/>
          <a:p>
            <a:pPr>
              <a:lnSpc>
                <a:spcPct val="113000"/>
              </a:lnSpc>
              <a:spcAft>
                <a:spcPts val="0"/>
              </a:spcAft>
              <a:defRPr sz="2300" b="1">
                <a:solidFill>
                  <a:srgbClr val="FFFFFF"/>
                </a:solidFill>
                <a:latin typeface="Noto Sans CJK KR"/>
              </a:defRPr>
            </a:pPr>
            <a:r>
              <a:t>“지금도 가장 싼 안을 고르는 게 맞을까?”</a:t>
            </a:r>
          </a:p>
        </p:txBody>
      </p:sp>
      <p:sp>
        <p:nvSpPr>
          <p:cNvPr id="13" name="Oval 12"/>
          <p:cNvSpPr/>
          <p:nvPr/>
        </p:nvSpPr>
        <p:spPr>
          <a:xfrm>
            <a:off x="8247888" y="3474720"/>
            <a:ext cx="164592" cy="164592"/>
          </a:xfrm>
          <a:prstGeom prst="ellipse">
            <a:avLst/>
          </a:prstGeom>
          <a:solidFill>
            <a:srgbClr val="69879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 name="Connector 13"/>
          <p:cNvCxnSpPr/>
          <p:nvPr/>
        </p:nvCxnSpPr>
        <p:spPr>
          <a:xfrm>
            <a:off x="8330183" y="3557015"/>
            <a:ext cx="2788921" cy="1591057"/>
          </a:xfrm>
          <a:prstGeom prst="line">
            <a:avLst/>
          </a:prstGeom>
          <a:ln w="20320">
            <a:solidFill>
              <a:srgbClr val="344D67"/>
            </a:solidFill>
          </a:ln>
        </p:spPr>
        <p:style>
          <a:lnRef idx="2">
            <a:schemeClr val="accent1"/>
          </a:lnRef>
          <a:fillRef idx="0">
            <a:schemeClr val="accent1"/>
          </a:fillRef>
          <a:effectRef idx="0">
            <a:schemeClr val="accent1"/>
          </a:effectRef>
          <a:fontRef idx="minor">
            <a:schemeClr val="tx1"/>
          </a:fontRef>
        </p:style>
      </p:cxnSp>
      <p:sp>
        <p:nvSpPr>
          <p:cNvPr id="15" name="Oval 14"/>
          <p:cNvSpPr/>
          <p:nvPr/>
        </p:nvSpPr>
        <p:spPr>
          <a:xfrm>
            <a:off x="13350240" y="3474720"/>
            <a:ext cx="164592" cy="164592"/>
          </a:xfrm>
          <a:prstGeom prst="ellipse">
            <a:avLst/>
          </a:prstGeom>
          <a:solidFill>
            <a:srgbClr val="69879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6" name="Connector 15"/>
          <p:cNvCxnSpPr/>
          <p:nvPr/>
        </p:nvCxnSpPr>
        <p:spPr>
          <a:xfrm flipH="1">
            <a:off x="11119104" y="3557015"/>
            <a:ext cx="2313432" cy="1591057"/>
          </a:xfrm>
          <a:prstGeom prst="line">
            <a:avLst/>
          </a:prstGeom>
          <a:ln w="20320">
            <a:solidFill>
              <a:srgbClr val="344D67"/>
            </a:solidFill>
          </a:ln>
        </p:spPr>
        <p:style>
          <a:lnRef idx="2">
            <a:schemeClr val="accent1"/>
          </a:lnRef>
          <a:fillRef idx="0">
            <a:schemeClr val="accent1"/>
          </a:fillRef>
          <a:effectRef idx="0">
            <a:schemeClr val="accent1"/>
          </a:effectRef>
          <a:fontRef idx="minor">
            <a:schemeClr val="tx1"/>
          </a:fontRef>
        </p:style>
      </p:cxnSp>
      <p:sp>
        <p:nvSpPr>
          <p:cNvPr id="17" name="Oval 16"/>
          <p:cNvSpPr/>
          <p:nvPr/>
        </p:nvSpPr>
        <p:spPr>
          <a:xfrm>
            <a:off x="8531352" y="6172200"/>
            <a:ext cx="164592" cy="164592"/>
          </a:xfrm>
          <a:prstGeom prst="ellipse">
            <a:avLst/>
          </a:prstGeom>
          <a:solidFill>
            <a:srgbClr val="69879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17"/>
          <p:cNvCxnSpPr/>
          <p:nvPr/>
        </p:nvCxnSpPr>
        <p:spPr>
          <a:xfrm flipV="1">
            <a:off x="8613648" y="5148072"/>
            <a:ext cx="2505456" cy="1106424"/>
          </a:xfrm>
          <a:prstGeom prst="line">
            <a:avLst/>
          </a:prstGeom>
          <a:ln w="20320">
            <a:solidFill>
              <a:srgbClr val="344D67"/>
            </a:solidFill>
          </a:ln>
        </p:spPr>
        <p:style>
          <a:lnRef idx="2">
            <a:schemeClr val="accent1"/>
          </a:lnRef>
          <a:fillRef idx="0">
            <a:schemeClr val="accent1"/>
          </a:fillRef>
          <a:effectRef idx="0">
            <a:schemeClr val="accent1"/>
          </a:effectRef>
          <a:fontRef idx="minor">
            <a:schemeClr val="tx1"/>
          </a:fontRef>
        </p:style>
      </p:cxnSp>
      <p:sp>
        <p:nvSpPr>
          <p:cNvPr id="19" name="Oval 18"/>
          <p:cNvSpPr/>
          <p:nvPr/>
        </p:nvSpPr>
        <p:spPr>
          <a:xfrm>
            <a:off x="13441680" y="6172200"/>
            <a:ext cx="164592" cy="164592"/>
          </a:xfrm>
          <a:prstGeom prst="ellipse">
            <a:avLst/>
          </a:prstGeom>
          <a:solidFill>
            <a:srgbClr val="69879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0" name="Connector 19"/>
          <p:cNvCxnSpPr/>
          <p:nvPr/>
        </p:nvCxnSpPr>
        <p:spPr>
          <a:xfrm flipH="1" flipV="1">
            <a:off x="11119104" y="5148072"/>
            <a:ext cx="2404872" cy="1106424"/>
          </a:xfrm>
          <a:prstGeom prst="line">
            <a:avLst/>
          </a:prstGeom>
          <a:ln w="20320">
            <a:solidFill>
              <a:srgbClr val="344D67"/>
            </a:solidFill>
          </a:ln>
        </p:spPr>
        <p:style>
          <a:lnRef idx="2">
            <a:schemeClr val="accent1"/>
          </a:lnRef>
          <a:fillRef idx="0">
            <a:schemeClr val="accent1"/>
          </a:fillRef>
          <a:effectRef idx="0">
            <a:schemeClr val="accent1"/>
          </a:effectRef>
          <a:fontRef idx="minor">
            <a:schemeClr val="tx1"/>
          </a:fontRef>
        </p:style>
      </p:cxnSp>
      <p:sp>
        <p:nvSpPr>
          <p:cNvPr id="21" name="Freeform 20"/>
          <p:cNvSpPr/>
          <p:nvPr/>
        </p:nvSpPr>
        <p:spPr>
          <a:xfrm>
            <a:off x="9079992" y="4281220"/>
            <a:ext cx="2383840" cy="1186892"/>
          </a:xfrm>
          <a:custGeom>
            <a:avLst/>
            <a:gdLst/>
            <a:ahLst/>
            <a:cxnLst/>
            <a:rect l="l" t="t" r="r" b="b"/>
            <a:pathLst>
              <a:path w="2383840" h="1186892">
                <a:moveTo>
                  <a:pt x="0" y="985724"/>
                </a:moveTo>
                <a:lnTo>
                  <a:pt x="1991563" y="0"/>
                </a:lnTo>
                <a:lnTo>
                  <a:pt x="2383840" y="191110"/>
                </a:lnTo>
                <a:lnTo>
                  <a:pt x="392277" y="1186892"/>
                </a:lnTo>
                <a:close/>
              </a:path>
            </a:pathLst>
          </a:custGeom>
          <a:solidFill>
            <a:srgbClr val="A5EEE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Freeform 21"/>
          <p:cNvSpPr/>
          <p:nvPr/>
        </p:nvSpPr>
        <p:spPr>
          <a:xfrm>
            <a:off x="9079992" y="5266944"/>
            <a:ext cx="392277" cy="382219"/>
          </a:xfrm>
          <a:custGeom>
            <a:avLst/>
            <a:gdLst/>
            <a:ahLst/>
            <a:cxnLst/>
            <a:rect l="l" t="t" r="r" b="b"/>
            <a:pathLst>
              <a:path w="392277" h="382219">
                <a:moveTo>
                  <a:pt x="0" y="0"/>
                </a:moveTo>
                <a:lnTo>
                  <a:pt x="392277" y="201168"/>
                </a:lnTo>
                <a:lnTo>
                  <a:pt x="392277" y="382219"/>
                </a:lnTo>
                <a:lnTo>
                  <a:pt x="0" y="181051"/>
                </a:lnTo>
                <a:close/>
              </a:path>
            </a:pathLst>
          </a:custGeom>
          <a:solidFill>
            <a:srgbClr val="43A99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Freeform 22"/>
          <p:cNvSpPr/>
          <p:nvPr/>
        </p:nvSpPr>
        <p:spPr>
          <a:xfrm>
            <a:off x="9472269" y="4472330"/>
            <a:ext cx="1991563" cy="1176833"/>
          </a:xfrm>
          <a:custGeom>
            <a:avLst/>
            <a:gdLst/>
            <a:ahLst/>
            <a:cxnLst/>
            <a:rect l="l" t="t" r="r" b="b"/>
            <a:pathLst>
              <a:path w="1991563" h="1176833">
                <a:moveTo>
                  <a:pt x="0" y="995782"/>
                </a:moveTo>
                <a:lnTo>
                  <a:pt x="1991563" y="0"/>
                </a:lnTo>
                <a:lnTo>
                  <a:pt x="1991563" y="181051"/>
                </a:lnTo>
                <a:lnTo>
                  <a:pt x="0" y="1176833"/>
                </a:lnTo>
                <a:close/>
              </a:path>
            </a:pathLst>
          </a:custGeom>
          <a:solidFill>
            <a:srgbClr val="72CBB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Freeform 23"/>
          <p:cNvSpPr/>
          <p:nvPr/>
        </p:nvSpPr>
        <p:spPr>
          <a:xfrm>
            <a:off x="9763963" y="4623206"/>
            <a:ext cx="2383841" cy="1186891"/>
          </a:xfrm>
          <a:custGeom>
            <a:avLst/>
            <a:gdLst/>
            <a:ahLst/>
            <a:cxnLst/>
            <a:rect l="l" t="t" r="r" b="b"/>
            <a:pathLst>
              <a:path w="2383841" h="1186891">
                <a:moveTo>
                  <a:pt x="0" y="985723"/>
                </a:moveTo>
                <a:lnTo>
                  <a:pt x="1991563" y="0"/>
                </a:lnTo>
                <a:lnTo>
                  <a:pt x="2383841" y="191110"/>
                </a:lnTo>
                <a:lnTo>
                  <a:pt x="392277" y="1186891"/>
                </a:lnTo>
                <a:close/>
              </a:path>
            </a:pathLst>
          </a:custGeom>
          <a:solidFill>
            <a:srgbClr val="A5EEE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Freeform 24"/>
          <p:cNvSpPr/>
          <p:nvPr/>
        </p:nvSpPr>
        <p:spPr>
          <a:xfrm>
            <a:off x="9763963" y="5608929"/>
            <a:ext cx="392277" cy="382219"/>
          </a:xfrm>
          <a:custGeom>
            <a:avLst/>
            <a:gdLst/>
            <a:ahLst/>
            <a:cxnLst/>
            <a:rect l="l" t="t" r="r" b="b"/>
            <a:pathLst>
              <a:path w="392277" h="382219">
                <a:moveTo>
                  <a:pt x="0" y="0"/>
                </a:moveTo>
                <a:lnTo>
                  <a:pt x="392277" y="201168"/>
                </a:lnTo>
                <a:lnTo>
                  <a:pt x="392277" y="382219"/>
                </a:lnTo>
                <a:lnTo>
                  <a:pt x="0" y="181051"/>
                </a:lnTo>
                <a:close/>
              </a:path>
            </a:pathLst>
          </a:custGeom>
          <a:solidFill>
            <a:srgbClr val="43A99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Freeform 25"/>
          <p:cNvSpPr/>
          <p:nvPr/>
        </p:nvSpPr>
        <p:spPr>
          <a:xfrm>
            <a:off x="10156240" y="4814316"/>
            <a:ext cx="1991564" cy="1176832"/>
          </a:xfrm>
          <a:custGeom>
            <a:avLst/>
            <a:gdLst/>
            <a:ahLst/>
            <a:cxnLst/>
            <a:rect l="l" t="t" r="r" b="b"/>
            <a:pathLst>
              <a:path w="1991564" h="1176832">
                <a:moveTo>
                  <a:pt x="0" y="995781"/>
                </a:moveTo>
                <a:lnTo>
                  <a:pt x="1991564" y="0"/>
                </a:lnTo>
                <a:lnTo>
                  <a:pt x="1991564" y="181051"/>
                </a:lnTo>
                <a:lnTo>
                  <a:pt x="0" y="1176832"/>
                </a:lnTo>
                <a:close/>
              </a:path>
            </a:pathLst>
          </a:custGeom>
          <a:solidFill>
            <a:srgbClr val="72CBB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Freeform 26"/>
          <p:cNvSpPr/>
          <p:nvPr/>
        </p:nvSpPr>
        <p:spPr>
          <a:xfrm>
            <a:off x="10447934" y="4965192"/>
            <a:ext cx="2383841" cy="1186891"/>
          </a:xfrm>
          <a:custGeom>
            <a:avLst/>
            <a:gdLst/>
            <a:ahLst/>
            <a:cxnLst/>
            <a:rect l="l" t="t" r="r" b="b"/>
            <a:pathLst>
              <a:path w="2383841" h="1186891">
                <a:moveTo>
                  <a:pt x="0" y="985723"/>
                </a:moveTo>
                <a:lnTo>
                  <a:pt x="1991563" y="0"/>
                </a:lnTo>
                <a:lnTo>
                  <a:pt x="2383841" y="191109"/>
                </a:lnTo>
                <a:lnTo>
                  <a:pt x="392278" y="1186891"/>
                </a:lnTo>
                <a:close/>
              </a:path>
            </a:pathLst>
          </a:custGeom>
          <a:solidFill>
            <a:srgbClr val="A5EEE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Freeform 27"/>
          <p:cNvSpPr/>
          <p:nvPr/>
        </p:nvSpPr>
        <p:spPr>
          <a:xfrm>
            <a:off x="10447934" y="5950915"/>
            <a:ext cx="392278" cy="382219"/>
          </a:xfrm>
          <a:custGeom>
            <a:avLst/>
            <a:gdLst/>
            <a:ahLst/>
            <a:cxnLst/>
            <a:rect l="l" t="t" r="r" b="b"/>
            <a:pathLst>
              <a:path w="392278" h="382219">
                <a:moveTo>
                  <a:pt x="0" y="0"/>
                </a:moveTo>
                <a:lnTo>
                  <a:pt x="392278" y="201168"/>
                </a:lnTo>
                <a:lnTo>
                  <a:pt x="392278" y="382219"/>
                </a:lnTo>
                <a:lnTo>
                  <a:pt x="0" y="181051"/>
                </a:lnTo>
                <a:close/>
              </a:path>
            </a:pathLst>
          </a:custGeom>
          <a:solidFill>
            <a:srgbClr val="43A99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Freeform 28"/>
          <p:cNvSpPr/>
          <p:nvPr/>
        </p:nvSpPr>
        <p:spPr>
          <a:xfrm>
            <a:off x="10840212" y="5156301"/>
            <a:ext cx="1991563" cy="1176833"/>
          </a:xfrm>
          <a:custGeom>
            <a:avLst/>
            <a:gdLst/>
            <a:ahLst/>
            <a:cxnLst/>
            <a:rect l="l" t="t" r="r" b="b"/>
            <a:pathLst>
              <a:path w="1991563" h="1176833">
                <a:moveTo>
                  <a:pt x="0" y="995782"/>
                </a:moveTo>
                <a:lnTo>
                  <a:pt x="1991563" y="0"/>
                </a:lnTo>
                <a:lnTo>
                  <a:pt x="1991563" y="181051"/>
                </a:lnTo>
                <a:lnTo>
                  <a:pt x="0" y="1176833"/>
                </a:lnTo>
                <a:close/>
              </a:path>
            </a:pathLst>
          </a:custGeom>
          <a:solidFill>
            <a:srgbClr val="72CBB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Freeform 29"/>
          <p:cNvSpPr/>
          <p:nvPr/>
        </p:nvSpPr>
        <p:spPr>
          <a:xfrm>
            <a:off x="9281160" y="5689396"/>
            <a:ext cx="251460" cy="472745"/>
          </a:xfrm>
          <a:custGeom>
            <a:avLst/>
            <a:gdLst/>
            <a:ahLst/>
            <a:cxnLst/>
            <a:rect l="l" t="t" r="r" b="b"/>
            <a:pathLst>
              <a:path w="251460" h="472745">
                <a:moveTo>
                  <a:pt x="0" y="0"/>
                </a:moveTo>
                <a:lnTo>
                  <a:pt x="251460" y="120701"/>
                </a:lnTo>
                <a:lnTo>
                  <a:pt x="251460" y="472745"/>
                </a:lnTo>
                <a:lnTo>
                  <a:pt x="0" y="352044"/>
                </a:lnTo>
                <a:close/>
              </a:path>
            </a:pathLst>
          </a:custGeom>
          <a:solidFill>
            <a:srgbClr val="2E8B7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Freeform 30"/>
          <p:cNvSpPr/>
          <p:nvPr/>
        </p:nvSpPr>
        <p:spPr>
          <a:xfrm>
            <a:off x="9965131" y="6031382"/>
            <a:ext cx="251460" cy="472745"/>
          </a:xfrm>
          <a:custGeom>
            <a:avLst/>
            <a:gdLst/>
            <a:ahLst/>
            <a:cxnLst/>
            <a:rect l="l" t="t" r="r" b="b"/>
            <a:pathLst>
              <a:path w="251460" h="472745">
                <a:moveTo>
                  <a:pt x="0" y="0"/>
                </a:moveTo>
                <a:lnTo>
                  <a:pt x="251460" y="120701"/>
                </a:lnTo>
                <a:lnTo>
                  <a:pt x="251460" y="472745"/>
                </a:lnTo>
                <a:lnTo>
                  <a:pt x="0" y="352044"/>
                </a:lnTo>
                <a:close/>
              </a:path>
            </a:pathLst>
          </a:custGeom>
          <a:solidFill>
            <a:srgbClr val="2E8B7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Freeform 31"/>
          <p:cNvSpPr/>
          <p:nvPr/>
        </p:nvSpPr>
        <p:spPr>
          <a:xfrm>
            <a:off x="10649102" y="6373368"/>
            <a:ext cx="251460" cy="472744"/>
          </a:xfrm>
          <a:custGeom>
            <a:avLst/>
            <a:gdLst/>
            <a:ahLst/>
            <a:cxnLst/>
            <a:rect l="l" t="t" r="r" b="b"/>
            <a:pathLst>
              <a:path w="251460" h="472744">
                <a:moveTo>
                  <a:pt x="0" y="0"/>
                </a:moveTo>
                <a:lnTo>
                  <a:pt x="251460" y="120700"/>
                </a:lnTo>
                <a:lnTo>
                  <a:pt x="251460" y="472744"/>
                </a:lnTo>
                <a:lnTo>
                  <a:pt x="0" y="352044"/>
                </a:lnTo>
                <a:close/>
              </a:path>
            </a:pathLst>
          </a:custGeom>
          <a:solidFill>
            <a:srgbClr val="2E8B7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3" name="Connector 32"/>
          <p:cNvCxnSpPr/>
          <p:nvPr/>
        </p:nvCxnSpPr>
        <p:spPr>
          <a:xfrm>
            <a:off x="10963656" y="1088135"/>
            <a:ext cx="0" cy="118872"/>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34" name="Connector 33"/>
          <p:cNvCxnSpPr/>
          <p:nvPr/>
        </p:nvCxnSpPr>
        <p:spPr>
          <a:xfrm flipH="1">
            <a:off x="11081698" y="1096499"/>
            <a:ext cx="14899" cy="117935"/>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flipH="1">
            <a:off x="11197880" y="1121459"/>
            <a:ext cx="29562" cy="115138"/>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36" name="Connector 35"/>
          <p:cNvCxnSpPr/>
          <p:nvPr/>
        </p:nvCxnSpPr>
        <p:spPr>
          <a:xfrm flipH="1">
            <a:off x="11310367" y="1162622"/>
            <a:ext cx="43760" cy="110524"/>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37" name="Connector 36"/>
          <p:cNvCxnSpPr/>
          <p:nvPr/>
        </p:nvCxnSpPr>
        <p:spPr>
          <a:xfrm flipH="1">
            <a:off x="11417387" y="1219337"/>
            <a:ext cx="57267" cy="104169"/>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38" name="Connector 37"/>
          <p:cNvCxnSpPr/>
          <p:nvPr/>
        </p:nvCxnSpPr>
        <p:spPr>
          <a:xfrm flipH="1">
            <a:off x="11517250" y="1290712"/>
            <a:ext cx="69872" cy="96169"/>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39" name="Connector 38"/>
          <p:cNvCxnSpPr/>
          <p:nvPr/>
        </p:nvCxnSpPr>
        <p:spPr>
          <a:xfrm flipH="1">
            <a:off x="11608384" y="1375620"/>
            <a:ext cx="81373" cy="86654"/>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40" name="Connector 39"/>
          <p:cNvCxnSpPr/>
          <p:nvPr/>
        </p:nvCxnSpPr>
        <p:spPr>
          <a:xfrm flipH="1">
            <a:off x="11689350" y="1472721"/>
            <a:ext cx="91592" cy="75772"/>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41" name="Connector 40"/>
          <p:cNvCxnSpPr/>
          <p:nvPr/>
        </p:nvCxnSpPr>
        <p:spPr>
          <a:xfrm flipH="1">
            <a:off x="11758871" y="1580486"/>
            <a:ext cx="100367" cy="63695"/>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42" name="Connector 41"/>
          <p:cNvCxnSpPr/>
          <p:nvPr/>
        </p:nvCxnSpPr>
        <p:spPr>
          <a:xfrm flipH="1">
            <a:off x="11815851" y="1697214"/>
            <a:ext cx="107558" cy="50613"/>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43" name="Connector 42"/>
          <p:cNvCxnSpPr/>
          <p:nvPr/>
        </p:nvCxnSpPr>
        <p:spPr>
          <a:xfrm flipH="1">
            <a:off x="11859391" y="1821064"/>
            <a:ext cx="113054" cy="36733"/>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44" name="Connector 43"/>
          <p:cNvCxnSpPr/>
          <p:nvPr/>
        </p:nvCxnSpPr>
        <p:spPr>
          <a:xfrm flipH="1">
            <a:off x="11888805" y="1950083"/>
            <a:ext cx="116767" cy="22275"/>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45" name="Connector 44"/>
          <p:cNvCxnSpPr/>
          <p:nvPr/>
        </p:nvCxnSpPr>
        <p:spPr>
          <a:xfrm flipH="1">
            <a:off x="11903629" y="2082237"/>
            <a:ext cx="118637" cy="7464"/>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46" name="Connector 45"/>
          <p:cNvCxnSpPr/>
          <p:nvPr/>
        </p:nvCxnSpPr>
        <p:spPr>
          <a:xfrm flipH="1" flipV="1">
            <a:off x="11903629" y="2207978"/>
            <a:ext cx="118637" cy="7464"/>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47" name="Connector 46"/>
          <p:cNvCxnSpPr/>
          <p:nvPr/>
        </p:nvCxnSpPr>
        <p:spPr>
          <a:xfrm flipH="1" flipV="1">
            <a:off x="11888805" y="2325321"/>
            <a:ext cx="116767" cy="22275"/>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48" name="Connector 47"/>
          <p:cNvCxnSpPr/>
          <p:nvPr/>
        </p:nvCxnSpPr>
        <p:spPr>
          <a:xfrm flipH="1" flipV="1">
            <a:off x="11859391" y="2439882"/>
            <a:ext cx="113054" cy="36733"/>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49" name="Connector 48"/>
          <p:cNvCxnSpPr/>
          <p:nvPr/>
        </p:nvCxnSpPr>
        <p:spPr>
          <a:xfrm flipH="1" flipV="1">
            <a:off x="11815851" y="2549852"/>
            <a:ext cx="107558" cy="50613"/>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50" name="Connector 49"/>
          <p:cNvCxnSpPr/>
          <p:nvPr/>
        </p:nvCxnSpPr>
        <p:spPr>
          <a:xfrm flipH="1" flipV="1">
            <a:off x="11758871" y="2653498"/>
            <a:ext cx="100367" cy="63695"/>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51" name="Connector 50"/>
          <p:cNvCxnSpPr/>
          <p:nvPr/>
        </p:nvCxnSpPr>
        <p:spPr>
          <a:xfrm flipH="1" flipV="1">
            <a:off x="11689350" y="2749186"/>
            <a:ext cx="91592" cy="75772"/>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52" name="Connector 51"/>
          <p:cNvCxnSpPr/>
          <p:nvPr/>
        </p:nvCxnSpPr>
        <p:spPr>
          <a:xfrm flipH="1" flipV="1">
            <a:off x="11608384" y="2835405"/>
            <a:ext cx="81373" cy="86654"/>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53" name="Connector 52"/>
          <p:cNvCxnSpPr/>
          <p:nvPr/>
        </p:nvCxnSpPr>
        <p:spPr>
          <a:xfrm flipH="1" flipV="1">
            <a:off x="11517250" y="2910798"/>
            <a:ext cx="69872" cy="96169"/>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54" name="Connector 53"/>
          <p:cNvCxnSpPr/>
          <p:nvPr/>
        </p:nvCxnSpPr>
        <p:spPr>
          <a:xfrm flipH="1" flipV="1">
            <a:off x="11417387" y="2974173"/>
            <a:ext cx="57267" cy="104169"/>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55" name="Connector 54"/>
          <p:cNvCxnSpPr/>
          <p:nvPr/>
        </p:nvCxnSpPr>
        <p:spPr>
          <a:xfrm flipH="1" flipV="1">
            <a:off x="11310367" y="3024533"/>
            <a:ext cx="43760" cy="110524"/>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56" name="Connector 55"/>
          <p:cNvCxnSpPr/>
          <p:nvPr/>
        </p:nvCxnSpPr>
        <p:spPr>
          <a:xfrm flipH="1" flipV="1">
            <a:off x="11197880" y="3061082"/>
            <a:ext cx="29562" cy="115138"/>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57" name="Connector 56"/>
          <p:cNvCxnSpPr/>
          <p:nvPr/>
        </p:nvCxnSpPr>
        <p:spPr>
          <a:xfrm flipH="1" flipV="1">
            <a:off x="11081698" y="3083245"/>
            <a:ext cx="14899" cy="117935"/>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58" name="Connector 57"/>
          <p:cNvCxnSpPr/>
          <p:nvPr/>
        </p:nvCxnSpPr>
        <p:spPr>
          <a:xfrm flipV="1">
            <a:off x="10963656" y="3090671"/>
            <a:ext cx="0" cy="118873"/>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59" name="Connector 58"/>
          <p:cNvCxnSpPr/>
          <p:nvPr/>
        </p:nvCxnSpPr>
        <p:spPr>
          <a:xfrm flipV="1">
            <a:off x="10830714" y="3083245"/>
            <a:ext cx="14899" cy="117935"/>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60" name="Connector 59"/>
          <p:cNvCxnSpPr/>
          <p:nvPr/>
        </p:nvCxnSpPr>
        <p:spPr>
          <a:xfrm flipV="1">
            <a:off x="10699869" y="3061082"/>
            <a:ext cx="29562" cy="115138"/>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61" name="Connector 60"/>
          <p:cNvCxnSpPr/>
          <p:nvPr/>
        </p:nvCxnSpPr>
        <p:spPr>
          <a:xfrm flipV="1">
            <a:off x="10573184" y="3024533"/>
            <a:ext cx="43760" cy="110524"/>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62" name="Connector 61"/>
          <p:cNvCxnSpPr/>
          <p:nvPr/>
        </p:nvCxnSpPr>
        <p:spPr>
          <a:xfrm flipV="1">
            <a:off x="10452657" y="2974173"/>
            <a:ext cx="57267" cy="104169"/>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63" name="Connector 62"/>
          <p:cNvCxnSpPr/>
          <p:nvPr/>
        </p:nvCxnSpPr>
        <p:spPr>
          <a:xfrm flipV="1">
            <a:off x="10340189" y="2910798"/>
            <a:ext cx="69872" cy="96169"/>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64" name="Connector 63"/>
          <p:cNvCxnSpPr/>
          <p:nvPr/>
        </p:nvCxnSpPr>
        <p:spPr>
          <a:xfrm flipV="1">
            <a:off x="10237554" y="2835405"/>
            <a:ext cx="81373" cy="86654"/>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65" name="Connector 64"/>
          <p:cNvCxnSpPr/>
          <p:nvPr/>
        </p:nvCxnSpPr>
        <p:spPr>
          <a:xfrm flipV="1">
            <a:off x="10146369" y="2749186"/>
            <a:ext cx="91592" cy="75772"/>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66" name="Connector 65"/>
          <p:cNvCxnSpPr/>
          <p:nvPr/>
        </p:nvCxnSpPr>
        <p:spPr>
          <a:xfrm flipV="1">
            <a:off x="10068073" y="2653498"/>
            <a:ext cx="100367" cy="63695"/>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67" name="Connector 66"/>
          <p:cNvCxnSpPr/>
          <p:nvPr/>
        </p:nvCxnSpPr>
        <p:spPr>
          <a:xfrm flipV="1">
            <a:off x="10003902" y="2549852"/>
            <a:ext cx="107558" cy="50613"/>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68" name="Connector 67"/>
          <p:cNvCxnSpPr/>
          <p:nvPr/>
        </p:nvCxnSpPr>
        <p:spPr>
          <a:xfrm flipV="1">
            <a:off x="9954866" y="2439882"/>
            <a:ext cx="113054" cy="36733"/>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69" name="Connector 68"/>
          <p:cNvCxnSpPr/>
          <p:nvPr/>
        </p:nvCxnSpPr>
        <p:spPr>
          <a:xfrm flipV="1">
            <a:off x="9921739" y="2325321"/>
            <a:ext cx="116767" cy="22275"/>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70" name="Connector 69"/>
          <p:cNvCxnSpPr/>
          <p:nvPr/>
        </p:nvCxnSpPr>
        <p:spPr>
          <a:xfrm flipV="1">
            <a:off x="9905045" y="2207978"/>
            <a:ext cx="118637" cy="7464"/>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71" name="Connector 70"/>
          <p:cNvCxnSpPr/>
          <p:nvPr/>
        </p:nvCxnSpPr>
        <p:spPr>
          <a:xfrm>
            <a:off x="9905045" y="2082237"/>
            <a:ext cx="118637" cy="7464"/>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72" name="Connector 71"/>
          <p:cNvCxnSpPr/>
          <p:nvPr/>
        </p:nvCxnSpPr>
        <p:spPr>
          <a:xfrm>
            <a:off x="9921739" y="1950083"/>
            <a:ext cx="116767" cy="22275"/>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73" name="Connector 72"/>
          <p:cNvCxnSpPr/>
          <p:nvPr/>
        </p:nvCxnSpPr>
        <p:spPr>
          <a:xfrm>
            <a:off x="9954866" y="1821064"/>
            <a:ext cx="113054" cy="36733"/>
          </a:xfrm>
          <a:prstGeom prst="line">
            <a:avLst/>
          </a:prstGeom>
          <a:ln w="50800">
            <a:solidFill>
              <a:srgbClr val="54DFC0"/>
            </a:solidFill>
          </a:ln>
        </p:spPr>
        <p:style>
          <a:lnRef idx="2">
            <a:schemeClr val="accent1"/>
          </a:lnRef>
          <a:fillRef idx="0">
            <a:schemeClr val="accent1"/>
          </a:fillRef>
          <a:effectRef idx="0">
            <a:schemeClr val="accent1"/>
          </a:effectRef>
          <a:fontRef idx="minor">
            <a:schemeClr val="tx1"/>
          </a:fontRef>
        </p:style>
      </p:cxnSp>
      <p:cxnSp>
        <p:nvCxnSpPr>
          <p:cNvPr id="74" name="Connector 73"/>
          <p:cNvCxnSpPr/>
          <p:nvPr/>
        </p:nvCxnSpPr>
        <p:spPr>
          <a:xfrm>
            <a:off x="10003902" y="1697214"/>
            <a:ext cx="107558" cy="50613"/>
          </a:xfrm>
          <a:prstGeom prst="line">
            <a:avLst/>
          </a:prstGeom>
          <a:ln w="50800">
            <a:solidFill>
              <a:srgbClr val="38506B"/>
            </a:solidFill>
          </a:ln>
        </p:spPr>
        <p:style>
          <a:lnRef idx="2">
            <a:schemeClr val="accent1"/>
          </a:lnRef>
          <a:fillRef idx="0">
            <a:schemeClr val="accent1"/>
          </a:fillRef>
          <a:effectRef idx="0">
            <a:schemeClr val="accent1"/>
          </a:effectRef>
          <a:fontRef idx="minor">
            <a:schemeClr val="tx1"/>
          </a:fontRef>
        </p:style>
      </p:cxnSp>
      <p:cxnSp>
        <p:nvCxnSpPr>
          <p:cNvPr id="75" name="Connector 74"/>
          <p:cNvCxnSpPr/>
          <p:nvPr/>
        </p:nvCxnSpPr>
        <p:spPr>
          <a:xfrm>
            <a:off x="10068073" y="1580486"/>
            <a:ext cx="100367" cy="63695"/>
          </a:xfrm>
          <a:prstGeom prst="line">
            <a:avLst/>
          </a:prstGeom>
          <a:ln w="50800">
            <a:solidFill>
              <a:srgbClr val="38506B"/>
            </a:solidFill>
          </a:ln>
        </p:spPr>
        <p:style>
          <a:lnRef idx="2">
            <a:schemeClr val="accent1"/>
          </a:lnRef>
          <a:fillRef idx="0">
            <a:schemeClr val="accent1"/>
          </a:fillRef>
          <a:effectRef idx="0">
            <a:schemeClr val="accent1"/>
          </a:effectRef>
          <a:fontRef idx="minor">
            <a:schemeClr val="tx1"/>
          </a:fontRef>
        </p:style>
      </p:cxnSp>
      <p:cxnSp>
        <p:nvCxnSpPr>
          <p:cNvPr id="76" name="Connector 75"/>
          <p:cNvCxnSpPr/>
          <p:nvPr/>
        </p:nvCxnSpPr>
        <p:spPr>
          <a:xfrm>
            <a:off x="10146369" y="1472721"/>
            <a:ext cx="91592" cy="75772"/>
          </a:xfrm>
          <a:prstGeom prst="line">
            <a:avLst/>
          </a:prstGeom>
          <a:ln w="50800">
            <a:solidFill>
              <a:srgbClr val="38506B"/>
            </a:solidFill>
          </a:ln>
        </p:spPr>
        <p:style>
          <a:lnRef idx="2">
            <a:schemeClr val="accent1"/>
          </a:lnRef>
          <a:fillRef idx="0">
            <a:schemeClr val="accent1"/>
          </a:fillRef>
          <a:effectRef idx="0">
            <a:schemeClr val="accent1"/>
          </a:effectRef>
          <a:fontRef idx="minor">
            <a:schemeClr val="tx1"/>
          </a:fontRef>
        </p:style>
      </p:cxnSp>
      <p:cxnSp>
        <p:nvCxnSpPr>
          <p:cNvPr id="77" name="Connector 76"/>
          <p:cNvCxnSpPr/>
          <p:nvPr/>
        </p:nvCxnSpPr>
        <p:spPr>
          <a:xfrm>
            <a:off x="10237554" y="1375620"/>
            <a:ext cx="81373" cy="86654"/>
          </a:xfrm>
          <a:prstGeom prst="line">
            <a:avLst/>
          </a:prstGeom>
          <a:ln w="50800">
            <a:solidFill>
              <a:srgbClr val="38506B"/>
            </a:solidFill>
          </a:ln>
        </p:spPr>
        <p:style>
          <a:lnRef idx="2">
            <a:schemeClr val="accent1"/>
          </a:lnRef>
          <a:fillRef idx="0">
            <a:schemeClr val="accent1"/>
          </a:fillRef>
          <a:effectRef idx="0">
            <a:schemeClr val="accent1"/>
          </a:effectRef>
          <a:fontRef idx="minor">
            <a:schemeClr val="tx1"/>
          </a:fontRef>
        </p:style>
      </p:cxnSp>
      <p:cxnSp>
        <p:nvCxnSpPr>
          <p:cNvPr id="78" name="Connector 77"/>
          <p:cNvCxnSpPr/>
          <p:nvPr/>
        </p:nvCxnSpPr>
        <p:spPr>
          <a:xfrm>
            <a:off x="10340189" y="1290712"/>
            <a:ext cx="69872" cy="96169"/>
          </a:xfrm>
          <a:prstGeom prst="line">
            <a:avLst/>
          </a:prstGeom>
          <a:ln w="50800">
            <a:solidFill>
              <a:srgbClr val="38506B"/>
            </a:solidFill>
          </a:ln>
        </p:spPr>
        <p:style>
          <a:lnRef idx="2">
            <a:schemeClr val="accent1"/>
          </a:lnRef>
          <a:fillRef idx="0">
            <a:schemeClr val="accent1"/>
          </a:fillRef>
          <a:effectRef idx="0">
            <a:schemeClr val="accent1"/>
          </a:effectRef>
          <a:fontRef idx="minor">
            <a:schemeClr val="tx1"/>
          </a:fontRef>
        </p:style>
      </p:cxnSp>
      <p:cxnSp>
        <p:nvCxnSpPr>
          <p:cNvPr id="79" name="Connector 78"/>
          <p:cNvCxnSpPr/>
          <p:nvPr/>
        </p:nvCxnSpPr>
        <p:spPr>
          <a:xfrm>
            <a:off x="10452657" y="1219337"/>
            <a:ext cx="57267" cy="104169"/>
          </a:xfrm>
          <a:prstGeom prst="line">
            <a:avLst/>
          </a:prstGeom>
          <a:ln w="50800">
            <a:solidFill>
              <a:srgbClr val="38506B"/>
            </a:solidFill>
          </a:ln>
        </p:spPr>
        <p:style>
          <a:lnRef idx="2">
            <a:schemeClr val="accent1"/>
          </a:lnRef>
          <a:fillRef idx="0">
            <a:schemeClr val="accent1"/>
          </a:fillRef>
          <a:effectRef idx="0">
            <a:schemeClr val="accent1"/>
          </a:effectRef>
          <a:fontRef idx="minor">
            <a:schemeClr val="tx1"/>
          </a:fontRef>
        </p:style>
      </p:cxnSp>
      <p:cxnSp>
        <p:nvCxnSpPr>
          <p:cNvPr id="80" name="Connector 79"/>
          <p:cNvCxnSpPr/>
          <p:nvPr/>
        </p:nvCxnSpPr>
        <p:spPr>
          <a:xfrm>
            <a:off x="10573184" y="1162622"/>
            <a:ext cx="43760" cy="110524"/>
          </a:xfrm>
          <a:prstGeom prst="line">
            <a:avLst/>
          </a:prstGeom>
          <a:ln w="50800">
            <a:solidFill>
              <a:srgbClr val="38506B"/>
            </a:solidFill>
          </a:ln>
        </p:spPr>
        <p:style>
          <a:lnRef idx="2">
            <a:schemeClr val="accent1"/>
          </a:lnRef>
          <a:fillRef idx="0">
            <a:schemeClr val="accent1"/>
          </a:fillRef>
          <a:effectRef idx="0">
            <a:schemeClr val="accent1"/>
          </a:effectRef>
          <a:fontRef idx="minor">
            <a:schemeClr val="tx1"/>
          </a:fontRef>
        </p:style>
      </p:cxnSp>
      <p:cxnSp>
        <p:nvCxnSpPr>
          <p:cNvPr id="81" name="Connector 80"/>
          <p:cNvCxnSpPr/>
          <p:nvPr/>
        </p:nvCxnSpPr>
        <p:spPr>
          <a:xfrm>
            <a:off x="10699869" y="1121459"/>
            <a:ext cx="29562" cy="115138"/>
          </a:xfrm>
          <a:prstGeom prst="line">
            <a:avLst/>
          </a:prstGeom>
          <a:ln w="50800">
            <a:solidFill>
              <a:srgbClr val="38506B"/>
            </a:solidFill>
          </a:ln>
        </p:spPr>
        <p:style>
          <a:lnRef idx="2">
            <a:schemeClr val="accent1"/>
          </a:lnRef>
          <a:fillRef idx="0">
            <a:schemeClr val="accent1"/>
          </a:fillRef>
          <a:effectRef idx="0">
            <a:schemeClr val="accent1"/>
          </a:effectRef>
          <a:fontRef idx="minor">
            <a:schemeClr val="tx1"/>
          </a:fontRef>
        </p:style>
      </p:cxnSp>
      <p:cxnSp>
        <p:nvCxnSpPr>
          <p:cNvPr id="82" name="Connector 81"/>
          <p:cNvCxnSpPr/>
          <p:nvPr/>
        </p:nvCxnSpPr>
        <p:spPr>
          <a:xfrm>
            <a:off x="10830714" y="1096499"/>
            <a:ext cx="14899" cy="117935"/>
          </a:xfrm>
          <a:prstGeom prst="line">
            <a:avLst/>
          </a:prstGeom>
          <a:ln w="50800">
            <a:solidFill>
              <a:srgbClr val="38506B"/>
            </a:solidFill>
          </a:ln>
        </p:spPr>
        <p:style>
          <a:lnRef idx="2">
            <a:schemeClr val="accent1"/>
          </a:lnRef>
          <a:fillRef idx="0">
            <a:schemeClr val="accent1"/>
          </a:fillRef>
          <a:effectRef idx="0">
            <a:schemeClr val="accent1"/>
          </a:effectRef>
          <a:fontRef idx="minor">
            <a:schemeClr val="tx1"/>
          </a:fontRef>
        </p:style>
      </p:cxnSp>
      <p:sp>
        <p:nvSpPr>
          <p:cNvPr id="83" name="TextBox 82"/>
          <p:cNvSpPr txBox="1"/>
          <p:nvPr/>
        </p:nvSpPr>
        <p:spPr>
          <a:xfrm>
            <a:off x="9939528" y="1755648"/>
            <a:ext cx="2039112" cy="585216"/>
          </a:xfrm>
          <a:prstGeom prst="rect">
            <a:avLst/>
          </a:prstGeom>
          <a:noFill/>
        </p:spPr>
        <p:txBody>
          <a:bodyPr wrap="square" lIns="0" rIns="0" tIns="0" bIns="0">
            <a:spAutoFit/>
          </a:bodyPr>
          <a:lstStyle/>
          <a:p>
            <a:pPr algn="ctr">
              <a:lnSpc>
                <a:spcPct val="113000"/>
              </a:lnSpc>
              <a:spcAft>
                <a:spcPts val="0"/>
              </a:spcAft>
              <a:defRPr sz="4300" b="1">
                <a:solidFill>
                  <a:srgbClr val="54DFC0"/>
                </a:solidFill>
                <a:latin typeface="Noto Sans CJK KR"/>
              </a:defRPr>
            </a:pPr>
            <a:r>
              <a:t>82%</a:t>
            </a:r>
          </a:p>
        </p:txBody>
      </p:sp>
      <p:sp>
        <p:nvSpPr>
          <p:cNvPr id="84" name="TextBox 83"/>
          <p:cNvSpPr txBox="1"/>
          <p:nvPr/>
        </p:nvSpPr>
        <p:spPr>
          <a:xfrm>
            <a:off x="9939528" y="2441448"/>
            <a:ext cx="2039112" cy="237744"/>
          </a:xfrm>
          <a:prstGeom prst="rect">
            <a:avLst/>
          </a:prstGeom>
          <a:noFill/>
        </p:spPr>
        <p:txBody>
          <a:bodyPr wrap="square" lIns="0" rIns="0" tIns="0" bIns="0">
            <a:spAutoFit/>
          </a:bodyPr>
          <a:lstStyle/>
          <a:p>
            <a:pPr algn="ctr">
              <a:lnSpc>
                <a:spcPct val="113000"/>
              </a:lnSpc>
              <a:spcAft>
                <a:spcPts val="0"/>
              </a:spcAft>
              <a:defRPr sz="1200" b="0">
                <a:solidFill>
                  <a:srgbClr val="ADBED2"/>
                </a:solidFill>
                <a:latin typeface="Noto Sans CJK KR"/>
              </a:defRPr>
            </a:pPr>
            <a:r>
              <a:t>탄소예산 사용률</a:t>
            </a:r>
          </a:p>
        </p:txBody>
      </p:sp>
      <p:sp>
        <p:nvSpPr>
          <p:cNvPr id="85" name="Rectangle 84"/>
          <p:cNvSpPr/>
          <p:nvPr/>
        </p:nvSpPr>
        <p:spPr>
          <a:xfrm>
            <a:off x="9848088" y="6583680"/>
            <a:ext cx="3474720" cy="320040"/>
          </a:xfrm>
          <a:prstGeom prst="rect">
            <a:avLst/>
          </a:prstGeom>
          <a:solidFill>
            <a:srgbClr val="1C2D4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TextBox 85"/>
          <p:cNvSpPr txBox="1"/>
          <p:nvPr/>
        </p:nvSpPr>
        <p:spPr>
          <a:xfrm>
            <a:off x="9939528" y="6633972"/>
            <a:ext cx="3291839" cy="219456"/>
          </a:xfrm>
          <a:prstGeom prst="rect">
            <a:avLst/>
          </a:prstGeom>
          <a:noFill/>
        </p:spPr>
        <p:txBody>
          <a:bodyPr wrap="square" lIns="0" rIns="0" tIns="0" bIns="0">
            <a:spAutoFit/>
          </a:bodyPr>
          <a:lstStyle/>
          <a:p>
            <a:pPr>
              <a:lnSpc>
                <a:spcPct val="113000"/>
              </a:lnSpc>
              <a:spcAft>
                <a:spcPts val="0"/>
              </a:spcAft>
              <a:defRPr sz="1200" b="1">
                <a:solidFill>
                  <a:srgbClr val="54DFC0"/>
                </a:solidFill>
                <a:latin typeface="Noto Sans CJK KR"/>
              </a:defRPr>
            </a:pPr>
            <a:r>
              <a:t>예산 상태 → 재배치 우선순위</a:t>
            </a:r>
          </a:p>
        </p:txBody>
      </p:sp>
      <p:sp>
        <p:nvSpPr>
          <p:cNvPr id="87" name="TextBox 86"/>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ADBED2"/>
                </a:solidFill>
                <a:latin typeface="Noto Sans CJK KR"/>
              </a:defRPr>
            </a:pPr>
            <a:r>
              <a:t>예선 원안 계승: CUR · 4단계 운영 모드 · 재배치 우선순위 점수(RPS). 그림의 82%는 설명용 상태입니다.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CBP  /  DECISION DESIGN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687D94"/>
                </a:solidFill>
                <a:latin typeface="Noto Sans CJK KR"/>
              </a:defRPr>
            </a:pPr>
            <a:r>
              <a:t>02 / HOW IT WORKS</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예산 상태를 읽고, 다음 운송의 기준을 바꿉니다.</a:t>
            </a:r>
          </a:p>
        </p:txBody>
      </p:sp>
      <p:sp>
        <p:nvSpPr>
          <p:cNvPr id="5" name="TextBox 4"/>
          <p:cNvSpPr txBox="1"/>
          <p:nvPr/>
        </p:nvSpPr>
        <p:spPr>
          <a:xfrm>
            <a:off x="649224" y="2084831"/>
            <a:ext cx="13304520" cy="493776"/>
          </a:xfrm>
          <a:prstGeom prst="rect">
            <a:avLst/>
          </a:prstGeom>
          <a:noFill/>
        </p:spPr>
        <p:txBody>
          <a:bodyPr wrap="square" lIns="0" rIns="0" tIns="0" bIns="0">
            <a:spAutoFit/>
          </a:bodyPr>
          <a:lstStyle/>
          <a:p>
            <a:pPr>
              <a:lnSpc>
                <a:spcPct val="113000"/>
              </a:lnSpc>
              <a:spcAft>
                <a:spcPts val="0"/>
              </a:spcAft>
              <a:defRPr sz="1800" b="0">
                <a:solidFill>
                  <a:srgbClr val="687D94"/>
                </a:solidFill>
                <a:latin typeface="Noto Sans CJK KR"/>
              </a:defRPr>
            </a:pPr>
            <a:r>
              <a:t>탄소예산 사용률(CUR) = 누적 실제 배출 ÷ 기간별 내부 탄소예산 × 100</a:t>
            </a:r>
          </a:p>
        </p:txBody>
      </p:sp>
      <p:cxnSp>
        <p:nvCxnSpPr>
          <p:cNvPr id="6" name="Connector 5"/>
          <p:cNvCxnSpPr/>
          <p:nvPr/>
        </p:nvCxnSpPr>
        <p:spPr>
          <a:xfrm>
            <a:off x="621792" y="7717536"/>
            <a:ext cx="13386816"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두런두런  ·  제13회 유닛로드시스템(ULS) 창의성 공모전</a:t>
            </a:r>
          </a:p>
        </p:txBody>
      </p:sp>
      <p:sp>
        <p:nvSpPr>
          <p:cNvPr id="8" name="TextBox 7"/>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087F70"/>
                </a:solidFill>
                <a:latin typeface="Noto Sans CJK KR"/>
              </a:defRPr>
            </a:pPr>
            <a:r>
              <a:t>02</a:t>
            </a:r>
          </a:p>
        </p:txBody>
      </p:sp>
      <p:sp>
        <p:nvSpPr>
          <p:cNvPr id="9" name="Rectangle 8"/>
          <p:cNvSpPr/>
          <p:nvPr/>
        </p:nvSpPr>
        <p:spPr>
          <a:xfrm>
            <a:off x="667512" y="2770632"/>
            <a:ext cx="2907792" cy="4059936"/>
          </a:xfrm>
          <a:prstGeom prst="rect">
            <a:avLst/>
          </a:prstGeom>
          <a:solidFill>
            <a:srgbClr val="101D3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914400" y="3044952"/>
            <a:ext cx="2414016" cy="292608"/>
          </a:xfrm>
          <a:prstGeom prst="rect">
            <a:avLst/>
          </a:prstGeom>
          <a:noFill/>
        </p:spPr>
        <p:txBody>
          <a:bodyPr wrap="square" lIns="0" rIns="0" tIns="0" bIns="0">
            <a:spAutoFit/>
          </a:bodyPr>
          <a:lstStyle/>
          <a:p>
            <a:pPr>
              <a:lnSpc>
                <a:spcPct val="113000"/>
              </a:lnSpc>
              <a:spcAft>
                <a:spcPts val="0"/>
              </a:spcAft>
              <a:defRPr sz="1700" b="1">
                <a:solidFill>
                  <a:srgbClr val="ADBED2"/>
                </a:solidFill>
                <a:latin typeface="Noto Sans CJK KR"/>
              </a:defRPr>
            </a:pPr>
            <a:r>
              <a:t>01  상태 확인</a:t>
            </a:r>
          </a:p>
        </p:txBody>
      </p:sp>
      <p:sp>
        <p:nvSpPr>
          <p:cNvPr id="11" name="TextBox 10"/>
          <p:cNvSpPr txBox="1"/>
          <p:nvPr/>
        </p:nvSpPr>
        <p:spPr>
          <a:xfrm>
            <a:off x="886968" y="3657600"/>
            <a:ext cx="2468880" cy="932688"/>
          </a:xfrm>
          <a:prstGeom prst="rect">
            <a:avLst/>
          </a:prstGeom>
          <a:noFill/>
        </p:spPr>
        <p:txBody>
          <a:bodyPr wrap="square" lIns="0" rIns="0" tIns="0" bIns="0">
            <a:spAutoFit/>
          </a:bodyPr>
          <a:lstStyle/>
          <a:p>
            <a:pPr>
              <a:lnSpc>
                <a:spcPct val="113000"/>
              </a:lnSpc>
              <a:spcAft>
                <a:spcPts val="0"/>
              </a:spcAft>
              <a:defRPr sz="6800" b="1">
                <a:solidFill>
                  <a:srgbClr val="54DFC0"/>
                </a:solidFill>
                <a:latin typeface="Noto Sans CJK KR"/>
              </a:defRPr>
            </a:pPr>
            <a:r>
              <a:t>82%</a:t>
            </a:r>
          </a:p>
        </p:txBody>
      </p:sp>
      <p:sp>
        <p:nvSpPr>
          <p:cNvPr id="12" name="TextBox 11"/>
          <p:cNvSpPr txBox="1"/>
          <p:nvPr/>
        </p:nvSpPr>
        <p:spPr>
          <a:xfrm>
            <a:off x="932688" y="4864608"/>
            <a:ext cx="2404872" cy="685800"/>
          </a:xfrm>
          <a:prstGeom prst="rect">
            <a:avLst/>
          </a:prstGeom>
          <a:noFill/>
        </p:spPr>
        <p:txBody>
          <a:bodyPr wrap="square" lIns="0" rIns="0" tIns="0" bIns="0">
            <a:spAutoFit/>
          </a:bodyPr>
          <a:lstStyle/>
          <a:p>
            <a:pPr>
              <a:lnSpc>
                <a:spcPct val="113000"/>
              </a:lnSpc>
              <a:spcAft>
                <a:spcPts val="0"/>
              </a:spcAft>
              <a:defRPr sz="1900" b="0">
                <a:solidFill>
                  <a:srgbClr val="FFFFFF"/>
                </a:solidFill>
                <a:latin typeface="Noto Sans CJK KR"/>
              </a:defRPr>
            </a:pPr>
            <a:r>
              <a:t>8,200 / 10,000</a:t>
            </a:r>
          </a:p>
          <a:p>
            <a:pPr>
              <a:lnSpc>
                <a:spcPct val="113000"/>
              </a:lnSpc>
              <a:spcAft>
                <a:spcPts val="0"/>
              </a:spcAft>
              <a:defRPr sz="1900" b="0">
                <a:solidFill>
                  <a:srgbClr val="FFFFFF"/>
                </a:solidFill>
                <a:latin typeface="Noto Sans CJK KR"/>
              </a:defRPr>
            </a:pPr>
            <a:r>
              <a:t>kgCO₂e</a:t>
            </a:r>
          </a:p>
        </p:txBody>
      </p:sp>
      <p:sp>
        <p:nvSpPr>
          <p:cNvPr id="13" name="TextBox 12"/>
          <p:cNvSpPr txBox="1"/>
          <p:nvPr/>
        </p:nvSpPr>
        <p:spPr>
          <a:xfrm>
            <a:off x="932688" y="6135624"/>
            <a:ext cx="2414016" cy="292608"/>
          </a:xfrm>
          <a:prstGeom prst="rect">
            <a:avLst/>
          </a:prstGeom>
          <a:noFill/>
        </p:spPr>
        <p:txBody>
          <a:bodyPr wrap="square" lIns="0" rIns="0" tIns="0" bIns="0">
            <a:spAutoFit/>
          </a:bodyPr>
          <a:lstStyle/>
          <a:p>
            <a:pPr>
              <a:lnSpc>
                <a:spcPct val="113000"/>
              </a:lnSpc>
              <a:spcAft>
                <a:spcPts val="0"/>
              </a:spcAft>
              <a:defRPr sz="1600" b="0">
                <a:solidFill>
                  <a:srgbClr val="ADBED2"/>
                </a:solidFill>
                <a:latin typeface="Noto Sans CJK KR"/>
              </a:defRPr>
            </a:pPr>
            <a:r>
              <a:t>다음 선택의 입력</a:t>
            </a:r>
          </a:p>
        </p:txBody>
      </p:sp>
      <p:sp>
        <p:nvSpPr>
          <p:cNvPr id="14" name="Right Arrow 13"/>
          <p:cNvSpPr/>
          <p:nvPr/>
        </p:nvSpPr>
        <p:spPr>
          <a:xfrm>
            <a:off x="3767328" y="4041648"/>
            <a:ext cx="420624" cy="173736"/>
          </a:xfrm>
          <a:prstGeom prst="rightArrow">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507992" y="3081528"/>
            <a:ext cx="3858768" cy="292608"/>
          </a:xfrm>
          <a:prstGeom prst="rect">
            <a:avLst/>
          </a:prstGeom>
          <a:noFill/>
        </p:spPr>
        <p:txBody>
          <a:bodyPr wrap="square" lIns="0" rIns="0" tIns="0" bIns="0">
            <a:spAutoFit/>
          </a:bodyPr>
          <a:lstStyle/>
          <a:p>
            <a:pPr>
              <a:lnSpc>
                <a:spcPct val="113000"/>
              </a:lnSpc>
              <a:spcAft>
                <a:spcPts val="0"/>
              </a:spcAft>
              <a:defRPr sz="1700" b="1">
                <a:solidFill>
                  <a:srgbClr val="087F70"/>
                </a:solidFill>
                <a:latin typeface="Noto Sans CJK KR"/>
              </a:defRPr>
            </a:pPr>
            <a:r>
              <a:t>02  운영 모드</a:t>
            </a:r>
          </a:p>
        </p:txBody>
      </p:sp>
      <p:sp>
        <p:nvSpPr>
          <p:cNvPr id="16" name="TextBox 15"/>
          <p:cNvSpPr txBox="1"/>
          <p:nvPr/>
        </p:nvSpPr>
        <p:spPr>
          <a:xfrm>
            <a:off x="4480560" y="3657600"/>
            <a:ext cx="3877056" cy="512064"/>
          </a:xfrm>
          <a:prstGeom prst="rect">
            <a:avLst/>
          </a:prstGeom>
          <a:noFill/>
        </p:spPr>
        <p:txBody>
          <a:bodyPr wrap="square" lIns="0" rIns="0" tIns="0" bIns="0">
            <a:spAutoFit/>
          </a:bodyPr>
          <a:lstStyle/>
          <a:p>
            <a:pPr>
              <a:lnSpc>
                <a:spcPct val="113000"/>
              </a:lnSpc>
              <a:spcAft>
                <a:spcPts val="0"/>
              </a:spcAft>
              <a:defRPr sz="2700" b="1">
                <a:solidFill>
                  <a:srgbClr val="14243C"/>
                </a:solidFill>
                <a:latin typeface="Noto Sans CJK KR"/>
              </a:defRPr>
            </a:pPr>
            <a:r>
              <a:t>탄소에 더 큰 비중</a:t>
            </a:r>
          </a:p>
        </p:txBody>
      </p:sp>
      <p:sp>
        <p:nvSpPr>
          <p:cNvPr id="17" name="Rectangle 16"/>
          <p:cNvSpPr/>
          <p:nvPr/>
        </p:nvSpPr>
        <p:spPr>
          <a:xfrm>
            <a:off x="4517136" y="4590288"/>
            <a:ext cx="746150" cy="457200"/>
          </a:xfrm>
          <a:prstGeom prst="rect">
            <a:avLst/>
          </a:prstGeom>
          <a:solidFill>
            <a:srgbClr val="4976D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517136" y="4690872"/>
            <a:ext cx="746150" cy="256032"/>
          </a:xfrm>
          <a:prstGeom prst="rect">
            <a:avLst/>
          </a:prstGeom>
          <a:noFill/>
        </p:spPr>
        <p:txBody>
          <a:bodyPr wrap="square" lIns="0" rIns="0" tIns="0" bIns="0">
            <a:spAutoFit/>
          </a:bodyPr>
          <a:lstStyle/>
          <a:p>
            <a:pPr algn="ctr">
              <a:lnSpc>
                <a:spcPct val="113000"/>
              </a:lnSpc>
              <a:spcAft>
                <a:spcPts val="0"/>
              </a:spcAft>
              <a:defRPr sz="1400" b="1">
                <a:solidFill>
                  <a:srgbClr val="FFFFFF"/>
                </a:solidFill>
                <a:latin typeface="Noto Sans CJK KR"/>
              </a:defRPr>
            </a:pPr>
            <a:r>
              <a:t>20</a:t>
            </a:r>
          </a:p>
        </p:txBody>
      </p:sp>
      <p:sp>
        <p:nvSpPr>
          <p:cNvPr id="19" name="Rectangle 18"/>
          <p:cNvSpPr/>
          <p:nvPr/>
        </p:nvSpPr>
        <p:spPr>
          <a:xfrm>
            <a:off x="5263286" y="4590288"/>
            <a:ext cx="2238451" cy="457200"/>
          </a:xfrm>
          <a:prstGeom prst="rect">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263286" y="4690872"/>
            <a:ext cx="2238451" cy="256032"/>
          </a:xfrm>
          <a:prstGeom prst="rect">
            <a:avLst/>
          </a:prstGeom>
          <a:noFill/>
        </p:spPr>
        <p:txBody>
          <a:bodyPr wrap="square" lIns="0" rIns="0" tIns="0" bIns="0">
            <a:spAutoFit/>
          </a:bodyPr>
          <a:lstStyle/>
          <a:p>
            <a:pPr algn="ctr">
              <a:lnSpc>
                <a:spcPct val="113000"/>
              </a:lnSpc>
              <a:spcAft>
                <a:spcPts val="0"/>
              </a:spcAft>
              <a:defRPr sz="1400" b="1">
                <a:solidFill>
                  <a:srgbClr val="FFFFFF"/>
                </a:solidFill>
                <a:latin typeface="Noto Sans CJK KR"/>
              </a:defRPr>
            </a:pPr>
            <a:r>
              <a:t>60</a:t>
            </a:r>
          </a:p>
        </p:txBody>
      </p:sp>
      <p:sp>
        <p:nvSpPr>
          <p:cNvPr id="21" name="Rectangle 20"/>
          <p:cNvSpPr/>
          <p:nvPr/>
        </p:nvSpPr>
        <p:spPr>
          <a:xfrm>
            <a:off x="7501737" y="4590288"/>
            <a:ext cx="746150" cy="457200"/>
          </a:xfrm>
          <a:prstGeom prst="rect">
            <a:avLst/>
          </a:prstGeom>
          <a:solidFill>
            <a:srgbClr val="E5B66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501737" y="4690872"/>
            <a:ext cx="746150" cy="256032"/>
          </a:xfrm>
          <a:prstGeom prst="rect">
            <a:avLst/>
          </a:prstGeom>
          <a:noFill/>
        </p:spPr>
        <p:txBody>
          <a:bodyPr wrap="square" lIns="0" rIns="0" tIns="0" bIns="0">
            <a:spAutoFit/>
          </a:bodyPr>
          <a:lstStyle/>
          <a:p>
            <a:pPr algn="ctr">
              <a:lnSpc>
                <a:spcPct val="113000"/>
              </a:lnSpc>
              <a:spcAft>
                <a:spcPts val="0"/>
              </a:spcAft>
              <a:defRPr sz="1400" b="1">
                <a:solidFill>
                  <a:srgbClr val="14243C"/>
                </a:solidFill>
                <a:latin typeface="Noto Sans CJK KR"/>
              </a:defRPr>
            </a:pPr>
            <a:r>
              <a:t>20</a:t>
            </a:r>
          </a:p>
        </p:txBody>
      </p:sp>
      <p:sp>
        <p:nvSpPr>
          <p:cNvPr id="23" name="TextBox 22"/>
          <p:cNvSpPr txBox="1"/>
          <p:nvPr/>
        </p:nvSpPr>
        <p:spPr>
          <a:xfrm>
            <a:off x="4517136" y="5266944"/>
            <a:ext cx="3730752" cy="301752"/>
          </a:xfrm>
          <a:prstGeom prst="rect">
            <a:avLst/>
          </a:prstGeom>
          <a:noFill/>
        </p:spPr>
        <p:txBody>
          <a:bodyPr wrap="square" lIns="0" rIns="0" tIns="0" bIns="0">
            <a:spAutoFit/>
          </a:bodyPr>
          <a:lstStyle/>
          <a:p>
            <a:pPr>
              <a:lnSpc>
                <a:spcPct val="113000"/>
              </a:lnSpc>
              <a:spcAft>
                <a:spcPts val="0"/>
              </a:spcAft>
              <a:defRPr sz="1600" b="0">
                <a:solidFill>
                  <a:srgbClr val="687D94"/>
                </a:solidFill>
                <a:latin typeface="Noto Sans CJK KR"/>
              </a:defRPr>
            </a:pPr>
            <a:r>
              <a:t>비용 20 · 탄소 60 · 시간 20</a:t>
            </a:r>
          </a:p>
        </p:txBody>
      </p:sp>
      <p:sp>
        <p:nvSpPr>
          <p:cNvPr id="24" name="Right Arrow 23"/>
          <p:cNvSpPr/>
          <p:nvPr/>
        </p:nvSpPr>
        <p:spPr>
          <a:xfrm>
            <a:off x="8650224" y="4041648"/>
            <a:ext cx="420624" cy="173736"/>
          </a:xfrm>
          <a:prstGeom prst="rightArrow">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9400032" y="3081528"/>
            <a:ext cx="4389120" cy="292608"/>
          </a:xfrm>
          <a:prstGeom prst="rect">
            <a:avLst/>
          </a:prstGeom>
          <a:noFill/>
        </p:spPr>
        <p:txBody>
          <a:bodyPr wrap="square" lIns="0" rIns="0" tIns="0" bIns="0">
            <a:spAutoFit/>
          </a:bodyPr>
          <a:lstStyle/>
          <a:p>
            <a:pPr>
              <a:lnSpc>
                <a:spcPct val="113000"/>
              </a:lnSpc>
              <a:spcAft>
                <a:spcPts val="0"/>
              </a:spcAft>
              <a:defRPr sz="1700" b="1">
                <a:solidFill>
                  <a:srgbClr val="087F70"/>
                </a:solidFill>
                <a:latin typeface="Noto Sans CJK KR"/>
              </a:defRPr>
            </a:pPr>
            <a:r>
              <a:t>03  가능 후보 → 점수 비교</a:t>
            </a:r>
          </a:p>
        </p:txBody>
      </p:sp>
      <p:sp>
        <p:nvSpPr>
          <p:cNvPr id="26" name="Oval 25"/>
          <p:cNvSpPr/>
          <p:nvPr/>
        </p:nvSpPr>
        <p:spPr>
          <a:xfrm>
            <a:off x="9418320" y="3749039"/>
            <a:ext cx="164592" cy="164592"/>
          </a:xfrm>
          <a:prstGeom prst="ellipse">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9747504" y="3703320"/>
            <a:ext cx="4059936" cy="365760"/>
          </a:xfrm>
          <a:prstGeom prst="rect">
            <a:avLst/>
          </a:prstGeom>
          <a:noFill/>
        </p:spPr>
        <p:txBody>
          <a:bodyPr wrap="square" lIns="0" rIns="0" tIns="0" bIns="0">
            <a:spAutoFit/>
          </a:bodyPr>
          <a:lstStyle/>
          <a:p>
            <a:pPr>
              <a:lnSpc>
                <a:spcPct val="113000"/>
              </a:lnSpc>
              <a:spcAft>
                <a:spcPts val="0"/>
              </a:spcAft>
              <a:defRPr sz="1900" b="1">
                <a:solidFill>
                  <a:srgbClr val="14243C"/>
                </a:solidFill>
                <a:latin typeface="Noto Sans CJK KR"/>
              </a:defRPr>
            </a:pPr>
            <a:r>
              <a:t>공급 조건  수량·기한·규격·적재</a:t>
            </a:r>
          </a:p>
        </p:txBody>
      </p:sp>
      <p:sp>
        <p:nvSpPr>
          <p:cNvPr id="28" name="Oval 27"/>
          <p:cNvSpPr/>
          <p:nvPr/>
        </p:nvSpPr>
        <p:spPr>
          <a:xfrm>
            <a:off x="9418320" y="4343400"/>
            <a:ext cx="164592" cy="164592"/>
          </a:xfrm>
          <a:prstGeom prst="ellipse">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9747504" y="4297680"/>
            <a:ext cx="4059936" cy="365760"/>
          </a:xfrm>
          <a:prstGeom prst="rect">
            <a:avLst/>
          </a:prstGeom>
          <a:noFill/>
        </p:spPr>
        <p:txBody>
          <a:bodyPr wrap="square" lIns="0" rIns="0" tIns="0" bIns="0">
            <a:spAutoFit/>
          </a:bodyPr>
          <a:lstStyle/>
          <a:p>
            <a:pPr>
              <a:lnSpc>
                <a:spcPct val="113000"/>
              </a:lnSpc>
              <a:spcAft>
                <a:spcPts val="0"/>
              </a:spcAft>
              <a:defRPr sz="1900" b="1">
                <a:solidFill>
                  <a:srgbClr val="14243C"/>
                </a:solidFill>
                <a:latin typeface="Noto Sans CJK KR"/>
              </a:defRPr>
            </a:pPr>
            <a:r>
              <a:t>운영 한도  비용·예상 탄소</a:t>
            </a:r>
          </a:p>
        </p:txBody>
      </p:sp>
      <p:sp>
        <p:nvSpPr>
          <p:cNvPr id="30" name="TextBox 29"/>
          <p:cNvSpPr txBox="1"/>
          <p:nvPr/>
        </p:nvSpPr>
        <p:spPr>
          <a:xfrm>
            <a:off x="9418320" y="5047488"/>
            <a:ext cx="4343400" cy="676656"/>
          </a:xfrm>
          <a:prstGeom prst="rect">
            <a:avLst/>
          </a:prstGeom>
          <a:noFill/>
        </p:spPr>
        <p:txBody>
          <a:bodyPr wrap="square" lIns="0" rIns="0" tIns="0" bIns="0">
            <a:spAutoFit/>
          </a:bodyPr>
          <a:lstStyle/>
          <a:p>
            <a:pPr>
              <a:lnSpc>
                <a:spcPct val="113000"/>
              </a:lnSpc>
              <a:spcAft>
                <a:spcPts val="0"/>
              </a:spcAft>
              <a:defRPr sz="1900" b="0">
                <a:solidFill>
                  <a:srgbClr val="687D94"/>
                </a:solidFill>
                <a:latin typeface="Noto Sans CJK KR"/>
              </a:defRPr>
            </a:pPr>
            <a:r>
              <a:t>통과한 안만 종합점수로 비교</a:t>
            </a:r>
          </a:p>
          <a:p>
            <a:pPr>
              <a:lnSpc>
                <a:spcPct val="113000"/>
              </a:lnSpc>
              <a:spcAft>
                <a:spcPts val="0"/>
              </a:spcAft>
              <a:defRPr sz="1900" b="0">
                <a:solidFill>
                  <a:srgbClr val="687D94"/>
                </a:solidFill>
                <a:latin typeface="Noto Sans CJK KR"/>
              </a:defRPr>
            </a:pPr>
            <a:r>
              <a:t>불가능하면 담당자 판단</a:t>
            </a:r>
          </a:p>
        </p:txBody>
      </p:sp>
      <p:sp>
        <p:nvSpPr>
          <p:cNvPr id="31" name="Rectangle 30"/>
          <p:cNvSpPr/>
          <p:nvPr/>
        </p:nvSpPr>
        <p:spPr>
          <a:xfrm>
            <a:off x="4489704" y="6080760"/>
            <a:ext cx="9473184" cy="749808"/>
          </a:xfrm>
          <a:prstGeom prst="rect">
            <a:avLst/>
          </a:prstGeom>
          <a:solidFill>
            <a:srgbClr val="101D3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727448" y="6300216"/>
            <a:ext cx="8988552" cy="320040"/>
          </a:xfrm>
          <a:prstGeom prst="rect">
            <a:avLst/>
          </a:prstGeom>
          <a:noFill/>
        </p:spPr>
        <p:txBody>
          <a:bodyPr wrap="square" lIns="0" rIns="0" tIns="0" bIns="0">
            <a:spAutoFit/>
          </a:bodyPr>
          <a:lstStyle/>
          <a:p>
            <a:pPr>
              <a:lnSpc>
                <a:spcPct val="113000"/>
              </a:lnSpc>
              <a:spcAft>
                <a:spcPts val="0"/>
              </a:spcAft>
              <a:defRPr sz="2200" b="1">
                <a:solidFill>
                  <a:srgbClr val="FFFFFF"/>
                </a:solidFill>
                <a:latin typeface="Noto Sans CJK KR"/>
              </a:defRPr>
            </a:pPr>
            <a:r>
              <a:t>04  실행 → 실제 배출 갱신 → 다음 요청에 다시 적용</a:t>
            </a:r>
          </a:p>
        </p:txBody>
      </p:sp>
      <p:cxnSp>
        <p:nvCxnSpPr>
          <p:cNvPr id="33" name="Connector 32"/>
          <p:cNvCxnSpPr/>
          <p:nvPr/>
        </p:nvCxnSpPr>
        <p:spPr>
          <a:xfrm>
            <a:off x="9976104" y="5696712"/>
            <a:ext cx="0" cy="347472"/>
          </a:xfrm>
          <a:prstGeom prst="line">
            <a:avLst/>
          </a:prstGeom>
          <a:ln w="19050">
            <a:solidFill>
              <a:srgbClr val="087F70"/>
            </a:solidFill>
          </a:ln>
        </p:spPr>
        <p:style>
          <a:lnRef idx="2">
            <a:schemeClr val="accent1"/>
          </a:lnRef>
          <a:fillRef idx="0">
            <a:schemeClr val="accent1"/>
          </a:fillRef>
          <a:effectRef idx="0">
            <a:schemeClr val="accent1"/>
          </a:effectRef>
          <a:fontRef idx="minor">
            <a:schemeClr val="tx1"/>
          </a:fontRef>
        </p:style>
      </p:cxnSp>
      <p:sp>
        <p:nvSpPr>
          <p:cNvPr id="34" name="Down Arrow 33"/>
          <p:cNvSpPr/>
          <p:nvPr/>
        </p:nvSpPr>
        <p:spPr>
          <a:xfrm>
            <a:off x="9893808" y="5815584"/>
            <a:ext cx="173736" cy="219456"/>
          </a:xfrm>
          <a:prstGeom prst="downArrow">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5" name="Connector 34"/>
          <p:cNvCxnSpPr/>
          <p:nvPr/>
        </p:nvCxnSpPr>
        <p:spPr>
          <a:xfrm flipH="1">
            <a:off x="3922776" y="6473952"/>
            <a:ext cx="566928" cy="0"/>
          </a:xfrm>
          <a:prstGeom prst="line">
            <a:avLst/>
          </a:prstGeom>
          <a:ln w="19050">
            <a:solidFill>
              <a:srgbClr val="087F70"/>
            </a:solidFill>
          </a:ln>
        </p:spPr>
        <p:style>
          <a:lnRef idx="2">
            <a:schemeClr val="accent1"/>
          </a:lnRef>
          <a:fillRef idx="0">
            <a:schemeClr val="accent1"/>
          </a:fillRef>
          <a:effectRef idx="0">
            <a:schemeClr val="accent1"/>
          </a:effectRef>
          <a:fontRef idx="minor">
            <a:schemeClr val="tx1"/>
          </a:fontRef>
        </p:style>
      </p:cxnSp>
      <p:cxnSp>
        <p:nvCxnSpPr>
          <p:cNvPr id="36" name="Connector 35"/>
          <p:cNvCxnSpPr/>
          <p:nvPr/>
        </p:nvCxnSpPr>
        <p:spPr>
          <a:xfrm flipV="1">
            <a:off x="3922776" y="5724144"/>
            <a:ext cx="0" cy="749808"/>
          </a:xfrm>
          <a:prstGeom prst="line">
            <a:avLst/>
          </a:prstGeom>
          <a:ln w="19050">
            <a:solidFill>
              <a:srgbClr val="087F70"/>
            </a:solidFill>
          </a:ln>
        </p:spPr>
        <p:style>
          <a:lnRef idx="2">
            <a:schemeClr val="accent1"/>
          </a:lnRef>
          <a:fillRef idx="0">
            <a:schemeClr val="accent1"/>
          </a:fillRef>
          <a:effectRef idx="0">
            <a:schemeClr val="accent1"/>
          </a:effectRef>
          <a:fontRef idx="minor">
            <a:schemeClr val="tx1"/>
          </a:fontRef>
        </p:style>
      </p:cxnSp>
      <p:sp>
        <p:nvSpPr>
          <p:cNvPr id="37" name="Left Arrow 36"/>
          <p:cNvSpPr/>
          <p:nvPr/>
        </p:nvSpPr>
        <p:spPr>
          <a:xfrm>
            <a:off x="3575304" y="5632704"/>
            <a:ext cx="347472" cy="173736"/>
          </a:xfrm>
          <a:prstGeom prst="leftArrow">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사용률은 실제 누적 배출 기준. 탄소 한도는 총예산−누적 실제 배출−확정·미정산 예상 배출로 계산. 내부 한도이며 법정 배출권과 구분합니다.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D31"/>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54DFC0"/>
                </a:solidFill>
                <a:latin typeface="Noto Sans CJK KR"/>
              </a:defRPr>
            </a:pPr>
            <a:r>
              <a:t>CBP  /  DECISION DESIGN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ADBED2"/>
                </a:solidFill>
                <a:latin typeface="Noto Sans CJK KR"/>
              </a:defRPr>
            </a:pPr>
            <a:r>
              <a:t>03 / WORKED EXAMPLE</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FFFFFF"/>
                </a:solidFill>
                <a:latin typeface="Noto Sans CJK KR"/>
              </a:defRPr>
            </a:pPr>
            <a:r>
              <a:t>82%를 썼다면, 어떤 운송안을 고를까요?</a:t>
            </a:r>
          </a:p>
        </p:txBody>
      </p:sp>
      <p:sp>
        <p:nvSpPr>
          <p:cNvPr id="5" name="TextBox 4"/>
          <p:cNvSpPr txBox="1"/>
          <p:nvPr/>
        </p:nvSpPr>
        <p:spPr>
          <a:xfrm>
            <a:off x="649224" y="2084831"/>
            <a:ext cx="13304520" cy="493776"/>
          </a:xfrm>
          <a:prstGeom prst="rect">
            <a:avLst/>
          </a:prstGeom>
          <a:noFill/>
        </p:spPr>
        <p:txBody>
          <a:bodyPr wrap="square" lIns="0" rIns="0" tIns="0" bIns="0">
            <a:spAutoFit/>
          </a:bodyPr>
          <a:lstStyle/>
          <a:p>
            <a:pPr>
              <a:lnSpc>
                <a:spcPct val="113000"/>
              </a:lnSpc>
              <a:spcAft>
                <a:spcPts val="0"/>
              </a:spcAft>
              <a:defRPr sz="1800" b="0">
                <a:solidFill>
                  <a:srgbClr val="ADBED2"/>
                </a:solidFill>
                <a:latin typeface="Noto Sans CJK KR"/>
              </a:defRPr>
            </a:pPr>
            <a:r>
              <a:t>동일 요청: 파렛트 1,000매 · 8시간 이내. 비용 한도 140만원. 모든 숫자는 설명용 가정입니다.</a:t>
            </a:r>
          </a:p>
        </p:txBody>
      </p:sp>
      <p:cxnSp>
        <p:nvCxnSpPr>
          <p:cNvPr id="6" name="Connector 5"/>
          <p:cNvCxnSpPr/>
          <p:nvPr/>
        </p:nvCxnSpPr>
        <p:spPr>
          <a:xfrm>
            <a:off x="621792" y="7717536"/>
            <a:ext cx="13386816" cy="0"/>
          </a:xfrm>
          <a:prstGeom prst="line">
            <a:avLst/>
          </a:prstGeom>
          <a:ln w="12700">
            <a:solidFill>
              <a:srgbClr val="32465F"/>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ADBED2"/>
                </a:solidFill>
                <a:latin typeface="Noto Sans CJK KR"/>
              </a:defRPr>
            </a:pPr>
            <a:r>
              <a:t>두런두런  ·  제13회 유닛로드시스템(ULS) 창의성 공모전</a:t>
            </a:r>
          </a:p>
        </p:txBody>
      </p:sp>
      <p:sp>
        <p:nvSpPr>
          <p:cNvPr id="8" name="TextBox 7"/>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54DFC0"/>
                </a:solidFill>
                <a:latin typeface="Noto Sans CJK KR"/>
              </a:defRPr>
            </a:pPr>
            <a:r>
              <a:t>03</a:t>
            </a:r>
          </a:p>
        </p:txBody>
      </p:sp>
      <p:sp>
        <p:nvSpPr>
          <p:cNvPr id="9" name="TextBox 8"/>
          <p:cNvSpPr txBox="1"/>
          <p:nvPr/>
        </p:nvSpPr>
        <p:spPr>
          <a:xfrm>
            <a:off x="758952" y="2852928"/>
            <a:ext cx="5888736" cy="292608"/>
          </a:xfrm>
          <a:prstGeom prst="rect">
            <a:avLst/>
          </a:prstGeom>
          <a:noFill/>
        </p:spPr>
        <p:txBody>
          <a:bodyPr wrap="square" lIns="0" rIns="0" tIns="0" bIns="0">
            <a:spAutoFit/>
          </a:bodyPr>
          <a:lstStyle/>
          <a:p>
            <a:pPr>
              <a:lnSpc>
                <a:spcPct val="113000"/>
              </a:lnSpc>
              <a:spcAft>
                <a:spcPts val="0"/>
              </a:spcAft>
              <a:defRPr sz="1900" b="1">
                <a:solidFill>
                  <a:srgbClr val="ADBED2"/>
                </a:solidFill>
                <a:latin typeface="Noto Sans CJK KR"/>
              </a:defRPr>
            </a:pPr>
            <a:r>
              <a:t>같은 공급 조건의 세 운송안</a:t>
            </a:r>
          </a:p>
        </p:txBody>
      </p:sp>
      <p:sp>
        <p:nvSpPr>
          <p:cNvPr id="10" name="TextBox 9"/>
          <p:cNvSpPr txBox="1"/>
          <p:nvPr/>
        </p:nvSpPr>
        <p:spPr>
          <a:xfrm>
            <a:off x="859536" y="3410712"/>
            <a:ext cx="960120" cy="566928"/>
          </a:xfrm>
          <a:prstGeom prst="rect">
            <a:avLst/>
          </a:prstGeom>
          <a:noFill/>
        </p:spPr>
        <p:txBody>
          <a:bodyPr wrap="square" lIns="0" rIns="0" tIns="0" bIns="0">
            <a:spAutoFit/>
          </a:bodyPr>
          <a:lstStyle/>
          <a:p>
            <a:pPr algn="ctr">
              <a:lnSpc>
                <a:spcPct val="113000"/>
              </a:lnSpc>
              <a:spcAft>
                <a:spcPts val="0"/>
              </a:spcAft>
              <a:defRPr sz="1400" b="1">
                <a:solidFill>
                  <a:srgbClr val="ADBED2"/>
                </a:solidFill>
                <a:latin typeface="Noto Sans CJK KR"/>
              </a:defRPr>
            </a:pPr>
            <a:r>
              <a:t>운송안</a:t>
            </a:r>
          </a:p>
        </p:txBody>
      </p:sp>
      <p:sp>
        <p:nvSpPr>
          <p:cNvPr id="11" name="TextBox 10"/>
          <p:cNvSpPr txBox="1"/>
          <p:nvPr/>
        </p:nvSpPr>
        <p:spPr>
          <a:xfrm>
            <a:off x="2057400" y="3410712"/>
            <a:ext cx="1243584" cy="566928"/>
          </a:xfrm>
          <a:prstGeom prst="rect">
            <a:avLst/>
          </a:prstGeom>
          <a:noFill/>
        </p:spPr>
        <p:txBody>
          <a:bodyPr wrap="square" lIns="0" rIns="0" tIns="0" bIns="0">
            <a:spAutoFit/>
          </a:bodyPr>
          <a:lstStyle/>
          <a:p>
            <a:pPr algn="ctr">
              <a:lnSpc>
                <a:spcPct val="113000"/>
              </a:lnSpc>
              <a:spcAft>
                <a:spcPts val="0"/>
              </a:spcAft>
              <a:defRPr sz="1400" b="1">
                <a:solidFill>
                  <a:srgbClr val="ADBED2"/>
                </a:solidFill>
                <a:latin typeface="Noto Sans CJK KR"/>
              </a:defRPr>
            </a:pPr>
            <a:r>
              <a:t>비용</a:t>
            </a:r>
          </a:p>
          <a:p>
            <a:pPr algn="ctr">
              <a:lnSpc>
                <a:spcPct val="113000"/>
              </a:lnSpc>
              <a:spcAft>
                <a:spcPts val="0"/>
              </a:spcAft>
              <a:defRPr sz="1400" b="1">
                <a:solidFill>
                  <a:srgbClr val="ADBED2"/>
                </a:solidFill>
                <a:latin typeface="Noto Sans CJK KR"/>
              </a:defRPr>
            </a:pPr>
            <a:r>
              <a:t>만원</a:t>
            </a:r>
          </a:p>
        </p:txBody>
      </p:sp>
      <p:sp>
        <p:nvSpPr>
          <p:cNvPr id="12" name="TextBox 11"/>
          <p:cNvSpPr txBox="1"/>
          <p:nvPr/>
        </p:nvSpPr>
        <p:spPr>
          <a:xfrm>
            <a:off x="3694176" y="3410712"/>
            <a:ext cx="1527048" cy="566928"/>
          </a:xfrm>
          <a:prstGeom prst="rect">
            <a:avLst/>
          </a:prstGeom>
          <a:noFill/>
        </p:spPr>
        <p:txBody>
          <a:bodyPr wrap="square" lIns="0" rIns="0" tIns="0" bIns="0">
            <a:spAutoFit/>
          </a:bodyPr>
          <a:lstStyle/>
          <a:p>
            <a:pPr algn="ctr">
              <a:lnSpc>
                <a:spcPct val="113000"/>
              </a:lnSpc>
              <a:spcAft>
                <a:spcPts val="0"/>
              </a:spcAft>
              <a:defRPr sz="1400" b="1">
                <a:solidFill>
                  <a:srgbClr val="ADBED2"/>
                </a:solidFill>
                <a:latin typeface="Noto Sans CJK KR"/>
              </a:defRPr>
            </a:pPr>
            <a:r>
              <a:t>배출</a:t>
            </a:r>
          </a:p>
          <a:p>
            <a:pPr algn="ctr">
              <a:lnSpc>
                <a:spcPct val="113000"/>
              </a:lnSpc>
              <a:spcAft>
                <a:spcPts val="0"/>
              </a:spcAft>
              <a:defRPr sz="1400" b="1">
                <a:solidFill>
                  <a:srgbClr val="ADBED2"/>
                </a:solidFill>
                <a:latin typeface="Noto Sans CJK KR"/>
              </a:defRPr>
            </a:pPr>
            <a:r>
              <a:t>kgCO₂e</a:t>
            </a:r>
          </a:p>
        </p:txBody>
      </p:sp>
      <p:sp>
        <p:nvSpPr>
          <p:cNvPr id="13" name="TextBox 12"/>
          <p:cNvSpPr txBox="1"/>
          <p:nvPr/>
        </p:nvSpPr>
        <p:spPr>
          <a:xfrm>
            <a:off x="5522976" y="3410712"/>
            <a:ext cx="1042415" cy="566928"/>
          </a:xfrm>
          <a:prstGeom prst="rect">
            <a:avLst/>
          </a:prstGeom>
          <a:noFill/>
        </p:spPr>
        <p:txBody>
          <a:bodyPr wrap="square" lIns="0" rIns="0" tIns="0" bIns="0">
            <a:spAutoFit/>
          </a:bodyPr>
          <a:lstStyle/>
          <a:p>
            <a:pPr algn="ctr">
              <a:lnSpc>
                <a:spcPct val="113000"/>
              </a:lnSpc>
              <a:spcAft>
                <a:spcPts val="0"/>
              </a:spcAft>
              <a:defRPr sz="1400" b="1">
                <a:solidFill>
                  <a:srgbClr val="ADBED2"/>
                </a:solidFill>
                <a:latin typeface="Noto Sans CJK KR"/>
              </a:defRPr>
            </a:pPr>
            <a:r>
              <a:t>도착</a:t>
            </a:r>
          </a:p>
          <a:p>
            <a:pPr algn="ctr">
              <a:lnSpc>
                <a:spcPct val="113000"/>
              </a:lnSpc>
              <a:spcAft>
                <a:spcPts val="0"/>
              </a:spcAft>
              <a:defRPr sz="1400" b="1">
                <a:solidFill>
                  <a:srgbClr val="ADBED2"/>
                </a:solidFill>
                <a:latin typeface="Noto Sans CJK KR"/>
              </a:defRPr>
            </a:pPr>
            <a:r>
              <a:t>시간</a:t>
            </a:r>
          </a:p>
        </p:txBody>
      </p:sp>
      <p:sp>
        <p:nvSpPr>
          <p:cNvPr id="14" name="TextBox 13"/>
          <p:cNvSpPr txBox="1"/>
          <p:nvPr/>
        </p:nvSpPr>
        <p:spPr>
          <a:xfrm>
            <a:off x="859536" y="4261103"/>
            <a:ext cx="960120" cy="393192"/>
          </a:xfrm>
          <a:prstGeom prst="rect">
            <a:avLst/>
          </a:prstGeom>
          <a:noFill/>
        </p:spPr>
        <p:txBody>
          <a:bodyPr wrap="square" lIns="0" rIns="0" tIns="0" bIns="0">
            <a:spAutoFit/>
          </a:bodyPr>
          <a:lstStyle/>
          <a:p>
            <a:pPr algn="ctr">
              <a:lnSpc>
                <a:spcPct val="113000"/>
              </a:lnSpc>
              <a:spcAft>
                <a:spcPts val="0"/>
              </a:spcAft>
              <a:defRPr sz="2400" b="1">
                <a:solidFill>
                  <a:srgbClr val="FFFFFF"/>
                </a:solidFill>
                <a:latin typeface="Noto Sans CJK KR"/>
              </a:defRPr>
            </a:pPr>
            <a:r>
              <a:t>A</a:t>
            </a:r>
          </a:p>
        </p:txBody>
      </p:sp>
      <p:sp>
        <p:nvSpPr>
          <p:cNvPr id="15" name="TextBox 14"/>
          <p:cNvSpPr txBox="1"/>
          <p:nvPr/>
        </p:nvSpPr>
        <p:spPr>
          <a:xfrm>
            <a:off x="2057400" y="4261103"/>
            <a:ext cx="1243584" cy="393192"/>
          </a:xfrm>
          <a:prstGeom prst="rect">
            <a:avLst/>
          </a:prstGeom>
          <a:noFill/>
        </p:spPr>
        <p:txBody>
          <a:bodyPr wrap="square" lIns="0" rIns="0" tIns="0" bIns="0">
            <a:spAutoFit/>
          </a:bodyPr>
          <a:lstStyle/>
          <a:p>
            <a:pPr algn="ctr">
              <a:lnSpc>
                <a:spcPct val="113000"/>
              </a:lnSpc>
              <a:spcAft>
                <a:spcPts val="0"/>
              </a:spcAft>
              <a:defRPr sz="2400" b="1">
                <a:solidFill>
                  <a:srgbClr val="FFFFFF"/>
                </a:solidFill>
                <a:latin typeface="Noto Sans CJK KR"/>
              </a:defRPr>
            </a:pPr>
            <a:r>
              <a:t>100</a:t>
            </a:r>
          </a:p>
        </p:txBody>
      </p:sp>
      <p:sp>
        <p:nvSpPr>
          <p:cNvPr id="16" name="TextBox 15"/>
          <p:cNvSpPr txBox="1"/>
          <p:nvPr/>
        </p:nvSpPr>
        <p:spPr>
          <a:xfrm>
            <a:off x="3694176" y="4261103"/>
            <a:ext cx="1527048" cy="393192"/>
          </a:xfrm>
          <a:prstGeom prst="rect">
            <a:avLst/>
          </a:prstGeom>
          <a:noFill/>
        </p:spPr>
        <p:txBody>
          <a:bodyPr wrap="square" lIns="0" rIns="0" tIns="0" bIns="0">
            <a:spAutoFit/>
          </a:bodyPr>
          <a:lstStyle/>
          <a:p>
            <a:pPr algn="ctr">
              <a:lnSpc>
                <a:spcPct val="113000"/>
              </a:lnSpc>
              <a:spcAft>
                <a:spcPts val="0"/>
              </a:spcAft>
              <a:defRPr sz="2400" b="1">
                <a:solidFill>
                  <a:srgbClr val="FFFFFF"/>
                </a:solidFill>
                <a:latin typeface="Noto Sans CJK KR"/>
              </a:defRPr>
            </a:pPr>
            <a:r>
              <a:t>400</a:t>
            </a:r>
          </a:p>
        </p:txBody>
      </p:sp>
      <p:sp>
        <p:nvSpPr>
          <p:cNvPr id="17" name="TextBox 16"/>
          <p:cNvSpPr txBox="1"/>
          <p:nvPr/>
        </p:nvSpPr>
        <p:spPr>
          <a:xfrm>
            <a:off x="5522976" y="4261103"/>
            <a:ext cx="1042415" cy="393192"/>
          </a:xfrm>
          <a:prstGeom prst="rect">
            <a:avLst/>
          </a:prstGeom>
          <a:noFill/>
        </p:spPr>
        <p:txBody>
          <a:bodyPr wrap="square" lIns="0" rIns="0" tIns="0" bIns="0">
            <a:spAutoFit/>
          </a:bodyPr>
          <a:lstStyle/>
          <a:p>
            <a:pPr algn="ctr">
              <a:lnSpc>
                <a:spcPct val="113000"/>
              </a:lnSpc>
              <a:spcAft>
                <a:spcPts val="0"/>
              </a:spcAft>
              <a:defRPr sz="2400" b="1">
                <a:solidFill>
                  <a:srgbClr val="FFFFFF"/>
                </a:solidFill>
                <a:latin typeface="Noto Sans CJK KR"/>
              </a:defRPr>
            </a:pPr>
            <a:r>
              <a:t>6</a:t>
            </a:r>
          </a:p>
        </p:txBody>
      </p:sp>
      <p:sp>
        <p:nvSpPr>
          <p:cNvPr id="18" name="TextBox 17"/>
          <p:cNvSpPr txBox="1"/>
          <p:nvPr/>
        </p:nvSpPr>
        <p:spPr>
          <a:xfrm>
            <a:off x="859536" y="5047488"/>
            <a:ext cx="960120" cy="393192"/>
          </a:xfrm>
          <a:prstGeom prst="rect">
            <a:avLst/>
          </a:prstGeom>
          <a:noFill/>
        </p:spPr>
        <p:txBody>
          <a:bodyPr wrap="square" lIns="0" rIns="0" tIns="0" bIns="0">
            <a:spAutoFit/>
          </a:bodyPr>
          <a:lstStyle/>
          <a:p>
            <a:pPr algn="ctr">
              <a:lnSpc>
                <a:spcPct val="113000"/>
              </a:lnSpc>
              <a:spcAft>
                <a:spcPts val="0"/>
              </a:spcAft>
              <a:defRPr sz="2400" b="1">
                <a:solidFill>
                  <a:srgbClr val="FFFFFF"/>
                </a:solidFill>
                <a:latin typeface="Noto Sans CJK KR"/>
              </a:defRPr>
            </a:pPr>
            <a:r>
              <a:t>B</a:t>
            </a:r>
          </a:p>
        </p:txBody>
      </p:sp>
      <p:sp>
        <p:nvSpPr>
          <p:cNvPr id="19" name="TextBox 18"/>
          <p:cNvSpPr txBox="1"/>
          <p:nvPr/>
        </p:nvSpPr>
        <p:spPr>
          <a:xfrm>
            <a:off x="2057400" y="5047488"/>
            <a:ext cx="1243584" cy="393192"/>
          </a:xfrm>
          <a:prstGeom prst="rect">
            <a:avLst/>
          </a:prstGeom>
          <a:noFill/>
        </p:spPr>
        <p:txBody>
          <a:bodyPr wrap="square" lIns="0" rIns="0" tIns="0" bIns="0">
            <a:spAutoFit/>
          </a:bodyPr>
          <a:lstStyle/>
          <a:p>
            <a:pPr algn="ctr">
              <a:lnSpc>
                <a:spcPct val="113000"/>
              </a:lnSpc>
              <a:spcAft>
                <a:spcPts val="0"/>
              </a:spcAft>
              <a:defRPr sz="2400" b="1">
                <a:solidFill>
                  <a:srgbClr val="FFFFFF"/>
                </a:solidFill>
                <a:latin typeface="Noto Sans CJK KR"/>
              </a:defRPr>
            </a:pPr>
            <a:r>
              <a:t>110</a:t>
            </a:r>
          </a:p>
        </p:txBody>
      </p:sp>
      <p:sp>
        <p:nvSpPr>
          <p:cNvPr id="20" name="TextBox 19"/>
          <p:cNvSpPr txBox="1"/>
          <p:nvPr/>
        </p:nvSpPr>
        <p:spPr>
          <a:xfrm>
            <a:off x="3694176" y="5047488"/>
            <a:ext cx="1527048" cy="393192"/>
          </a:xfrm>
          <a:prstGeom prst="rect">
            <a:avLst/>
          </a:prstGeom>
          <a:noFill/>
        </p:spPr>
        <p:txBody>
          <a:bodyPr wrap="square" lIns="0" rIns="0" tIns="0" bIns="0">
            <a:spAutoFit/>
          </a:bodyPr>
          <a:lstStyle/>
          <a:p>
            <a:pPr algn="ctr">
              <a:lnSpc>
                <a:spcPct val="113000"/>
              </a:lnSpc>
              <a:spcAft>
                <a:spcPts val="0"/>
              </a:spcAft>
              <a:defRPr sz="2400" b="1">
                <a:solidFill>
                  <a:srgbClr val="FFFFFF"/>
                </a:solidFill>
                <a:latin typeface="Noto Sans CJK KR"/>
              </a:defRPr>
            </a:pPr>
            <a:r>
              <a:t>260</a:t>
            </a:r>
          </a:p>
        </p:txBody>
      </p:sp>
      <p:sp>
        <p:nvSpPr>
          <p:cNvPr id="21" name="TextBox 20"/>
          <p:cNvSpPr txBox="1"/>
          <p:nvPr/>
        </p:nvSpPr>
        <p:spPr>
          <a:xfrm>
            <a:off x="5522976" y="5047488"/>
            <a:ext cx="1042415" cy="393192"/>
          </a:xfrm>
          <a:prstGeom prst="rect">
            <a:avLst/>
          </a:prstGeom>
          <a:noFill/>
        </p:spPr>
        <p:txBody>
          <a:bodyPr wrap="square" lIns="0" rIns="0" tIns="0" bIns="0">
            <a:spAutoFit/>
          </a:bodyPr>
          <a:lstStyle/>
          <a:p>
            <a:pPr algn="ctr">
              <a:lnSpc>
                <a:spcPct val="113000"/>
              </a:lnSpc>
              <a:spcAft>
                <a:spcPts val="0"/>
              </a:spcAft>
              <a:defRPr sz="2400" b="1">
                <a:solidFill>
                  <a:srgbClr val="FFFFFF"/>
                </a:solidFill>
                <a:latin typeface="Noto Sans CJK KR"/>
              </a:defRPr>
            </a:pPr>
            <a:r>
              <a:t>4</a:t>
            </a:r>
          </a:p>
        </p:txBody>
      </p:sp>
      <p:sp>
        <p:nvSpPr>
          <p:cNvPr id="22" name="Rectangle 21"/>
          <p:cNvSpPr/>
          <p:nvPr/>
        </p:nvSpPr>
        <p:spPr>
          <a:xfrm>
            <a:off x="731520" y="5733288"/>
            <a:ext cx="6016752" cy="658368"/>
          </a:xfrm>
          <a:prstGeom prst="rect">
            <a:avLst/>
          </a:prstGeom>
          <a:solidFill>
            <a:srgbClr val="1C2D46"/>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59536" y="5833871"/>
            <a:ext cx="960120" cy="393192"/>
          </a:xfrm>
          <a:prstGeom prst="rect">
            <a:avLst/>
          </a:prstGeom>
          <a:noFill/>
        </p:spPr>
        <p:txBody>
          <a:bodyPr wrap="square" lIns="0" rIns="0" tIns="0" bIns="0">
            <a:spAutoFit/>
          </a:bodyPr>
          <a:lstStyle/>
          <a:p>
            <a:pPr algn="ctr">
              <a:lnSpc>
                <a:spcPct val="113000"/>
              </a:lnSpc>
              <a:spcAft>
                <a:spcPts val="0"/>
              </a:spcAft>
              <a:defRPr sz="2400" b="1">
                <a:solidFill>
                  <a:srgbClr val="54DFC0"/>
                </a:solidFill>
                <a:latin typeface="Noto Sans CJK KR"/>
              </a:defRPr>
            </a:pPr>
            <a:r>
              <a:t>C</a:t>
            </a:r>
          </a:p>
        </p:txBody>
      </p:sp>
      <p:sp>
        <p:nvSpPr>
          <p:cNvPr id="24" name="TextBox 23"/>
          <p:cNvSpPr txBox="1"/>
          <p:nvPr/>
        </p:nvSpPr>
        <p:spPr>
          <a:xfrm>
            <a:off x="2057400" y="5833871"/>
            <a:ext cx="1243584" cy="393192"/>
          </a:xfrm>
          <a:prstGeom prst="rect">
            <a:avLst/>
          </a:prstGeom>
          <a:noFill/>
        </p:spPr>
        <p:txBody>
          <a:bodyPr wrap="square" lIns="0" rIns="0" tIns="0" bIns="0">
            <a:spAutoFit/>
          </a:bodyPr>
          <a:lstStyle/>
          <a:p>
            <a:pPr algn="ctr">
              <a:lnSpc>
                <a:spcPct val="113000"/>
              </a:lnSpc>
              <a:spcAft>
                <a:spcPts val="0"/>
              </a:spcAft>
              <a:defRPr sz="2400" b="1">
                <a:solidFill>
                  <a:srgbClr val="54DFC0"/>
                </a:solidFill>
                <a:latin typeface="Noto Sans CJK KR"/>
              </a:defRPr>
            </a:pPr>
            <a:r>
              <a:t>140</a:t>
            </a:r>
          </a:p>
        </p:txBody>
      </p:sp>
      <p:sp>
        <p:nvSpPr>
          <p:cNvPr id="25" name="TextBox 24"/>
          <p:cNvSpPr txBox="1"/>
          <p:nvPr/>
        </p:nvSpPr>
        <p:spPr>
          <a:xfrm>
            <a:off x="3694176" y="5833871"/>
            <a:ext cx="1527048" cy="393192"/>
          </a:xfrm>
          <a:prstGeom prst="rect">
            <a:avLst/>
          </a:prstGeom>
          <a:noFill/>
        </p:spPr>
        <p:txBody>
          <a:bodyPr wrap="square" lIns="0" rIns="0" tIns="0" bIns="0">
            <a:spAutoFit/>
          </a:bodyPr>
          <a:lstStyle/>
          <a:p>
            <a:pPr algn="ctr">
              <a:lnSpc>
                <a:spcPct val="113000"/>
              </a:lnSpc>
              <a:spcAft>
                <a:spcPts val="0"/>
              </a:spcAft>
              <a:defRPr sz="2400" b="1">
                <a:solidFill>
                  <a:srgbClr val="54DFC0"/>
                </a:solidFill>
                <a:latin typeface="Noto Sans CJK KR"/>
              </a:defRPr>
            </a:pPr>
            <a:r>
              <a:t>200</a:t>
            </a:r>
          </a:p>
        </p:txBody>
      </p:sp>
      <p:sp>
        <p:nvSpPr>
          <p:cNvPr id="26" name="TextBox 25"/>
          <p:cNvSpPr txBox="1"/>
          <p:nvPr/>
        </p:nvSpPr>
        <p:spPr>
          <a:xfrm>
            <a:off x="5522976" y="5833871"/>
            <a:ext cx="1042415" cy="393192"/>
          </a:xfrm>
          <a:prstGeom prst="rect">
            <a:avLst/>
          </a:prstGeom>
          <a:noFill/>
        </p:spPr>
        <p:txBody>
          <a:bodyPr wrap="square" lIns="0" rIns="0" tIns="0" bIns="0">
            <a:spAutoFit/>
          </a:bodyPr>
          <a:lstStyle/>
          <a:p>
            <a:pPr algn="ctr">
              <a:lnSpc>
                <a:spcPct val="113000"/>
              </a:lnSpc>
              <a:spcAft>
                <a:spcPts val="0"/>
              </a:spcAft>
              <a:defRPr sz="2400" b="1">
                <a:solidFill>
                  <a:srgbClr val="54DFC0"/>
                </a:solidFill>
                <a:latin typeface="Noto Sans CJK KR"/>
              </a:defRPr>
            </a:pPr>
            <a:r>
              <a:t>3</a:t>
            </a:r>
          </a:p>
        </p:txBody>
      </p:sp>
      <p:cxnSp>
        <p:nvCxnSpPr>
          <p:cNvPr id="27" name="Connector 26"/>
          <p:cNvCxnSpPr/>
          <p:nvPr/>
        </p:nvCxnSpPr>
        <p:spPr>
          <a:xfrm>
            <a:off x="7095744" y="2889504"/>
            <a:ext cx="0" cy="4078224"/>
          </a:xfrm>
          <a:prstGeom prst="line">
            <a:avLst/>
          </a:prstGeom>
          <a:ln w="12700">
            <a:solidFill>
              <a:srgbClr val="3C516C"/>
            </a:solidFill>
          </a:ln>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7571231" y="2898648"/>
            <a:ext cx="6153912" cy="320040"/>
          </a:xfrm>
          <a:prstGeom prst="rect">
            <a:avLst/>
          </a:prstGeom>
          <a:noFill/>
        </p:spPr>
        <p:txBody>
          <a:bodyPr wrap="square" lIns="0" rIns="0" tIns="0" bIns="0">
            <a:spAutoFit/>
          </a:bodyPr>
          <a:lstStyle/>
          <a:p>
            <a:pPr>
              <a:lnSpc>
                <a:spcPct val="113000"/>
              </a:lnSpc>
              <a:spcAft>
                <a:spcPts val="0"/>
              </a:spcAft>
              <a:defRPr sz="1800" b="1">
                <a:solidFill>
                  <a:srgbClr val="ADBED2"/>
                </a:solidFill>
                <a:latin typeface="Noto Sans CJK KR"/>
              </a:defRPr>
            </a:pPr>
            <a:r>
              <a:t>탄소 모드  /  비용 20 · 탄소 60 · 시간 20</a:t>
            </a:r>
          </a:p>
        </p:txBody>
      </p:sp>
      <p:sp>
        <p:nvSpPr>
          <p:cNvPr id="29" name="TextBox 28"/>
          <p:cNvSpPr txBox="1"/>
          <p:nvPr/>
        </p:nvSpPr>
        <p:spPr>
          <a:xfrm>
            <a:off x="7543800" y="3511296"/>
            <a:ext cx="1645920" cy="1344168"/>
          </a:xfrm>
          <a:prstGeom prst="rect">
            <a:avLst/>
          </a:prstGeom>
          <a:noFill/>
        </p:spPr>
        <p:txBody>
          <a:bodyPr wrap="square" lIns="0" rIns="0" tIns="0" bIns="0">
            <a:spAutoFit/>
          </a:bodyPr>
          <a:lstStyle/>
          <a:p>
            <a:pPr>
              <a:lnSpc>
                <a:spcPct val="113000"/>
              </a:lnSpc>
              <a:spcAft>
                <a:spcPts val="0"/>
              </a:spcAft>
              <a:defRPr sz="9400" b="1">
                <a:solidFill>
                  <a:srgbClr val="54DFC0"/>
                </a:solidFill>
                <a:latin typeface="Noto Sans CJK KR"/>
              </a:defRPr>
            </a:pPr>
            <a:r>
              <a:t>C</a:t>
            </a:r>
          </a:p>
        </p:txBody>
      </p:sp>
      <p:sp>
        <p:nvSpPr>
          <p:cNvPr id="30" name="TextBox 29"/>
          <p:cNvSpPr txBox="1"/>
          <p:nvPr/>
        </p:nvSpPr>
        <p:spPr>
          <a:xfrm>
            <a:off x="9482328" y="3813048"/>
            <a:ext cx="4251960" cy="475488"/>
          </a:xfrm>
          <a:prstGeom prst="rect">
            <a:avLst/>
          </a:prstGeom>
          <a:noFill/>
        </p:spPr>
        <p:txBody>
          <a:bodyPr wrap="square" lIns="0" rIns="0" tIns="0" bIns="0">
            <a:spAutoFit/>
          </a:bodyPr>
          <a:lstStyle/>
          <a:p>
            <a:pPr>
              <a:lnSpc>
                <a:spcPct val="113000"/>
              </a:lnSpc>
              <a:spcAft>
                <a:spcPts val="0"/>
              </a:spcAft>
              <a:defRPr sz="2900" b="1">
                <a:solidFill>
                  <a:srgbClr val="FFFFFF"/>
                </a:solidFill>
                <a:latin typeface="Noto Sans CJK KR"/>
              </a:defRPr>
            </a:pPr>
            <a:r>
              <a:t>종합점수 0.725</a:t>
            </a:r>
          </a:p>
        </p:txBody>
      </p:sp>
      <p:sp>
        <p:nvSpPr>
          <p:cNvPr id="31" name="TextBox 30"/>
          <p:cNvSpPr txBox="1"/>
          <p:nvPr/>
        </p:nvSpPr>
        <p:spPr>
          <a:xfrm>
            <a:off x="9500616" y="4489704"/>
            <a:ext cx="4251960" cy="310896"/>
          </a:xfrm>
          <a:prstGeom prst="rect">
            <a:avLst/>
          </a:prstGeom>
          <a:noFill/>
        </p:spPr>
        <p:txBody>
          <a:bodyPr wrap="square" lIns="0" rIns="0" tIns="0" bIns="0">
            <a:spAutoFit/>
          </a:bodyPr>
          <a:lstStyle/>
          <a:p>
            <a:pPr>
              <a:lnSpc>
                <a:spcPct val="113000"/>
              </a:lnSpc>
              <a:spcAft>
                <a:spcPts val="0"/>
              </a:spcAft>
              <a:defRPr sz="1800" b="0">
                <a:solidFill>
                  <a:srgbClr val="ADBED2"/>
                </a:solidFill>
                <a:latin typeface="Noto Sans CJK KR"/>
              </a:defRPr>
            </a:pPr>
            <a:r>
              <a:t>A 0.250  /  B 0.670</a:t>
            </a:r>
          </a:p>
        </p:txBody>
      </p:sp>
      <p:cxnSp>
        <p:nvCxnSpPr>
          <p:cNvPr id="32" name="Connector 31"/>
          <p:cNvCxnSpPr/>
          <p:nvPr/>
        </p:nvCxnSpPr>
        <p:spPr>
          <a:xfrm>
            <a:off x="7580375" y="5285232"/>
            <a:ext cx="6245353" cy="0"/>
          </a:xfrm>
          <a:prstGeom prst="line">
            <a:avLst/>
          </a:prstGeom>
          <a:ln w="12700">
            <a:solidFill>
              <a:srgbClr val="3C516C"/>
            </a:solidFill>
          </a:ln>
        </p:spPr>
        <p:style>
          <a:lnRef idx="2">
            <a:schemeClr val="accent1"/>
          </a:lnRef>
          <a:fillRef idx="0">
            <a:schemeClr val="accent1"/>
          </a:fillRef>
          <a:effectRef idx="0">
            <a:schemeClr val="accent1"/>
          </a:effectRef>
          <a:fontRef idx="minor">
            <a:schemeClr val="tx1"/>
          </a:fontRef>
        </p:style>
      </p:cxnSp>
      <p:sp>
        <p:nvSpPr>
          <p:cNvPr id="33" name="TextBox 32"/>
          <p:cNvSpPr txBox="1"/>
          <p:nvPr/>
        </p:nvSpPr>
        <p:spPr>
          <a:xfrm>
            <a:off x="7589520" y="5522976"/>
            <a:ext cx="6135624" cy="374904"/>
          </a:xfrm>
          <a:prstGeom prst="rect">
            <a:avLst/>
          </a:prstGeom>
          <a:noFill/>
        </p:spPr>
        <p:txBody>
          <a:bodyPr wrap="square" lIns="0" rIns="0" tIns="0" bIns="0">
            <a:spAutoFit/>
          </a:bodyPr>
          <a:lstStyle/>
          <a:p>
            <a:pPr>
              <a:lnSpc>
                <a:spcPct val="113000"/>
              </a:lnSpc>
              <a:spcAft>
                <a:spcPts val="0"/>
              </a:spcAft>
              <a:defRPr sz="2200" b="1">
                <a:solidFill>
                  <a:srgbClr val="FFFFFF"/>
                </a:solidFill>
                <a:latin typeface="Noto Sans CJK KR"/>
              </a:defRPr>
            </a:pPr>
            <a:r>
              <a:t>A → C : 비용 +40만원 / 배출 −200kg</a:t>
            </a:r>
          </a:p>
        </p:txBody>
      </p:sp>
      <p:sp>
        <p:nvSpPr>
          <p:cNvPr id="34" name="Rectangle 33"/>
          <p:cNvSpPr/>
          <p:nvPr/>
        </p:nvSpPr>
        <p:spPr>
          <a:xfrm>
            <a:off x="7571231" y="6272784"/>
            <a:ext cx="6281928" cy="640080"/>
          </a:xfrm>
          <a:prstGeom prst="rect">
            <a:avLst/>
          </a:prstGeom>
          <a:solidFill>
            <a:srgbClr val="25493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7781544" y="6464808"/>
            <a:ext cx="5861304" cy="301752"/>
          </a:xfrm>
          <a:prstGeom prst="rect">
            <a:avLst/>
          </a:prstGeom>
          <a:noFill/>
        </p:spPr>
        <p:txBody>
          <a:bodyPr wrap="square" lIns="0" rIns="0" tIns="0" bIns="0">
            <a:spAutoFit/>
          </a:bodyPr>
          <a:lstStyle/>
          <a:p>
            <a:pPr>
              <a:lnSpc>
                <a:spcPct val="113000"/>
              </a:lnSpc>
              <a:spcAft>
                <a:spcPts val="0"/>
              </a:spcAft>
              <a:defRPr sz="1800" b="1">
                <a:solidFill>
                  <a:srgbClr val="54DFC0"/>
                </a:solidFill>
                <a:latin typeface="Noto Sans CJK KR"/>
              </a:defRPr>
            </a:pPr>
            <a:r>
              <a:t>비용 한도가 120만원이면  →  C 제외, B 추천</a:t>
            </a:r>
          </a:p>
        </p:txBody>
      </p:sp>
      <p:sp>
        <p:nvSpPr>
          <p:cNvPr id="36" name="TextBox 35"/>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ADBED2"/>
                </a:solidFill>
                <a:latin typeface="Noto Sans CJK KR"/>
              </a:defRPr>
            </a:pPr>
            <a:r>
              <a:t>RPS는 허용 후보의 비용·배출·시간 여유를 0–1 점수로 맞춘 가중합입니다. 비용 한도 변경 시 정규화 재계산. 현장 감축 성과가 아닙니다.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CBP  /  DECISION DESIGN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687D94"/>
                </a:solidFill>
                <a:latin typeface="Noto Sans CJK KR"/>
              </a:defRPr>
            </a:pPr>
            <a:r>
              <a:t>04 / WHAT CHANGES</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같은 후보. 다른 예산 상태. 달라지는 선택.</a:t>
            </a:r>
          </a:p>
        </p:txBody>
      </p:sp>
      <p:sp>
        <p:nvSpPr>
          <p:cNvPr id="5" name="TextBox 4"/>
          <p:cNvSpPr txBox="1"/>
          <p:nvPr/>
        </p:nvSpPr>
        <p:spPr>
          <a:xfrm>
            <a:off x="649224" y="2084831"/>
            <a:ext cx="13304520" cy="493776"/>
          </a:xfrm>
          <a:prstGeom prst="rect">
            <a:avLst/>
          </a:prstGeom>
          <a:noFill/>
        </p:spPr>
        <p:txBody>
          <a:bodyPr wrap="square" lIns="0" rIns="0" tIns="0" bIns="0">
            <a:spAutoFit/>
          </a:bodyPr>
          <a:lstStyle/>
          <a:p>
            <a:pPr>
              <a:lnSpc>
                <a:spcPct val="113000"/>
              </a:lnSpc>
              <a:spcAft>
                <a:spcPts val="0"/>
              </a:spcAft>
              <a:defRPr sz="1800" b="0">
                <a:solidFill>
                  <a:srgbClr val="687D94"/>
                </a:solidFill>
                <a:latin typeface="Noto Sans CJK KR"/>
              </a:defRPr>
            </a:pPr>
            <a:r>
              <a:t>비교 기준을 고정하고, 예산 사용률만 바꾼 단일 의사결정 실험입니다.</a:t>
            </a:r>
          </a:p>
        </p:txBody>
      </p:sp>
      <p:cxnSp>
        <p:nvCxnSpPr>
          <p:cNvPr id="6" name="Connector 5"/>
          <p:cNvCxnSpPr/>
          <p:nvPr/>
        </p:nvCxnSpPr>
        <p:spPr>
          <a:xfrm>
            <a:off x="621792" y="7717536"/>
            <a:ext cx="13386816"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두런두런  ·  제13회 유닛로드시스템(ULS) 창의성 공모전</a:t>
            </a:r>
          </a:p>
        </p:txBody>
      </p:sp>
      <p:sp>
        <p:nvSpPr>
          <p:cNvPr id="8" name="TextBox 7"/>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087F70"/>
                </a:solidFill>
                <a:latin typeface="Noto Sans CJK KR"/>
              </a:defRPr>
            </a:pPr>
            <a:r>
              <a:t>04</a:t>
            </a:r>
          </a:p>
        </p:txBody>
      </p:sp>
      <p:sp>
        <p:nvSpPr>
          <p:cNvPr id="9" name="TextBox 8"/>
          <p:cNvSpPr txBox="1"/>
          <p:nvPr/>
        </p:nvSpPr>
        <p:spPr>
          <a:xfrm>
            <a:off x="786384" y="2898648"/>
            <a:ext cx="4023360" cy="338328"/>
          </a:xfrm>
          <a:prstGeom prst="rect">
            <a:avLst/>
          </a:prstGeom>
          <a:noFill/>
        </p:spPr>
        <p:txBody>
          <a:bodyPr wrap="square" lIns="0" rIns="0" tIns="0" bIns="0">
            <a:spAutoFit/>
          </a:bodyPr>
          <a:lstStyle/>
          <a:p>
            <a:pPr>
              <a:lnSpc>
                <a:spcPct val="113000"/>
              </a:lnSpc>
              <a:spcAft>
                <a:spcPts val="0"/>
              </a:spcAft>
              <a:defRPr sz="1800" b="1">
                <a:solidFill>
                  <a:srgbClr val="687D94"/>
                </a:solidFill>
                <a:latin typeface="Noto Sans CJK KR"/>
              </a:defRPr>
            </a:pPr>
            <a:r>
              <a:t>비교 정책</a:t>
            </a:r>
          </a:p>
        </p:txBody>
      </p:sp>
      <p:sp>
        <p:nvSpPr>
          <p:cNvPr id="10" name="TextBox 9"/>
          <p:cNvSpPr txBox="1"/>
          <p:nvPr/>
        </p:nvSpPr>
        <p:spPr>
          <a:xfrm>
            <a:off x="4809744" y="2761488"/>
            <a:ext cx="1645920" cy="502920"/>
          </a:xfrm>
          <a:prstGeom prst="rect">
            <a:avLst/>
          </a:prstGeom>
          <a:noFill/>
        </p:spPr>
        <p:txBody>
          <a:bodyPr wrap="square" lIns="0" rIns="0" tIns="0" bIns="0">
            <a:spAutoFit/>
          </a:bodyPr>
          <a:lstStyle/>
          <a:p>
            <a:pPr algn="ctr">
              <a:lnSpc>
                <a:spcPct val="113000"/>
              </a:lnSpc>
              <a:spcAft>
                <a:spcPts val="0"/>
              </a:spcAft>
              <a:defRPr sz="3100" b="1">
                <a:solidFill>
                  <a:srgbClr val="087F70"/>
                </a:solidFill>
                <a:latin typeface="Noto Sans CJK KR"/>
              </a:defRPr>
            </a:pPr>
            <a:r>
              <a:t>50%</a:t>
            </a:r>
          </a:p>
        </p:txBody>
      </p:sp>
      <p:sp>
        <p:nvSpPr>
          <p:cNvPr id="11" name="TextBox 10"/>
          <p:cNvSpPr txBox="1"/>
          <p:nvPr/>
        </p:nvSpPr>
        <p:spPr>
          <a:xfrm>
            <a:off x="7205472" y="2761488"/>
            <a:ext cx="1645920" cy="502920"/>
          </a:xfrm>
          <a:prstGeom prst="rect">
            <a:avLst/>
          </a:prstGeom>
          <a:noFill/>
        </p:spPr>
        <p:txBody>
          <a:bodyPr wrap="square" lIns="0" rIns="0" tIns="0" bIns="0">
            <a:spAutoFit/>
          </a:bodyPr>
          <a:lstStyle/>
          <a:p>
            <a:pPr algn="ctr">
              <a:lnSpc>
                <a:spcPct val="113000"/>
              </a:lnSpc>
              <a:spcAft>
                <a:spcPts val="0"/>
              </a:spcAft>
              <a:defRPr sz="3100" b="1">
                <a:solidFill>
                  <a:srgbClr val="087F70"/>
                </a:solidFill>
                <a:latin typeface="Noto Sans CJK KR"/>
              </a:defRPr>
            </a:pPr>
            <a:r>
              <a:t>68%</a:t>
            </a:r>
          </a:p>
        </p:txBody>
      </p:sp>
      <p:sp>
        <p:nvSpPr>
          <p:cNvPr id="12" name="TextBox 11"/>
          <p:cNvSpPr txBox="1"/>
          <p:nvPr/>
        </p:nvSpPr>
        <p:spPr>
          <a:xfrm>
            <a:off x="9601200" y="2761488"/>
            <a:ext cx="1645920" cy="502920"/>
          </a:xfrm>
          <a:prstGeom prst="rect">
            <a:avLst/>
          </a:prstGeom>
          <a:noFill/>
        </p:spPr>
        <p:txBody>
          <a:bodyPr wrap="square" lIns="0" rIns="0" tIns="0" bIns="0">
            <a:spAutoFit/>
          </a:bodyPr>
          <a:lstStyle/>
          <a:p>
            <a:pPr algn="ctr">
              <a:lnSpc>
                <a:spcPct val="113000"/>
              </a:lnSpc>
              <a:spcAft>
                <a:spcPts val="0"/>
              </a:spcAft>
              <a:defRPr sz="3100" b="1">
                <a:solidFill>
                  <a:srgbClr val="087F70"/>
                </a:solidFill>
                <a:latin typeface="Noto Sans CJK KR"/>
              </a:defRPr>
            </a:pPr>
            <a:r>
              <a:t>82%</a:t>
            </a:r>
          </a:p>
        </p:txBody>
      </p:sp>
      <p:sp>
        <p:nvSpPr>
          <p:cNvPr id="13" name="TextBox 12"/>
          <p:cNvSpPr txBox="1"/>
          <p:nvPr/>
        </p:nvSpPr>
        <p:spPr>
          <a:xfrm>
            <a:off x="11996928" y="2761488"/>
            <a:ext cx="1645920" cy="502920"/>
          </a:xfrm>
          <a:prstGeom prst="rect">
            <a:avLst/>
          </a:prstGeom>
          <a:noFill/>
        </p:spPr>
        <p:txBody>
          <a:bodyPr wrap="square" lIns="0" rIns="0" tIns="0" bIns="0">
            <a:spAutoFit/>
          </a:bodyPr>
          <a:lstStyle/>
          <a:p>
            <a:pPr algn="ctr">
              <a:lnSpc>
                <a:spcPct val="113000"/>
              </a:lnSpc>
              <a:spcAft>
                <a:spcPts val="0"/>
              </a:spcAft>
              <a:defRPr sz="3100" b="1">
                <a:solidFill>
                  <a:srgbClr val="087F70"/>
                </a:solidFill>
                <a:latin typeface="Noto Sans CJK KR"/>
              </a:defRPr>
            </a:pPr>
            <a:r>
              <a:t>93%</a:t>
            </a:r>
          </a:p>
        </p:txBody>
      </p:sp>
      <p:sp>
        <p:nvSpPr>
          <p:cNvPr id="14" name="TextBox 13"/>
          <p:cNvSpPr txBox="1"/>
          <p:nvPr/>
        </p:nvSpPr>
        <p:spPr>
          <a:xfrm>
            <a:off x="11750040" y="3364992"/>
            <a:ext cx="2212848" cy="246888"/>
          </a:xfrm>
          <a:prstGeom prst="rect">
            <a:avLst/>
          </a:prstGeom>
          <a:noFill/>
        </p:spPr>
        <p:txBody>
          <a:bodyPr wrap="square" lIns="0" rIns="0" tIns="0" bIns="0">
            <a:spAutoFit/>
          </a:bodyPr>
          <a:lstStyle/>
          <a:p>
            <a:pPr algn="r">
              <a:lnSpc>
                <a:spcPct val="113000"/>
              </a:lnSpc>
              <a:spcAft>
                <a:spcPts val="0"/>
              </a:spcAft>
              <a:defRPr sz="1200" b="0">
                <a:solidFill>
                  <a:srgbClr val="687D94"/>
                </a:solidFill>
                <a:latin typeface="Noto Sans CJK KR"/>
              </a:defRPr>
            </a:pPr>
            <a:r>
              <a:t>탄소예산 사용률</a:t>
            </a:r>
          </a:p>
        </p:txBody>
      </p:sp>
      <p:sp>
        <p:nvSpPr>
          <p:cNvPr id="15" name="TextBox 14"/>
          <p:cNvSpPr txBox="1"/>
          <p:nvPr/>
        </p:nvSpPr>
        <p:spPr>
          <a:xfrm>
            <a:off x="932688" y="3904487"/>
            <a:ext cx="3611880" cy="365760"/>
          </a:xfrm>
          <a:prstGeom prst="rect">
            <a:avLst/>
          </a:prstGeom>
          <a:noFill/>
        </p:spPr>
        <p:txBody>
          <a:bodyPr wrap="square" lIns="0" rIns="0" tIns="0" bIns="0">
            <a:spAutoFit/>
          </a:bodyPr>
          <a:lstStyle/>
          <a:p>
            <a:pPr>
              <a:lnSpc>
                <a:spcPct val="113000"/>
              </a:lnSpc>
              <a:spcAft>
                <a:spcPts val="0"/>
              </a:spcAft>
              <a:defRPr sz="2500" b="1">
                <a:solidFill>
                  <a:srgbClr val="14243C"/>
                </a:solidFill>
                <a:latin typeface="Noto Sans CJK KR"/>
              </a:defRPr>
            </a:pPr>
            <a:r>
              <a:t>비용 우선</a:t>
            </a:r>
          </a:p>
        </p:txBody>
      </p:sp>
      <p:sp>
        <p:nvSpPr>
          <p:cNvPr id="16" name="TextBox 15"/>
          <p:cNvSpPr txBox="1"/>
          <p:nvPr/>
        </p:nvSpPr>
        <p:spPr>
          <a:xfrm>
            <a:off x="941832" y="4361688"/>
            <a:ext cx="3822191" cy="256032"/>
          </a:xfrm>
          <a:prstGeom prst="rect">
            <a:avLst/>
          </a:prstGeom>
          <a:noFill/>
        </p:spPr>
        <p:txBody>
          <a:bodyPr wrap="square" lIns="0" rIns="0" tIns="0" bIns="0">
            <a:spAutoFit/>
          </a:bodyPr>
          <a:lstStyle/>
          <a:p>
            <a:pPr>
              <a:lnSpc>
                <a:spcPct val="113000"/>
              </a:lnSpc>
              <a:spcAft>
                <a:spcPts val="0"/>
              </a:spcAft>
              <a:defRPr sz="1300" b="0">
                <a:solidFill>
                  <a:srgbClr val="687D94"/>
                </a:solidFill>
                <a:latin typeface="Noto Sans CJK KR"/>
              </a:defRPr>
            </a:pPr>
            <a:r>
              <a:t>비용만으로 순위 결정</a:t>
            </a:r>
          </a:p>
        </p:txBody>
      </p:sp>
      <p:sp>
        <p:nvSpPr>
          <p:cNvPr id="17" name="Oval 16"/>
          <p:cNvSpPr/>
          <p:nvPr/>
        </p:nvSpPr>
        <p:spPr>
          <a:xfrm>
            <a:off x="5129783" y="3922775"/>
            <a:ext cx="530352" cy="530352"/>
          </a:xfrm>
          <a:prstGeom prst="ellipse">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5129783" y="4005072"/>
            <a:ext cx="530352" cy="329184"/>
          </a:xfrm>
          <a:prstGeom prst="rect">
            <a:avLst/>
          </a:prstGeom>
          <a:noFill/>
        </p:spPr>
        <p:txBody>
          <a:bodyPr wrap="square" lIns="0" rIns="0" tIns="0" bIns="0">
            <a:spAutoFit/>
          </a:bodyPr>
          <a:lstStyle/>
          <a:p>
            <a:pPr algn="ctr">
              <a:lnSpc>
                <a:spcPct val="113000"/>
              </a:lnSpc>
              <a:spcAft>
                <a:spcPts val="0"/>
              </a:spcAft>
              <a:defRPr sz="2200" b="1">
                <a:solidFill>
                  <a:srgbClr val="687D94"/>
                </a:solidFill>
                <a:latin typeface="Noto Sans CJK KR"/>
              </a:defRPr>
            </a:pPr>
            <a:r>
              <a:t>A</a:t>
            </a:r>
          </a:p>
        </p:txBody>
      </p:sp>
      <p:sp>
        <p:nvSpPr>
          <p:cNvPr id="19" name="Oval 18"/>
          <p:cNvSpPr/>
          <p:nvPr/>
        </p:nvSpPr>
        <p:spPr>
          <a:xfrm>
            <a:off x="7525512" y="3922775"/>
            <a:ext cx="530352" cy="530352"/>
          </a:xfrm>
          <a:prstGeom prst="ellipse">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525512" y="4005072"/>
            <a:ext cx="530352" cy="329184"/>
          </a:xfrm>
          <a:prstGeom prst="rect">
            <a:avLst/>
          </a:prstGeom>
          <a:noFill/>
        </p:spPr>
        <p:txBody>
          <a:bodyPr wrap="square" lIns="0" rIns="0" tIns="0" bIns="0">
            <a:spAutoFit/>
          </a:bodyPr>
          <a:lstStyle/>
          <a:p>
            <a:pPr algn="ctr">
              <a:lnSpc>
                <a:spcPct val="113000"/>
              </a:lnSpc>
              <a:spcAft>
                <a:spcPts val="0"/>
              </a:spcAft>
              <a:defRPr sz="2200" b="1">
                <a:solidFill>
                  <a:srgbClr val="687D94"/>
                </a:solidFill>
                <a:latin typeface="Noto Sans CJK KR"/>
              </a:defRPr>
            </a:pPr>
            <a:r>
              <a:t>A</a:t>
            </a:r>
          </a:p>
        </p:txBody>
      </p:sp>
      <p:sp>
        <p:nvSpPr>
          <p:cNvPr id="21" name="Oval 20"/>
          <p:cNvSpPr/>
          <p:nvPr/>
        </p:nvSpPr>
        <p:spPr>
          <a:xfrm>
            <a:off x="9921240" y="3922775"/>
            <a:ext cx="530352" cy="530352"/>
          </a:xfrm>
          <a:prstGeom prst="ellipse">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921240" y="4005072"/>
            <a:ext cx="530352" cy="329184"/>
          </a:xfrm>
          <a:prstGeom prst="rect">
            <a:avLst/>
          </a:prstGeom>
          <a:noFill/>
        </p:spPr>
        <p:txBody>
          <a:bodyPr wrap="square" lIns="0" rIns="0" tIns="0" bIns="0">
            <a:spAutoFit/>
          </a:bodyPr>
          <a:lstStyle/>
          <a:p>
            <a:pPr algn="ctr">
              <a:lnSpc>
                <a:spcPct val="113000"/>
              </a:lnSpc>
              <a:spcAft>
                <a:spcPts val="0"/>
              </a:spcAft>
              <a:defRPr sz="2200" b="1">
                <a:solidFill>
                  <a:srgbClr val="687D94"/>
                </a:solidFill>
                <a:latin typeface="Noto Sans CJK KR"/>
              </a:defRPr>
            </a:pPr>
            <a:r>
              <a:t>A</a:t>
            </a:r>
          </a:p>
        </p:txBody>
      </p:sp>
      <p:sp>
        <p:nvSpPr>
          <p:cNvPr id="23" name="Oval 22"/>
          <p:cNvSpPr/>
          <p:nvPr/>
        </p:nvSpPr>
        <p:spPr>
          <a:xfrm>
            <a:off x="12316968" y="3922775"/>
            <a:ext cx="530352" cy="530352"/>
          </a:xfrm>
          <a:prstGeom prst="ellipse">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2316968" y="4005072"/>
            <a:ext cx="530352" cy="329184"/>
          </a:xfrm>
          <a:prstGeom prst="rect">
            <a:avLst/>
          </a:prstGeom>
          <a:noFill/>
        </p:spPr>
        <p:txBody>
          <a:bodyPr wrap="square" lIns="0" rIns="0" tIns="0" bIns="0">
            <a:spAutoFit/>
          </a:bodyPr>
          <a:lstStyle/>
          <a:p>
            <a:pPr algn="ctr">
              <a:lnSpc>
                <a:spcPct val="113000"/>
              </a:lnSpc>
              <a:spcAft>
                <a:spcPts val="0"/>
              </a:spcAft>
              <a:defRPr sz="2200" b="1">
                <a:solidFill>
                  <a:srgbClr val="687D94"/>
                </a:solidFill>
                <a:latin typeface="Noto Sans CJK KR"/>
              </a:defRPr>
            </a:pPr>
            <a:r>
              <a:t>A</a:t>
            </a:r>
          </a:p>
        </p:txBody>
      </p:sp>
      <p:cxnSp>
        <p:nvCxnSpPr>
          <p:cNvPr id="25" name="Connector 24"/>
          <p:cNvCxnSpPr/>
          <p:nvPr/>
        </p:nvCxnSpPr>
        <p:spPr>
          <a:xfrm>
            <a:off x="932688" y="4690872"/>
            <a:ext cx="12801600"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932688" y="4901184"/>
            <a:ext cx="3611880" cy="365760"/>
          </a:xfrm>
          <a:prstGeom prst="rect">
            <a:avLst/>
          </a:prstGeom>
          <a:noFill/>
        </p:spPr>
        <p:txBody>
          <a:bodyPr wrap="square" lIns="0" rIns="0" tIns="0" bIns="0">
            <a:spAutoFit/>
          </a:bodyPr>
          <a:lstStyle/>
          <a:p>
            <a:pPr>
              <a:lnSpc>
                <a:spcPct val="113000"/>
              </a:lnSpc>
              <a:spcAft>
                <a:spcPts val="0"/>
              </a:spcAft>
              <a:defRPr sz="2500" b="1">
                <a:solidFill>
                  <a:srgbClr val="14243C"/>
                </a:solidFill>
                <a:latin typeface="Noto Sans CJK KR"/>
              </a:defRPr>
            </a:pPr>
            <a:r>
              <a:t>고정 가중치</a:t>
            </a:r>
          </a:p>
        </p:txBody>
      </p:sp>
      <p:sp>
        <p:nvSpPr>
          <p:cNvPr id="27" name="TextBox 26"/>
          <p:cNvSpPr txBox="1"/>
          <p:nvPr/>
        </p:nvSpPr>
        <p:spPr>
          <a:xfrm>
            <a:off x="941832" y="5358384"/>
            <a:ext cx="3822191" cy="256032"/>
          </a:xfrm>
          <a:prstGeom prst="rect">
            <a:avLst/>
          </a:prstGeom>
          <a:noFill/>
        </p:spPr>
        <p:txBody>
          <a:bodyPr wrap="square" lIns="0" rIns="0" tIns="0" bIns="0">
            <a:spAutoFit/>
          </a:bodyPr>
          <a:lstStyle/>
          <a:p>
            <a:pPr>
              <a:lnSpc>
                <a:spcPct val="113000"/>
              </a:lnSpc>
              <a:spcAft>
                <a:spcPts val="0"/>
              </a:spcAft>
              <a:defRPr sz="1300" b="0">
                <a:solidFill>
                  <a:srgbClr val="687D94"/>
                </a:solidFill>
                <a:latin typeface="Noto Sans CJK KR"/>
              </a:defRPr>
            </a:pPr>
            <a:r>
              <a:t>비용 50 · 탄소 30 · 시간 20</a:t>
            </a:r>
          </a:p>
        </p:txBody>
      </p:sp>
      <p:sp>
        <p:nvSpPr>
          <p:cNvPr id="28" name="Oval 27"/>
          <p:cNvSpPr/>
          <p:nvPr/>
        </p:nvSpPr>
        <p:spPr>
          <a:xfrm>
            <a:off x="5129783" y="4919472"/>
            <a:ext cx="530352" cy="530352"/>
          </a:xfrm>
          <a:prstGeom prst="ellipse">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5129783" y="5001768"/>
            <a:ext cx="530352" cy="329184"/>
          </a:xfrm>
          <a:prstGeom prst="rect">
            <a:avLst/>
          </a:prstGeom>
          <a:noFill/>
        </p:spPr>
        <p:txBody>
          <a:bodyPr wrap="square" lIns="0" rIns="0" tIns="0" bIns="0">
            <a:spAutoFit/>
          </a:bodyPr>
          <a:lstStyle/>
          <a:p>
            <a:pPr algn="ctr">
              <a:lnSpc>
                <a:spcPct val="113000"/>
              </a:lnSpc>
              <a:spcAft>
                <a:spcPts val="0"/>
              </a:spcAft>
              <a:defRPr sz="2200" b="1">
                <a:solidFill>
                  <a:srgbClr val="687D94"/>
                </a:solidFill>
                <a:latin typeface="Noto Sans CJK KR"/>
              </a:defRPr>
            </a:pPr>
            <a:r>
              <a:t>B</a:t>
            </a:r>
          </a:p>
        </p:txBody>
      </p:sp>
      <p:sp>
        <p:nvSpPr>
          <p:cNvPr id="30" name="Oval 29"/>
          <p:cNvSpPr/>
          <p:nvPr/>
        </p:nvSpPr>
        <p:spPr>
          <a:xfrm>
            <a:off x="7525512" y="4919472"/>
            <a:ext cx="530352" cy="530352"/>
          </a:xfrm>
          <a:prstGeom prst="ellipse">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7525512" y="5001768"/>
            <a:ext cx="530352" cy="329184"/>
          </a:xfrm>
          <a:prstGeom prst="rect">
            <a:avLst/>
          </a:prstGeom>
          <a:noFill/>
        </p:spPr>
        <p:txBody>
          <a:bodyPr wrap="square" lIns="0" rIns="0" tIns="0" bIns="0">
            <a:spAutoFit/>
          </a:bodyPr>
          <a:lstStyle/>
          <a:p>
            <a:pPr algn="ctr">
              <a:lnSpc>
                <a:spcPct val="113000"/>
              </a:lnSpc>
              <a:spcAft>
                <a:spcPts val="0"/>
              </a:spcAft>
              <a:defRPr sz="2200" b="1">
                <a:solidFill>
                  <a:srgbClr val="687D94"/>
                </a:solidFill>
                <a:latin typeface="Noto Sans CJK KR"/>
              </a:defRPr>
            </a:pPr>
            <a:r>
              <a:t>B</a:t>
            </a:r>
          </a:p>
        </p:txBody>
      </p:sp>
      <p:sp>
        <p:nvSpPr>
          <p:cNvPr id="32" name="Oval 31"/>
          <p:cNvSpPr/>
          <p:nvPr/>
        </p:nvSpPr>
        <p:spPr>
          <a:xfrm>
            <a:off x="9921240" y="4919472"/>
            <a:ext cx="530352" cy="530352"/>
          </a:xfrm>
          <a:prstGeom prst="ellipse">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9921240" y="5001768"/>
            <a:ext cx="530352" cy="329184"/>
          </a:xfrm>
          <a:prstGeom prst="rect">
            <a:avLst/>
          </a:prstGeom>
          <a:noFill/>
        </p:spPr>
        <p:txBody>
          <a:bodyPr wrap="square" lIns="0" rIns="0" tIns="0" bIns="0">
            <a:spAutoFit/>
          </a:bodyPr>
          <a:lstStyle/>
          <a:p>
            <a:pPr algn="ctr">
              <a:lnSpc>
                <a:spcPct val="113000"/>
              </a:lnSpc>
              <a:spcAft>
                <a:spcPts val="0"/>
              </a:spcAft>
              <a:defRPr sz="2200" b="1">
                <a:solidFill>
                  <a:srgbClr val="687D94"/>
                </a:solidFill>
                <a:latin typeface="Noto Sans CJK KR"/>
              </a:defRPr>
            </a:pPr>
            <a:r>
              <a:t>B</a:t>
            </a:r>
          </a:p>
        </p:txBody>
      </p:sp>
      <p:sp>
        <p:nvSpPr>
          <p:cNvPr id="34" name="Oval 33"/>
          <p:cNvSpPr/>
          <p:nvPr/>
        </p:nvSpPr>
        <p:spPr>
          <a:xfrm>
            <a:off x="12316968" y="4919472"/>
            <a:ext cx="530352" cy="530352"/>
          </a:xfrm>
          <a:prstGeom prst="ellipse">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12316968" y="5001768"/>
            <a:ext cx="530352" cy="329184"/>
          </a:xfrm>
          <a:prstGeom prst="rect">
            <a:avLst/>
          </a:prstGeom>
          <a:noFill/>
        </p:spPr>
        <p:txBody>
          <a:bodyPr wrap="square" lIns="0" rIns="0" tIns="0" bIns="0">
            <a:spAutoFit/>
          </a:bodyPr>
          <a:lstStyle/>
          <a:p>
            <a:pPr algn="ctr">
              <a:lnSpc>
                <a:spcPct val="113000"/>
              </a:lnSpc>
              <a:spcAft>
                <a:spcPts val="0"/>
              </a:spcAft>
              <a:defRPr sz="2200" b="1">
                <a:solidFill>
                  <a:srgbClr val="687D94"/>
                </a:solidFill>
                <a:latin typeface="Noto Sans CJK KR"/>
              </a:defRPr>
            </a:pPr>
            <a:r>
              <a:t>B</a:t>
            </a:r>
          </a:p>
        </p:txBody>
      </p:sp>
      <p:cxnSp>
        <p:nvCxnSpPr>
          <p:cNvPr id="36" name="Connector 35"/>
          <p:cNvCxnSpPr/>
          <p:nvPr/>
        </p:nvCxnSpPr>
        <p:spPr>
          <a:xfrm>
            <a:off x="932688" y="5687568"/>
            <a:ext cx="12801600"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37" name="Rectangle 36"/>
          <p:cNvSpPr/>
          <p:nvPr/>
        </p:nvSpPr>
        <p:spPr>
          <a:xfrm>
            <a:off x="694944" y="5888736"/>
            <a:ext cx="13258800" cy="923544"/>
          </a:xfrm>
          <a:prstGeom prst="rect">
            <a:avLst/>
          </a:prstGeom>
          <a:solidFill>
            <a:srgbClr val="E4F4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932688" y="5998464"/>
            <a:ext cx="3611880" cy="365760"/>
          </a:xfrm>
          <a:prstGeom prst="rect">
            <a:avLst/>
          </a:prstGeom>
          <a:noFill/>
        </p:spPr>
        <p:txBody>
          <a:bodyPr wrap="square" lIns="0" rIns="0" tIns="0" bIns="0">
            <a:spAutoFit/>
          </a:bodyPr>
          <a:lstStyle/>
          <a:p>
            <a:pPr>
              <a:lnSpc>
                <a:spcPct val="113000"/>
              </a:lnSpc>
              <a:spcAft>
                <a:spcPts val="0"/>
              </a:spcAft>
              <a:defRPr sz="2500" b="1">
                <a:solidFill>
                  <a:srgbClr val="087F70"/>
                </a:solidFill>
                <a:latin typeface="Noto Sans CJK KR"/>
              </a:defRPr>
            </a:pPr>
            <a:r>
              <a:t>CBP</a:t>
            </a:r>
          </a:p>
        </p:txBody>
      </p:sp>
      <p:sp>
        <p:nvSpPr>
          <p:cNvPr id="39" name="TextBox 38"/>
          <p:cNvSpPr txBox="1"/>
          <p:nvPr/>
        </p:nvSpPr>
        <p:spPr>
          <a:xfrm>
            <a:off x="941832" y="6455664"/>
            <a:ext cx="3822191" cy="256032"/>
          </a:xfrm>
          <a:prstGeom prst="rect">
            <a:avLst/>
          </a:prstGeom>
          <a:noFill/>
        </p:spPr>
        <p:txBody>
          <a:bodyPr wrap="square" lIns="0" rIns="0" tIns="0" bIns="0">
            <a:spAutoFit/>
          </a:bodyPr>
          <a:lstStyle/>
          <a:p>
            <a:pPr>
              <a:lnSpc>
                <a:spcPct val="113000"/>
              </a:lnSpc>
              <a:spcAft>
                <a:spcPts val="0"/>
              </a:spcAft>
              <a:defRPr sz="1300" b="0">
                <a:solidFill>
                  <a:srgbClr val="687D94"/>
                </a:solidFill>
                <a:latin typeface="Noto Sans CJK KR"/>
              </a:defRPr>
            </a:pPr>
            <a:r>
              <a:t>예산 상태에 따라 가중치 조정</a:t>
            </a:r>
          </a:p>
        </p:txBody>
      </p:sp>
      <p:sp>
        <p:nvSpPr>
          <p:cNvPr id="40" name="Oval 39"/>
          <p:cNvSpPr/>
          <p:nvPr/>
        </p:nvSpPr>
        <p:spPr>
          <a:xfrm>
            <a:off x="5129783" y="6016751"/>
            <a:ext cx="530352" cy="530352"/>
          </a:xfrm>
          <a:prstGeom prst="ellipse">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129783" y="6099048"/>
            <a:ext cx="530352" cy="329184"/>
          </a:xfrm>
          <a:prstGeom prst="rect">
            <a:avLst/>
          </a:prstGeom>
          <a:noFill/>
        </p:spPr>
        <p:txBody>
          <a:bodyPr wrap="square" lIns="0" rIns="0" tIns="0" bIns="0">
            <a:spAutoFit/>
          </a:bodyPr>
          <a:lstStyle/>
          <a:p>
            <a:pPr algn="ctr">
              <a:lnSpc>
                <a:spcPct val="113000"/>
              </a:lnSpc>
              <a:spcAft>
                <a:spcPts val="0"/>
              </a:spcAft>
              <a:defRPr sz="2200" b="1">
                <a:solidFill>
                  <a:srgbClr val="FFFFFF"/>
                </a:solidFill>
                <a:latin typeface="Noto Sans CJK KR"/>
              </a:defRPr>
            </a:pPr>
            <a:r>
              <a:t>A</a:t>
            </a:r>
          </a:p>
        </p:txBody>
      </p:sp>
      <p:sp>
        <p:nvSpPr>
          <p:cNvPr id="42" name="Oval 41"/>
          <p:cNvSpPr/>
          <p:nvPr/>
        </p:nvSpPr>
        <p:spPr>
          <a:xfrm>
            <a:off x="7525512" y="6016751"/>
            <a:ext cx="530352" cy="530352"/>
          </a:xfrm>
          <a:prstGeom prst="ellipse">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7525512" y="6099048"/>
            <a:ext cx="530352" cy="329184"/>
          </a:xfrm>
          <a:prstGeom prst="rect">
            <a:avLst/>
          </a:prstGeom>
          <a:noFill/>
        </p:spPr>
        <p:txBody>
          <a:bodyPr wrap="square" lIns="0" rIns="0" tIns="0" bIns="0">
            <a:spAutoFit/>
          </a:bodyPr>
          <a:lstStyle/>
          <a:p>
            <a:pPr algn="ctr">
              <a:lnSpc>
                <a:spcPct val="113000"/>
              </a:lnSpc>
              <a:spcAft>
                <a:spcPts val="0"/>
              </a:spcAft>
              <a:defRPr sz="2200" b="1">
                <a:solidFill>
                  <a:srgbClr val="FFFFFF"/>
                </a:solidFill>
                <a:latin typeface="Noto Sans CJK KR"/>
              </a:defRPr>
            </a:pPr>
            <a:r>
              <a:t>B</a:t>
            </a:r>
          </a:p>
        </p:txBody>
      </p:sp>
      <p:sp>
        <p:nvSpPr>
          <p:cNvPr id="44" name="Oval 43"/>
          <p:cNvSpPr/>
          <p:nvPr/>
        </p:nvSpPr>
        <p:spPr>
          <a:xfrm>
            <a:off x="9921240" y="6016751"/>
            <a:ext cx="530352" cy="530352"/>
          </a:xfrm>
          <a:prstGeom prst="ellipse">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9921240" y="6099048"/>
            <a:ext cx="530352" cy="329184"/>
          </a:xfrm>
          <a:prstGeom prst="rect">
            <a:avLst/>
          </a:prstGeom>
          <a:noFill/>
        </p:spPr>
        <p:txBody>
          <a:bodyPr wrap="square" lIns="0" rIns="0" tIns="0" bIns="0">
            <a:spAutoFit/>
          </a:bodyPr>
          <a:lstStyle/>
          <a:p>
            <a:pPr algn="ctr">
              <a:lnSpc>
                <a:spcPct val="113000"/>
              </a:lnSpc>
              <a:spcAft>
                <a:spcPts val="0"/>
              </a:spcAft>
              <a:defRPr sz="2200" b="1">
                <a:solidFill>
                  <a:srgbClr val="FFFFFF"/>
                </a:solidFill>
                <a:latin typeface="Noto Sans CJK KR"/>
              </a:defRPr>
            </a:pPr>
            <a:r>
              <a:t>C</a:t>
            </a:r>
          </a:p>
        </p:txBody>
      </p:sp>
      <p:sp>
        <p:nvSpPr>
          <p:cNvPr id="46" name="Oval 45"/>
          <p:cNvSpPr/>
          <p:nvPr/>
        </p:nvSpPr>
        <p:spPr>
          <a:xfrm>
            <a:off x="12316968" y="6016751"/>
            <a:ext cx="530352" cy="530352"/>
          </a:xfrm>
          <a:prstGeom prst="ellipse">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12316968" y="6099048"/>
            <a:ext cx="530352" cy="329184"/>
          </a:xfrm>
          <a:prstGeom prst="rect">
            <a:avLst/>
          </a:prstGeom>
          <a:noFill/>
        </p:spPr>
        <p:txBody>
          <a:bodyPr wrap="square" lIns="0" rIns="0" tIns="0" bIns="0">
            <a:spAutoFit/>
          </a:bodyPr>
          <a:lstStyle/>
          <a:p>
            <a:pPr algn="ctr">
              <a:lnSpc>
                <a:spcPct val="113000"/>
              </a:lnSpc>
              <a:spcAft>
                <a:spcPts val="0"/>
              </a:spcAft>
              <a:defRPr sz="2200" b="1">
                <a:solidFill>
                  <a:srgbClr val="FFFFFF"/>
                </a:solidFill>
                <a:latin typeface="Noto Sans CJK KR"/>
              </a:defRPr>
            </a:pPr>
            <a:r>
              <a:t>C</a:t>
            </a:r>
          </a:p>
        </p:txBody>
      </p:sp>
      <p:sp>
        <p:nvSpPr>
          <p:cNvPr id="48" name="Right Arrow 47"/>
          <p:cNvSpPr/>
          <p:nvPr/>
        </p:nvSpPr>
        <p:spPr>
          <a:xfrm>
            <a:off x="5897879" y="6172200"/>
            <a:ext cx="704088" cy="173736"/>
          </a:xfrm>
          <a:prstGeom prst="rightArrow">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Right Arrow 48"/>
          <p:cNvSpPr/>
          <p:nvPr/>
        </p:nvSpPr>
        <p:spPr>
          <a:xfrm>
            <a:off x="8293608" y="6172200"/>
            <a:ext cx="704088" cy="173736"/>
          </a:xfrm>
          <a:prstGeom prst="rightArrow">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Right Arrow 49"/>
          <p:cNvSpPr/>
          <p:nvPr/>
        </p:nvSpPr>
        <p:spPr>
          <a:xfrm>
            <a:off x="10689336" y="6172200"/>
            <a:ext cx="704088" cy="173736"/>
          </a:xfrm>
          <a:prstGeom prst="rightArrow">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세 후보 모두 허용되며 동일한 필수 제약을 적용. 고정 정책은 여기서 정의한 대조군이며 특정 기업·선행 연구의 실제 운영을 대표하지 않습니다.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D31"/>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54DFC0"/>
                </a:solidFill>
                <a:latin typeface="Noto Sans CJK KR"/>
              </a:defRPr>
            </a:pPr>
            <a:r>
              <a:t>CBP  /  DECISION DESIGN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ADBED2"/>
                </a:solidFill>
                <a:latin typeface="Noto Sans CJK KR"/>
              </a:defRPr>
            </a:pPr>
            <a:r>
              <a:t>05 / PROTOTYPE → PILOT</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FFFFFF"/>
                </a:solidFill>
                <a:latin typeface="Noto Sans CJK KR"/>
              </a:defRPr>
            </a:pPr>
            <a:r>
              <a:t>계산은 구현했습니다.</a:t>
            </a:r>
          </a:p>
          <a:p>
            <a:pPr>
              <a:lnSpc>
                <a:spcPct val="113000"/>
              </a:lnSpc>
              <a:spcAft>
                <a:spcPts val="0"/>
              </a:spcAft>
              <a:defRPr sz="3600" b="1">
                <a:solidFill>
                  <a:srgbClr val="FFFFFF"/>
                </a:solidFill>
                <a:latin typeface="Noto Sans CJK KR"/>
              </a:defRPr>
            </a:pPr>
            <a:r>
              <a:t>다음 검증은 현장 데이터입니다.</a:t>
            </a:r>
          </a:p>
        </p:txBody>
      </p:sp>
      <p:cxnSp>
        <p:nvCxnSpPr>
          <p:cNvPr id="5" name="Connector 4"/>
          <p:cNvCxnSpPr/>
          <p:nvPr/>
        </p:nvCxnSpPr>
        <p:spPr>
          <a:xfrm>
            <a:off x="621792" y="7717536"/>
            <a:ext cx="13386816" cy="0"/>
          </a:xfrm>
          <a:prstGeom prst="line">
            <a:avLst/>
          </a:prstGeom>
          <a:ln w="12700">
            <a:solidFill>
              <a:srgbClr val="32465F"/>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ADBED2"/>
                </a:solidFill>
                <a:latin typeface="Noto Sans CJK KR"/>
              </a:defRPr>
            </a:pPr>
            <a:r>
              <a:t>두런두런  ·  제13회 유닛로드시스템(ULS) 창의성 공모전</a:t>
            </a:r>
          </a:p>
        </p:txBody>
      </p:sp>
      <p:sp>
        <p:nvSpPr>
          <p:cNvPr id="7" name="TextBox 6"/>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54DFC0"/>
                </a:solidFill>
                <a:latin typeface="Noto Sans CJK KR"/>
              </a:defRPr>
            </a:pPr>
            <a:r>
              <a:t>05</a:t>
            </a:r>
          </a:p>
        </p:txBody>
      </p:sp>
      <p:sp>
        <p:nvSpPr>
          <p:cNvPr id="8" name="TextBox 7"/>
          <p:cNvSpPr txBox="1"/>
          <p:nvPr/>
        </p:nvSpPr>
        <p:spPr>
          <a:xfrm>
            <a:off x="731520" y="2660904"/>
            <a:ext cx="4892040" cy="292608"/>
          </a:xfrm>
          <a:prstGeom prst="rect">
            <a:avLst/>
          </a:prstGeom>
          <a:noFill/>
        </p:spPr>
        <p:txBody>
          <a:bodyPr wrap="square" lIns="0" rIns="0" tIns="0" bIns="0">
            <a:spAutoFit/>
          </a:bodyPr>
          <a:lstStyle/>
          <a:p>
            <a:pPr>
              <a:lnSpc>
                <a:spcPct val="113000"/>
              </a:lnSpc>
              <a:spcAft>
                <a:spcPts val="0"/>
              </a:spcAft>
              <a:defRPr sz="1600" b="1">
                <a:solidFill>
                  <a:srgbClr val="54DFC0"/>
                </a:solidFill>
                <a:latin typeface="Noto Sans CJK KR"/>
              </a:defRPr>
            </a:pPr>
            <a:r>
              <a:t>추천 계산기에서 확인한 동작</a:t>
            </a:r>
          </a:p>
        </p:txBody>
      </p:sp>
      <p:sp>
        <p:nvSpPr>
          <p:cNvPr id="9" name="TextBox 8"/>
          <p:cNvSpPr txBox="1"/>
          <p:nvPr/>
        </p:nvSpPr>
        <p:spPr>
          <a:xfrm>
            <a:off x="740664" y="3337560"/>
            <a:ext cx="4169663" cy="338328"/>
          </a:xfrm>
          <a:prstGeom prst="rect">
            <a:avLst/>
          </a:prstGeom>
          <a:noFill/>
        </p:spPr>
        <p:txBody>
          <a:bodyPr wrap="square" lIns="0" rIns="0" tIns="0" bIns="0">
            <a:spAutoFit/>
          </a:bodyPr>
          <a:lstStyle/>
          <a:p>
            <a:pPr>
              <a:lnSpc>
                <a:spcPct val="113000"/>
              </a:lnSpc>
              <a:spcAft>
                <a:spcPts val="0"/>
              </a:spcAft>
              <a:defRPr sz="1800" b="0">
                <a:solidFill>
                  <a:srgbClr val="ADBED2"/>
                </a:solidFill>
                <a:latin typeface="Noto Sans CJK KR"/>
              </a:defRPr>
            </a:pPr>
            <a:r>
              <a:t>사용률 50% → 82%</a:t>
            </a:r>
          </a:p>
        </p:txBody>
      </p:sp>
      <p:sp>
        <p:nvSpPr>
          <p:cNvPr id="10" name="TextBox 9"/>
          <p:cNvSpPr txBox="1"/>
          <p:nvPr/>
        </p:nvSpPr>
        <p:spPr>
          <a:xfrm>
            <a:off x="4800600" y="3310128"/>
            <a:ext cx="2029968" cy="393192"/>
          </a:xfrm>
          <a:prstGeom prst="rect">
            <a:avLst/>
          </a:prstGeom>
          <a:noFill/>
        </p:spPr>
        <p:txBody>
          <a:bodyPr wrap="square" lIns="0" rIns="0" tIns="0" bIns="0">
            <a:spAutoFit/>
          </a:bodyPr>
          <a:lstStyle/>
          <a:p>
            <a:pPr algn="r">
              <a:lnSpc>
                <a:spcPct val="113000"/>
              </a:lnSpc>
              <a:spcAft>
                <a:spcPts val="0"/>
              </a:spcAft>
              <a:defRPr sz="2300" b="1">
                <a:solidFill>
                  <a:srgbClr val="FFFFFF"/>
                </a:solidFill>
                <a:latin typeface="Noto Sans CJK KR"/>
              </a:defRPr>
            </a:pPr>
            <a:r>
              <a:t>A → C</a:t>
            </a:r>
          </a:p>
        </p:txBody>
      </p:sp>
      <p:cxnSp>
        <p:nvCxnSpPr>
          <p:cNvPr id="11" name="Connector 10"/>
          <p:cNvCxnSpPr/>
          <p:nvPr/>
        </p:nvCxnSpPr>
        <p:spPr>
          <a:xfrm>
            <a:off x="740664" y="3867911"/>
            <a:ext cx="6089904" cy="0"/>
          </a:xfrm>
          <a:prstGeom prst="line">
            <a:avLst/>
          </a:prstGeom>
          <a:ln w="12700">
            <a:solidFill>
              <a:srgbClr val="334B65"/>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740664" y="4050791"/>
            <a:ext cx="4169663" cy="338328"/>
          </a:xfrm>
          <a:prstGeom prst="rect">
            <a:avLst/>
          </a:prstGeom>
          <a:noFill/>
        </p:spPr>
        <p:txBody>
          <a:bodyPr wrap="square" lIns="0" rIns="0" tIns="0" bIns="0">
            <a:spAutoFit/>
          </a:bodyPr>
          <a:lstStyle/>
          <a:p>
            <a:pPr>
              <a:lnSpc>
                <a:spcPct val="113000"/>
              </a:lnSpc>
              <a:spcAft>
                <a:spcPts val="0"/>
              </a:spcAft>
              <a:defRPr sz="1800" b="0">
                <a:solidFill>
                  <a:srgbClr val="ADBED2"/>
                </a:solidFill>
                <a:latin typeface="Noto Sans CJK KR"/>
              </a:defRPr>
            </a:pPr>
            <a:r>
              <a:t>비용 한도 140 → 120만원</a:t>
            </a:r>
          </a:p>
        </p:txBody>
      </p:sp>
      <p:sp>
        <p:nvSpPr>
          <p:cNvPr id="13" name="TextBox 12"/>
          <p:cNvSpPr txBox="1"/>
          <p:nvPr/>
        </p:nvSpPr>
        <p:spPr>
          <a:xfrm>
            <a:off x="4800600" y="4023359"/>
            <a:ext cx="2029968" cy="393192"/>
          </a:xfrm>
          <a:prstGeom prst="rect">
            <a:avLst/>
          </a:prstGeom>
          <a:noFill/>
        </p:spPr>
        <p:txBody>
          <a:bodyPr wrap="square" lIns="0" rIns="0" tIns="0" bIns="0">
            <a:spAutoFit/>
          </a:bodyPr>
          <a:lstStyle/>
          <a:p>
            <a:pPr algn="r">
              <a:lnSpc>
                <a:spcPct val="113000"/>
              </a:lnSpc>
              <a:spcAft>
                <a:spcPts val="0"/>
              </a:spcAft>
              <a:defRPr sz="2300" b="1">
                <a:solidFill>
                  <a:srgbClr val="FFFFFF"/>
                </a:solidFill>
                <a:latin typeface="Noto Sans CJK KR"/>
              </a:defRPr>
            </a:pPr>
            <a:r>
              <a:t>C → B</a:t>
            </a:r>
          </a:p>
        </p:txBody>
      </p:sp>
      <p:cxnSp>
        <p:nvCxnSpPr>
          <p:cNvPr id="14" name="Connector 13"/>
          <p:cNvCxnSpPr/>
          <p:nvPr/>
        </p:nvCxnSpPr>
        <p:spPr>
          <a:xfrm>
            <a:off x="740664" y="4581144"/>
            <a:ext cx="6089904" cy="0"/>
          </a:xfrm>
          <a:prstGeom prst="line">
            <a:avLst/>
          </a:prstGeom>
          <a:ln w="12700">
            <a:solidFill>
              <a:srgbClr val="334B65"/>
            </a:solidFill>
          </a:ln>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740664" y="4764024"/>
            <a:ext cx="4169663" cy="338328"/>
          </a:xfrm>
          <a:prstGeom prst="rect">
            <a:avLst/>
          </a:prstGeom>
          <a:noFill/>
        </p:spPr>
        <p:txBody>
          <a:bodyPr wrap="square" lIns="0" rIns="0" tIns="0" bIns="0">
            <a:spAutoFit/>
          </a:bodyPr>
          <a:lstStyle/>
          <a:p>
            <a:pPr>
              <a:lnSpc>
                <a:spcPct val="113000"/>
              </a:lnSpc>
              <a:spcAft>
                <a:spcPts val="0"/>
              </a:spcAft>
              <a:defRPr sz="1800" b="0">
                <a:solidFill>
                  <a:srgbClr val="ADBED2"/>
                </a:solidFill>
                <a:latin typeface="Noto Sans CJK KR"/>
              </a:defRPr>
            </a:pPr>
            <a:r>
              <a:t>가능한 후보가 하나도 없으면</a:t>
            </a:r>
          </a:p>
        </p:txBody>
      </p:sp>
      <p:sp>
        <p:nvSpPr>
          <p:cNvPr id="16" name="TextBox 15"/>
          <p:cNvSpPr txBox="1"/>
          <p:nvPr/>
        </p:nvSpPr>
        <p:spPr>
          <a:xfrm>
            <a:off x="4800600" y="4736592"/>
            <a:ext cx="2029968" cy="393192"/>
          </a:xfrm>
          <a:prstGeom prst="rect">
            <a:avLst/>
          </a:prstGeom>
          <a:noFill/>
        </p:spPr>
        <p:txBody>
          <a:bodyPr wrap="square" lIns="0" rIns="0" tIns="0" bIns="0">
            <a:spAutoFit/>
          </a:bodyPr>
          <a:lstStyle/>
          <a:p>
            <a:pPr algn="r">
              <a:lnSpc>
                <a:spcPct val="113000"/>
              </a:lnSpc>
              <a:spcAft>
                <a:spcPts val="0"/>
              </a:spcAft>
              <a:defRPr sz="2300" b="1">
                <a:solidFill>
                  <a:srgbClr val="FFFFFF"/>
                </a:solidFill>
                <a:latin typeface="Noto Sans CJK KR"/>
              </a:defRPr>
            </a:pPr>
            <a:r>
              <a:t>담당자 판단</a:t>
            </a:r>
          </a:p>
        </p:txBody>
      </p:sp>
      <p:cxnSp>
        <p:nvCxnSpPr>
          <p:cNvPr id="17" name="Connector 16"/>
          <p:cNvCxnSpPr/>
          <p:nvPr/>
        </p:nvCxnSpPr>
        <p:spPr>
          <a:xfrm>
            <a:off x="740664" y="5294376"/>
            <a:ext cx="6089904" cy="0"/>
          </a:xfrm>
          <a:prstGeom prst="line">
            <a:avLst/>
          </a:prstGeom>
          <a:ln w="12700">
            <a:solidFill>
              <a:srgbClr val="334B65"/>
            </a:solidFill>
          </a:ln>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a:off x="7333488" y="2734056"/>
            <a:ext cx="0" cy="3163824"/>
          </a:xfrm>
          <a:prstGeom prst="line">
            <a:avLst/>
          </a:prstGeom>
          <a:ln w="12700">
            <a:solidFill>
              <a:srgbClr val="334B65"/>
            </a:solidFill>
          </a:ln>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7845552" y="2660904"/>
            <a:ext cx="5897880" cy="292608"/>
          </a:xfrm>
          <a:prstGeom prst="rect">
            <a:avLst/>
          </a:prstGeom>
          <a:noFill/>
        </p:spPr>
        <p:txBody>
          <a:bodyPr wrap="square" lIns="0" rIns="0" tIns="0" bIns="0">
            <a:spAutoFit/>
          </a:bodyPr>
          <a:lstStyle/>
          <a:p>
            <a:pPr>
              <a:lnSpc>
                <a:spcPct val="113000"/>
              </a:lnSpc>
              <a:spcAft>
                <a:spcPts val="0"/>
              </a:spcAft>
              <a:defRPr sz="1600" b="1">
                <a:solidFill>
                  <a:srgbClr val="54DFC0"/>
                </a:solidFill>
                <a:latin typeface="Noto Sans CJK KR"/>
              </a:defRPr>
            </a:pPr>
            <a:r>
              <a:t>현장 적용은 작은 범위부터</a:t>
            </a:r>
          </a:p>
        </p:txBody>
      </p:sp>
      <p:sp>
        <p:nvSpPr>
          <p:cNvPr id="20" name="TextBox 19"/>
          <p:cNvSpPr txBox="1"/>
          <p:nvPr/>
        </p:nvSpPr>
        <p:spPr>
          <a:xfrm>
            <a:off x="7863840" y="3310128"/>
            <a:ext cx="393192" cy="292608"/>
          </a:xfrm>
          <a:prstGeom prst="rect">
            <a:avLst/>
          </a:prstGeom>
          <a:noFill/>
        </p:spPr>
        <p:txBody>
          <a:bodyPr wrap="square" lIns="0" rIns="0" tIns="0" bIns="0">
            <a:spAutoFit/>
          </a:bodyPr>
          <a:lstStyle/>
          <a:p>
            <a:pPr>
              <a:lnSpc>
                <a:spcPct val="113000"/>
              </a:lnSpc>
              <a:spcAft>
                <a:spcPts val="0"/>
              </a:spcAft>
              <a:defRPr sz="1500" b="1">
                <a:solidFill>
                  <a:srgbClr val="54DFC0"/>
                </a:solidFill>
                <a:latin typeface="Noto Sans CJK KR"/>
              </a:defRPr>
            </a:pPr>
            <a:r>
              <a:t>01</a:t>
            </a:r>
          </a:p>
        </p:txBody>
      </p:sp>
      <p:sp>
        <p:nvSpPr>
          <p:cNvPr id="21" name="TextBox 20"/>
          <p:cNvSpPr txBox="1"/>
          <p:nvPr/>
        </p:nvSpPr>
        <p:spPr>
          <a:xfrm>
            <a:off x="8421624" y="3291840"/>
            <a:ext cx="5422392" cy="365760"/>
          </a:xfrm>
          <a:prstGeom prst="rect">
            <a:avLst/>
          </a:prstGeom>
          <a:noFill/>
        </p:spPr>
        <p:txBody>
          <a:bodyPr wrap="square" lIns="0" rIns="0" tIns="0" bIns="0">
            <a:spAutoFit/>
          </a:bodyPr>
          <a:lstStyle/>
          <a:p>
            <a:pPr>
              <a:lnSpc>
                <a:spcPct val="113000"/>
              </a:lnSpc>
              <a:spcAft>
                <a:spcPts val="0"/>
              </a:spcAft>
              <a:defRPr sz="2200" b="1">
                <a:solidFill>
                  <a:srgbClr val="FFFFFF"/>
                </a:solidFill>
                <a:latin typeface="Noto Sans CJK KR"/>
              </a:defRPr>
            </a:pPr>
            <a:r>
              <a:t>동일 풀링사 · 호환 파렛트</a:t>
            </a:r>
          </a:p>
        </p:txBody>
      </p:sp>
      <p:sp>
        <p:nvSpPr>
          <p:cNvPr id="22" name="TextBox 21"/>
          <p:cNvSpPr txBox="1"/>
          <p:nvPr/>
        </p:nvSpPr>
        <p:spPr>
          <a:xfrm>
            <a:off x="8430768" y="3749039"/>
            <a:ext cx="5404104" cy="310896"/>
          </a:xfrm>
          <a:prstGeom prst="rect">
            <a:avLst/>
          </a:prstGeom>
          <a:noFill/>
        </p:spPr>
        <p:txBody>
          <a:bodyPr wrap="square" lIns="0" rIns="0" tIns="0" bIns="0">
            <a:spAutoFit/>
          </a:bodyPr>
          <a:lstStyle/>
          <a:p>
            <a:pPr>
              <a:lnSpc>
                <a:spcPct val="113000"/>
              </a:lnSpc>
              <a:spcAft>
                <a:spcPts val="0"/>
              </a:spcAft>
              <a:defRPr sz="1500" b="0">
                <a:solidFill>
                  <a:srgbClr val="ADBED2"/>
                </a:solidFill>
                <a:latin typeface="Noto Sans CJK KR"/>
              </a:defRPr>
            </a:pPr>
            <a:r>
              <a:t>재고·운행·비용·배출 자료 확보</a:t>
            </a:r>
          </a:p>
        </p:txBody>
      </p:sp>
      <p:sp>
        <p:nvSpPr>
          <p:cNvPr id="23" name="TextBox 22"/>
          <p:cNvSpPr txBox="1"/>
          <p:nvPr/>
        </p:nvSpPr>
        <p:spPr>
          <a:xfrm>
            <a:off x="7863840" y="4251960"/>
            <a:ext cx="393192" cy="292608"/>
          </a:xfrm>
          <a:prstGeom prst="rect">
            <a:avLst/>
          </a:prstGeom>
          <a:noFill/>
        </p:spPr>
        <p:txBody>
          <a:bodyPr wrap="square" lIns="0" rIns="0" tIns="0" bIns="0">
            <a:spAutoFit/>
          </a:bodyPr>
          <a:lstStyle/>
          <a:p>
            <a:pPr>
              <a:lnSpc>
                <a:spcPct val="113000"/>
              </a:lnSpc>
              <a:spcAft>
                <a:spcPts val="0"/>
              </a:spcAft>
              <a:defRPr sz="1500" b="1">
                <a:solidFill>
                  <a:srgbClr val="54DFC0"/>
                </a:solidFill>
                <a:latin typeface="Noto Sans CJK KR"/>
              </a:defRPr>
            </a:pPr>
            <a:r>
              <a:t>02</a:t>
            </a:r>
          </a:p>
        </p:txBody>
      </p:sp>
      <p:sp>
        <p:nvSpPr>
          <p:cNvPr id="24" name="TextBox 23"/>
          <p:cNvSpPr txBox="1"/>
          <p:nvPr/>
        </p:nvSpPr>
        <p:spPr>
          <a:xfrm>
            <a:off x="8421624" y="4233672"/>
            <a:ext cx="5422392" cy="365760"/>
          </a:xfrm>
          <a:prstGeom prst="rect">
            <a:avLst/>
          </a:prstGeom>
          <a:noFill/>
        </p:spPr>
        <p:txBody>
          <a:bodyPr wrap="square" lIns="0" rIns="0" tIns="0" bIns="0">
            <a:spAutoFit/>
          </a:bodyPr>
          <a:lstStyle/>
          <a:p>
            <a:pPr>
              <a:lnSpc>
                <a:spcPct val="113000"/>
              </a:lnSpc>
              <a:spcAft>
                <a:spcPts val="0"/>
              </a:spcAft>
              <a:defRPr sz="2200" b="1">
                <a:solidFill>
                  <a:srgbClr val="FFFFFF"/>
                </a:solidFill>
                <a:latin typeface="Noto Sans CJK KR"/>
              </a:defRPr>
            </a:pPr>
            <a:r>
              <a:t>동일 조건으로 세 정책 비교</a:t>
            </a:r>
          </a:p>
        </p:txBody>
      </p:sp>
      <p:sp>
        <p:nvSpPr>
          <p:cNvPr id="25" name="TextBox 24"/>
          <p:cNvSpPr txBox="1"/>
          <p:nvPr/>
        </p:nvSpPr>
        <p:spPr>
          <a:xfrm>
            <a:off x="8430768" y="4690872"/>
            <a:ext cx="5404104" cy="310896"/>
          </a:xfrm>
          <a:prstGeom prst="rect">
            <a:avLst/>
          </a:prstGeom>
          <a:noFill/>
        </p:spPr>
        <p:txBody>
          <a:bodyPr wrap="square" lIns="0" rIns="0" tIns="0" bIns="0">
            <a:spAutoFit/>
          </a:bodyPr>
          <a:lstStyle/>
          <a:p>
            <a:pPr>
              <a:lnSpc>
                <a:spcPct val="113000"/>
              </a:lnSpc>
              <a:spcAft>
                <a:spcPts val="0"/>
              </a:spcAft>
              <a:defRPr sz="1500" b="0">
                <a:solidFill>
                  <a:srgbClr val="ADBED2"/>
                </a:solidFill>
                <a:latin typeface="Noto Sans CJK KR"/>
              </a:defRPr>
            </a:pPr>
            <a:r>
              <a:t>비용 우선 / 고정 가중치 / CBP</a:t>
            </a:r>
          </a:p>
        </p:txBody>
      </p:sp>
      <p:sp>
        <p:nvSpPr>
          <p:cNvPr id="26" name="TextBox 25"/>
          <p:cNvSpPr txBox="1"/>
          <p:nvPr/>
        </p:nvSpPr>
        <p:spPr>
          <a:xfrm>
            <a:off x="7863840" y="5193792"/>
            <a:ext cx="393192" cy="292608"/>
          </a:xfrm>
          <a:prstGeom prst="rect">
            <a:avLst/>
          </a:prstGeom>
          <a:noFill/>
        </p:spPr>
        <p:txBody>
          <a:bodyPr wrap="square" lIns="0" rIns="0" tIns="0" bIns="0">
            <a:spAutoFit/>
          </a:bodyPr>
          <a:lstStyle/>
          <a:p>
            <a:pPr>
              <a:lnSpc>
                <a:spcPct val="113000"/>
              </a:lnSpc>
              <a:spcAft>
                <a:spcPts val="0"/>
              </a:spcAft>
              <a:defRPr sz="1500" b="1">
                <a:solidFill>
                  <a:srgbClr val="54DFC0"/>
                </a:solidFill>
                <a:latin typeface="Noto Sans CJK KR"/>
              </a:defRPr>
            </a:pPr>
            <a:r>
              <a:t>03</a:t>
            </a:r>
          </a:p>
        </p:txBody>
      </p:sp>
      <p:sp>
        <p:nvSpPr>
          <p:cNvPr id="27" name="TextBox 26"/>
          <p:cNvSpPr txBox="1"/>
          <p:nvPr/>
        </p:nvSpPr>
        <p:spPr>
          <a:xfrm>
            <a:off x="8421624" y="5175504"/>
            <a:ext cx="5422392" cy="365760"/>
          </a:xfrm>
          <a:prstGeom prst="rect">
            <a:avLst/>
          </a:prstGeom>
          <a:noFill/>
        </p:spPr>
        <p:txBody>
          <a:bodyPr wrap="square" lIns="0" rIns="0" tIns="0" bIns="0">
            <a:spAutoFit/>
          </a:bodyPr>
          <a:lstStyle/>
          <a:p>
            <a:pPr>
              <a:lnSpc>
                <a:spcPct val="113000"/>
              </a:lnSpc>
              <a:spcAft>
                <a:spcPts val="0"/>
              </a:spcAft>
              <a:defRPr sz="2200" b="1">
                <a:solidFill>
                  <a:srgbClr val="FFFFFF"/>
                </a:solidFill>
                <a:latin typeface="Noto Sans CJK KR"/>
              </a:defRPr>
            </a:pPr>
            <a:r>
              <a:t>네 지표를 함께 확인</a:t>
            </a:r>
          </a:p>
        </p:txBody>
      </p:sp>
      <p:sp>
        <p:nvSpPr>
          <p:cNvPr id="28" name="TextBox 27"/>
          <p:cNvSpPr txBox="1"/>
          <p:nvPr/>
        </p:nvSpPr>
        <p:spPr>
          <a:xfrm>
            <a:off x="8430768" y="5632704"/>
            <a:ext cx="5404104" cy="310896"/>
          </a:xfrm>
          <a:prstGeom prst="rect">
            <a:avLst/>
          </a:prstGeom>
          <a:noFill/>
        </p:spPr>
        <p:txBody>
          <a:bodyPr wrap="square" lIns="0" rIns="0" tIns="0" bIns="0">
            <a:spAutoFit/>
          </a:bodyPr>
          <a:lstStyle/>
          <a:p>
            <a:pPr>
              <a:lnSpc>
                <a:spcPct val="113000"/>
              </a:lnSpc>
              <a:spcAft>
                <a:spcPts val="0"/>
              </a:spcAft>
              <a:defRPr sz="1500" b="0">
                <a:solidFill>
                  <a:srgbClr val="ADBED2"/>
                </a:solidFill>
                <a:latin typeface="Noto Sans CJK KR"/>
              </a:defRPr>
            </a:pPr>
            <a:r>
              <a:t>총비용 · 실제 배출 · 정시 공급 · 예산 초과</a:t>
            </a:r>
          </a:p>
        </p:txBody>
      </p:sp>
      <p:sp>
        <p:nvSpPr>
          <p:cNvPr id="29" name="Rectangle 28"/>
          <p:cNvSpPr/>
          <p:nvPr/>
        </p:nvSpPr>
        <p:spPr>
          <a:xfrm>
            <a:off x="731520" y="6419088"/>
            <a:ext cx="73152" cy="621792"/>
          </a:xfrm>
          <a:prstGeom prst="rect">
            <a:avLst/>
          </a:prstGeom>
          <a:solidFill>
            <a:srgbClr val="54DFC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1005840" y="6428232"/>
            <a:ext cx="12920472" cy="557784"/>
          </a:xfrm>
          <a:prstGeom prst="rect">
            <a:avLst/>
          </a:prstGeom>
          <a:noFill/>
        </p:spPr>
        <p:txBody>
          <a:bodyPr wrap="square" lIns="0" rIns="0" tIns="0" bIns="0">
            <a:spAutoFit/>
          </a:bodyPr>
          <a:lstStyle/>
          <a:p>
            <a:pPr>
              <a:lnSpc>
                <a:spcPct val="113000"/>
              </a:lnSpc>
              <a:spcAft>
                <a:spcPts val="0"/>
              </a:spcAft>
              <a:defRPr sz="2700" b="1">
                <a:solidFill>
                  <a:srgbClr val="FFFFFF"/>
                </a:solidFill>
                <a:latin typeface="Noto Sans CJK KR"/>
              </a:defRPr>
            </a:pPr>
            <a:r>
              <a:t>탄소를 보고하는 숫자에서, 다음 파렛트 이동을 바꾸는 신호로.</a:t>
            </a:r>
          </a:p>
        </p:txBody>
      </p:sp>
      <p:sp>
        <p:nvSpPr>
          <p:cNvPr id="31" name="TextBox 30"/>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ADBED2"/>
                </a:solidFill>
                <a:latin typeface="Noto Sans CJK KR"/>
              </a:defRPr>
            </a:pPr>
            <a:r>
              <a:t>개념시연용 프로토타입이며 실제 배차 연동·현장 효과는 미검증. 경계값·가중치와 남은 기간·수요 반영은 실증에서 조정합니다.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CBP  /  DECISION DESIGN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687D94"/>
                </a:solidFill>
                <a:latin typeface="Noto Sans CJK KR"/>
              </a:defRPr>
            </a:pPr>
            <a:r>
              <a:t>APPENDIX / MODEL</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“가능한가?”와 “무엇이 더 좋은가?”를 분리합니다.</a:t>
            </a:r>
          </a:p>
        </p:txBody>
      </p:sp>
      <p:sp>
        <p:nvSpPr>
          <p:cNvPr id="5" name="TextBox 4"/>
          <p:cNvSpPr txBox="1"/>
          <p:nvPr/>
        </p:nvSpPr>
        <p:spPr>
          <a:xfrm>
            <a:off x="649224" y="2084831"/>
            <a:ext cx="13304520" cy="493776"/>
          </a:xfrm>
          <a:prstGeom prst="rect">
            <a:avLst/>
          </a:prstGeom>
          <a:noFill/>
        </p:spPr>
        <p:txBody>
          <a:bodyPr wrap="square" lIns="0" rIns="0" tIns="0" bIns="0">
            <a:spAutoFit/>
          </a:bodyPr>
          <a:lstStyle/>
          <a:p>
            <a:pPr>
              <a:lnSpc>
                <a:spcPct val="113000"/>
              </a:lnSpc>
              <a:spcAft>
                <a:spcPts val="0"/>
              </a:spcAft>
              <a:defRPr sz="1800" b="0">
                <a:solidFill>
                  <a:srgbClr val="687D94"/>
                </a:solidFill>
                <a:latin typeface="Noto Sans CJK KR"/>
              </a:defRPr>
            </a:pPr>
            <a:r>
              <a:t>하나의 후보 j는 필요한 파렛트를 공급하는 완결 운송안입니다. 합배송 최적 조합 생성은 현재 범위 밖입니다.</a:t>
            </a:r>
          </a:p>
        </p:txBody>
      </p:sp>
      <p:cxnSp>
        <p:nvCxnSpPr>
          <p:cNvPr id="6" name="Connector 5"/>
          <p:cNvCxnSpPr/>
          <p:nvPr/>
        </p:nvCxnSpPr>
        <p:spPr>
          <a:xfrm>
            <a:off x="621792" y="7717536"/>
            <a:ext cx="13386816"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두런두런  ·  제13회 유닛로드시스템(ULS) 창의성 공모전  /  질의응답 보충</a:t>
            </a:r>
          </a:p>
        </p:txBody>
      </p:sp>
      <p:sp>
        <p:nvSpPr>
          <p:cNvPr id="8" name="TextBox 7"/>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087F70"/>
                </a:solidFill>
                <a:latin typeface="Noto Sans CJK KR"/>
              </a:defRPr>
            </a:pPr>
            <a:r>
              <a:t>01</a:t>
            </a:r>
          </a:p>
        </p:txBody>
      </p:sp>
      <p:sp>
        <p:nvSpPr>
          <p:cNvPr id="9" name="Rectangle 8"/>
          <p:cNvSpPr/>
          <p:nvPr/>
        </p:nvSpPr>
        <p:spPr>
          <a:xfrm>
            <a:off x="713232" y="2770632"/>
            <a:ext cx="6318504" cy="4361688"/>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950976" y="2999232"/>
            <a:ext cx="5806440" cy="384048"/>
          </a:xfrm>
          <a:prstGeom prst="rect">
            <a:avLst/>
          </a:prstGeom>
          <a:noFill/>
        </p:spPr>
        <p:txBody>
          <a:bodyPr wrap="square" lIns="0" rIns="0" tIns="0" bIns="0">
            <a:spAutoFit/>
          </a:bodyPr>
          <a:lstStyle/>
          <a:p>
            <a:pPr>
              <a:lnSpc>
                <a:spcPct val="113000"/>
              </a:lnSpc>
              <a:spcAft>
                <a:spcPts val="0"/>
              </a:spcAft>
              <a:defRPr sz="2400" b="1">
                <a:solidFill>
                  <a:srgbClr val="087F70"/>
                </a:solidFill>
                <a:latin typeface="Noto Sans CJK KR"/>
              </a:defRPr>
            </a:pPr>
            <a:r>
              <a:t>1. 실행 가능 후보 집합 F</a:t>
            </a:r>
          </a:p>
        </p:txBody>
      </p:sp>
      <p:sp>
        <p:nvSpPr>
          <p:cNvPr id="11" name="TextBox 10"/>
          <p:cNvSpPr txBox="1"/>
          <p:nvPr/>
        </p:nvSpPr>
        <p:spPr>
          <a:xfrm>
            <a:off x="969264" y="3694176"/>
            <a:ext cx="5788152" cy="1353312"/>
          </a:xfrm>
          <a:prstGeom prst="rect">
            <a:avLst/>
          </a:prstGeom>
          <a:noFill/>
        </p:spPr>
        <p:txBody>
          <a:bodyPr wrap="square" lIns="0" rIns="0" tIns="0" bIns="0">
            <a:spAutoFit/>
          </a:bodyPr>
          <a:lstStyle/>
          <a:p>
            <a:pPr>
              <a:lnSpc>
                <a:spcPct val="113000"/>
              </a:lnSpc>
              <a:spcAft>
                <a:spcPts val="0"/>
              </a:spcAft>
              <a:defRPr sz="2000" b="0">
                <a:solidFill>
                  <a:srgbClr val="14243C"/>
                </a:solidFill>
                <a:latin typeface="Noto Sans CJK KR"/>
              </a:defRPr>
            </a:pPr>
            <a:r>
              <a:t>공급량·적재 가능량 ≥ 요청량</a:t>
            </a:r>
          </a:p>
          <a:p>
            <a:pPr>
              <a:lnSpc>
                <a:spcPct val="113000"/>
              </a:lnSpc>
              <a:spcAft>
                <a:spcPts val="0"/>
              </a:spcAft>
              <a:defRPr sz="2000" b="0">
                <a:solidFill>
                  <a:srgbClr val="14243C"/>
                </a:solidFill>
                <a:latin typeface="Noto Sans CJK KR"/>
              </a:defRPr>
            </a:pPr>
            <a:r>
              <a:t>도착시간 ≤ 허용시간</a:t>
            </a:r>
          </a:p>
          <a:p>
            <a:pPr>
              <a:lnSpc>
                <a:spcPct val="113000"/>
              </a:lnSpc>
              <a:spcAft>
                <a:spcPts val="0"/>
              </a:spcAft>
              <a:defRPr sz="2000" b="0">
                <a:solidFill>
                  <a:srgbClr val="14243C"/>
                </a:solidFill>
                <a:latin typeface="Noto Sans CJK KR"/>
              </a:defRPr>
            </a:pPr>
            <a:r>
              <a:t>호환 규격·적재 안전 확인</a:t>
            </a:r>
          </a:p>
        </p:txBody>
      </p:sp>
      <p:sp>
        <p:nvSpPr>
          <p:cNvPr id="12" name="TextBox 11"/>
          <p:cNvSpPr txBox="1"/>
          <p:nvPr/>
        </p:nvSpPr>
        <p:spPr>
          <a:xfrm>
            <a:off x="969264" y="5312664"/>
            <a:ext cx="5788152" cy="1271016"/>
          </a:xfrm>
          <a:prstGeom prst="rect">
            <a:avLst/>
          </a:prstGeom>
          <a:noFill/>
        </p:spPr>
        <p:txBody>
          <a:bodyPr wrap="square" lIns="0" rIns="0" tIns="0" bIns="0">
            <a:spAutoFit/>
          </a:bodyPr>
          <a:lstStyle/>
          <a:p>
            <a:pPr>
              <a:lnSpc>
                <a:spcPct val="113000"/>
              </a:lnSpc>
              <a:spcAft>
                <a:spcPts val="0"/>
              </a:spcAft>
              <a:defRPr sz="1900" b="0">
                <a:solidFill>
                  <a:srgbClr val="14243C"/>
                </a:solidFill>
                <a:latin typeface="Noto Sans CJK KR"/>
              </a:defRPr>
            </a:pPr>
            <a:r>
              <a:t>비용 ≤ 운영자가 정한 비용 한도</a:t>
            </a:r>
          </a:p>
          <a:p>
            <a:pPr>
              <a:lnSpc>
                <a:spcPct val="113000"/>
              </a:lnSpc>
              <a:spcAft>
                <a:spcPts val="0"/>
              </a:spcAft>
              <a:defRPr sz="1900" b="0">
                <a:solidFill>
                  <a:srgbClr val="14243C"/>
                </a:solidFill>
                <a:latin typeface="Noto Sans CJK KR"/>
              </a:defRPr>
            </a:pPr>
            <a:r>
              <a:t>예상 배출 ≤ B − Eₜ − Kₜ</a:t>
            </a:r>
          </a:p>
          <a:p>
            <a:pPr>
              <a:lnSpc>
                <a:spcPct val="113000"/>
              </a:lnSpc>
              <a:spcAft>
                <a:spcPts val="0"/>
              </a:spcAft>
              <a:defRPr sz="1900" b="0">
                <a:solidFill>
                  <a:srgbClr val="14243C"/>
                </a:solidFill>
                <a:latin typeface="Noto Sans CJK KR"/>
              </a:defRPr>
            </a:pPr>
            <a:r>
              <a:t>Kₜ: 확정·미정산 운행의 예상 배출</a:t>
            </a:r>
          </a:p>
        </p:txBody>
      </p:sp>
      <p:sp>
        <p:nvSpPr>
          <p:cNvPr id="13" name="Rectangle 12"/>
          <p:cNvSpPr/>
          <p:nvPr/>
        </p:nvSpPr>
        <p:spPr>
          <a:xfrm>
            <a:off x="7351775" y="2770632"/>
            <a:ext cx="6583680" cy="4361688"/>
          </a:xfrm>
          <a:prstGeom prst="rect">
            <a:avLst/>
          </a:prstGeom>
          <a:solidFill>
            <a:srgbClr val="E4F4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598664" y="2999232"/>
            <a:ext cx="6099048" cy="384048"/>
          </a:xfrm>
          <a:prstGeom prst="rect">
            <a:avLst/>
          </a:prstGeom>
          <a:noFill/>
        </p:spPr>
        <p:txBody>
          <a:bodyPr wrap="square" lIns="0" rIns="0" tIns="0" bIns="0">
            <a:spAutoFit/>
          </a:bodyPr>
          <a:lstStyle/>
          <a:p>
            <a:pPr>
              <a:lnSpc>
                <a:spcPct val="113000"/>
              </a:lnSpc>
              <a:spcAft>
                <a:spcPts val="0"/>
              </a:spcAft>
              <a:defRPr sz="2400" b="1">
                <a:solidFill>
                  <a:srgbClr val="087F70"/>
                </a:solidFill>
                <a:latin typeface="Noto Sans CJK KR"/>
              </a:defRPr>
            </a:pPr>
            <a:r>
              <a:t>2. 후보 집합 안에서 평가</a:t>
            </a:r>
          </a:p>
        </p:txBody>
      </p:sp>
      <p:sp>
        <p:nvSpPr>
          <p:cNvPr id="15" name="TextBox 14"/>
          <p:cNvSpPr txBox="1"/>
          <p:nvPr/>
        </p:nvSpPr>
        <p:spPr>
          <a:xfrm>
            <a:off x="7607808" y="3685032"/>
            <a:ext cx="6053328" cy="1545336"/>
          </a:xfrm>
          <a:prstGeom prst="rect">
            <a:avLst/>
          </a:prstGeom>
          <a:noFill/>
        </p:spPr>
        <p:txBody>
          <a:bodyPr wrap="square" lIns="0" rIns="0" tIns="0" bIns="0">
            <a:spAutoFit/>
          </a:bodyPr>
          <a:lstStyle/>
          <a:p>
            <a:pPr>
              <a:lnSpc>
                <a:spcPct val="113000"/>
              </a:lnSpc>
              <a:spcAft>
                <a:spcPts val="0"/>
              </a:spcAft>
              <a:defRPr sz="1900" b="0">
                <a:solidFill>
                  <a:srgbClr val="14243C"/>
                </a:solidFill>
                <a:latin typeface="Noto Sans CJK KR"/>
              </a:defRPr>
            </a:pPr>
            <a:r>
              <a:t>비용점수 = (Cmax−Cⱼ)/(Cmax−Cmin)</a:t>
            </a:r>
          </a:p>
          <a:p>
            <a:pPr>
              <a:lnSpc>
                <a:spcPct val="113000"/>
              </a:lnSpc>
              <a:spcAft>
                <a:spcPts val="0"/>
              </a:spcAft>
              <a:defRPr sz="1900" b="0">
                <a:solidFill>
                  <a:srgbClr val="14243C"/>
                </a:solidFill>
                <a:latin typeface="Noto Sans CJK KR"/>
              </a:defRPr>
            </a:pPr>
            <a:r>
              <a:t>탄소점수 = (emax−eⱼ)/(emax−emin)</a:t>
            </a:r>
          </a:p>
          <a:p>
            <a:pPr>
              <a:lnSpc>
                <a:spcPct val="113000"/>
              </a:lnSpc>
              <a:spcAft>
                <a:spcPts val="0"/>
              </a:spcAft>
              <a:defRPr sz="1900" b="0">
                <a:solidFill>
                  <a:srgbClr val="14243C"/>
                </a:solidFill>
                <a:latin typeface="Noto Sans CJK KR"/>
              </a:defRPr>
            </a:pPr>
            <a:r>
              <a:t>시간여유 = (D−Tⱼ)/D</a:t>
            </a:r>
          </a:p>
        </p:txBody>
      </p:sp>
      <p:sp>
        <p:nvSpPr>
          <p:cNvPr id="16" name="TextBox 15"/>
          <p:cNvSpPr txBox="1"/>
          <p:nvPr/>
        </p:nvSpPr>
        <p:spPr>
          <a:xfrm>
            <a:off x="7607808" y="5486400"/>
            <a:ext cx="6044184" cy="1060704"/>
          </a:xfrm>
          <a:prstGeom prst="rect">
            <a:avLst/>
          </a:prstGeom>
          <a:noFill/>
        </p:spPr>
        <p:txBody>
          <a:bodyPr wrap="square" lIns="0" rIns="0" tIns="0" bIns="0">
            <a:spAutoFit/>
          </a:bodyPr>
          <a:lstStyle/>
          <a:p>
            <a:pPr>
              <a:lnSpc>
                <a:spcPct val="113000"/>
              </a:lnSpc>
              <a:spcAft>
                <a:spcPts val="0"/>
              </a:spcAft>
              <a:defRPr sz="1900" b="0">
                <a:solidFill>
                  <a:srgbClr val="14243C"/>
                </a:solidFill>
                <a:latin typeface="Noto Sans CJK KR"/>
              </a:defRPr>
            </a:pPr>
            <a:r>
              <a:t>RPSⱼ = α·비용 + β·탄소 + γ·시간여유</a:t>
            </a:r>
          </a:p>
          <a:p>
            <a:pPr>
              <a:lnSpc>
                <a:spcPct val="113000"/>
              </a:lnSpc>
              <a:spcAft>
                <a:spcPts val="0"/>
              </a:spcAft>
              <a:defRPr sz="1900" b="0">
                <a:solidFill>
                  <a:srgbClr val="14243C"/>
                </a:solidFill>
                <a:latin typeface="Noto Sans CJK KR"/>
              </a:defRPr>
            </a:pPr>
            <a:r>
              <a:t>j* = arg maxⱼ∈F RPSⱼ</a:t>
            </a:r>
          </a:p>
          <a:p>
            <a:pPr>
              <a:lnSpc>
                <a:spcPct val="113000"/>
              </a:lnSpc>
              <a:spcAft>
                <a:spcPts val="0"/>
              </a:spcAft>
              <a:defRPr sz="1900" b="0">
                <a:solidFill>
                  <a:srgbClr val="14243C"/>
                </a:solidFill>
                <a:latin typeface="Noto Sans CJK KR"/>
              </a:defRPr>
            </a:pPr>
            <a:r>
              <a:t>α+β+γ=1,  각 가중치 ≥ 0</a:t>
            </a:r>
          </a:p>
        </p:txBody>
      </p:sp>
      <p:sp>
        <p:nvSpPr>
          <p:cNvPr id="17" name="TextBox 16"/>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min·max는 F 안에서 계산. 값이 모두 같으면 해당 항목은 모두 1점. 동점은 배출→비용→시간→ID 순. F가 비면 자동 실행 없이 예외 판단.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CBP  /  DECISION DESIGN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687D94"/>
                </a:solidFill>
                <a:latin typeface="Noto Sans CJK KR"/>
              </a:defRPr>
            </a:pPr>
            <a:r>
              <a:t>APPENDIX / REPRODUCIBLE CALCULATION</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원안의 네 모드를 유지하고, 점수 계산을 공개했습니다.</a:t>
            </a:r>
          </a:p>
        </p:txBody>
      </p:sp>
      <p:sp>
        <p:nvSpPr>
          <p:cNvPr id="5" name="TextBox 4"/>
          <p:cNvSpPr txBox="1"/>
          <p:nvPr/>
        </p:nvSpPr>
        <p:spPr>
          <a:xfrm>
            <a:off x="649224" y="2084831"/>
            <a:ext cx="13304520" cy="493776"/>
          </a:xfrm>
          <a:prstGeom prst="rect">
            <a:avLst/>
          </a:prstGeom>
          <a:noFill/>
        </p:spPr>
        <p:txBody>
          <a:bodyPr wrap="square" lIns="0" rIns="0" tIns="0" bIns="0">
            <a:spAutoFit/>
          </a:bodyPr>
          <a:lstStyle/>
          <a:p>
            <a:pPr>
              <a:lnSpc>
                <a:spcPct val="113000"/>
              </a:lnSpc>
              <a:spcAft>
                <a:spcPts val="0"/>
              </a:spcAft>
              <a:defRPr sz="1800" b="0">
                <a:solidFill>
                  <a:srgbClr val="687D94"/>
                </a:solidFill>
                <a:latin typeface="Noto Sans CJK KR"/>
              </a:defRPr>
            </a:pPr>
            <a:r>
              <a:t>상태 구간과 가중치는 설계 가정입니다. 데이터로 검증된 최적값이 아닙니다.</a:t>
            </a:r>
          </a:p>
        </p:txBody>
      </p:sp>
      <p:cxnSp>
        <p:nvCxnSpPr>
          <p:cNvPr id="6" name="Connector 5"/>
          <p:cNvCxnSpPr/>
          <p:nvPr/>
        </p:nvCxnSpPr>
        <p:spPr>
          <a:xfrm>
            <a:off x="621792" y="7717536"/>
            <a:ext cx="13386816"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두런두런  ·  제13회 유닛로드시스템(ULS) 창의성 공모전  /  질의응답 보충</a:t>
            </a:r>
          </a:p>
        </p:txBody>
      </p:sp>
      <p:sp>
        <p:nvSpPr>
          <p:cNvPr id="8" name="TextBox 7"/>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087F70"/>
                </a:solidFill>
                <a:latin typeface="Noto Sans CJK KR"/>
              </a:defRPr>
            </a:pPr>
            <a:r>
              <a:t>02</a:t>
            </a:r>
          </a:p>
        </p:txBody>
      </p:sp>
      <p:sp>
        <p:nvSpPr>
          <p:cNvPr id="9" name="TextBox 8"/>
          <p:cNvSpPr txBox="1"/>
          <p:nvPr/>
        </p:nvSpPr>
        <p:spPr>
          <a:xfrm>
            <a:off x="841248" y="2834640"/>
            <a:ext cx="2834640" cy="338328"/>
          </a:xfrm>
          <a:prstGeom prst="rect">
            <a:avLst/>
          </a:prstGeom>
          <a:noFill/>
        </p:spPr>
        <p:txBody>
          <a:bodyPr wrap="square" lIns="0" rIns="0" tIns="0" bIns="0">
            <a:spAutoFit/>
          </a:bodyPr>
          <a:lstStyle/>
          <a:p>
            <a:pPr>
              <a:lnSpc>
                <a:spcPct val="113000"/>
              </a:lnSpc>
              <a:spcAft>
                <a:spcPts val="0"/>
              </a:spcAft>
              <a:defRPr sz="2300" b="1">
                <a:solidFill>
                  <a:srgbClr val="14243C"/>
                </a:solidFill>
                <a:latin typeface="Noto Sans CJK KR"/>
              </a:defRPr>
            </a:pPr>
            <a:r>
              <a:t>Cost</a:t>
            </a:r>
          </a:p>
        </p:txBody>
      </p:sp>
      <p:sp>
        <p:nvSpPr>
          <p:cNvPr id="10" name="TextBox 9"/>
          <p:cNvSpPr txBox="1"/>
          <p:nvPr/>
        </p:nvSpPr>
        <p:spPr>
          <a:xfrm>
            <a:off x="841248" y="3337560"/>
            <a:ext cx="2834640" cy="274320"/>
          </a:xfrm>
          <a:prstGeom prst="rect">
            <a:avLst/>
          </a:prstGeom>
          <a:noFill/>
        </p:spPr>
        <p:txBody>
          <a:bodyPr wrap="square" lIns="0" rIns="0" tIns="0" bIns="0">
            <a:spAutoFit/>
          </a:bodyPr>
          <a:lstStyle/>
          <a:p>
            <a:pPr>
              <a:lnSpc>
                <a:spcPct val="113000"/>
              </a:lnSpc>
              <a:spcAft>
                <a:spcPts val="0"/>
              </a:spcAft>
              <a:defRPr sz="1600" b="0">
                <a:solidFill>
                  <a:srgbClr val="687D94"/>
                </a:solidFill>
                <a:latin typeface="Noto Sans CJK KR"/>
              </a:defRPr>
            </a:pPr>
            <a:r>
              <a:t>CUR &lt;60%</a:t>
            </a:r>
          </a:p>
        </p:txBody>
      </p:sp>
      <p:sp>
        <p:nvSpPr>
          <p:cNvPr id="11" name="Rectangle 10"/>
          <p:cNvSpPr/>
          <p:nvPr/>
        </p:nvSpPr>
        <p:spPr>
          <a:xfrm>
            <a:off x="841248" y="3867912"/>
            <a:ext cx="1958644" cy="420624"/>
          </a:xfrm>
          <a:prstGeom prst="rect">
            <a:avLst/>
          </a:prstGeom>
          <a:solidFill>
            <a:srgbClr val="4976D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841248" y="3959352"/>
            <a:ext cx="1958644" cy="228600"/>
          </a:xfrm>
          <a:prstGeom prst="rect">
            <a:avLst/>
          </a:prstGeom>
          <a:noFill/>
        </p:spPr>
        <p:txBody>
          <a:bodyPr wrap="square" lIns="0" rIns="0" tIns="0" bIns="0">
            <a:spAutoFit/>
          </a:bodyPr>
          <a:lstStyle/>
          <a:p>
            <a:pPr algn="ctr">
              <a:lnSpc>
                <a:spcPct val="113000"/>
              </a:lnSpc>
              <a:spcAft>
                <a:spcPts val="0"/>
              </a:spcAft>
              <a:defRPr sz="1200" b="1">
                <a:solidFill>
                  <a:srgbClr val="FFFFFF"/>
                </a:solidFill>
                <a:latin typeface="Noto Sans CJK KR"/>
              </a:defRPr>
            </a:pPr>
            <a:r>
              <a:t>70</a:t>
            </a:r>
          </a:p>
        </p:txBody>
      </p:sp>
      <p:sp>
        <p:nvSpPr>
          <p:cNvPr id="13" name="Rectangle 12"/>
          <p:cNvSpPr/>
          <p:nvPr/>
        </p:nvSpPr>
        <p:spPr>
          <a:xfrm>
            <a:off x="2799892" y="3867912"/>
            <a:ext cx="279806" cy="420624"/>
          </a:xfrm>
          <a:prstGeom prst="rect">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2799892" y="3959352"/>
            <a:ext cx="279806" cy="228600"/>
          </a:xfrm>
          <a:prstGeom prst="rect">
            <a:avLst/>
          </a:prstGeom>
          <a:noFill/>
        </p:spPr>
        <p:txBody>
          <a:bodyPr wrap="square" lIns="0" rIns="0" tIns="0" bIns="0">
            <a:spAutoFit/>
          </a:bodyPr>
          <a:lstStyle/>
          <a:p>
            <a:pPr algn="ctr">
              <a:lnSpc>
                <a:spcPct val="113000"/>
              </a:lnSpc>
              <a:spcAft>
                <a:spcPts val="0"/>
              </a:spcAft>
              <a:defRPr sz="1200" b="1">
                <a:solidFill>
                  <a:srgbClr val="FFFFFF"/>
                </a:solidFill>
                <a:latin typeface="Noto Sans CJK KR"/>
              </a:defRPr>
            </a:pPr>
            <a:r>
              <a:t>10</a:t>
            </a:r>
          </a:p>
        </p:txBody>
      </p:sp>
      <p:sp>
        <p:nvSpPr>
          <p:cNvPr id="15" name="Rectangle 14"/>
          <p:cNvSpPr/>
          <p:nvPr/>
        </p:nvSpPr>
        <p:spPr>
          <a:xfrm>
            <a:off x="3079699" y="3867912"/>
            <a:ext cx="559612" cy="420624"/>
          </a:xfrm>
          <a:prstGeom prst="rect">
            <a:avLst/>
          </a:prstGeom>
          <a:solidFill>
            <a:srgbClr val="E5B66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3079699" y="3959352"/>
            <a:ext cx="559612" cy="228600"/>
          </a:xfrm>
          <a:prstGeom prst="rect">
            <a:avLst/>
          </a:prstGeom>
          <a:noFill/>
        </p:spPr>
        <p:txBody>
          <a:bodyPr wrap="square" lIns="0" rIns="0" tIns="0" bIns="0">
            <a:spAutoFit/>
          </a:bodyPr>
          <a:lstStyle/>
          <a:p>
            <a:pPr algn="ctr">
              <a:lnSpc>
                <a:spcPct val="113000"/>
              </a:lnSpc>
              <a:spcAft>
                <a:spcPts val="0"/>
              </a:spcAft>
              <a:defRPr sz="1200" b="1">
                <a:solidFill>
                  <a:srgbClr val="14243C"/>
                </a:solidFill>
                <a:latin typeface="Noto Sans CJK KR"/>
              </a:defRPr>
            </a:pPr>
            <a:r>
              <a:t>20</a:t>
            </a:r>
          </a:p>
        </p:txBody>
      </p:sp>
      <p:sp>
        <p:nvSpPr>
          <p:cNvPr id="17" name="TextBox 16"/>
          <p:cNvSpPr txBox="1"/>
          <p:nvPr/>
        </p:nvSpPr>
        <p:spPr>
          <a:xfrm>
            <a:off x="841248" y="4599432"/>
            <a:ext cx="438912" cy="301752"/>
          </a:xfrm>
          <a:prstGeom prst="rect">
            <a:avLst/>
          </a:prstGeom>
          <a:noFill/>
        </p:spPr>
        <p:txBody>
          <a:bodyPr wrap="square" lIns="0" rIns="0" tIns="0" bIns="0">
            <a:spAutoFit/>
          </a:bodyPr>
          <a:lstStyle/>
          <a:p>
            <a:pPr>
              <a:lnSpc>
                <a:spcPct val="113000"/>
              </a:lnSpc>
              <a:spcAft>
                <a:spcPts val="0"/>
              </a:spcAft>
              <a:defRPr sz="1900" b="1">
                <a:solidFill>
                  <a:srgbClr val="14243C"/>
                </a:solidFill>
                <a:latin typeface="Noto Sans CJK KR"/>
              </a:defRPr>
            </a:pPr>
            <a:r>
              <a:t>A</a:t>
            </a:r>
          </a:p>
        </p:txBody>
      </p:sp>
      <p:sp>
        <p:nvSpPr>
          <p:cNvPr id="18" name="TextBox 17"/>
          <p:cNvSpPr txBox="1"/>
          <p:nvPr/>
        </p:nvSpPr>
        <p:spPr>
          <a:xfrm>
            <a:off x="1499616" y="4599432"/>
            <a:ext cx="2084831" cy="301752"/>
          </a:xfrm>
          <a:prstGeom prst="rect">
            <a:avLst/>
          </a:prstGeom>
          <a:noFill/>
        </p:spPr>
        <p:txBody>
          <a:bodyPr wrap="square" lIns="0" rIns="0" tIns="0" bIns="0">
            <a:spAutoFit/>
          </a:bodyPr>
          <a:lstStyle/>
          <a:p>
            <a:pPr>
              <a:lnSpc>
                <a:spcPct val="113000"/>
              </a:lnSpc>
              <a:spcAft>
                <a:spcPts val="0"/>
              </a:spcAft>
              <a:defRPr sz="1900" b="1">
                <a:solidFill>
                  <a:srgbClr val="087F70"/>
                </a:solidFill>
                <a:latin typeface="Noto Sans CJK KR"/>
              </a:defRPr>
            </a:pPr>
            <a:r>
              <a:t>0.75</a:t>
            </a:r>
          </a:p>
        </p:txBody>
      </p:sp>
      <p:sp>
        <p:nvSpPr>
          <p:cNvPr id="19" name="TextBox 18"/>
          <p:cNvSpPr txBox="1"/>
          <p:nvPr/>
        </p:nvSpPr>
        <p:spPr>
          <a:xfrm>
            <a:off x="841248" y="5230368"/>
            <a:ext cx="438912" cy="301752"/>
          </a:xfrm>
          <a:prstGeom prst="rect">
            <a:avLst/>
          </a:prstGeom>
          <a:noFill/>
        </p:spPr>
        <p:txBody>
          <a:bodyPr wrap="square" lIns="0" rIns="0" tIns="0" bIns="0">
            <a:spAutoFit/>
          </a:bodyPr>
          <a:lstStyle/>
          <a:p>
            <a:pPr>
              <a:lnSpc>
                <a:spcPct val="113000"/>
              </a:lnSpc>
              <a:spcAft>
                <a:spcPts val="0"/>
              </a:spcAft>
              <a:defRPr sz="1900" b="1">
                <a:solidFill>
                  <a:srgbClr val="14243C"/>
                </a:solidFill>
                <a:latin typeface="Noto Sans CJK KR"/>
              </a:defRPr>
            </a:pPr>
            <a:r>
              <a:t>B</a:t>
            </a:r>
          </a:p>
        </p:txBody>
      </p:sp>
      <p:sp>
        <p:nvSpPr>
          <p:cNvPr id="20" name="TextBox 19"/>
          <p:cNvSpPr txBox="1"/>
          <p:nvPr/>
        </p:nvSpPr>
        <p:spPr>
          <a:xfrm>
            <a:off x="1499616" y="5230368"/>
            <a:ext cx="2084831" cy="301752"/>
          </a:xfrm>
          <a:prstGeom prst="rect">
            <a:avLst/>
          </a:prstGeom>
          <a:noFill/>
        </p:spPr>
        <p:txBody>
          <a:bodyPr wrap="square" lIns="0" rIns="0" tIns="0" bIns="0">
            <a:spAutoFit/>
          </a:bodyPr>
          <a:lstStyle/>
          <a:p>
            <a:pPr>
              <a:lnSpc>
                <a:spcPct val="113000"/>
              </a:lnSpc>
              <a:spcAft>
                <a:spcPts val="0"/>
              </a:spcAft>
              <a:defRPr sz="1900" b="0">
                <a:solidFill>
                  <a:srgbClr val="687D94"/>
                </a:solidFill>
                <a:latin typeface="Noto Sans CJK KR"/>
              </a:defRPr>
            </a:pPr>
            <a:r>
              <a:t>0.695</a:t>
            </a:r>
          </a:p>
        </p:txBody>
      </p:sp>
      <p:sp>
        <p:nvSpPr>
          <p:cNvPr id="21" name="TextBox 20"/>
          <p:cNvSpPr txBox="1"/>
          <p:nvPr/>
        </p:nvSpPr>
        <p:spPr>
          <a:xfrm>
            <a:off x="841248" y="5861304"/>
            <a:ext cx="438912" cy="301752"/>
          </a:xfrm>
          <a:prstGeom prst="rect">
            <a:avLst/>
          </a:prstGeom>
          <a:noFill/>
        </p:spPr>
        <p:txBody>
          <a:bodyPr wrap="square" lIns="0" rIns="0" tIns="0" bIns="0">
            <a:spAutoFit/>
          </a:bodyPr>
          <a:lstStyle/>
          <a:p>
            <a:pPr>
              <a:lnSpc>
                <a:spcPct val="113000"/>
              </a:lnSpc>
              <a:spcAft>
                <a:spcPts val="0"/>
              </a:spcAft>
              <a:defRPr sz="1900" b="1">
                <a:solidFill>
                  <a:srgbClr val="14243C"/>
                </a:solidFill>
                <a:latin typeface="Noto Sans CJK KR"/>
              </a:defRPr>
            </a:pPr>
            <a:r>
              <a:t>C</a:t>
            </a:r>
          </a:p>
        </p:txBody>
      </p:sp>
      <p:sp>
        <p:nvSpPr>
          <p:cNvPr id="22" name="TextBox 21"/>
          <p:cNvSpPr txBox="1"/>
          <p:nvPr/>
        </p:nvSpPr>
        <p:spPr>
          <a:xfrm>
            <a:off x="1499616" y="5861304"/>
            <a:ext cx="2084831" cy="301752"/>
          </a:xfrm>
          <a:prstGeom prst="rect">
            <a:avLst/>
          </a:prstGeom>
          <a:noFill/>
        </p:spPr>
        <p:txBody>
          <a:bodyPr wrap="square" lIns="0" rIns="0" tIns="0" bIns="0">
            <a:spAutoFit/>
          </a:bodyPr>
          <a:lstStyle/>
          <a:p>
            <a:pPr>
              <a:lnSpc>
                <a:spcPct val="113000"/>
              </a:lnSpc>
              <a:spcAft>
                <a:spcPts val="0"/>
              </a:spcAft>
              <a:defRPr sz="1900" b="0">
                <a:solidFill>
                  <a:srgbClr val="687D94"/>
                </a:solidFill>
                <a:latin typeface="Noto Sans CJK KR"/>
              </a:defRPr>
            </a:pPr>
            <a:r>
              <a:t>0.225</a:t>
            </a:r>
          </a:p>
        </p:txBody>
      </p:sp>
      <p:sp>
        <p:nvSpPr>
          <p:cNvPr id="23" name="Rectangle 22"/>
          <p:cNvSpPr/>
          <p:nvPr/>
        </p:nvSpPr>
        <p:spPr>
          <a:xfrm>
            <a:off x="841248" y="6601968"/>
            <a:ext cx="2798064" cy="320040"/>
          </a:xfrm>
          <a:prstGeom prst="rect">
            <a:avLst/>
          </a:prstGeom>
          <a:solidFill>
            <a:srgbClr val="E4F4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932688" y="6652259"/>
            <a:ext cx="2615184" cy="219456"/>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선택 A</a:t>
            </a:r>
          </a:p>
        </p:txBody>
      </p:sp>
      <p:sp>
        <p:nvSpPr>
          <p:cNvPr id="25" name="TextBox 24"/>
          <p:cNvSpPr txBox="1"/>
          <p:nvPr/>
        </p:nvSpPr>
        <p:spPr>
          <a:xfrm>
            <a:off x="3959352" y="2834640"/>
            <a:ext cx="2834640" cy="338328"/>
          </a:xfrm>
          <a:prstGeom prst="rect">
            <a:avLst/>
          </a:prstGeom>
          <a:noFill/>
        </p:spPr>
        <p:txBody>
          <a:bodyPr wrap="square" lIns="0" rIns="0" tIns="0" bIns="0">
            <a:spAutoFit/>
          </a:bodyPr>
          <a:lstStyle/>
          <a:p>
            <a:pPr>
              <a:lnSpc>
                <a:spcPct val="113000"/>
              </a:lnSpc>
              <a:spcAft>
                <a:spcPts val="0"/>
              </a:spcAft>
              <a:defRPr sz="2300" b="1">
                <a:solidFill>
                  <a:srgbClr val="14243C"/>
                </a:solidFill>
                <a:latin typeface="Noto Sans CJK KR"/>
              </a:defRPr>
            </a:pPr>
            <a:r>
              <a:t>Balanced</a:t>
            </a:r>
          </a:p>
        </p:txBody>
      </p:sp>
      <p:sp>
        <p:nvSpPr>
          <p:cNvPr id="26" name="TextBox 25"/>
          <p:cNvSpPr txBox="1"/>
          <p:nvPr/>
        </p:nvSpPr>
        <p:spPr>
          <a:xfrm>
            <a:off x="3959352" y="3337560"/>
            <a:ext cx="2834640" cy="274320"/>
          </a:xfrm>
          <a:prstGeom prst="rect">
            <a:avLst/>
          </a:prstGeom>
          <a:noFill/>
        </p:spPr>
        <p:txBody>
          <a:bodyPr wrap="square" lIns="0" rIns="0" tIns="0" bIns="0">
            <a:spAutoFit/>
          </a:bodyPr>
          <a:lstStyle/>
          <a:p>
            <a:pPr>
              <a:lnSpc>
                <a:spcPct val="113000"/>
              </a:lnSpc>
              <a:spcAft>
                <a:spcPts val="0"/>
              </a:spcAft>
              <a:defRPr sz="1600" b="0">
                <a:solidFill>
                  <a:srgbClr val="687D94"/>
                </a:solidFill>
                <a:latin typeface="Noto Sans CJK KR"/>
              </a:defRPr>
            </a:pPr>
            <a:r>
              <a:t>CUR 60–&lt;75%</a:t>
            </a:r>
          </a:p>
        </p:txBody>
      </p:sp>
      <p:sp>
        <p:nvSpPr>
          <p:cNvPr id="27" name="Rectangle 26"/>
          <p:cNvSpPr/>
          <p:nvPr/>
        </p:nvSpPr>
        <p:spPr>
          <a:xfrm>
            <a:off x="3959352" y="3867912"/>
            <a:ext cx="1399032" cy="420624"/>
          </a:xfrm>
          <a:prstGeom prst="rect">
            <a:avLst/>
          </a:prstGeom>
          <a:solidFill>
            <a:srgbClr val="4976D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3959352" y="3959352"/>
            <a:ext cx="1399032" cy="228600"/>
          </a:xfrm>
          <a:prstGeom prst="rect">
            <a:avLst/>
          </a:prstGeom>
          <a:noFill/>
        </p:spPr>
        <p:txBody>
          <a:bodyPr wrap="square" lIns="0" rIns="0" tIns="0" bIns="0">
            <a:spAutoFit/>
          </a:bodyPr>
          <a:lstStyle/>
          <a:p>
            <a:pPr algn="ctr">
              <a:lnSpc>
                <a:spcPct val="113000"/>
              </a:lnSpc>
              <a:spcAft>
                <a:spcPts val="0"/>
              </a:spcAft>
              <a:defRPr sz="1200" b="1">
                <a:solidFill>
                  <a:srgbClr val="FFFFFF"/>
                </a:solidFill>
                <a:latin typeface="Noto Sans CJK KR"/>
              </a:defRPr>
            </a:pPr>
            <a:r>
              <a:t>50</a:t>
            </a:r>
          </a:p>
        </p:txBody>
      </p:sp>
      <p:sp>
        <p:nvSpPr>
          <p:cNvPr id="29" name="Rectangle 28"/>
          <p:cNvSpPr/>
          <p:nvPr/>
        </p:nvSpPr>
        <p:spPr>
          <a:xfrm>
            <a:off x="5358384" y="3867912"/>
            <a:ext cx="839419" cy="420624"/>
          </a:xfrm>
          <a:prstGeom prst="rect">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5358384" y="3959352"/>
            <a:ext cx="839419" cy="228600"/>
          </a:xfrm>
          <a:prstGeom prst="rect">
            <a:avLst/>
          </a:prstGeom>
          <a:noFill/>
        </p:spPr>
        <p:txBody>
          <a:bodyPr wrap="square" lIns="0" rIns="0" tIns="0" bIns="0">
            <a:spAutoFit/>
          </a:bodyPr>
          <a:lstStyle/>
          <a:p>
            <a:pPr algn="ctr">
              <a:lnSpc>
                <a:spcPct val="113000"/>
              </a:lnSpc>
              <a:spcAft>
                <a:spcPts val="0"/>
              </a:spcAft>
              <a:defRPr sz="1200" b="1">
                <a:solidFill>
                  <a:srgbClr val="FFFFFF"/>
                </a:solidFill>
                <a:latin typeface="Noto Sans CJK KR"/>
              </a:defRPr>
            </a:pPr>
            <a:r>
              <a:t>30</a:t>
            </a:r>
          </a:p>
        </p:txBody>
      </p:sp>
      <p:sp>
        <p:nvSpPr>
          <p:cNvPr id="31" name="Rectangle 30"/>
          <p:cNvSpPr/>
          <p:nvPr/>
        </p:nvSpPr>
        <p:spPr>
          <a:xfrm>
            <a:off x="6197803" y="3867912"/>
            <a:ext cx="559612" cy="420624"/>
          </a:xfrm>
          <a:prstGeom prst="rect">
            <a:avLst/>
          </a:prstGeom>
          <a:solidFill>
            <a:srgbClr val="E5B66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6197803" y="3959352"/>
            <a:ext cx="559612" cy="228600"/>
          </a:xfrm>
          <a:prstGeom prst="rect">
            <a:avLst/>
          </a:prstGeom>
          <a:noFill/>
        </p:spPr>
        <p:txBody>
          <a:bodyPr wrap="square" lIns="0" rIns="0" tIns="0" bIns="0">
            <a:spAutoFit/>
          </a:bodyPr>
          <a:lstStyle/>
          <a:p>
            <a:pPr algn="ctr">
              <a:lnSpc>
                <a:spcPct val="113000"/>
              </a:lnSpc>
              <a:spcAft>
                <a:spcPts val="0"/>
              </a:spcAft>
              <a:defRPr sz="1200" b="1">
                <a:solidFill>
                  <a:srgbClr val="14243C"/>
                </a:solidFill>
                <a:latin typeface="Noto Sans CJK KR"/>
              </a:defRPr>
            </a:pPr>
            <a:r>
              <a:t>20</a:t>
            </a:r>
          </a:p>
        </p:txBody>
      </p:sp>
      <p:sp>
        <p:nvSpPr>
          <p:cNvPr id="33" name="TextBox 32"/>
          <p:cNvSpPr txBox="1"/>
          <p:nvPr/>
        </p:nvSpPr>
        <p:spPr>
          <a:xfrm>
            <a:off x="3959352" y="4599432"/>
            <a:ext cx="438912" cy="301752"/>
          </a:xfrm>
          <a:prstGeom prst="rect">
            <a:avLst/>
          </a:prstGeom>
          <a:noFill/>
        </p:spPr>
        <p:txBody>
          <a:bodyPr wrap="square" lIns="0" rIns="0" tIns="0" bIns="0">
            <a:spAutoFit/>
          </a:bodyPr>
          <a:lstStyle/>
          <a:p>
            <a:pPr>
              <a:lnSpc>
                <a:spcPct val="113000"/>
              </a:lnSpc>
              <a:spcAft>
                <a:spcPts val="0"/>
              </a:spcAft>
              <a:defRPr sz="1900" b="1">
                <a:solidFill>
                  <a:srgbClr val="14243C"/>
                </a:solidFill>
                <a:latin typeface="Noto Sans CJK KR"/>
              </a:defRPr>
            </a:pPr>
            <a:r>
              <a:t>A</a:t>
            </a:r>
          </a:p>
        </p:txBody>
      </p:sp>
      <p:sp>
        <p:nvSpPr>
          <p:cNvPr id="34" name="TextBox 33"/>
          <p:cNvSpPr txBox="1"/>
          <p:nvPr/>
        </p:nvSpPr>
        <p:spPr>
          <a:xfrm>
            <a:off x="4617720" y="4599432"/>
            <a:ext cx="2084831" cy="301752"/>
          </a:xfrm>
          <a:prstGeom prst="rect">
            <a:avLst/>
          </a:prstGeom>
          <a:noFill/>
        </p:spPr>
        <p:txBody>
          <a:bodyPr wrap="square" lIns="0" rIns="0" tIns="0" bIns="0">
            <a:spAutoFit/>
          </a:bodyPr>
          <a:lstStyle/>
          <a:p>
            <a:pPr>
              <a:lnSpc>
                <a:spcPct val="113000"/>
              </a:lnSpc>
              <a:spcAft>
                <a:spcPts val="0"/>
              </a:spcAft>
              <a:defRPr sz="1900" b="0">
                <a:solidFill>
                  <a:srgbClr val="687D94"/>
                </a:solidFill>
                <a:latin typeface="Noto Sans CJK KR"/>
              </a:defRPr>
            </a:pPr>
            <a:r>
              <a:t>0.55</a:t>
            </a:r>
          </a:p>
        </p:txBody>
      </p:sp>
      <p:sp>
        <p:nvSpPr>
          <p:cNvPr id="35" name="TextBox 34"/>
          <p:cNvSpPr txBox="1"/>
          <p:nvPr/>
        </p:nvSpPr>
        <p:spPr>
          <a:xfrm>
            <a:off x="3959352" y="5230368"/>
            <a:ext cx="438912" cy="301752"/>
          </a:xfrm>
          <a:prstGeom prst="rect">
            <a:avLst/>
          </a:prstGeom>
          <a:noFill/>
        </p:spPr>
        <p:txBody>
          <a:bodyPr wrap="square" lIns="0" rIns="0" tIns="0" bIns="0">
            <a:spAutoFit/>
          </a:bodyPr>
          <a:lstStyle/>
          <a:p>
            <a:pPr>
              <a:lnSpc>
                <a:spcPct val="113000"/>
              </a:lnSpc>
              <a:spcAft>
                <a:spcPts val="0"/>
              </a:spcAft>
              <a:defRPr sz="1900" b="1">
                <a:solidFill>
                  <a:srgbClr val="14243C"/>
                </a:solidFill>
                <a:latin typeface="Noto Sans CJK KR"/>
              </a:defRPr>
            </a:pPr>
            <a:r>
              <a:t>B</a:t>
            </a:r>
          </a:p>
        </p:txBody>
      </p:sp>
      <p:sp>
        <p:nvSpPr>
          <p:cNvPr id="36" name="TextBox 35"/>
          <p:cNvSpPr txBox="1"/>
          <p:nvPr/>
        </p:nvSpPr>
        <p:spPr>
          <a:xfrm>
            <a:off x="4617720" y="5230368"/>
            <a:ext cx="2084831" cy="301752"/>
          </a:xfrm>
          <a:prstGeom prst="rect">
            <a:avLst/>
          </a:prstGeom>
          <a:noFill/>
        </p:spPr>
        <p:txBody>
          <a:bodyPr wrap="square" lIns="0" rIns="0" tIns="0" bIns="0">
            <a:spAutoFit/>
          </a:bodyPr>
          <a:lstStyle/>
          <a:p>
            <a:pPr>
              <a:lnSpc>
                <a:spcPct val="113000"/>
              </a:lnSpc>
              <a:spcAft>
                <a:spcPts val="0"/>
              </a:spcAft>
              <a:defRPr sz="1900" b="1">
                <a:solidFill>
                  <a:srgbClr val="087F70"/>
                </a:solidFill>
                <a:latin typeface="Noto Sans CJK KR"/>
              </a:defRPr>
            </a:pPr>
            <a:r>
              <a:t>0.685</a:t>
            </a:r>
          </a:p>
        </p:txBody>
      </p:sp>
      <p:sp>
        <p:nvSpPr>
          <p:cNvPr id="37" name="TextBox 36"/>
          <p:cNvSpPr txBox="1"/>
          <p:nvPr/>
        </p:nvSpPr>
        <p:spPr>
          <a:xfrm>
            <a:off x="3959352" y="5861304"/>
            <a:ext cx="438912" cy="301752"/>
          </a:xfrm>
          <a:prstGeom prst="rect">
            <a:avLst/>
          </a:prstGeom>
          <a:noFill/>
        </p:spPr>
        <p:txBody>
          <a:bodyPr wrap="square" lIns="0" rIns="0" tIns="0" bIns="0">
            <a:spAutoFit/>
          </a:bodyPr>
          <a:lstStyle/>
          <a:p>
            <a:pPr>
              <a:lnSpc>
                <a:spcPct val="113000"/>
              </a:lnSpc>
              <a:spcAft>
                <a:spcPts val="0"/>
              </a:spcAft>
              <a:defRPr sz="1900" b="1">
                <a:solidFill>
                  <a:srgbClr val="14243C"/>
                </a:solidFill>
                <a:latin typeface="Noto Sans CJK KR"/>
              </a:defRPr>
            </a:pPr>
            <a:r>
              <a:t>C</a:t>
            </a:r>
          </a:p>
        </p:txBody>
      </p:sp>
      <p:sp>
        <p:nvSpPr>
          <p:cNvPr id="38" name="TextBox 37"/>
          <p:cNvSpPr txBox="1"/>
          <p:nvPr/>
        </p:nvSpPr>
        <p:spPr>
          <a:xfrm>
            <a:off x="4617720" y="5861304"/>
            <a:ext cx="2084831" cy="301752"/>
          </a:xfrm>
          <a:prstGeom prst="rect">
            <a:avLst/>
          </a:prstGeom>
          <a:noFill/>
        </p:spPr>
        <p:txBody>
          <a:bodyPr wrap="square" lIns="0" rIns="0" tIns="0" bIns="0">
            <a:spAutoFit/>
          </a:bodyPr>
          <a:lstStyle/>
          <a:p>
            <a:pPr>
              <a:lnSpc>
                <a:spcPct val="113000"/>
              </a:lnSpc>
              <a:spcAft>
                <a:spcPts val="0"/>
              </a:spcAft>
              <a:defRPr sz="1900" b="0">
                <a:solidFill>
                  <a:srgbClr val="687D94"/>
                </a:solidFill>
                <a:latin typeface="Noto Sans CJK KR"/>
              </a:defRPr>
            </a:pPr>
            <a:r>
              <a:t>0.425</a:t>
            </a:r>
          </a:p>
        </p:txBody>
      </p:sp>
      <p:sp>
        <p:nvSpPr>
          <p:cNvPr id="39" name="Rectangle 38"/>
          <p:cNvSpPr/>
          <p:nvPr/>
        </p:nvSpPr>
        <p:spPr>
          <a:xfrm>
            <a:off x="3959352" y="6601968"/>
            <a:ext cx="2798064" cy="320040"/>
          </a:xfrm>
          <a:prstGeom prst="rect">
            <a:avLst/>
          </a:prstGeom>
          <a:solidFill>
            <a:srgbClr val="E4F4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4050791" y="6652259"/>
            <a:ext cx="2615184" cy="219456"/>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선택 B</a:t>
            </a:r>
          </a:p>
        </p:txBody>
      </p:sp>
      <p:sp>
        <p:nvSpPr>
          <p:cNvPr id="41" name="TextBox 40"/>
          <p:cNvSpPr txBox="1"/>
          <p:nvPr/>
        </p:nvSpPr>
        <p:spPr>
          <a:xfrm>
            <a:off x="7123176" y="2834640"/>
            <a:ext cx="2834640" cy="338328"/>
          </a:xfrm>
          <a:prstGeom prst="rect">
            <a:avLst/>
          </a:prstGeom>
          <a:noFill/>
        </p:spPr>
        <p:txBody>
          <a:bodyPr wrap="square" lIns="0" rIns="0" tIns="0" bIns="0">
            <a:spAutoFit/>
          </a:bodyPr>
          <a:lstStyle/>
          <a:p>
            <a:pPr>
              <a:lnSpc>
                <a:spcPct val="113000"/>
              </a:lnSpc>
              <a:spcAft>
                <a:spcPts val="0"/>
              </a:spcAft>
              <a:defRPr sz="2300" b="1">
                <a:solidFill>
                  <a:srgbClr val="087F70"/>
                </a:solidFill>
                <a:latin typeface="Noto Sans CJK KR"/>
              </a:defRPr>
            </a:pPr>
            <a:r>
              <a:t>Carbon</a:t>
            </a:r>
          </a:p>
        </p:txBody>
      </p:sp>
      <p:sp>
        <p:nvSpPr>
          <p:cNvPr id="42" name="TextBox 41"/>
          <p:cNvSpPr txBox="1"/>
          <p:nvPr/>
        </p:nvSpPr>
        <p:spPr>
          <a:xfrm>
            <a:off x="7123176" y="3337560"/>
            <a:ext cx="2834640" cy="274320"/>
          </a:xfrm>
          <a:prstGeom prst="rect">
            <a:avLst/>
          </a:prstGeom>
          <a:noFill/>
        </p:spPr>
        <p:txBody>
          <a:bodyPr wrap="square" lIns="0" rIns="0" tIns="0" bIns="0">
            <a:spAutoFit/>
          </a:bodyPr>
          <a:lstStyle/>
          <a:p>
            <a:pPr>
              <a:lnSpc>
                <a:spcPct val="113000"/>
              </a:lnSpc>
              <a:spcAft>
                <a:spcPts val="0"/>
              </a:spcAft>
              <a:defRPr sz="1600" b="0">
                <a:solidFill>
                  <a:srgbClr val="687D94"/>
                </a:solidFill>
                <a:latin typeface="Noto Sans CJK KR"/>
              </a:defRPr>
            </a:pPr>
            <a:r>
              <a:t>CUR 75–&lt;90%</a:t>
            </a:r>
          </a:p>
        </p:txBody>
      </p:sp>
      <p:sp>
        <p:nvSpPr>
          <p:cNvPr id="43" name="Rectangle 42"/>
          <p:cNvSpPr/>
          <p:nvPr/>
        </p:nvSpPr>
        <p:spPr>
          <a:xfrm>
            <a:off x="7123176" y="3867912"/>
            <a:ext cx="559612" cy="420624"/>
          </a:xfrm>
          <a:prstGeom prst="rect">
            <a:avLst/>
          </a:prstGeom>
          <a:solidFill>
            <a:srgbClr val="4976D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7123176" y="3959352"/>
            <a:ext cx="559612" cy="228600"/>
          </a:xfrm>
          <a:prstGeom prst="rect">
            <a:avLst/>
          </a:prstGeom>
          <a:noFill/>
        </p:spPr>
        <p:txBody>
          <a:bodyPr wrap="square" lIns="0" rIns="0" tIns="0" bIns="0">
            <a:spAutoFit/>
          </a:bodyPr>
          <a:lstStyle/>
          <a:p>
            <a:pPr algn="ctr">
              <a:lnSpc>
                <a:spcPct val="113000"/>
              </a:lnSpc>
              <a:spcAft>
                <a:spcPts val="0"/>
              </a:spcAft>
              <a:defRPr sz="1200" b="1">
                <a:solidFill>
                  <a:srgbClr val="FFFFFF"/>
                </a:solidFill>
                <a:latin typeface="Noto Sans CJK KR"/>
              </a:defRPr>
            </a:pPr>
            <a:r>
              <a:t>20</a:t>
            </a:r>
          </a:p>
        </p:txBody>
      </p:sp>
      <p:sp>
        <p:nvSpPr>
          <p:cNvPr id="45" name="Rectangle 44"/>
          <p:cNvSpPr/>
          <p:nvPr/>
        </p:nvSpPr>
        <p:spPr>
          <a:xfrm>
            <a:off x="7682788" y="3867912"/>
            <a:ext cx="1678838" cy="420624"/>
          </a:xfrm>
          <a:prstGeom prst="rect">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7682788" y="3959352"/>
            <a:ext cx="1678838" cy="228600"/>
          </a:xfrm>
          <a:prstGeom prst="rect">
            <a:avLst/>
          </a:prstGeom>
          <a:noFill/>
        </p:spPr>
        <p:txBody>
          <a:bodyPr wrap="square" lIns="0" rIns="0" tIns="0" bIns="0">
            <a:spAutoFit/>
          </a:bodyPr>
          <a:lstStyle/>
          <a:p>
            <a:pPr algn="ctr">
              <a:lnSpc>
                <a:spcPct val="113000"/>
              </a:lnSpc>
              <a:spcAft>
                <a:spcPts val="0"/>
              </a:spcAft>
              <a:defRPr sz="1200" b="1">
                <a:solidFill>
                  <a:srgbClr val="FFFFFF"/>
                </a:solidFill>
                <a:latin typeface="Noto Sans CJK KR"/>
              </a:defRPr>
            </a:pPr>
            <a:r>
              <a:t>60</a:t>
            </a:r>
          </a:p>
        </p:txBody>
      </p:sp>
      <p:sp>
        <p:nvSpPr>
          <p:cNvPr id="47" name="Rectangle 46"/>
          <p:cNvSpPr/>
          <p:nvPr/>
        </p:nvSpPr>
        <p:spPr>
          <a:xfrm>
            <a:off x="9361627" y="3867912"/>
            <a:ext cx="559612" cy="420624"/>
          </a:xfrm>
          <a:prstGeom prst="rect">
            <a:avLst/>
          </a:prstGeom>
          <a:solidFill>
            <a:srgbClr val="E5B66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9361627" y="3959352"/>
            <a:ext cx="559612" cy="228600"/>
          </a:xfrm>
          <a:prstGeom prst="rect">
            <a:avLst/>
          </a:prstGeom>
          <a:noFill/>
        </p:spPr>
        <p:txBody>
          <a:bodyPr wrap="square" lIns="0" rIns="0" tIns="0" bIns="0">
            <a:spAutoFit/>
          </a:bodyPr>
          <a:lstStyle/>
          <a:p>
            <a:pPr algn="ctr">
              <a:lnSpc>
                <a:spcPct val="113000"/>
              </a:lnSpc>
              <a:spcAft>
                <a:spcPts val="0"/>
              </a:spcAft>
              <a:defRPr sz="1200" b="1">
                <a:solidFill>
                  <a:srgbClr val="14243C"/>
                </a:solidFill>
                <a:latin typeface="Noto Sans CJK KR"/>
              </a:defRPr>
            </a:pPr>
            <a:r>
              <a:t>20</a:t>
            </a:r>
          </a:p>
        </p:txBody>
      </p:sp>
      <p:sp>
        <p:nvSpPr>
          <p:cNvPr id="49" name="TextBox 48"/>
          <p:cNvSpPr txBox="1"/>
          <p:nvPr/>
        </p:nvSpPr>
        <p:spPr>
          <a:xfrm>
            <a:off x="7123176" y="4599432"/>
            <a:ext cx="438912" cy="301752"/>
          </a:xfrm>
          <a:prstGeom prst="rect">
            <a:avLst/>
          </a:prstGeom>
          <a:noFill/>
        </p:spPr>
        <p:txBody>
          <a:bodyPr wrap="square" lIns="0" rIns="0" tIns="0" bIns="0">
            <a:spAutoFit/>
          </a:bodyPr>
          <a:lstStyle/>
          <a:p>
            <a:pPr>
              <a:lnSpc>
                <a:spcPct val="113000"/>
              </a:lnSpc>
              <a:spcAft>
                <a:spcPts val="0"/>
              </a:spcAft>
              <a:defRPr sz="1900" b="1">
                <a:solidFill>
                  <a:srgbClr val="14243C"/>
                </a:solidFill>
                <a:latin typeface="Noto Sans CJK KR"/>
              </a:defRPr>
            </a:pPr>
            <a:r>
              <a:t>A</a:t>
            </a:r>
          </a:p>
        </p:txBody>
      </p:sp>
      <p:sp>
        <p:nvSpPr>
          <p:cNvPr id="50" name="TextBox 49"/>
          <p:cNvSpPr txBox="1"/>
          <p:nvPr/>
        </p:nvSpPr>
        <p:spPr>
          <a:xfrm>
            <a:off x="7781544" y="4599432"/>
            <a:ext cx="2084831" cy="301752"/>
          </a:xfrm>
          <a:prstGeom prst="rect">
            <a:avLst/>
          </a:prstGeom>
          <a:noFill/>
        </p:spPr>
        <p:txBody>
          <a:bodyPr wrap="square" lIns="0" rIns="0" tIns="0" bIns="0">
            <a:spAutoFit/>
          </a:bodyPr>
          <a:lstStyle/>
          <a:p>
            <a:pPr>
              <a:lnSpc>
                <a:spcPct val="113000"/>
              </a:lnSpc>
              <a:spcAft>
                <a:spcPts val="0"/>
              </a:spcAft>
              <a:defRPr sz="1900" b="0">
                <a:solidFill>
                  <a:srgbClr val="687D94"/>
                </a:solidFill>
                <a:latin typeface="Noto Sans CJK KR"/>
              </a:defRPr>
            </a:pPr>
            <a:r>
              <a:t>0.25</a:t>
            </a:r>
          </a:p>
        </p:txBody>
      </p:sp>
      <p:sp>
        <p:nvSpPr>
          <p:cNvPr id="51" name="TextBox 50"/>
          <p:cNvSpPr txBox="1"/>
          <p:nvPr/>
        </p:nvSpPr>
        <p:spPr>
          <a:xfrm>
            <a:off x="7123176" y="5230368"/>
            <a:ext cx="438912" cy="301752"/>
          </a:xfrm>
          <a:prstGeom prst="rect">
            <a:avLst/>
          </a:prstGeom>
          <a:noFill/>
        </p:spPr>
        <p:txBody>
          <a:bodyPr wrap="square" lIns="0" rIns="0" tIns="0" bIns="0">
            <a:spAutoFit/>
          </a:bodyPr>
          <a:lstStyle/>
          <a:p>
            <a:pPr>
              <a:lnSpc>
                <a:spcPct val="113000"/>
              </a:lnSpc>
              <a:spcAft>
                <a:spcPts val="0"/>
              </a:spcAft>
              <a:defRPr sz="1900" b="1">
                <a:solidFill>
                  <a:srgbClr val="14243C"/>
                </a:solidFill>
                <a:latin typeface="Noto Sans CJK KR"/>
              </a:defRPr>
            </a:pPr>
            <a:r>
              <a:t>B</a:t>
            </a:r>
          </a:p>
        </p:txBody>
      </p:sp>
      <p:sp>
        <p:nvSpPr>
          <p:cNvPr id="52" name="TextBox 51"/>
          <p:cNvSpPr txBox="1"/>
          <p:nvPr/>
        </p:nvSpPr>
        <p:spPr>
          <a:xfrm>
            <a:off x="7781544" y="5230368"/>
            <a:ext cx="2084831" cy="301752"/>
          </a:xfrm>
          <a:prstGeom prst="rect">
            <a:avLst/>
          </a:prstGeom>
          <a:noFill/>
        </p:spPr>
        <p:txBody>
          <a:bodyPr wrap="square" lIns="0" rIns="0" tIns="0" bIns="0">
            <a:spAutoFit/>
          </a:bodyPr>
          <a:lstStyle/>
          <a:p>
            <a:pPr>
              <a:lnSpc>
                <a:spcPct val="113000"/>
              </a:lnSpc>
              <a:spcAft>
                <a:spcPts val="0"/>
              </a:spcAft>
              <a:defRPr sz="1900" b="0">
                <a:solidFill>
                  <a:srgbClr val="687D94"/>
                </a:solidFill>
                <a:latin typeface="Noto Sans CJK KR"/>
              </a:defRPr>
            </a:pPr>
            <a:r>
              <a:t>0.67</a:t>
            </a:r>
          </a:p>
        </p:txBody>
      </p:sp>
      <p:sp>
        <p:nvSpPr>
          <p:cNvPr id="53" name="TextBox 52"/>
          <p:cNvSpPr txBox="1"/>
          <p:nvPr/>
        </p:nvSpPr>
        <p:spPr>
          <a:xfrm>
            <a:off x="7123176" y="5861304"/>
            <a:ext cx="438912" cy="301752"/>
          </a:xfrm>
          <a:prstGeom prst="rect">
            <a:avLst/>
          </a:prstGeom>
          <a:noFill/>
        </p:spPr>
        <p:txBody>
          <a:bodyPr wrap="square" lIns="0" rIns="0" tIns="0" bIns="0">
            <a:spAutoFit/>
          </a:bodyPr>
          <a:lstStyle/>
          <a:p>
            <a:pPr>
              <a:lnSpc>
                <a:spcPct val="113000"/>
              </a:lnSpc>
              <a:spcAft>
                <a:spcPts val="0"/>
              </a:spcAft>
              <a:defRPr sz="1900" b="1">
                <a:solidFill>
                  <a:srgbClr val="14243C"/>
                </a:solidFill>
                <a:latin typeface="Noto Sans CJK KR"/>
              </a:defRPr>
            </a:pPr>
            <a:r>
              <a:t>C</a:t>
            </a:r>
          </a:p>
        </p:txBody>
      </p:sp>
      <p:sp>
        <p:nvSpPr>
          <p:cNvPr id="54" name="TextBox 53"/>
          <p:cNvSpPr txBox="1"/>
          <p:nvPr/>
        </p:nvSpPr>
        <p:spPr>
          <a:xfrm>
            <a:off x="7781544" y="5861304"/>
            <a:ext cx="2084831" cy="301752"/>
          </a:xfrm>
          <a:prstGeom prst="rect">
            <a:avLst/>
          </a:prstGeom>
          <a:noFill/>
        </p:spPr>
        <p:txBody>
          <a:bodyPr wrap="square" lIns="0" rIns="0" tIns="0" bIns="0">
            <a:spAutoFit/>
          </a:bodyPr>
          <a:lstStyle/>
          <a:p>
            <a:pPr>
              <a:lnSpc>
                <a:spcPct val="113000"/>
              </a:lnSpc>
              <a:spcAft>
                <a:spcPts val="0"/>
              </a:spcAft>
              <a:defRPr sz="1900" b="1">
                <a:solidFill>
                  <a:srgbClr val="087F70"/>
                </a:solidFill>
                <a:latin typeface="Noto Sans CJK KR"/>
              </a:defRPr>
            </a:pPr>
            <a:r>
              <a:t>0.725</a:t>
            </a:r>
          </a:p>
        </p:txBody>
      </p:sp>
      <p:sp>
        <p:nvSpPr>
          <p:cNvPr id="55" name="Rectangle 54"/>
          <p:cNvSpPr/>
          <p:nvPr/>
        </p:nvSpPr>
        <p:spPr>
          <a:xfrm>
            <a:off x="7123176" y="6601968"/>
            <a:ext cx="2798064" cy="320040"/>
          </a:xfrm>
          <a:prstGeom prst="rect">
            <a:avLst/>
          </a:prstGeom>
          <a:solidFill>
            <a:srgbClr val="E4F4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7214616" y="6652259"/>
            <a:ext cx="2615184" cy="219456"/>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선택 C</a:t>
            </a:r>
          </a:p>
        </p:txBody>
      </p:sp>
      <p:sp>
        <p:nvSpPr>
          <p:cNvPr id="57" name="TextBox 56"/>
          <p:cNvSpPr txBox="1"/>
          <p:nvPr/>
        </p:nvSpPr>
        <p:spPr>
          <a:xfrm>
            <a:off x="10488168" y="2834640"/>
            <a:ext cx="2834640" cy="338328"/>
          </a:xfrm>
          <a:prstGeom prst="rect">
            <a:avLst/>
          </a:prstGeom>
          <a:noFill/>
        </p:spPr>
        <p:txBody>
          <a:bodyPr wrap="square" lIns="0" rIns="0" tIns="0" bIns="0">
            <a:spAutoFit/>
          </a:bodyPr>
          <a:lstStyle/>
          <a:p>
            <a:pPr>
              <a:lnSpc>
                <a:spcPct val="113000"/>
              </a:lnSpc>
              <a:spcAft>
                <a:spcPts val="0"/>
              </a:spcAft>
              <a:defRPr sz="2300" b="1">
                <a:solidFill>
                  <a:srgbClr val="14243C"/>
                </a:solidFill>
                <a:latin typeface="Noto Sans CJK KR"/>
              </a:defRPr>
            </a:pPr>
            <a:r>
              <a:t>Emergency</a:t>
            </a:r>
          </a:p>
        </p:txBody>
      </p:sp>
      <p:sp>
        <p:nvSpPr>
          <p:cNvPr id="58" name="TextBox 57"/>
          <p:cNvSpPr txBox="1"/>
          <p:nvPr/>
        </p:nvSpPr>
        <p:spPr>
          <a:xfrm>
            <a:off x="10488168" y="3337560"/>
            <a:ext cx="2834640" cy="274320"/>
          </a:xfrm>
          <a:prstGeom prst="rect">
            <a:avLst/>
          </a:prstGeom>
          <a:noFill/>
        </p:spPr>
        <p:txBody>
          <a:bodyPr wrap="square" lIns="0" rIns="0" tIns="0" bIns="0">
            <a:spAutoFit/>
          </a:bodyPr>
          <a:lstStyle/>
          <a:p>
            <a:pPr>
              <a:lnSpc>
                <a:spcPct val="113000"/>
              </a:lnSpc>
              <a:spcAft>
                <a:spcPts val="0"/>
              </a:spcAft>
              <a:defRPr sz="1600" b="0">
                <a:solidFill>
                  <a:srgbClr val="687D94"/>
                </a:solidFill>
                <a:latin typeface="Noto Sans CJK KR"/>
              </a:defRPr>
            </a:pPr>
            <a:r>
              <a:t>CUR ≥90%</a:t>
            </a:r>
          </a:p>
        </p:txBody>
      </p:sp>
      <p:sp>
        <p:nvSpPr>
          <p:cNvPr id="59" name="Rectangle 58"/>
          <p:cNvSpPr/>
          <p:nvPr/>
        </p:nvSpPr>
        <p:spPr>
          <a:xfrm>
            <a:off x="10488168" y="3867912"/>
            <a:ext cx="279806" cy="420624"/>
          </a:xfrm>
          <a:prstGeom prst="rect">
            <a:avLst/>
          </a:prstGeom>
          <a:solidFill>
            <a:srgbClr val="4976D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10488168" y="3959352"/>
            <a:ext cx="279806" cy="228600"/>
          </a:xfrm>
          <a:prstGeom prst="rect">
            <a:avLst/>
          </a:prstGeom>
          <a:noFill/>
        </p:spPr>
        <p:txBody>
          <a:bodyPr wrap="square" lIns="0" rIns="0" tIns="0" bIns="0">
            <a:spAutoFit/>
          </a:bodyPr>
          <a:lstStyle/>
          <a:p>
            <a:pPr algn="ctr">
              <a:lnSpc>
                <a:spcPct val="113000"/>
              </a:lnSpc>
              <a:spcAft>
                <a:spcPts val="0"/>
              </a:spcAft>
              <a:defRPr sz="1200" b="1">
                <a:solidFill>
                  <a:srgbClr val="FFFFFF"/>
                </a:solidFill>
                <a:latin typeface="Noto Sans CJK KR"/>
              </a:defRPr>
            </a:pPr>
            <a:r>
              <a:t>10</a:t>
            </a:r>
          </a:p>
        </p:txBody>
      </p:sp>
      <p:sp>
        <p:nvSpPr>
          <p:cNvPr id="61" name="Rectangle 60"/>
          <p:cNvSpPr/>
          <p:nvPr/>
        </p:nvSpPr>
        <p:spPr>
          <a:xfrm>
            <a:off x="10767974" y="3867912"/>
            <a:ext cx="2238451" cy="420624"/>
          </a:xfrm>
          <a:prstGeom prst="rect">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extBox 61"/>
          <p:cNvSpPr txBox="1"/>
          <p:nvPr/>
        </p:nvSpPr>
        <p:spPr>
          <a:xfrm>
            <a:off x="10767974" y="3959352"/>
            <a:ext cx="2238451" cy="228600"/>
          </a:xfrm>
          <a:prstGeom prst="rect">
            <a:avLst/>
          </a:prstGeom>
          <a:noFill/>
        </p:spPr>
        <p:txBody>
          <a:bodyPr wrap="square" lIns="0" rIns="0" tIns="0" bIns="0">
            <a:spAutoFit/>
          </a:bodyPr>
          <a:lstStyle/>
          <a:p>
            <a:pPr algn="ctr">
              <a:lnSpc>
                <a:spcPct val="113000"/>
              </a:lnSpc>
              <a:spcAft>
                <a:spcPts val="0"/>
              </a:spcAft>
              <a:defRPr sz="1200" b="1">
                <a:solidFill>
                  <a:srgbClr val="FFFFFF"/>
                </a:solidFill>
                <a:latin typeface="Noto Sans CJK KR"/>
              </a:defRPr>
            </a:pPr>
            <a:r>
              <a:t>80</a:t>
            </a:r>
          </a:p>
        </p:txBody>
      </p:sp>
      <p:sp>
        <p:nvSpPr>
          <p:cNvPr id="63" name="Rectangle 62"/>
          <p:cNvSpPr/>
          <p:nvPr/>
        </p:nvSpPr>
        <p:spPr>
          <a:xfrm>
            <a:off x="13006425" y="3867912"/>
            <a:ext cx="279806" cy="420624"/>
          </a:xfrm>
          <a:prstGeom prst="rect">
            <a:avLst/>
          </a:prstGeom>
          <a:solidFill>
            <a:srgbClr val="E5B66B"/>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TextBox 63"/>
          <p:cNvSpPr txBox="1"/>
          <p:nvPr/>
        </p:nvSpPr>
        <p:spPr>
          <a:xfrm>
            <a:off x="13006425" y="3959352"/>
            <a:ext cx="279806" cy="228600"/>
          </a:xfrm>
          <a:prstGeom prst="rect">
            <a:avLst/>
          </a:prstGeom>
          <a:noFill/>
        </p:spPr>
        <p:txBody>
          <a:bodyPr wrap="square" lIns="0" rIns="0" tIns="0" bIns="0">
            <a:spAutoFit/>
          </a:bodyPr>
          <a:lstStyle/>
          <a:p>
            <a:pPr algn="ctr">
              <a:lnSpc>
                <a:spcPct val="113000"/>
              </a:lnSpc>
              <a:spcAft>
                <a:spcPts val="0"/>
              </a:spcAft>
              <a:defRPr sz="1200" b="1">
                <a:solidFill>
                  <a:srgbClr val="14243C"/>
                </a:solidFill>
                <a:latin typeface="Noto Sans CJK KR"/>
              </a:defRPr>
            </a:pPr>
            <a:r>
              <a:t>10</a:t>
            </a:r>
          </a:p>
        </p:txBody>
      </p:sp>
      <p:sp>
        <p:nvSpPr>
          <p:cNvPr id="65" name="TextBox 64"/>
          <p:cNvSpPr txBox="1"/>
          <p:nvPr/>
        </p:nvSpPr>
        <p:spPr>
          <a:xfrm>
            <a:off x="10488168" y="4599432"/>
            <a:ext cx="438912" cy="301752"/>
          </a:xfrm>
          <a:prstGeom prst="rect">
            <a:avLst/>
          </a:prstGeom>
          <a:noFill/>
        </p:spPr>
        <p:txBody>
          <a:bodyPr wrap="square" lIns="0" rIns="0" tIns="0" bIns="0">
            <a:spAutoFit/>
          </a:bodyPr>
          <a:lstStyle/>
          <a:p>
            <a:pPr>
              <a:lnSpc>
                <a:spcPct val="113000"/>
              </a:lnSpc>
              <a:spcAft>
                <a:spcPts val="0"/>
              </a:spcAft>
              <a:defRPr sz="1900" b="1">
                <a:solidFill>
                  <a:srgbClr val="14243C"/>
                </a:solidFill>
                <a:latin typeface="Noto Sans CJK KR"/>
              </a:defRPr>
            </a:pPr>
            <a:r>
              <a:t>A</a:t>
            </a:r>
          </a:p>
        </p:txBody>
      </p:sp>
      <p:sp>
        <p:nvSpPr>
          <p:cNvPr id="66" name="TextBox 65"/>
          <p:cNvSpPr txBox="1"/>
          <p:nvPr/>
        </p:nvSpPr>
        <p:spPr>
          <a:xfrm>
            <a:off x="11146536" y="4599432"/>
            <a:ext cx="2084831" cy="301752"/>
          </a:xfrm>
          <a:prstGeom prst="rect">
            <a:avLst/>
          </a:prstGeom>
          <a:noFill/>
        </p:spPr>
        <p:txBody>
          <a:bodyPr wrap="square" lIns="0" rIns="0" tIns="0" bIns="0">
            <a:spAutoFit/>
          </a:bodyPr>
          <a:lstStyle/>
          <a:p>
            <a:pPr>
              <a:lnSpc>
                <a:spcPct val="113000"/>
              </a:lnSpc>
              <a:spcAft>
                <a:spcPts val="0"/>
              </a:spcAft>
              <a:defRPr sz="1900" b="0">
                <a:solidFill>
                  <a:srgbClr val="687D94"/>
                </a:solidFill>
                <a:latin typeface="Noto Sans CJK KR"/>
              </a:defRPr>
            </a:pPr>
            <a:r>
              <a:t>0.125</a:t>
            </a:r>
          </a:p>
        </p:txBody>
      </p:sp>
      <p:sp>
        <p:nvSpPr>
          <p:cNvPr id="67" name="TextBox 66"/>
          <p:cNvSpPr txBox="1"/>
          <p:nvPr/>
        </p:nvSpPr>
        <p:spPr>
          <a:xfrm>
            <a:off x="10488168" y="5230368"/>
            <a:ext cx="438912" cy="301752"/>
          </a:xfrm>
          <a:prstGeom prst="rect">
            <a:avLst/>
          </a:prstGeom>
          <a:noFill/>
        </p:spPr>
        <p:txBody>
          <a:bodyPr wrap="square" lIns="0" rIns="0" tIns="0" bIns="0">
            <a:spAutoFit/>
          </a:bodyPr>
          <a:lstStyle/>
          <a:p>
            <a:pPr>
              <a:lnSpc>
                <a:spcPct val="113000"/>
              </a:lnSpc>
              <a:spcAft>
                <a:spcPts val="0"/>
              </a:spcAft>
              <a:defRPr sz="1900" b="1">
                <a:solidFill>
                  <a:srgbClr val="14243C"/>
                </a:solidFill>
                <a:latin typeface="Noto Sans CJK KR"/>
              </a:defRPr>
            </a:pPr>
            <a:r>
              <a:t>B</a:t>
            </a:r>
          </a:p>
        </p:txBody>
      </p:sp>
      <p:sp>
        <p:nvSpPr>
          <p:cNvPr id="68" name="TextBox 67"/>
          <p:cNvSpPr txBox="1"/>
          <p:nvPr/>
        </p:nvSpPr>
        <p:spPr>
          <a:xfrm>
            <a:off x="11146536" y="5230368"/>
            <a:ext cx="2084831" cy="301752"/>
          </a:xfrm>
          <a:prstGeom prst="rect">
            <a:avLst/>
          </a:prstGeom>
          <a:noFill/>
        </p:spPr>
        <p:txBody>
          <a:bodyPr wrap="square" lIns="0" rIns="0" tIns="0" bIns="0">
            <a:spAutoFit/>
          </a:bodyPr>
          <a:lstStyle/>
          <a:p>
            <a:pPr>
              <a:lnSpc>
                <a:spcPct val="113000"/>
              </a:lnSpc>
              <a:spcAft>
                <a:spcPts val="0"/>
              </a:spcAft>
              <a:defRPr sz="1900" b="0">
                <a:solidFill>
                  <a:srgbClr val="687D94"/>
                </a:solidFill>
                <a:latin typeface="Noto Sans CJK KR"/>
              </a:defRPr>
            </a:pPr>
            <a:r>
              <a:t>0.685</a:t>
            </a:r>
          </a:p>
        </p:txBody>
      </p:sp>
      <p:sp>
        <p:nvSpPr>
          <p:cNvPr id="69" name="TextBox 68"/>
          <p:cNvSpPr txBox="1"/>
          <p:nvPr/>
        </p:nvSpPr>
        <p:spPr>
          <a:xfrm>
            <a:off x="10488168" y="5861304"/>
            <a:ext cx="438912" cy="301752"/>
          </a:xfrm>
          <a:prstGeom prst="rect">
            <a:avLst/>
          </a:prstGeom>
          <a:noFill/>
        </p:spPr>
        <p:txBody>
          <a:bodyPr wrap="square" lIns="0" rIns="0" tIns="0" bIns="0">
            <a:spAutoFit/>
          </a:bodyPr>
          <a:lstStyle/>
          <a:p>
            <a:pPr>
              <a:lnSpc>
                <a:spcPct val="113000"/>
              </a:lnSpc>
              <a:spcAft>
                <a:spcPts val="0"/>
              </a:spcAft>
              <a:defRPr sz="1900" b="1">
                <a:solidFill>
                  <a:srgbClr val="14243C"/>
                </a:solidFill>
                <a:latin typeface="Noto Sans CJK KR"/>
              </a:defRPr>
            </a:pPr>
            <a:r>
              <a:t>C</a:t>
            </a:r>
          </a:p>
        </p:txBody>
      </p:sp>
      <p:sp>
        <p:nvSpPr>
          <p:cNvPr id="70" name="TextBox 69"/>
          <p:cNvSpPr txBox="1"/>
          <p:nvPr/>
        </p:nvSpPr>
        <p:spPr>
          <a:xfrm>
            <a:off x="11146536" y="5861304"/>
            <a:ext cx="2084831" cy="301752"/>
          </a:xfrm>
          <a:prstGeom prst="rect">
            <a:avLst/>
          </a:prstGeom>
          <a:noFill/>
        </p:spPr>
        <p:txBody>
          <a:bodyPr wrap="square" lIns="0" rIns="0" tIns="0" bIns="0">
            <a:spAutoFit/>
          </a:bodyPr>
          <a:lstStyle/>
          <a:p>
            <a:pPr>
              <a:lnSpc>
                <a:spcPct val="113000"/>
              </a:lnSpc>
              <a:spcAft>
                <a:spcPts val="0"/>
              </a:spcAft>
              <a:defRPr sz="1900" b="1">
                <a:solidFill>
                  <a:srgbClr val="087F70"/>
                </a:solidFill>
                <a:latin typeface="Noto Sans CJK KR"/>
              </a:defRPr>
            </a:pPr>
            <a:r>
              <a:t>0.8625</a:t>
            </a:r>
          </a:p>
        </p:txBody>
      </p:sp>
      <p:sp>
        <p:nvSpPr>
          <p:cNvPr id="71" name="Rectangle 70"/>
          <p:cNvSpPr/>
          <p:nvPr/>
        </p:nvSpPr>
        <p:spPr>
          <a:xfrm>
            <a:off x="10488168" y="6601968"/>
            <a:ext cx="2798064" cy="320040"/>
          </a:xfrm>
          <a:prstGeom prst="rect">
            <a:avLst/>
          </a:prstGeom>
          <a:solidFill>
            <a:srgbClr val="E4F4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TextBox 71"/>
          <p:cNvSpPr txBox="1"/>
          <p:nvPr/>
        </p:nvSpPr>
        <p:spPr>
          <a:xfrm>
            <a:off x="10579608" y="6652259"/>
            <a:ext cx="2615184" cy="219456"/>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선택 C</a:t>
            </a:r>
          </a:p>
        </p:txBody>
      </p:sp>
      <p:sp>
        <p:nvSpPr>
          <p:cNvPr id="73" name="TextBox 72"/>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정규화 점수: A=(1,0,0.25), B=(0.75,0.70,0.50), C=(0,1,0.625). 순서는 비용·탄소·시간 여유. 비용 한도 140만원으로 세 후보 모두 허용.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CBP  /  DECISION DESIGN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687D94"/>
                </a:solidFill>
                <a:latin typeface="Noto Sans CJK KR"/>
              </a:defRPr>
            </a:pPr>
            <a:r>
              <a:t>APPENDIX / EXCEPTIONS</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탄소 비중을 높여도, 비용·공급 조건은 넘기지 않습니다.</a:t>
            </a:r>
          </a:p>
        </p:txBody>
      </p:sp>
      <p:sp>
        <p:nvSpPr>
          <p:cNvPr id="5" name="TextBox 4"/>
          <p:cNvSpPr txBox="1"/>
          <p:nvPr/>
        </p:nvSpPr>
        <p:spPr>
          <a:xfrm>
            <a:off x="649224" y="2084831"/>
            <a:ext cx="13304520" cy="493776"/>
          </a:xfrm>
          <a:prstGeom prst="rect">
            <a:avLst/>
          </a:prstGeom>
          <a:noFill/>
        </p:spPr>
        <p:txBody>
          <a:bodyPr wrap="square" lIns="0" rIns="0" tIns="0" bIns="0">
            <a:spAutoFit/>
          </a:bodyPr>
          <a:lstStyle/>
          <a:p>
            <a:pPr>
              <a:lnSpc>
                <a:spcPct val="113000"/>
              </a:lnSpc>
              <a:spcAft>
                <a:spcPts val="0"/>
              </a:spcAft>
              <a:defRPr sz="1800" b="0">
                <a:solidFill>
                  <a:srgbClr val="687D94"/>
                </a:solidFill>
                <a:latin typeface="Noto Sans CJK KR"/>
              </a:defRPr>
            </a:pPr>
            <a:r>
              <a:t>정책이 바꾸는 것은 후보의 순위입니다. 운영 한도나 필수 공급 조건을 임의로 낮추지 않습니다.</a:t>
            </a:r>
          </a:p>
        </p:txBody>
      </p:sp>
      <p:cxnSp>
        <p:nvCxnSpPr>
          <p:cNvPr id="6" name="Connector 5"/>
          <p:cNvCxnSpPr/>
          <p:nvPr/>
        </p:nvCxnSpPr>
        <p:spPr>
          <a:xfrm>
            <a:off x="621792" y="7717536"/>
            <a:ext cx="13386816"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두런두런  ·  제13회 유닛로드시스템(ULS) 창의성 공모전  /  질의응답 보충</a:t>
            </a:r>
          </a:p>
        </p:txBody>
      </p:sp>
      <p:sp>
        <p:nvSpPr>
          <p:cNvPr id="8" name="TextBox 7"/>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087F70"/>
                </a:solidFill>
                <a:latin typeface="Noto Sans CJK KR"/>
              </a:defRPr>
            </a:pPr>
            <a:r>
              <a:t>03</a:t>
            </a:r>
          </a:p>
        </p:txBody>
      </p:sp>
      <p:sp>
        <p:nvSpPr>
          <p:cNvPr id="9" name="TextBox 8"/>
          <p:cNvSpPr txBox="1"/>
          <p:nvPr/>
        </p:nvSpPr>
        <p:spPr>
          <a:xfrm>
            <a:off x="777240" y="2907792"/>
            <a:ext cx="3959352" cy="283464"/>
          </a:xfrm>
          <a:prstGeom prst="rect">
            <a:avLst/>
          </a:prstGeom>
          <a:noFill/>
        </p:spPr>
        <p:txBody>
          <a:bodyPr wrap="square" lIns="0" rIns="0" tIns="0" bIns="0">
            <a:spAutoFit/>
          </a:bodyPr>
          <a:lstStyle/>
          <a:p>
            <a:pPr>
              <a:lnSpc>
                <a:spcPct val="113000"/>
              </a:lnSpc>
              <a:spcAft>
                <a:spcPts val="0"/>
              </a:spcAft>
              <a:defRPr sz="1500" b="1">
                <a:solidFill>
                  <a:srgbClr val="087F70"/>
                </a:solidFill>
                <a:latin typeface="Noto Sans CJK KR"/>
              </a:defRPr>
            </a:pPr>
            <a:r>
              <a:t>01</a:t>
            </a:r>
          </a:p>
        </p:txBody>
      </p:sp>
      <p:sp>
        <p:nvSpPr>
          <p:cNvPr id="10" name="TextBox 9"/>
          <p:cNvSpPr txBox="1"/>
          <p:nvPr/>
        </p:nvSpPr>
        <p:spPr>
          <a:xfrm>
            <a:off x="777240" y="3529584"/>
            <a:ext cx="3941063" cy="393192"/>
          </a:xfrm>
          <a:prstGeom prst="rect">
            <a:avLst/>
          </a:prstGeom>
          <a:noFill/>
        </p:spPr>
        <p:txBody>
          <a:bodyPr wrap="square" lIns="0" rIns="0" tIns="0" bIns="0">
            <a:spAutoFit/>
          </a:bodyPr>
          <a:lstStyle/>
          <a:p>
            <a:pPr>
              <a:lnSpc>
                <a:spcPct val="113000"/>
              </a:lnSpc>
              <a:spcAft>
                <a:spcPts val="0"/>
              </a:spcAft>
              <a:defRPr sz="2500" b="1">
                <a:solidFill>
                  <a:srgbClr val="14243C"/>
                </a:solidFill>
                <a:latin typeface="Noto Sans CJK KR"/>
              </a:defRPr>
            </a:pPr>
            <a:r>
              <a:t>비용 한도 120만원</a:t>
            </a:r>
          </a:p>
        </p:txBody>
      </p:sp>
      <p:sp>
        <p:nvSpPr>
          <p:cNvPr id="11" name="TextBox 10"/>
          <p:cNvSpPr txBox="1"/>
          <p:nvPr/>
        </p:nvSpPr>
        <p:spPr>
          <a:xfrm>
            <a:off x="777240" y="4233672"/>
            <a:ext cx="3941063" cy="694944"/>
          </a:xfrm>
          <a:prstGeom prst="rect">
            <a:avLst/>
          </a:prstGeom>
          <a:noFill/>
        </p:spPr>
        <p:txBody>
          <a:bodyPr wrap="square" lIns="0" rIns="0" tIns="0" bIns="0">
            <a:spAutoFit/>
          </a:bodyPr>
          <a:lstStyle/>
          <a:p>
            <a:pPr>
              <a:lnSpc>
                <a:spcPct val="113000"/>
              </a:lnSpc>
              <a:spcAft>
                <a:spcPts val="0"/>
              </a:spcAft>
              <a:defRPr sz="1800" b="0">
                <a:solidFill>
                  <a:srgbClr val="687D94"/>
                </a:solidFill>
                <a:latin typeface="Noto Sans CJK KR"/>
              </a:defRPr>
            </a:pPr>
            <a:r>
              <a:t>CUR 82%, 세 후보 중 C는 140만원</a:t>
            </a:r>
          </a:p>
        </p:txBody>
      </p:sp>
      <p:cxnSp>
        <p:nvCxnSpPr>
          <p:cNvPr id="12" name="Connector 11"/>
          <p:cNvCxnSpPr/>
          <p:nvPr/>
        </p:nvCxnSpPr>
        <p:spPr>
          <a:xfrm>
            <a:off x="777240" y="5248656"/>
            <a:ext cx="3913632"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777240" y="5559552"/>
            <a:ext cx="3941063" cy="786384"/>
          </a:xfrm>
          <a:prstGeom prst="rect">
            <a:avLst/>
          </a:prstGeom>
          <a:noFill/>
        </p:spPr>
        <p:txBody>
          <a:bodyPr wrap="square" lIns="0" rIns="0" tIns="0" bIns="0">
            <a:spAutoFit/>
          </a:bodyPr>
          <a:lstStyle/>
          <a:p>
            <a:pPr>
              <a:lnSpc>
                <a:spcPct val="113000"/>
              </a:lnSpc>
              <a:spcAft>
                <a:spcPts val="0"/>
              </a:spcAft>
              <a:defRPr sz="2300" b="1">
                <a:solidFill>
                  <a:srgbClr val="087F70"/>
                </a:solidFill>
                <a:latin typeface="Noto Sans CJK KR"/>
              </a:defRPr>
            </a:pPr>
            <a:r>
              <a:t>C 제외 → B 추천</a:t>
            </a:r>
          </a:p>
        </p:txBody>
      </p:sp>
      <p:sp>
        <p:nvSpPr>
          <p:cNvPr id="14" name="TextBox 13"/>
          <p:cNvSpPr txBox="1"/>
          <p:nvPr/>
        </p:nvSpPr>
        <p:spPr>
          <a:xfrm>
            <a:off x="5312664" y="2907792"/>
            <a:ext cx="3959352" cy="283464"/>
          </a:xfrm>
          <a:prstGeom prst="rect">
            <a:avLst/>
          </a:prstGeom>
          <a:noFill/>
        </p:spPr>
        <p:txBody>
          <a:bodyPr wrap="square" lIns="0" rIns="0" tIns="0" bIns="0">
            <a:spAutoFit/>
          </a:bodyPr>
          <a:lstStyle/>
          <a:p>
            <a:pPr>
              <a:lnSpc>
                <a:spcPct val="113000"/>
              </a:lnSpc>
              <a:spcAft>
                <a:spcPts val="0"/>
              </a:spcAft>
              <a:defRPr sz="1500" b="1">
                <a:solidFill>
                  <a:srgbClr val="087F70"/>
                </a:solidFill>
                <a:latin typeface="Noto Sans CJK KR"/>
              </a:defRPr>
            </a:pPr>
            <a:r>
              <a:t>02</a:t>
            </a:r>
          </a:p>
        </p:txBody>
      </p:sp>
      <p:sp>
        <p:nvSpPr>
          <p:cNvPr id="15" name="TextBox 14"/>
          <p:cNvSpPr txBox="1"/>
          <p:nvPr/>
        </p:nvSpPr>
        <p:spPr>
          <a:xfrm>
            <a:off x="5312664" y="3529584"/>
            <a:ext cx="3941063" cy="393192"/>
          </a:xfrm>
          <a:prstGeom prst="rect">
            <a:avLst/>
          </a:prstGeom>
          <a:noFill/>
        </p:spPr>
        <p:txBody>
          <a:bodyPr wrap="square" lIns="0" rIns="0" tIns="0" bIns="0">
            <a:spAutoFit/>
          </a:bodyPr>
          <a:lstStyle/>
          <a:p>
            <a:pPr>
              <a:lnSpc>
                <a:spcPct val="113000"/>
              </a:lnSpc>
              <a:spcAft>
                <a:spcPts val="0"/>
              </a:spcAft>
              <a:defRPr sz="2500" b="1">
                <a:solidFill>
                  <a:srgbClr val="14243C"/>
                </a:solidFill>
                <a:latin typeface="Noto Sans CJK KR"/>
              </a:defRPr>
            </a:pPr>
            <a:r>
              <a:t>C 도착이 9시간</a:t>
            </a:r>
          </a:p>
        </p:txBody>
      </p:sp>
      <p:sp>
        <p:nvSpPr>
          <p:cNvPr id="16" name="TextBox 15"/>
          <p:cNvSpPr txBox="1"/>
          <p:nvPr/>
        </p:nvSpPr>
        <p:spPr>
          <a:xfrm>
            <a:off x="5312664" y="4233672"/>
            <a:ext cx="3941063" cy="694944"/>
          </a:xfrm>
          <a:prstGeom prst="rect">
            <a:avLst/>
          </a:prstGeom>
          <a:noFill/>
        </p:spPr>
        <p:txBody>
          <a:bodyPr wrap="square" lIns="0" rIns="0" tIns="0" bIns="0">
            <a:spAutoFit/>
          </a:bodyPr>
          <a:lstStyle/>
          <a:p>
            <a:pPr>
              <a:lnSpc>
                <a:spcPct val="113000"/>
              </a:lnSpc>
              <a:spcAft>
                <a:spcPts val="0"/>
              </a:spcAft>
              <a:defRPr sz="1800" b="0">
                <a:solidFill>
                  <a:srgbClr val="687D94"/>
                </a:solidFill>
                <a:latin typeface="Noto Sans CJK KR"/>
              </a:defRPr>
            </a:pPr>
            <a:r>
              <a:t>허용 8시간, C만 지연 발생</a:t>
            </a:r>
          </a:p>
        </p:txBody>
      </p:sp>
      <p:cxnSp>
        <p:nvCxnSpPr>
          <p:cNvPr id="17" name="Connector 16"/>
          <p:cNvCxnSpPr/>
          <p:nvPr/>
        </p:nvCxnSpPr>
        <p:spPr>
          <a:xfrm>
            <a:off x="5312664" y="5248656"/>
            <a:ext cx="3913632"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5312664" y="5559552"/>
            <a:ext cx="3941063" cy="786384"/>
          </a:xfrm>
          <a:prstGeom prst="rect">
            <a:avLst/>
          </a:prstGeom>
          <a:noFill/>
        </p:spPr>
        <p:txBody>
          <a:bodyPr wrap="square" lIns="0" rIns="0" tIns="0" bIns="0">
            <a:spAutoFit/>
          </a:bodyPr>
          <a:lstStyle/>
          <a:p>
            <a:pPr>
              <a:lnSpc>
                <a:spcPct val="113000"/>
              </a:lnSpc>
              <a:spcAft>
                <a:spcPts val="0"/>
              </a:spcAft>
              <a:defRPr sz="2300" b="1">
                <a:solidFill>
                  <a:srgbClr val="087F70"/>
                </a:solidFill>
                <a:latin typeface="Noto Sans CJK KR"/>
              </a:defRPr>
            </a:pPr>
            <a:r>
              <a:t>C 제외 → B 추천</a:t>
            </a:r>
          </a:p>
        </p:txBody>
      </p:sp>
      <p:sp>
        <p:nvSpPr>
          <p:cNvPr id="19" name="TextBox 18"/>
          <p:cNvSpPr txBox="1"/>
          <p:nvPr/>
        </p:nvSpPr>
        <p:spPr>
          <a:xfrm>
            <a:off x="9848088" y="2907792"/>
            <a:ext cx="3959352" cy="283464"/>
          </a:xfrm>
          <a:prstGeom prst="rect">
            <a:avLst/>
          </a:prstGeom>
          <a:noFill/>
        </p:spPr>
        <p:txBody>
          <a:bodyPr wrap="square" lIns="0" rIns="0" tIns="0" bIns="0">
            <a:spAutoFit/>
          </a:bodyPr>
          <a:lstStyle/>
          <a:p>
            <a:pPr>
              <a:lnSpc>
                <a:spcPct val="113000"/>
              </a:lnSpc>
              <a:spcAft>
                <a:spcPts val="0"/>
              </a:spcAft>
              <a:defRPr sz="1500" b="1">
                <a:solidFill>
                  <a:srgbClr val="087F70"/>
                </a:solidFill>
                <a:latin typeface="Noto Sans CJK KR"/>
              </a:defRPr>
            </a:pPr>
            <a:r>
              <a:t>03</a:t>
            </a:r>
          </a:p>
        </p:txBody>
      </p:sp>
      <p:sp>
        <p:nvSpPr>
          <p:cNvPr id="20" name="TextBox 19"/>
          <p:cNvSpPr txBox="1"/>
          <p:nvPr/>
        </p:nvSpPr>
        <p:spPr>
          <a:xfrm>
            <a:off x="9848088" y="3529584"/>
            <a:ext cx="3941063" cy="393192"/>
          </a:xfrm>
          <a:prstGeom prst="rect">
            <a:avLst/>
          </a:prstGeom>
          <a:noFill/>
        </p:spPr>
        <p:txBody>
          <a:bodyPr wrap="square" lIns="0" rIns="0" tIns="0" bIns="0">
            <a:spAutoFit/>
          </a:bodyPr>
          <a:lstStyle/>
          <a:p>
            <a:pPr>
              <a:lnSpc>
                <a:spcPct val="113000"/>
              </a:lnSpc>
              <a:spcAft>
                <a:spcPts val="0"/>
              </a:spcAft>
              <a:defRPr sz="2500" b="1">
                <a:solidFill>
                  <a:srgbClr val="14243C"/>
                </a:solidFill>
                <a:latin typeface="Noto Sans CJK KR"/>
              </a:defRPr>
            </a:pPr>
            <a:r>
              <a:t>잔여예산 100kg</a:t>
            </a:r>
          </a:p>
        </p:txBody>
      </p:sp>
      <p:sp>
        <p:nvSpPr>
          <p:cNvPr id="21" name="TextBox 20"/>
          <p:cNvSpPr txBox="1"/>
          <p:nvPr/>
        </p:nvSpPr>
        <p:spPr>
          <a:xfrm>
            <a:off x="9848088" y="4233672"/>
            <a:ext cx="3941063" cy="694944"/>
          </a:xfrm>
          <a:prstGeom prst="rect">
            <a:avLst/>
          </a:prstGeom>
          <a:noFill/>
        </p:spPr>
        <p:txBody>
          <a:bodyPr wrap="square" lIns="0" rIns="0" tIns="0" bIns="0">
            <a:spAutoFit/>
          </a:bodyPr>
          <a:lstStyle/>
          <a:p>
            <a:pPr>
              <a:lnSpc>
                <a:spcPct val="113000"/>
              </a:lnSpc>
              <a:spcAft>
                <a:spcPts val="0"/>
              </a:spcAft>
              <a:defRPr sz="1800" b="0">
                <a:solidFill>
                  <a:srgbClr val="687D94"/>
                </a:solidFill>
                <a:latin typeface="Noto Sans CJK KR"/>
              </a:defRPr>
            </a:pPr>
            <a:r>
              <a:t>최소 배출 후보도 200kg 필요</a:t>
            </a:r>
          </a:p>
        </p:txBody>
      </p:sp>
      <p:cxnSp>
        <p:nvCxnSpPr>
          <p:cNvPr id="22" name="Connector 21"/>
          <p:cNvCxnSpPr/>
          <p:nvPr/>
        </p:nvCxnSpPr>
        <p:spPr>
          <a:xfrm>
            <a:off x="9848088" y="5248656"/>
            <a:ext cx="3913632"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9848088" y="5559552"/>
            <a:ext cx="3941063" cy="786384"/>
          </a:xfrm>
          <a:prstGeom prst="rect">
            <a:avLst/>
          </a:prstGeom>
          <a:noFill/>
        </p:spPr>
        <p:txBody>
          <a:bodyPr wrap="square" lIns="0" rIns="0" tIns="0" bIns="0">
            <a:spAutoFit/>
          </a:bodyPr>
          <a:lstStyle/>
          <a:p>
            <a:pPr>
              <a:lnSpc>
                <a:spcPct val="113000"/>
              </a:lnSpc>
              <a:spcAft>
                <a:spcPts val="0"/>
              </a:spcAft>
              <a:defRPr sz="2300" b="1">
                <a:solidFill>
                  <a:srgbClr val="087F70"/>
                </a:solidFill>
                <a:latin typeface="Noto Sans CJK KR"/>
              </a:defRPr>
            </a:pPr>
            <a:r>
              <a:t>후보 없음 → 담당자 판단</a:t>
            </a:r>
          </a:p>
        </p:txBody>
      </p:sp>
      <p:sp>
        <p:nvSpPr>
          <p:cNvPr id="24" name="Rectangle 23"/>
          <p:cNvSpPr/>
          <p:nvPr/>
        </p:nvSpPr>
        <p:spPr>
          <a:xfrm>
            <a:off x="777240" y="6638544"/>
            <a:ext cx="13011912" cy="466344"/>
          </a:xfrm>
          <a:prstGeom prst="rect">
            <a:avLst/>
          </a:prstGeom>
          <a:solidFill>
            <a:srgbClr val="E4F4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969264" y="6748272"/>
            <a:ext cx="12627864" cy="265176"/>
          </a:xfrm>
          <a:prstGeom prst="rect">
            <a:avLst/>
          </a:prstGeom>
          <a:noFill/>
        </p:spPr>
        <p:txBody>
          <a:bodyPr wrap="square" lIns="0" rIns="0" tIns="0" bIns="0">
            <a:spAutoFit/>
          </a:bodyPr>
          <a:lstStyle/>
          <a:p>
            <a:pPr>
              <a:lnSpc>
                <a:spcPct val="113000"/>
              </a:lnSpc>
              <a:spcAft>
                <a:spcPts val="0"/>
              </a:spcAft>
              <a:defRPr sz="1700" b="1">
                <a:solidFill>
                  <a:srgbClr val="087F70"/>
                </a:solidFill>
                <a:latin typeface="Noto Sans CJK KR"/>
              </a:defRPr>
            </a:pPr>
            <a:r>
              <a:t>실행 가능한 대안이 없으면  ·  대체 조달 / 기한 협의 / 예산 예외를 담당자가 결정</a:t>
            </a:r>
          </a:p>
        </p:txBody>
      </p:sp>
      <p:sp>
        <p:nvSpPr>
          <p:cNvPr id="26" name="TextBox 25"/>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코드에서 경계값·비용 한도·지연·재고·적재·규격·예산 부족·동점·잘못된 입력을 확인. 프로토타입 검증이며 현장 운용 안정성 검증은 아닙니다.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CBP  /  DECISION DESIGN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687D94"/>
                </a:solidFill>
                <a:latin typeface="Noto Sans CJK KR"/>
              </a:defRPr>
            </a:pPr>
            <a:r>
              <a:t>APPENDIX / LIMITS</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월초 50%와 월말 50%는 같은 상태가 아닙니다.</a:t>
            </a:r>
          </a:p>
        </p:txBody>
      </p:sp>
      <p:sp>
        <p:nvSpPr>
          <p:cNvPr id="5" name="TextBox 4"/>
          <p:cNvSpPr txBox="1"/>
          <p:nvPr/>
        </p:nvSpPr>
        <p:spPr>
          <a:xfrm>
            <a:off x="649224" y="2084831"/>
            <a:ext cx="13304520" cy="493776"/>
          </a:xfrm>
          <a:prstGeom prst="rect">
            <a:avLst/>
          </a:prstGeom>
          <a:noFill/>
        </p:spPr>
        <p:txBody>
          <a:bodyPr wrap="square" lIns="0" rIns="0" tIns="0" bIns="0">
            <a:spAutoFit/>
          </a:bodyPr>
          <a:lstStyle/>
          <a:p>
            <a:pPr>
              <a:lnSpc>
                <a:spcPct val="113000"/>
              </a:lnSpc>
              <a:spcAft>
                <a:spcPts val="0"/>
              </a:spcAft>
              <a:defRPr sz="1800" b="0">
                <a:solidFill>
                  <a:srgbClr val="687D94"/>
                </a:solidFill>
                <a:latin typeface="Noto Sans CJK KR"/>
              </a:defRPr>
            </a:pPr>
            <a:r>
              <a:t>기본 CUR는 누적 소진량만 표현합니다. 남은 기간과 앞으로의 요청을 직접 설명하지 못합니다.</a:t>
            </a:r>
          </a:p>
        </p:txBody>
      </p:sp>
      <p:cxnSp>
        <p:nvCxnSpPr>
          <p:cNvPr id="6" name="Connector 5"/>
          <p:cNvCxnSpPr/>
          <p:nvPr/>
        </p:nvCxnSpPr>
        <p:spPr>
          <a:xfrm>
            <a:off x="621792" y="7717536"/>
            <a:ext cx="13386816"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두런두런  ·  제13회 유닛로드시스템(ULS) 창의성 공모전  /  질의응답 보충</a:t>
            </a:r>
          </a:p>
        </p:txBody>
      </p:sp>
      <p:sp>
        <p:nvSpPr>
          <p:cNvPr id="8" name="TextBox 7"/>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087F70"/>
                </a:solidFill>
                <a:latin typeface="Noto Sans CJK KR"/>
              </a:defRPr>
            </a:pPr>
            <a:r>
              <a:t>04</a:t>
            </a:r>
          </a:p>
        </p:txBody>
      </p:sp>
      <p:sp>
        <p:nvSpPr>
          <p:cNvPr id="9" name="TextBox 8"/>
          <p:cNvSpPr txBox="1"/>
          <p:nvPr/>
        </p:nvSpPr>
        <p:spPr>
          <a:xfrm>
            <a:off x="850392" y="3319272"/>
            <a:ext cx="2203704" cy="356616"/>
          </a:xfrm>
          <a:prstGeom prst="rect">
            <a:avLst/>
          </a:prstGeom>
          <a:noFill/>
        </p:spPr>
        <p:txBody>
          <a:bodyPr wrap="square" lIns="0" rIns="0" tIns="0" bIns="0">
            <a:spAutoFit/>
          </a:bodyPr>
          <a:lstStyle/>
          <a:p>
            <a:pPr>
              <a:lnSpc>
                <a:spcPct val="113000"/>
              </a:lnSpc>
              <a:spcAft>
                <a:spcPts val="0"/>
              </a:spcAft>
              <a:defRPr sz="2300" b="1">
                <a:solidFill>
                  <a:srgbClr val="14243C"/>
                </a:solidFill>
                <a:latin typeface="Noto Sans CJK KR"/>
              </a:defRPr>
            </a:pPr>
            <a:r>
              <a:t>기간 초반</a:t>
            </a:r>
          </a:p>
        </p:txBody>
      </p:sp>
      <p:cxnSp>
        <p:nvCxnSpPr>
          <p:cNvPr id="10" name="Connector 9"/>
          <p:cNvCxnSpPr/>
          <p:nvPr/>
        </p:nvCxnSpPr>
        <p:spPr>
          <a:xfrm>
            <a:off x="3474720" y="3520440"/>
            <a:ext cx="5916168" cy="0"/>
          </a:xfrm>
          <a:prstGeom prst="line">
            <a:avLst/>
          </a:prstGeom>
          <a:ln w="63500">
            <a:solidFill>
              <a:srgbClr val="DAE3EE"/>
            </a:solidFill>
          </a:ln>
        </p:spPr>
        <p:style>
          <a:lnRef idx="2">
            <a:schemeClr val="accent1"/>
          </a:lnRef>
          <a:fillRef idx="0">
            <a:schemeClr val="accent1"/>
          </a:fillRef>
          <a:effectRef idx="0">
            <a:schemeClr val="accent1"/>
          </a:effectRef>
          <a:fontRef idx="minor">
            <a:schemeClr val="tx1"/>
          </a:fontRef>
        </p:style>
      </p:cxnSp>
      <p:sp>
        <p:nvSpPr>
          <p:cNvPr id="11" name="Oval 10"/>
          <p:cNvSpPr/>
          <p:nvPr/>
        </p:nvSpPr>
        <p:spPr>
          <a:xfrm>
            <a:off x="4448190" y="3429000"/>
            <a:ext cx="182880" cy="182880"/>
          </a:xfrm>
          <a:prstGeom prst="ellipse">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094976" y="3236976"/>
            <a:ext cx="3703320" cy="557784"/>
          </a:xfrm>
          <a:prstGeom prst="rect">
            <a:avLst/>
          </a:prstGeom>
          <a:noFill/>
        </p:spPr>
        <p:txBody>
          <a:bodyPr wrap="square" lIns="0" rIns="0" tIns="0" bIns="0">
            <a:spAutoFit/>
          </a:bodyPr>
          <a:lstStyle/>
          <a:p>
            <a:pPr>
              <a:lnSpc>
                <a:spcPct val="113000"/>
              </a:lnSpc>
              <a:spcAft>
                <a:spcPts val="0"/>
              </a:spcAft>
              <a:defRPr sz="3300" b="1">
                <a:solidFill>
                  <a:srgbClr val="087F70"/>
                </a:solidFill>
                <a:latin typeface="Noto Sans CJK KR"/>
              </a:defRPr>
            </a:pPr>
            <a:r>
              <a:t>CUR 50%</a:t>
            </a:r>
          </a:p>
        </p:txBody>
      </p:sp>
      <p:sp>
        <p:nvSpPr>
          <p:cNvPr id="13" name="TextBox 12"/>
          <p:cNvSpPr txBox="1"/>
          <p:nvPr/>
        </p:nvSpPr>
        <p:spPr>
          <a:xfrm>
            <a:off x="850392" y="4754880"/>
            <a:ext cx="2203704" cy="356616"/>
          </a:xfrm>
          <a:prstGeom prst="rect">
            <a:avLst/>
          </a:prstGeom>
          <a:noFill/>
        </p:spPr>
        <p:txBody>
          <a:bodyPr wrap="square" lIns="0" rIns="0" tIns="0" bIns="0">
            <a:spAutoFit/>
          </a:bodyPr>
          <a:lstStyle/>
          <a:p>
            <a:pPr>
              <a:lnSpc>
                <a:spcPct val="113000"/>
              </a:lnSpc>
              <a:spcAft>
                <a:spcPts val="0"/>
              </a:spcAft>
              <a:defRPr sz="2300" b="1">
                <a:solidFill>
                  <a:srgbClr val="14243C"/>
                </a:solidFill>
                <a:latin typeface="Noto Sans CJK KR"/>
              </a:defRPr>
            </a:pPr>
            <a:r>
              <a:t>기간 후반</a:t>
            </a:r>
          </a:p>
        </p:txBody>
      </p:sp>
      <p:cxnSp>
        <p:nvCxnSpPr>
          <p:cNvPr id="14" name="Connector 13"/>
          <p:cNvCxnSpPr/>
          <p:nvPr/>
        </p:nvCxnSpPr>
        <p:spPr>
          <a:xfrm>
            <a:off x="3474720" y="4956048"/>
            <a:ext cx="5916168" cy="0"/>
          </a:xfrm>
          <a:prstGeom prst="line">
            <a:avLst/>
          </a:prstGeom>
          <a:ln w="63500">
            <a:solidFill>
              <a:srgbClr val="DAE3EE"/>
            </a:solidFill>
          </a:ln>
        </p:spPr>
        <p:style>
          <a:lnRef idx="2">
            <a:schemeClr val="accent1"/>
          </a:lnRef>
          <a:fillRef idx="0">
            <a:schemeClr val="accent1"/>
          </a:fillRef>
          <a:effectRef idx="0">
            <a:schemeClr val="accent1"/>
          </a:effectRef>
          <a:fontRef idx="minor">
            <a:schemeClr val="tx1"/>
          </a:fontRef>
        </p:style>
      </p:cxnSp>
      <p:sp>
        <p:nvSpPr>
          <p:cNvPr id="15" name="Oval 14"/>
          <p:cNvSpPr/>
          <p:nvPr/>
        </p:nvSpPr>
        <p:spPr>
          <a:xfrm>
            <a:off x="8412022" y="4864608"/>
            <a:ext cx="182880" cy="182880"/>
          </a:xfrm>
          <a:prstGeom prst="ellipse">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10094976" y="4672584"/>
            <a:ext cx="3703320" cy="557784"/>
          </a:xfrm>
          <a:prstGeom prst="rect">
            <a:avLst/>
          </a:prstGeom>
          <a:noFill/>
        </p:spPr>
        <p:txBody>
          <a:bodyPr wrap="square" lIns="0" rIns="0" tIns="0" bIns="0">
            <a:spAutoFit/>
          </a:bodyPr>
          <a:lstStyle/>
          <a:p>
            <a:pPr>
              <a:lnSpc>
                <a:spcPct val="113000"/>
              </a:lnSpc>
              <a:spcAft>
                <a:spcPts val="0"/>
              </a:spcAft>
              <a:defRPr sz="3300" b="1">
                <a:solidFill>
                  <a:srgbClr val="087F70"/>
                </a:solidFill>
                <a:latin typeface="Noto Sans CJK KR"/>
              </a:defRPr>
            </a:pPr>
            <a:r>
              <a:t>CUR 50%</a:t>
            </a:r>
          </a:p>
        </p:txBody>
      </p:sp>
      <p:sp>
        <p:nvSpPr>
          <p:cNvPr id="17" name="TextBox 16"/>
          <p:cNvSpPr txBox="1"/>
          <p:nvPr/>
        </p:nvSpPr>
        <p:spPr>
          <a:xfrm>
            <a:off x="868680" y="6227064"/>
            <a:ext cx="12865608" cy="713232"/>
          </a:xfrm>
          <a:prstGeom prst="rect">
            <a:avLst/>
          </a:prstGeom>
          <a:noFill/>
        </p:spPr>
        <p:txBody>
          <a:bodyPr wrap="square" lIns="0" rIns="0" tIns="0" bIns="0">
            <a:spAutoFit/>
          </a:bodyPr>
          <a:lstStyle/>
          <a:p>
            <a:pPr>
              <a:lnSpc>
                <a:spcPct val="113000"/>
              </a:lnSpc>
              <a:spcAft>
                <a:spcPts val="0"/>
              </a:spcAft>
              <a:defRPr sz="2300" b="1">
                <a:solidFill>
                  <a:srgbClr val="14243C"/>
                </a:solidFill>
                <a:latin typeface="Noto Sans CJK KR"/>
              </a:defRPr>
            </a:pPr>
            <a:r>
              <a:t>확장 방향: 남은 수요를 고려한 기말 예상 배출 점검</a:t>
            </a:r>
          </a:p>
          <a:p>
            <a:pPr>
              <a:lnSpc>
                <a:spcPct val="113000"/>
              </a:lnSpc>
              <a:spcAft>
                <a:spcPts val="0"/>
              </a:spcAft>
              <a:defRPr sz="2300" b="1">
                <a:solidFill>
                  <a:srgbClr val="14243C"/>
                </a:solidFill>
                <a:latin typeface="Noto Sans CJK KR"/>
              </a:defRPr>
            </a:pPr>
            <a:r>
              <a:t>기본 모형과 분리해 성능·예측 오차를 검증합니다.</a:t>
            </a:r>
          </a:p>
        </p:txBody>
      </p:sp>
      <p:sp>
        <p:nvSpPr>
          <p:cNvPr id="18" name="TextBox 17"/>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추가 한계: 구간 경계에서 가중치 급변, 후보 집합 변화에 따른 상대 점수 변화, 배출 추정 오차. 전역 최적해나 기간 예산 준수를 보장하지 않습니다.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CBP  /  DECISION DESIGN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687D94"/>
                </a:solidFill>
                <a:latin typeface="Noto Sans CJK KR"/>
              </a:defRPr>
            </a:pPr>
            <a:r>
              <a:t>APPENDIX / EVALUATION</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같은 출발점에서, 정책별로 끝까지 비교해야 합니다.</a:t>
            </a:r>
          </a:p>
        </p:txBody>
      </p:sp>
      <p:sp>
        <p:nvSpPr>
          <p:cNvPr id="5" name="TextBox 4"/>
          <p:cNvSpPr txBox="1"/>
          <p:nvPr/>
        </p:nvSpPr>
        <p:spPr>
          <a:xfrm>
            <a:off x="649224" y="2084831"/>
            <a:ext cx="13304520" cy="493776"/>
          </a:xfrm>
          <a:prstGeom prst="rect">
            <a:avLst/>
          </a:prstGeom>
          <a:noFill/>
        </p:spPr>
        <p:txBody>
          <a:bodyPr wrap="square" lIns="0" rIns="0" tIns="0" bIns="0">
            <a:spAutoFit/>
          </a:bodyPr>
          <a:lstStyle/>
          <a:p>
            <a:pPr>
              <a:lnSpc>
                <a:spcPct val="113000"/>
              </a:lnSpc>
              <a:spcAft>
                <a:spcPts val="0"/>
              </a:spcAft>
              <a:defRPr sz="1800" b="0">
                <a:solidFill>
                  <a:srgbClr val="687D94"/>
                </a:solidFill>
                <a:latin typeface="Noto Sans CJK KR"/>
              </a:defRPr>
            </a:pPr>
            <a:r>
              <a:t>한 번의 가상 추천 결과는 기간 전체의 운영 효과를 증명하지 않습니다.</a:t>
            </a:r>
          </a:p>
        </p:txBody>
      </p:sp>
      <p:cxnSp>
        <p:nvCxnSpPr>
          <p:cNvPr id="6" name="Connector 5"/>
          <p:cNvCxnSpPr/>
          <p:nvPr/>
        </p:nvCxnSpPr>
        <p:spPr>
          <a:xfrm>
            <a:off x="621792" y="7717536"/>
            <a:ext cx="13386816"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두런두런  ·  제13회 유닛로드시스템(ULS) 창의성 공모전  /  질의응답 보충</a:t>
            </a:r>
          </a:p>
        </p:txBody>
      </p:sp>
      <p:sp>
        <p:nvSpPr>
          <p:cNvPr id="8" name="TextBox 7"/>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087F70"/>
                </a:solidFill>
                <a:latin typeface="Noto Sans CJK KR"/>
              </a:defRPr>
            </a:pPr>
            <a:r>
              <a:t>05</a:t>
            </a:r>
          </a:p>
        </p:txBody>
      </p:sp>
      <p:sp>
        <p:nvSpPr>
          <p:cNvPr id="9" name="TextBox 8"/>
          <p:cNvSpPr txBox="1"/>
          <p:nvPr/>
        </p:nvSpPr>
        <p:spPr>
          <a:xfrm>
            <a:off x="841248" y="2880360"/>
            <a:ext cx="3877056" cy="356616"/>
          </a:xfrm>
          <a:prstGeom prst="rect">
            <a:avLst/>
          </a:prstGeom>
          <a:noFill/>
        </p:spPr>
        <p:txBody>
          <a:bodyPr wrap="square" lIns="0" rIns="0" tIns="0" bIns="0">
            <a:spAutoFit/>
          </a:bodyPr>
          <a:lstStyle/>
          <a:p>
            <a:pPr>
              <a:lnSpc>
                <a:spcPct val="113000"/>
              </a:lnSpc>
              <a:spcAft>
                <a:spcPts val="0"/>
              </a:spcAft>
              <a:defRPr sz="2300" b="1">
                <a:solidFill>
                  <a:srgbClr val="087F70"/>
                </a:solidFill>
                <a:latin typeface="Noto Sans CJK KR"/>
              </a:defRPr>
            </a:pPr>
            <a:r>
              <a:t>동일하게 제공</a:t>
            </a:r>
          </a:p>
        </p:txBody>
      </p:sp>
      <p:sp>
        <p:nvSpPr>
          <p:cNvPr id="10" name="TextBox 9"/>
          <p:cNvSpPr txBox="1"/>
          <p:nvPr/>
        </p:nvSpPr>
        <p:spPr>
          <a:xfrm>
            <a:off x="859536" y="3630168"/>
            <a:ext cx="3776472" cy="1938528"/>
          </a:xfrm>
          <a:prstGeom prst="rect">
            <a:avLst/>
          </a:prstGeom>
          <a:noFill/>
        </p:spPr>
        <p:txBody>
          <a:bodyPr wrap="square" lIns="0" rIns="0" tIns="0" bIns="0">
            <a:spAutoFit/>
          </a:bodyPr>
          <a:lstStyle/>
          <a:p>
            <a:pPr>
              <a:lnSpc>
                <a:spcPct val="113000"/>
              </a:lnSpc>
              <a:spcAft>
                <a:spcPts val="0"/>
              </a:spcAft>
              <a:defRPr sz="2000" b="0">
                <a:solidFill>
                  <a:srgbClr val="14243C"/>
                </a:solidFill>
                <a:latin typeface="Noto Sans CJK KR"/>
              </a:defRPr>
            </a:pPr>
            <a:r>
              <a:t>초기 재고 · 탄소예산</a:t>
            </a:r>
          </a:p>
          <a:p>
            <a:pPr>
              <a:lnSpc>
                <a:spcPct val="113000"/>
              </a:lnSpc>
              <a:spcAft>
                <a:spcPts val="0"/>
              </a:spcAft>
              <a:defRPr sz="2000" b="0">
                <a:solidFill>
                  <a:srgbClr val="14243C"/>
                </a:solidFill>
                <a:latin typeface="Noto Sans CJK KR"/>
              </a:defRPr>
            </a:pPr>
            <a:r>
              <a:t>요청 순서 · 후보 생성 규칙</a:t>
            </a:r>
          </a:p>
          <a:p>
            <a:pPr>
              <a:lnSpc>
                <a:spcPct val="113000"/>
              </a:lnSpc>
              <a:spcAft>
                <a:spcPts val="0"/>
              </a:spcAft>
              <a:defRPr sz="2000" b="0">
                <a:solidFill>
                  <a:srgbClr val="14243C"/>
                </a:solidFill>
                <a:latin typeface="Noto Sans CJK KR"/>
              </a:defRPr>
            </a:pPr>
            <a:r>
              <a:t>사용 가능한 정보</a:t>
            </a:r>
          </a:p>
          <a:p>
            <a:pPr>
              <a:lnSpc>
                <a:spcPct val="113000"/>
              </a:lnSpc>
              <a:spcAft>
                <a:spcPts val="0"/>
              </a:spcAft>
              <a:defRPr sz="2000" b="0">
                <a:solidFill>
                  <a:srgbClr val="14243C"/>
                </a:solidFill>
                <a:latin typeface="Noto Sans CJK KR"/>
              </a:defRPr>
            </a:pPr>
            <a:r>
              <a:t>수량·기한·비용·탄소 제약</a:t>
            </a:r>
          </a:p>
        </p:txBody>
      </p:sp>
      <p:sp>
        <p:nvSpPr>
          <p:cNvPr id="11" name="Right Arrow 10"/>
          <p:cNvSpPr/>
          <p:nvPr/>
        </p:nvSpPr>
        <p:spPr>
          <a:xfrm>
            <a:off x="4837176" y="4443984"/>
            <a:ext cx="557784" cy="173736"/>
          </a:xfrm>
          <a:prstGeom prst="rightArrow">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5641848" y="3401568"/>
            <a:ext cx="3063240" cy="603504"/>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5861304" y="3538728"/>
            <a:ext cx="2624328" cy="338328"/>
          </a:xfrm>
          <a:prstGeom prst="rect">
            <a:avLst/>
          </a:prstGeom>
          <a:noFill/>
        </p:spPr>
        <p:txBody>
          <a:bodyPr wrap="square" lIns="0" rIns="0" tIns="0" bIns="0">
            <a:spAutoFit/>
          </a:bodyPr>
          <a:lstStyle/>
          <a:p>
            <a:pPr>
              <a:lnSpc>
                <a:spcPct val="113000"/>
              </a:lnSpc>
              <a:spcAft>
                <a:spcPts val="0"/>
              </a:spcAft>
              <a:defRPr sz="2300" b="1">
                <a:solidFill>
                  <a:srgbClr val="14243C"/>
                </a:solidFill>
                <a:latin typeface="Noto Sans CJK KR"/>
              </a:defRPr>
            </a:pPr>
            <a:r>
              <a:t>비용 우선</a:t>
            </a:r>
          </a:p>
        </p:txBody>
      </p:sp>
      <p:sp>
        <p:nvSpPr>
          <p:cNvPr id="14" name="Rectangle 13"/>
          <p:cNvSpPr/>
          <p:nvPr/>
        </p:nvSpPr>
        <p:spPr>
          <a:xfrm>
            <a:off x="5641848" y="4261104"/>
            <a:ext cx="3063240" cy="603504"/>
          </a:xfrm>
          <a:prstGeom prst="rect">
            <a:avLst/>
          </a:prstGeom>
          <a:solidFill>
            <a:srgbClr val="FFFFF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5861304" y="4398264"/>
            <a:ext cx="2624328" cy="338328"/>
          </a:xfrm>
          <a:prstGeom prst="rect">
            <a:avLst/>
          </a:prstGeom>
          <a:noFill/>
        </p:spPr>
        <p:txBody>
          <a:bodyPr wrap="square" lIns="0" rIns="0" tIns="0" bIns="0">
            <a:spAutoFit/>
          </a:bodyPr>
          <a:lstStyle/>
          <a:p>
            <a:pPr>
              <a:lnSpc>
                <a:spcPct val="113000"/>
              </a:lnSpc>
              <a:spcAft>
                <a:spcPts val="0"/>
              </a:spcAft>
              <a:defRPr sz="2300" b="1">
                <a:solidFill>
                  <a:srgbClr val="14243C"/>
                </a:solidFill>
                <a:latin typeface="Noto Sans CJK KR"/>
              </a:defRPr>
            </a:pPr>
            <a:r>
              <a:t>고정 가중치</a:t>
            </a:r>
          </a:p>
        </p:txBody>
      </p:sp>
      <p:sp>
        <p:nvSpPr>
          <p:cNvPr id="16" name="Rectangle 15"/>
          <p:cNvSpPr/>
          <p:nvPr/>
        </p:nvSpPr>
        <p:spPr>
          <a:xfrm>
            <a:off x="5641848" y="5120640"/>
            <a:ext cx="3063240" cy="603504"/>
          </a:xfrm>
          <a:prstGeom prst="rect">
            <a:avLst/>
          </a:prstGeom>
          <a:solidFill>
            <a:srgbClr val="E4F4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861304" y="5257800"/>
            <a:ext cx="2624328" cy="338328"/>
          </a:xfrm>
          <a:prstGeom prst="rect">
            <a:avLst/>
          </a:prstGeom>
          <a:noFill/>
        </p:spPr>
        <p:txBody>
          <a:bodyPr wrap="square" lIns="0" rIns="0" tIns="0" bIns="0">
            <a:spAutoFit/>
          </a:bodyPr>
          <a:lstStyle/>
          <a:p>
            <a:pPr>
              <a:lnSpc>
                <a:spcPct val="113000"/>
              </a:lnSpc>
              <a:spcAft>
                <a:spcPts val="0"/>
              </a:spcAft>
              <a:defRPr sz="2300" b="1">
                <a:solidFill>
                  <a:srgbClr val="087F70"/>
                </a:solidFill>
                <a:latin typeface="Noto Sans CJK KR"/>
              </a:defRPr>
            </a:pPr>
            <a:r>
              <a:t>CBP</a:t>
            </a:r>
          </a:p>
        </p:txBody>
      </p:sp>
      <p:sp>
        <p:nvSpPr>
          <p:cNvPr id="18" name="Right Arrow 17"/>
          <p:cNvSpPr/>
          <p:nvPr/>
        </p:nvSpPr>
        <p:spPr>
          <a:xfrm>
            <a:off x="8997696" y="4443984"/>
            <a:ext cx="557784" cy="173736"/>
          </a:xfrm>
          <a:prstGeom prst="rightArrow">
            <a:avLst/>
          </a:prstGeom>
          <a:solidFill>
            <a:srgbClr val="087F7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9902952" y="2880360"/>
            <a:ext cx="3977639" cy="356616"/>
          </a:xfrm>
          <a:prstGeom prst="rect">
            <a:avLst/>
          </a:prstGeom>
          <a:noFill/>
        </p:spPr>
        <p:txBody>
          <a:bodyPr wrap="square" lIns="0" rIns="0" tIns="0" bIns="0">
            <a:spAutoFit/>
          </a:bodyPr>
          <a:lstStyle/>
          <a:p>
            <a:pPr>
              <a:lnSpc>
                <a:spcPct val="113000"/>
              </a:lnSpc>
              <a:spcAft>
                <a:spcPts val="0"/>
              </a:spcAft>
              <a:defRPr sz="2300" b="1">
                <a:solidFill>
                  <a:srgbClr val="087F70"/>
                </a:solidFill>
                <a:latin typeface="Noto Sans CJK KR"/>
              </a:defRPr>
            </a:pPr>
            <a:r>
              <a:t>기간 전체로 평가</a:t>
            </a:r>
          </a:p>
        </p:txBody>
      </p:sp>
      <p:sp>
        <p:nvSpPr>
          <p:cNvPr id="20" name="TextBox 19"/>
          <p:cNvSpPr txBox="1"/>
          <p:nvPr/>
        </p:nvSpPr>
        <p:spPr>
          <a:xfrm>
            <a:off x="9921240" y="3630168"/>
            <a:ext cx="3904487" cy="1938528"/>
          </a:xfrm>
          <a:prstGeom prst="rect">
            <a:avLst/>
          </a:prstGeom>
          <a:noFill/>
        </p:spPr>
        <p:txBody>
          <a:bodyPr wrap="square" lIns="0" rIns="0" tIns="0" bIns="0">
            <a:spAutoFit/>
          </a:bodyPr>
          <a:lstStyle/>
          <a:p>
            <a:pPr>
              <a:lnSpc>
                <a:spcPct val="113000"/>
              </a:lnSpc>
              <a:spcAft>
                <a:spcPts val="0"/>
              </a:spcAft>
              <a:defRPr sz="2000" b="0">
                <a:solidFill>
                  <a:srgbClr val="14243C"/>
                </a:solidFill>
                <a:latin typeface="Noto Sans CJK KR"/>
              </a:defRPr>
            </a:pPr>
            <a:r>
              <a:t>총비용 · 실제 배출</a:t>
            </a:r>
          </a:p>
          <a:p>
            <a:pPr>
              <a:lnSpc>
                <a:spcPct val="113000"/>
              </a:lnSpc>
              <a:spcAft>
                <a:spcPts val="0"/>
              </a:spcAft>
              <a:defRPr sz="2000" b="0">
                <a:solidFill>
                  <a:srgbClr val="14243C"/>
                </a:solidFill>
                <a:latin typeface="Noto Sans CJK KR"/>
              </a:defRPr>
            </a:pPr>
            <a:r>
              <a:t>정시 공급 충족률</a:t>
            </a:r>
          </a:p>
          <a:p>
            <a:pPr>
              <a:lnSpc>
                <a:spcPct val="113000"/>
              </a:lnSpc>
              <a:spcAft>
                <a:spcPts val="0"/>
              </a:spcAft>
              <a:defRPr sz="2000" b="0">
                <a:solidFill>
                  <a:srgbClr val="14243C"/>
                </a:solidFill>
                <a:latin typeface="Noto Sans CJK KR"/>
              </a:defRPr>
            </a:pPr>
            <a:r>
              <a:t>기간말 탄소예산 초과</a:t>
            </a:r>
          </a:p>
          <a:p>
            <a:pPr>
              <a:lnSpc>
                <a:spcPct val="113000"/>
              </a:lnSpc>
              <a:spcAft>
                <a:spcPts val="0"/>
              </a:spcAft>
              <a:defRPr sz="2000" b="0">
                <a:solidFill>
                  <a:srgbClr val="14243C"/>
                </a:solidFill>
                <a:latin typeface="Noto Sans CJK KR"/>
              </a:defRPr>
            </a:pPr>
            <a:r>
              <a:t>예외 발생 횟수</a:t>
            </a:r>
          </a:p>
        </p:txBody>
      </p:sp>
      <p:sp>
        <p:nvSpPr>
          <p:cNvPr id="21" name="Rectangle 20"/>
          <p:cNvSpPr/>
          <p:nvPr/>
        </p:nvSpPr>
        <p:spPr>
          <a:xfrm>
            <a:off x="841248" y="6446520"/>
            <a:ext cx="13002768" cy="566928"/>
          </a:xfrm>
          <a:prstGeom prst="rect">
            <a:avLst/>
          </a:prstGeom>
          <a:solidFill>
            <a:srgbClr val="101D3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1069848" y="6601968"/>
            <a:ext cx="12545568" cy="310896"/>
          </a:xfrm>
          <a:prstGeom prst="rect">
            <a:avLst/>
          </a:prstGeom>
          <a:noFill/>
        </p:spPr>
        <p:txBody>
          <a:bodyPr wrap="square" lIns="0" rIns="0" tIns="0" bIns="0">
            <a:spAutoFit/>
          </a:bodyPr>
          <a:lstStyle/>
          <a:p>
            <a:pPr>
              <a:lnSpc>
                <a:spcPct val="113000"/>
              </a:lnSpc>
              <a:spcAft>
                <a:spcPts val="0"/>
              </a:spcAft>
              <a:defRPr sz="1600" b="1">
                <a:solidFill>
                  <a:srgbClr val="FFFFFF"/>
                </a:solidFill>
                <a:latin typeface="Noto Sans CJK KR"/>
              </a:defRPr>
            </a:pPr>
            <a:r>
              <a:t>각 정책의 선택 이후에는 재고·누적 배출을 따로 갱신합니다. 결과에 유리한 미래 정보를 미리 주지 않습니다.</a:t>
            </a:r>
          </a:p>
        </p:txBody>
      </p:sp>
      <p:sp>
        <p:nvSpPr>
          <p:cNvPr id="23" name="TextBox 22"/>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검증 순서: 과거 요청 재생 → 실제 배차에 영향을 주지 않는 추천 → 제한적 현장 실행. 비용·탄소·공급 중 불리해지는 항목도 함께 보고합니다.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TextBox 1"/>
          <p:cNvSpPr txBox="1"/>
          <p:nvPr/>
        </p:nvSpPr>
        <p:spPr>
          <a:xfrm>
            <a:off x="621792" y="320040"/>
            <a:ext cx="3291840" cy="256032"/>
          </a:xfrm>
          <a:prstGeom prst="rect">
            <a:avLst/>
          </a:prstGeom>
          <a:noFill/>
        </p:spPr>
        <p:txBody>
          <a:bodyPr wrap="square" lIns="0" rIns="0" tIns="0" bIns="0">
            <a:spAutoFit/>
          </a:bodyPr>
          <a:lstStyle/>
          <a:p>
            <a:pPr>
              <a:lnSpc>
                <a:spcPct val="113000"/>
              </a:lnSpc>
              <a:spcAft>
                <a:spcPts val="0"/>
              </a:spcAft>
              <a:defRPr sz="1200" b="1">
                <a:solidFill>
                  <a:srgbClr val="087F70"/>
                </a:solidFill>
                <a:latin typeface="Noto Sans CJK KR"/>
              </a:defRPr>
            </a:pPr>
            <a:r>
              <a:t>CBP  /  DECISION DESIGN</a:t>
            </a:r>
          </a:p>
        </p:txBody>
      </p:sp>
      <p:sp>
        <p:nvSpPr>
          <p:cNvPr id="3" name="TextBox 2"/>
          <p:cNvSpPr txBox="1"/>
          <p:nvPr/>
        </p:nvSpPr>
        <p:spPr>
          <a:xfrm>
            <a:off x="5925312" y="320040"/>
            <a:ext cx="8092440" cy="256032"/>
          </a:xfrm>
          <a:prstGeom prst="rect">
            <a:avLst/>
          </a:prstGeom>
          <a:noFill/>
        </p:spPr>
        <p:txBody>
          <a:bodyPr wrap="square" lIns="0" rIns="0" tIns="0" bIns="0">
            <a:spAutoFit/>
          </a:bodyPr>
          <a:lstStyle/>
          <a:p>
            <a:pPr algn="r">
              <a:lnSpc>
                <a:spcPct val="113000"/>
              </a:lnSpc>
              <a:spcAft>
                <a:spcPts val="0"/>
              </a:spcAft>
              <a:defRPr sz="1100" b="0">
                <a:solidFill>
                  <a:srgbClr val="687D94"/>
                </a:solidFill>
                <a:latin typeface="Noto Sans CJK KR"/>
              </a:defRPr>
            </a:pPr>
            <a:r>
              <a:t>APPENDIX / EVIDENCE</a:t>
            </a:r>
          </a:p>
        </p:txBody>
      </p:sp>
      <p:sp>
        <p:nvSpPr>
          <p:cNvPr id="4" name="TextBox 3"/>
          <p:cNvSpPr txBox="1"/>
          <p:nvPr/>
        </p:nvSpPr>
        <p:spPr>
          <a:xfrm>
            <a:off x="621792" y="932688"/>
            <a:ext cx="13386816" cy="1088136"/>
          </a:xfrm>
          <a:prstGeom prst="rect">
            <a:avLst/>
          </a:prstGeom>
          <a:noFill/>
        </p:spPr>
        <p:txBody>
          <a:bodyPr wrap="square" lIns="0" rIns="0" tIns="0" bIns="0">
            <a:spAutoFit/>
          </a:bodyPr>
          <a:lstStyle/>
          <a:p>
            <a:pPr>
              <a:lnSpc>
                <a:spcPct val="113000"/>
              </a:lnSpc>
              <a:spcAft>
                <a:spcPts val="0"/>
              </a:spcAft>
              <a:defRPr sz="3600" b="1">
                <a:solidFill>
                  <a:srgbClr val="14243C"/>
                </a:solidFill>
                <a:latin typeface="Noto Sans CJK KR"/>
              </a:defRPr>
            </a:pPr>
            <a:r>
              <a:t>제안한 구조와, 아직 입증하지 않은 주장을 구분합니다.</a:t>
            </a:r>
          </a:p>
        </p:txBody>
      </p:sp>
      <p:sp>
        <p:nvSpPr>
          <p:cNvPr id="5" name="TextBox 4"/>
          <p:cNvSpPr txBox="1"/>
          <p:nvPr/>
        </p:nvSpPr>
        <p:spPr>
          <a:xfrm>
            <a:off x="649224" y="2084831"/>
            <a:ext cx="13304520" cy="493776"/>
          </a:xfrm>
          <a:prstGeom prst="rect">
            <a:avLst/>
          </a:prstGeom>
          <a:noFill/>
        </p:spPr>
        <p:txBody>
          <a:bodyPr wrap="square" lIns="0" rIns="0" tIns="0" bIns="0">
            <a:spAutoFit/>
          </a:bodyPr>
          <a:lstStyle/>
          <a:p>
            <a:pPr>
              <a:lnSpc>
                <a:spcPct val="113000"/>
              </a:lnSpc>
              <a:spcAft>
                <a:spcPts val="0"/>
              </a:spcAft>
              <a:defRPr sz="1800" b="0">
                <a:solidFill>
                  <a:srgbClr val="687D94"/>
                </a:solidFill>
                <a:latin typeface="Noto Sans CJK KR"/>
              </a:defRPr>
            </a:pPr>
            <a:r>
              <a:t>가중합 자체의 발명을 주장하지 않습니다. ULS 재배치에서 탄소예산 상태를 선택 규칙에 연결하는 제안입니다.</a:t>
            </a:r>
          </a:p>
        </p:txBody>
      </p:sp>
      <p:cxnSp>
        <p:nvCxnSpPr>
          <p:cNvPr id="6" name="Connector 5"/>
          <p:cNvCxnSpPr/>
          <p:nvPr/>
        </p:nvCxnSpPr>
        <p:spPr>
          <a:xfrm>
            <a:off x="621792" y="7717536"/>
            <a:ext cx="13386816"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30936" y="7872983"/>
            <a:ext cx="12472416" cy="210312"/>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두런두런  ·  제13회 유닛로드시스템(ULS) 창의성 공모전  /  질의응답 보충</a:t>
            </a:r>
          </a:p>
        </p:txBody>
      </p:sp>
      <p:sp>
        <p:nvSpPr>
          <p:cNvPr id="8" name="TextBox 7"/>
          <p:cNvSpPr txBox="1"/>
          <p:nvPr/>
        </p:nvSpPr>
        <p:spPr>
          <a:xfrm>
            <a:off x="13194792" y="7818120"/>
            <a:ext cx="804672" cy="320040"/>
          </a:xfrm>
          <a:prstGeom prst="rect">
            <a:avLst/>
          </a:prstGeom>
          <a:noFill/>
        </p:spPr>
        <p:txBody>
          <a:bodyPr wrap="square" lIns="0" rIns="0" tIns="0" bIns="0">
            <a:spAutoFit/>
          </a:bodyPr>
          <a:lstStyle/>
          <a:p>
            <a:pPr algn="r">
              <a:lnSpc>
                <a:spcPct val="113000"/>
              </a:lnSpc>
              <a:spcAft>
                <a:spcPts val="0"/>
              </a:spcAft>
              <a:defRPr sz="1600" b="1">
                <a:solidFill>
                  <a:srgbClr val="087F70"/>
                </a:solidFill>
                <a:latin typeface="Noto Sans CJK KR"/>
              </a:defRPr>
            </a:pPr>
            <a:r>
              <a:t>06</a:t>
            </a:r>
          </a:p>
        </p:txBody>
      </p:sp>
      <p:sp>
        <p:nvSpPr>
          <p:cNvPr id="9" name="TextBox 8"/>
          <p:cNvSpPr txBox="1"/>
          <p:nvPr/>
        </p:nvSpPr>
        <p:spPr>
          <a:xfrm>
            <a:off x="832104" y="2935224"/>
            <a:ext cx="6025896" cy="365760"/>
          </a:xfrm>
          <a:prstGeom prst="rect">
            <a:avLst/>
          </a:prstGeom>
          <a:noFill/>
        </p:spPr>
        <p:txBody>
          <a:bodyPr wrap="square" lIns="0" rIns="0" tIns="0" bIns="0">
            <a:spAutoFit/>
          </a:bodyPr>
          <a:lstStyle/>
          <a:p>
            <a:pPr>
              <a:lnSpc>
                <a:spcPct val="113000"/>
              </a:lnSpc>
              <a:spcAft>
                <a:spcPts val="0"/>
              </a:spcAft>
              <a:defRPr sz="2500" b="1">
                <a:solidFill>
                  <a:srgbClr val="087F70"/>
                </a:solidFill>
                <a:latin typeface="Noto Sans CJK KR"/>
              </a:defRPr>
            </a:pPr>
            <a:r>
              <a:t>현재 확인한 근거</a:t>
            </a:r>
          </a:p>
        </p:txBody>
      </p:sp>
      <p:cxnSp>
        <p:nvCxnSpPr>
          <p:cNvPr id="10" name="Connector 9"/>
          <p:cNvCxnSpPr/>
          <p:nvPr/>
        </p:nvCxnSpPr>
        <p:spPr>
          <a:xfrm>
            <a:off x="832104" y="3575304"/>
            <a:ext cx="5934456"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832104" y="3913632"/>
            <a:ext cx="5980176" cy="2478024"/>
          </a:xfrm>
          <a:prstGeom prst="rect">
            <a:avLst/>
          </a:prstGeom>
          <a:noFill/>
        </p:spPr>
        <p:txBody>
          <a:bodyPr wrap="square" lIns="0" rIns="0" tIns="0" bIns="0">
            <a:spAutoFit/>
          </a:bodyPr>
          <a:lstStyle/>
          <a:p>
            <a:pPr>
              <a:lnSpc>
                <a:spcPct val="113000"/>
              </a:lnSpc>
              <a:spcAft>
                <a:spcPts val="0"/>
              </a:spcAft>
              <a:defRPr sz="2100" b="0">
                <a:solidFill>
                  <a:srgbClr val="14243C"/>
                </a:solidFill>
                <a:latin typeface="Noto Sans CJK KR"/>
              </a:defRPr>
            </a:pPr>
            <a:r>
              <a:t>예선 원안: CUR · 4모드 · RPS</a:t>
            </a:r>
          </a:p>
          <a:p>
            <a:pPr>
              <a:lnSpc>
                <a:spcPct val="113000"/>
              </a:lnSpc>
              <a:spcAft>
                <a:spcPts val="0"/>
              </a:spcAft>
              <a:defRPr sz="2100" b="0">
                <a:solidFill>
                  <a:srgbClr val="14243C"/>
                </a:solidFill>
                <a:latin typeface="Noto Sans CJK KR"/>
              </a:defRPr>
            </a:pPr>
            <a:r>
              <a:t>공식 안내: 4분 발표 · 배너 4쪽 발췌</a:t>
            </a:r>
          </a:p>
          <a:p>
            <a:pPr>
              <a:lnSpc>
                <a:spcPct val="113000"/>
              </a:lnSpc>
              <a:spcAft>
                <a:spcPts val="0"/>
              </a:spcAft>
              <a:defRPr sz="2100" b="0">
                <a:solidFill>
                  <a:srgbClr val="14243C"/>
                </a:solidFill>
                <a:latin typeface="Noto Sans CJK KR"/>
              </a:defRPr>
            </a:pPr>
            <a:r>
              <a:t>재현 코드: 점수·제약·예외 추천</a:t>
            </a:r>
          </a:p>
          <a:p>
            <a:pPr>
              <a:lnSpc>
                <a:spcPct val="113000"/>
              </a:lnSpc>
              <a:spcAft>
                <a:spcPts val="0"/>
              </a:spcAft>
              <a:defRPr sz="2100" b="0">
                <a:solidFill>
                  <a:srgbClr val="14243C"/>
                </a:solidFill>
                <a:latin typeface="Noto Sans CJK KR"/>
              </a:defRPr>
            </a:pPr>
            <a:r>
              <a:t>동작 데모: 사용률·비용 한도 변경</a:t>
            </a:r>
          </a:p>
        </p:txBody>
      </p:sp>
      <p:sp>
        <p:nvSpPr>
          <p:cNvPr id="12" name="TextBox 11"/>
          <p:cNvSpPr txBox="1"/>
          <p:nvPr/>
        </p:nvSpPr>
        <p:spPr>
          <a:xfrm>
            <a:off x="7662672" y="2935224"/>
            <a:ext cx="6025896" cy="365760"/>
          </a:xfrm>
          <a:prstGeom prst="rect">
            <a:avLst/>
          </a:prstGeom>
          <a:noFill/>
        </p:spPr>
        <p:txBody>
          <a:bodyPr wrap="square" lIns="0" rIns="0" tIns="0" bIns="0">
            <a:spAutoFit/>
          </a:bodyPr>
          <a:lstStyle/>
          <a:p>
            <a:pPr>
              <a:lnSpc>
                <a:spcPct val="113000"/>
              </a:lnSpc>
              <a:spcAft>
                <a:spcPts val="0"/>
              </a:spcAft>
              <a:defRPr sz="2500" b="1">
                <a:solidFill>
                  <a:srgbClr val="687D94"/>
                </a:solidFill>
                <a:latin typeface="Noto Sans CJK KR"/>
              </a:defRPr>
            </a:pPr>
            <a:r>
              <a:t>추가 확인이 필요한 근거</a:t>
            </a:r>
          </a:p>
        </p:txBody>
      </p:sp>
      <p:cxnSp>
        <p:nvCxnSpPr>
          <p:cNvPr id="13" name="Connector 12"/>
          <p:cNvCxnSpPr/>
          <p:nvPr/>
        </p:nvCxnSpPr>
        <p:spPr>
          <a:xfrm>
            <a:off x="7662672" y="3575304"/>
            <a:ext cx="5934456" cy="0"/>
          </a:xfrm>
          <a:prstGeom prst="line">
            <a:avLst/>
          </a:prstGeom>
          <a:ln w="12700">
            <a:solidFill>
              <a:srgbClr val="DAE3EE"/>
            </a:solidFill>
          </a:ln>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7662672" y="3913632"/>
            <a:ext cx="5980176" cy="2478024"/>
          </a:xfrm>
          <a:prstGeom prst="rect">
            <a:avLst/>
          </a:prstGeom>
          <a:noFill/>
        </p:spPr>
        <p:txBody>
          <a:bodyPr wrap="square" lIns="0" rIns="0" tIns="0" bIns="0">
            <a:spAutoFit/>
          </a:bodyPr>
          <a:lstStyle/>
          <a:p>
            <a:pPr>
              <a:lnSpc>
                <a:spcPct val="113000"/>
              </a:lnSpc>
              <a:spcAft>
                <a:spcPts val="0"/>
              </a:spcAft>
              <a:defRPr sz="2100" b="0">
                <a:solidFill>
                  <a:srgbClr val="14243C"/>
                </a:solidFill>
                <a:latin typeface="Noto Sans CJK KR"/>
              </a:defRPr>
            </a:pPr>
            <a:r>
              <a:t>현장 탄소 감축률 · 비용 효과</a:t>
            </a:r>
          </a:p>
          <a:p>
            <a:pPr>
              <a:lnSpc>
                <a:spcPct val="113000"/>
              </a:lnSpc>
              <a:spcAft>
                <a:spcPts val="0"/>
              </a:spcAft>
              <a:defRPr sz="2100" b="0">
                <a:solidFill>
                  <a:srgbClr val="14243C"/>
                </a:solidFill>
                <a:latin typeface="Noto Sans CJK KR"/>
              </a:defRPr>
            </a:pPr>
            <a:r>
              <a:t>동적 가중치·탄소예산 관련 선행 연구</a:t>
            </a:r>
          </a:p>
          <a:p>
            <a:pPr>
              <a:lnSpc>
                <a:spcPct val="113000"/>
              </a:lnSpc>
              <a:spcAft>
                <a:spcPts val="0"/>
              </a:spcAft>
              <a:defRPr sz="2100" b="0">
                <a:solidFill>
                  <a:srgbClr val="14243C"/>
                </a:solidFill>
                <a:latin typeface="Noto Sans CJK KR"/>
              </a:defRPr>
            </a:pPr>
            <a:r>
              <a:t>기존 풀링 시스템 대비 신규성</a:t>
            </a:r>
          </a:p>
          <a:p>
            <a:pPr>
              <a:lnSpc>
                <a:spcPct val="113000"/>
              </a:lnSpc>
              <a:spcAft>
                <a:spcPts val="0"/>
              </a:spcAft>
              <a:defRPr sz="2100" b="0">
                <a:solidFill>
                  <a:srgbClr val="14243C"/>
                </a:solidFill>
                <a:latin typeface="Noto Sans CJK KR"/>
              </a:defRPr>
            </a:pPr>
            <a:r>
              <a:t>역대 수상작의 심사·수상 근거</a:t>
            </a:r>
          </a:p>
        </p:txBody>
      </p:sp>
      <p:sp>
        <p:nvSpPr>
          <p:cNvPr id="15" name="Rectangle 14"/>
          <p:cNvSpPr/>
          <p:nvPr/>
        </p:nvSpPr>
        <p:spPr>
          <a:xfrm>
            <a:off x="832104" y="6601968"/>
            <a:ext cx="12829032" cy="493776"/>
          </a:xfrm>
          <a:prstGeom prst="rect">
            <a:avLst/>
          </a:prstGeom>
          <a:solidFill>
            <a:srgbClr val="E4F4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1051560" y="6720840"/>
            <a:ext cx="12390120" cy="265176"/>
          </a:xfrm>
          <a:prstGeom prst="rect">
            <a:avLst/>
          </a:prstGeom>
          <a:noFill/>
        </p:spPr>
        <p:txBody>
          <a:bodyPr wrap="square" lIns="0" rIns="0" tIns="0" bIns="0">
            <a:spAutoFit/>
          </a:bodyPr>
          <a:lstStyle/>
          <a:p>
            <a:pPr>
              <a:lnSpc>
                <a:spcPct val="113000"/>
              </a:lnSpc>
              <a:spcAft>
                <a:spcPts val="0"/>
              </a:spcAft>
              <a:defRPr sz="1800" b="1">
                <a:solidFill>
                  <a:srgbClr val="087F70"/>
                </a:solidFill>
                <a:latin typeface="Noto Sans CJK KR"/>
              </a:defRPr>
            </a:pPr>
            <a:r>
              <a:t>현재 단계의 주장: “작동하는 상태 연동 추천 규칙을 제안하고 구현했다.”</a:t>
            </a:r>
          </a:p>
        </p:txBody>
      </p:sp>
      <p:sp>
        <p:nvSpPr>
          <p:cNvPr id="17" name="TextBox 16"/>
          <p:cNvSpPr txBox="1"/>
          <p:nvPr/>
        </p:nvSpPr>
        <p:spPr>
          <a:xfrm>
            <a:off x="658368" y="7370064"/>
            <a:ext cx="13313664" cy="219456"/>
          </a:xfrm>
          <a:prstGeom prst="rect">
            <a:avLst/>
          </a:prstGeom>
          <a:noFill/>
        </p:spPr>
        <p:txBody>
          <a:bodyPr wrap="square" lIns="0" rIns="0" tIns="0" bIns="0">
            <a:spAutoFit/>
          </a:bodyPr>
          <a:lstStyle/>
          <a:p>
            <a:pPr>
              <a:lnSpc>
                <a:spcPct val="113000"/>
              </a:lnSpc>
              <a:spcAft>
                <a:spcPts val="0"/>
              </a:spcAft>
              <a:defRPr sz="1000" b="0">
                <a:solidFill>
                  <a:srgbClr val="687D94"/>
                </a:solidFill>
                <a:latin typeface="Noto Sans CJK KR"/>
              </a:defRPr>
            </a:pPr>
            <a:r>
              <a:t>원자료: 두런두런 예선 PPT, KPCA 2026-1007 합격 안내, 2025 배너 예시. 외부 원문 접근 차단으로 논문·역대 수상작 비교는 완료하지 못했습니다.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CBP | 탄소예산이 바꾸는 파렛트 재배치</dc:title>
  <dc:subject>제13회 ULS 창의성 공모전 본선 · 원안 기반 4분 발표</dc:subject>
  <dc:creator>두런두런</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
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cbp_model.py에 공급, 적재량, 호환, 적재안전, 기한, 비용, 잔여예산 조건을 구현했다. 비용·배출·시간의 단위는 각각 만원·kgCO2e·시간. 현재는 주어진 후보의 추천 계산이며 실제 재고 검증이나 배차 실행이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C의 Carbon 점수=0.2×0+0.6×1+0.2×0.625=0.725. Cost에서A=.75, Balanced에서B=.685, Emergency에서C=.8625. 모든 숫자는 합성 입력이며 model_results.json과 scenario.csv에서 재현할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 한도120으로 C가 제외되면 A와 B끼리 재정규화한다. B=(0,1,.5), Carbon RPS=.7이다. 원래 세 후보에서 B의 점수.67과 구분한다. 실제 배출오차 때문에 탄소예산 준수는 보장하지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한계를 숨기지 않는다. 기말 예상 배출 기반 보조경보 또는 수요 대비 예산 사용 속도 지표를 검토하되, 데이터 없는 정교한 예측을 이미 구현했다고 주장하지 않는다. 임계값·가중치 민감도는 실제 요청 재생에서 평가한다.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고정가중치는0.5,0.3,0.2를 하나의 대조군으로 두되, 다른 고정가중치와도 비교해야 한다. 파라미터 튜닝 자료와 최종 평가 자료를 분리하여 과적합을 줄인다. 가상 후보를 실제 견적·운행·배출자료로 대체하기 전 성과율을 발표하지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연구 접근은 Crossref/OpenAlex/Semantic Scholar/arXiv/KPCA/검색사이트에서 403 차단을 확인했다. 확인하지 않은 연구를 관련연구 표로 만들거나 신규성 입증이라고 말하지 않는다. 연구 접근에 필요한 환경설정 초안은 별도로 저장했다.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DECISION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“가능한가?”와 “무엇이 더 좋은가?”를 분리합니다.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84831"/>
            <a:ext cx="13304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하나의 후보 j는 필요한 파렛트를 공급하는 완결 운송안입니다. 합배송 최적 조합 생성은 현재 범위 밖입니다.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70632"/>
            <a:ext cx="6318504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99232"/>
            <a:ext cx="5806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400" b="1">
                <a:solidFill>
                  <a:srgbClr val="087F70"/>
                </a:solidFill>
                <a:latin typeface="Noto Sans CJK KR"/>
              </a:defRPr>
            </a:pPr>
            <a:r>
              <a:t>1. 실행 가능 후보 집합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694176"/>
            <a:ext cx="5788152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공급량·적재 가능량 ≥ 요청량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도착시간 ≤ 허용시간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호환 규격·적재 안전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5312664"/>
            <a:ext cx="5788152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비용 ≤ 운영자가 정한 비용 한도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예상 배출 ≤ B − Eₜ − Kₜ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Kₜ: 확정·미정산 운행의 예상 배출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51775" y="2770632"/>
            <a:ext cx="6583680" cy="4361688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4" y="2999232"/>
            <a:ext cx="6099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400" b="1">
                <a:solidFill>
                  <a:srgbClr val="087F70"/>
                </a:solidFill>
                <a:latin typeface="Noto Sans CJK KR"/>
              </a:defRPr>
            </a:pPr>
            <a:r>
              <a:t>2. 후보 집합 안에서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685032"/>
            <a:ext cx="6053328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비용점수 = (Cmax−Cⱼ)/(Cmax−Cmin)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탄소점수 = (emax−eⱼ)/(emax−emin)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시간여유 = (D−Tⱼ)/D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5486400"/>
            <a:ext cx="60441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RPSⱼ = α·비용 + β·탄소 + γ·시간여유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j* = arg maxⱼ∈F RPSⱼ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α+β+γ=1,  각 가중치 ≥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min·max는 F 안에서 계산. 값이 모두 같으면 해당 항목은 모두 1점. 동점은 배출→비용→시간→ID 순. F가 비면 자동 실행 없이 예외 판단.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DECISION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REPRODUCIBLE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원안의 네 모드를 유지하고, 점수 계산을 공개했습니다.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84831"/>
            <a:ext cx="13304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상태 구간과 가중치는 설계 가정입니다. 데이터로 검증된 최적값이 아닙니다.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337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600" b="0">
                <a:solidFill>
                  <a:srgbClr val="687D94"/>
                </a:solidFill>
                <a:latin typeface="Noto Sans CJK KR"/>
              </a:defRPr>
            </a:pPr>
            <a:r>
              <a:t>CUR &lt;60%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67912"/>
            <a:ext cx="1958644" cy="420624"/>
          </a:xfrm>
          <a:prstGeom prst="rect">
            <a:avLst/>
          </a:prstGeom>
          <a:solidFill>
            <a:srgbClr val="497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959352"/>
            <a:ext cx="19586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9892" y="3867912"/>
            <a:ext cx="279806" cy="420624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9892" y="3959352"/>
            <a:ext cx="27980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79699" y="3867912"/>
            <a:ext cx="559612" cy="420624"/>
          </a:xfrm>
          <a:prstGeom prst="rect">
            <a:avLst/>
          </a:prstGeom>
          <a:solidFill>
            <a:srgbClr val="E5B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9699" y="3959352"/>
            <a:ext cx="5596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14243C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599432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599432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087F70"/>
                </a:solidFill>
                <a:latin typeface="Noto Sans CJK KR"/>
              </a:defRPr>
            </a:pPr>
            <a:r>
              <a:t>0.75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23036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5230368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0.695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61304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5861304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0.225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601968"/>
            <a:ext cx="2798064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6652259"/>
            <a:ext cx="2615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선택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352" y="2834640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Balanced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3337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600" b="0">
                <a:solidFill>
                  <a:srgbClr val="687D94"/>
                </a:solidFill>
                <a:latin typeface="Noto Sans CJK KR"/>
              </a:defRPr>
            </a:pPr>
            <a:r>
              <a:t>CUR 60–&lt;75%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9352" y="3867912"/>
            <a:ext cx="1399032" cy="420624"/>
          </a:xfrm>
          <a:prstGeom prst="rect">
            <a:avLst/>
          </a:prstGeom>
          <a:solidFill>
            <a:srgbClr val="497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2" y="3959352"/>
            <a:ext cx="1399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58384" y="3867912"/>
            <a:ext cx="839419" cy="420624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58384" y="3959352"/>
            <a:ext cx="83941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7803" y="3867912"/>
            <a:ext cx="559612" cy="420624"/>
          </a:xfrm>
          <a:prstGeom prst="rect">
            <a:avLst/>
          </a:prstGeom>
          <a:solidFill>
            <a:srgbClr val="E5B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7803" y="3959352"/>
            <a:ext cx="5596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14243C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9352" y="4599432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599432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9352" y="523036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230368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087F70"/>
                </a:solidFill>
                <a:latin typeface="Noto Sans CJK KR"/>
              </a:defRPr>
            </a:pPr>
            <a:r>
              <a:t>0.685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9352" y="5861304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861304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0.425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59352" y="6601968"/>
            <a:ext cx="2798064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50791" y="6652259"/>
            <a:ext cx="2615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선택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3176" y="2834640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087F70"/>
                </a:solidFill>
                <a:latin typeface="Noto Sans CJK KR"/>
              </a:defRPr>
            </a:pPr>
            <a:r>
              <a:t>Carbon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3337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600" b="0">
                <a:solidFill>
                  <a:srgbClr val="687D94"/>
                </a:solidFill>
                <a:latin typeface="Noto Sans CJK KR"/>
              </a:defRPr>
            </a:pPr>
            <a:r>
              <a:t>CUR 75–&lt;90%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23176" y="3867912"/>
            <a:ext cx="559612" cy="420624"/>
          </a:xfrm>
          <a:prstGeom prst="rect">
            <a:avLst/>
          </a:prstGeom>
          <a:solidFill>
            <a:srgbClr val="497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23176" y="3959352"/>
            <a:ext cx="5596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2788" y="3867912"/>
            <a:ext cx="1678838" cy="420624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2788" y="3959352"/>
            <a:ext cx="167883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61627" y="3867912"/>
            <a:ext cx="559612" cy="420624"/>
          </a:xfrm>
          <a:prstGeom prst="rect">
            <a:avLst/>
          </a:prstGeom>
          <a:solidFill>
            <a:srgbClr val="E5B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61627" y="3959352"/>
            <a:ext cx="5596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14243C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23176" y="4599432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81544" y="4599432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23176" y="523036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1544" y="5230368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0.67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3176" y="5861304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81544" y="5861304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087F70"/>
                </a:solidFill>
                <a:latin typeface="Noto Sans CJK KR"/>
              </a:defRPr>
            </a:pPr>
            <a:r>
              <a:t>0.725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23176" y="6601968"/>
            <a:ext cx="2798064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14616" y="6652259"/>
            <a:ext cx="2615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선택 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88168" y="2834640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Emergency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88168" y="3337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600" b="0">
                <a:solidFill>
                  <a:srgbClr val="687D94"/>
                </a:solidFill>
                <a:latin typeface="Noto Sans CJK KR"/>
              </a:defRPr>
            </a:pPr>
            <a:r>
              <a:t>CUR ≥90%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88168" y="3867912"/>
            <a:ext cx="279806" cy="420624"/>
          </a:xfrm>
          <a:prstGeom prst="rect">
            <a:avLst/>
          </a:prstGeom>
          <a:solidFill>
            <a:srgbClr val="497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88168" y="3959352"/>
            <a:ext cx="27980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767974" y="3867912"/>
            <a:ext cx="2238451" cy="420624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67974" y="3959352"/>
            <a:ext cx="22384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006425" y="3867912"/>
            <a:ext cx="279806" cy="420624"/>
          </a:xfrm>
          <a:prstGeom prst="rect">
            <a:avLst/>
          </a:prstGeom>
          <a:solidFill>
            <a:srgbClr val="E5B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006425" y="3959352"/>
            <a:ext cx="27980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14243C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88168" y="4599432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46536" y="4599432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0.125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88168" y="5230368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46536" y="5230368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0.685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88168" y="5861304"/>
            <a:ext cx="4389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14243C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46536" y="5861304"/>
            <a:ext cx="208483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087F70"/>
                </a:solidFill>
                <a:latin typeface="Noto Sans CJK KR"/>
              </a:defRPr>
            </a:pPr>
            <a:r>
              <a:t>0.8625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88168" y="6601968"/>
            <a:ext cx="2798064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79608" y="6652259"/>
            <a:ext cx="2615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선택 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정규화 점수: A=(1,0,0.25), B=(0.75,0.70,0.50), C=(0,1,0.625). 순서는 비용·탄소·시간 여유. 비용 한도 140만원으로 세 후보 모두 허용.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DECISION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탄소 비중을 높여도, 비용·공급 조건은 넘기지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84831"/>
            <a:ext cx="13304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정책이 바꾸는 것은 후보의 순위입니다. 운영 한도나 필수 공급 조건을 임의로 낮추지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07792"/>
            <a:ext cx="395935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500" b="1">
                <a:solidFill>
                  <a:srgbClr val="087F70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9584"/>
            <a:ext cx="394106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500" b="1">
                <a:solidFill>
                  <a:srgbClr val="14243C"/>
                </a:solidFill>
                <a:latin typeface="Noto Sans CJK KR"/>
              </a:defRPr>
            </a:pPr>
            <a:r>
              <a:t>비용 한도 120만원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33672"/>
            <a:ext cx="394106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CUR 82%, 세 후보 중 C는 140만원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5248656"/>
            <a:ext cx="3913632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5559552"/>
            <a:ext cx="394106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087F70"/>
                </a:solidFill>
                <a:latin typeface="Noto Sans CJK KR"/>
              </a:defRPr>
            </a:pPr>
            <a:r>
              <a:t>C 제외 → B 추천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907792"/>
            <a:ext cx="395935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500" b="1">
                <a:solidFill>
                  <a:srgbClr val="087F70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3529584"/>
            <a:ext cx="394106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500" b="1">
                <a:solidFill>
                  <a:srgbClr val="14243C"/>
                </a:solidFill>
                <a:latin typeface="Noto Sans CJK KR"/>
              </a:defRPr>
            </a:pPr>
            <a:r>
              <a:t>C 도착이 9시간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4233672"/>
            <a:ext cx="394106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허용 8시간, C만 지연 발생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12664" y="5248656"/>
            <a:ext cx="3913632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12664" y="5559552"/>
            <a:ext cx="394106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087F70"/>
                </a:solidFill>
                <a:latin typeface="Noto Sans CJK KR"/>
              </a:defRPr>
            </a:pPr>
            <a:r>
              <a:t>C 제외 → B 추천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8088" y="2907792"/>
            <a:ext cx="395935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500" b="1">
                <a:solidFill>
                  <a:srgbClr val="087F70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3529584"/>
            <a:ext cx="3941063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500" b="1">
                <a:solidFill>
                  <a:srgbClr val="14243C"/>
                </a:solidFill>
                <a:latin typeface="Noto Sans CJK KR"/>
              </a:defRPr>
            </a:pPr>
            <a:r>
              <a:t>잔여예산 100kg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4233672"/>
            <a:ext cx="3941063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최소 배출 후보도 200kg 필요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48088" y="5248656"/>
            <a:ext cx="3913632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848088" y="5559552"/>
            <a:ext cx="394106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087F70"/>
                </a:solidFill>
                <a:latin typeface="Noto Sans CJK KR"/>
              </a:defRPr>
            </a:pPr>
            <a:r>
              <a:t>후보 없음 → 담당자 판단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638544"/>
            <a:ext cx="13011912" cy="466344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6748272"/>
            <a:ext cx="1262786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700" b="1">
                <a:solidFill>
                  <a:srgbClr val="087F70"/>
                </a:solidFill>
                <a:latin typeface="Noto Sans CJK KR"/>
              </a:defRPr>
            </a:pPr>
            <a:r>
              <a:t>실행 가능한 대안이 없으면  ·  대체 조달 / 기한 협의 / 예산 예외를 담당자가 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코드에서 경계값·비용 한도·지연·재고·적재·규격·예산 부족·동점·잘못된 입력을 확인. 프로토타입 검증이며 현장 운용 안정성 검증은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DECISION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월초 50%와 월말 50%는 같은 상태가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84831"/>
            <a:ext cx="13304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기본 CUR는 누적 소진량만 표현합니다. 남은 기간과 앞으로의 요청을 직접 설명하지 못합니다.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19272"/>
            <a:ext cx="220370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기간 초반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3520440"/>
            <a:ext cx="5916168" cy="0"/>
          </a:xfrm>
          <a:prstGeom prst="line">
            <a:avLst/>
          </a:prstGeom>
          <a:ln w="635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448190" y="3429000"/>
            <a:ext cx="182880" cy="182880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94976" y="3236976"/>
            <a:ext cx="370332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300" b="1">
                <a:solidFill>
                  <a:srgbClr val="087F70"/>
                </a:solidFill>
                <a:latin typeface="Noto Sans CJK KR"/>
              </a:defRPr>
            </a:pPr>
            <a:r>
              <a:t>CUR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754880"/>
            <a:ext cx="220370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기간 후반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4956048"/>
            <a:ext cx="5916168" cy="0"/>
          </a:xfrm>
          <a:prstGeom prst="line">
            <a:avLst/>
          </a:prstGeom>
          <a:ln w="635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022" y="4864608"/>
            <a:ext cx="182880" cy="182880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94976" y="4672584"/>
            <a:ext cx="370332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300" b="1">
                <a:solidFill>
                  <a:srgbClr val="087F70"/>
                </a:solidFill>
                <a:latin typeface="Noto Sans CJK KR"/>
              </a:defRPr>
            </a:pPr>
            <a:r>
              <a:t>CUR 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27064"/>
            <a:ext cx="1286560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확장 방향: 남은 수요를 고려한 기말 예상 배출 점검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기본 모형과 분리해 성능·예측 오차를 검증합니다.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추가 한계: 구간 경계에서 가중치 급변, 후보 집합 변화에 따른 상대 점수 변화, 배출 추정 오차. 전역 최적해나 기간 예산 준수를 보장하지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DECISION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같은 출발점에서, 정책별로 끝까지 비교해야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84831"/>
            <a:ext cx="13304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한 번의 가상 추천 결과는 기간 전체의 운영 효과를 증명하지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80360"/>
            <a:ext cx="3877056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087F70"/>
                </a:solidFill>
                <a:latin typeface="Noto Sans CJK KR"/>
              </a:defRPr>
            </a:pPr>
            <a:r>
              <a:t>동일하게 제공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30168"/>
            <a:ext cx="3776472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초기 재고 · 탄소예산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요청 순서 · 후보 생성 규칙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사용 가능한 정보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수량·기한·비용·탄소 제약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37176" y="4443984"/>
            <a:ext cx="557784" cy="173736"/>
          </a:xfrm>
          <a:prstGeom prst="rightArrow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41848" y="3401568"/>
            <a:ext cx="30632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3538728"/>
            <a:ext cx="262432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비용 우선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41848" y="4261104"/>
            <a:ext cx="30632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1304" y="4398264"/>
            <a:ext cx="262432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14243C"/>
                </a:solidFill>
                <a:latin typeface="Noto Sans CJK KR"/>
              </a:defRPr>
            </a:pPr>
            <a:r>
              <a:t>고정 가중치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41848" y="5120640"/>
            <a:ext cx="3063240" cy="603504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304" y="5257800"/>
            <a:ext cx="262432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087F70"/>
                </a:solidFill>
                <a:latin typeface="Noto Sans CJK KR"/>
              </a:defRPr>
            </a:pPr>
            <a:r>
              <a:t>CBP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97696" y="4443984"/>
            <a:ext cx="557784" cy="173736"/>
          </a:xfrm>
          <a:prstGeom prst="rightArrow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2952" y="2880360"/>
            <a:ext cx="3977639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300" b="1">
                <a:solidFill>
                  <a:srgbClr val="087F70"/>
                </a:solidFill>
                <a:latin typeface="Noto Sans CJK KR"/>
              </a:defRPr>
            </a:pPr>
            <a:r>
              <a:t>기간 전체로 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630168"/>
            <a:ext cx="3904487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총비용 · 실제 배출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정시 공급 충족률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기간말 탄소예산 초과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000" b="0">
                <a:solidFill>
                  <a:srgbClr val="14243C"/>
                </a:solidFill>
                <a:latin typeface="Noto Sans CJK KR"/>
              </a:defRPr>
            </a:pPr>
            <a:r>
              <a:t>예외 발생 횟수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6446520"/>
            <a:ext cx="13002768" cy="566928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6601968"/>
            <a:ext cx="125455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KR"/>
              </a:defRPr>
            </a:pPr>
            <a:r>
              <a:t>각 정책의 선택 이후에는 재고·누적 배출을 따로 갱신합니다. 결과에 유리한 미래 정보를 미리 주지 않습니다.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검증 순서: 과거 요청 재생 → 실제 배차에 영향을 주지 않는 추천 → 제한적 현장 실행. 비용·탄소·공급 중 불리해지는 항목도 함께 보고합니다.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DECISION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제안한 구조와, 아직 입증하지 않은 주장을 구분합니다.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84831"/>
            <a:ext cx="13304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가중합 자체의 발명을 주장하지 않습니다. ULS 재배치에서 탄소예산 상태를 선택 규칙에 연결하는 제안입니다.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935224"/>
            <a:ext cx="6025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500" b="1">
                <a:solidFill>
                  <a:srgbClr val="087F70"/>
                </a:solidFill>
                <a:latin typeface="Noto Sans CJK KR"/>
              </a:defRPr>
            </a:pPr>
            <a:r>
              <a:t>현재 확인한 근거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" y="3575304"/>
            <a:ext cx="593445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2104" y="3913632"/>
            <a:ext cx="5980176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예선 원안: CUR · 4모드 · RPS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공식 안내: 4분 발표 · 배너 4쪽 발췌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재현 코드: 점수·제약·예외 추천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동작 데모: 사용률·비용 한도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935224"/>
            <a:ext cx="6025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500" b="1">
                <a:solidFill>
                  <a:srgbClr val="687D94"/>
                </a:solidFill>
                <a:latin typeface="Noto Sans CJK KR"/>
              </a:defRPr>
            </a:pPr>
            <a:r>
              <a:t>추가 확인이 필요한 근거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62672" y="3575304"/>
            <a:ext cx="593445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62672" y="3913632"/>
            <a:ext cx="5980176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현장 탄소 감축률 · 비용 효과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동적 가중치·탄소예산 관련 선행 연구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기존 풀링 시스템 대비 신규성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100" b="0">
                <a:solidFill>
                  <a:srgbClr val="14243C"/>
                </a:solidFill>
                <a:latin typeface="Noto Sans CJK KR"/>
              </a:defRPr>
            </a:pPr>
            <a:r>
              <a:t>역대 수상작의 심사·수상 근거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" y="6601968"/>
            <a:ext cx="12829032" cy="493776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720840"/>
            <a:ext cx="123901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현재 단계의 주장: “작동하는 상태 연동 추천 규칙을 제안하고 구현했다.”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원자료: 두런두런 예선 PPT, KPCA 2026-1007 합격 안내, 2025 배너 예시. 외부 원문 접근 차단으로 논문·역대 수상작 비교는 완료하지 못했습니다.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CBP | 탄소예산이 바꾸는 파렛트 재배치</dc:title>
  <dc:subject>제13회 ULS 창의성 공모전 본선 · 원안 기반 4분 발표</dc:subject>
  <dc:creator>두런두런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